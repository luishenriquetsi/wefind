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77" r:id="rId35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8" r:id="rId36"/>
    <p:sldId id="269" r:id="rId19"/>
    <p:sldId id="270" r:id="rId20"/>
    <p:sldId id="271" r:id="rId21"/>
    <p:sldId id="279" r:id="rId37"/>
    <p:sldId id="272" r:id="rId22"/>
    <p:sldId id="273" r:id="rId23"/>
    <p:sldId id="274" r:id="rId24"/>
    <p:sldId id="275" r:id="rId25"/>
    <p:sldId id="280" r:id="rId38"/>
    <p:sldId id="276" r:id="rId26"/>
  </p:sldIdLst>
  <p:sldSz cx="18288000" cy="10287000"/>
  <p:notesSz cx="6858000" cy="9144000"/>
  <p:embeddedFontLst>
    <p:embeddedFont>
      <p:font typeface="Cooper BT Bold" charset="1" panose="0208080404030B020404"/>
      <p:regular r:id="rId27"/>
    </p:embeddedFont>
    <p:embeddedFont>
      <p:font typeface="Cooper BT Light" charset="1" panose="0208050304030B020404"/>
      <p:regular r:id="rId28"/>
    </p:embeddedFont>
    <p:embeddedFont>
      <p:font typeface="Cambria Bold" charset="1" panose="02040803050406030204"/>
      <p:regular r:id="rId29"/>
    </p:embeddedFon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  <p:embeddedFont>
      <p:font typeface="Calibri (MS) Italics" charset="1" panose="020F05020202040A0204"/>
      <p:regular r:id="rId32"/>
    </p:embeddedFont>
    <p:embeddedFont>
      <p:font typeface="Roboto Bold" charset="1" panose="02000000000000000000"/>
      <p:regular r:id="rId33"/>
    </p:embeddedFont>
    <p:embeddedFont>
      <p:font typeface="Calibri (MS) Light" charset="1" panose="020F0302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slide" Target="slides/slide3.xml"/><Relationship Id="rId36" Type="http://schemas.openxmlformats.org/officeDocument/2006/relationships/slide" Target="slides/slide15.xml"/><Relationship Id="rId37" Type="http://schemas.openxmlformats.org/officeDocument/2006/relationships/slide" Target="slides/slide19.xml"/><Relationship Id="rId38" Type="http://schemas.openxmlformats.org/officeDocument/2006/relationships/slide" Target="slides/slide24.xml"/><Relationship Id="rId3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 b="1">
                <a:solidFill>
                  <a:srgbClr val="1B2A1F"/>
                </a:solidFill>
                <a:latin typeface="Calibri (MS) Bold"/>
              </a:rPr>
              <a:t>Pontos máximos por critério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Pontos máximos</c:v>
                </c:pt>
              </c:strCache>
            </c:strRef>
          </c:tx>
          <c:spPr>
            <a:solidFill>
              <a:srgbClr val="2E5634"/>
            </a:solidFill>
          </c:spPr>
          <c:cat>
            <c:strRef>
              <c:f>Sheet1!$A$2:$A$8</c:f>
              <c:strCache>
                <c:ptCount val="7"/>
                <c:pt idx="0">
                  <c:v>Idade</c:v>
                </c:pt>
                <c:pt idx="1">
                  <c:v>Sexo</c:v>
                </c:pt>
                <c:pt idx="2">
                  <c:v>Porte</c:v>
                </c:pt>
                <c:pt idx="3">
                  <c:v>Distância</c:v>
                </c:pt>
                <c:pt idx="4">
                  <c:v>Pelagem</c:v>
                </c:pt>
                <c:pt idx="5">
                  <c:v>Espécie</c:v>
                </c:pt>
                <c:pt idx="6">
                  <c:v>Raça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25</c:v>
                </c:pt>
              </c:numCache>
            </c:numRef>
          </c:val>
        </c:ser>
        <c:dLbls>
          <c:numFmt formatCode="+0" sourceLinked="0"/>
          <c:txPr>
            <a:bodyPr/>
            <a:lstStyle/>
            <a:p>
              <a:pPr>
                <a:defRPr sz="2000" b="1">
                  <a:solidFill>
                    <a:srgbClr val="2E56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000">
                <a:solidFill>
                  <a:srgbClr val="1B2A1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Janela crítica: dos gatos achados vivos, 34% apareceram na 1ª semana e 50% em 30 dias; depois de 60 dias quase não há ganho. Busca na vizinhança: menos de 2% estavam em abrigos; funcionaram a busca no entorno, a ajuda de vizinhos e os cartazes. Informação espalhada: avisos e relatos circulam em redes, grupos e conversas, o que dificulta acompanhar o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Incrementos: 1) criação de conta, login seguro e perfil; 2) mapa interativo, proximidade e filtro por espécie; 3) anúncios de perdido ou encontrado com características e imagens; 4) relatos de avistamento e chat privado em tempo real; 5) cartazes padronizados para compartilhar ou imprimir. Kanban no Trello com listas de atualização, testes e validação, desenvolvimento, a fazer, ideias futuras e concluídas.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Canais usados (19 respostas): redes sociais 100%, WhatsApp 73,7%, cartazes 57,9%, vizinhos 42,1%, clínicas 26,3%.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Cadastro, login, recuperação de senha e perfil | Consultar, publicar e atualizar animais perdidos ou encontrados | Mapa, filtros por espécie e distância, rota até o local | Relatos com local, horário e foto, vinculados à publicação | Chat privado por publicação e notificações | Denúncia de conteúdo e análise pelo administrador</a:t>
            </a:r>
          </a:p>
          <a:p>
            <a:r>
              <a:t>RF15: formatos A4, 9:16 e 1:1; o A4 leva QR code. RF16: ativa 30 dias, aviso 3 dias antes, mais 30 dias de carência. RF17: sugere pares sem confirmar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RNF01: Supabase Auth e políticas RLS impedem alterar ou excluir dados de outra conta. RNF02: 16 de 20 preferiram ocultar o endereço exato. Verificados por inspeção do código e da configuração, sem medições independentes.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Limite atual: a limpeza roda ao carregar o mural e considera só as publicações do usuário autenticado; a limpeza global no backend é trabalho futuro. Reencontrado encerra a busca quando o animal volta ao tutor; até lá a publicação segue 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base de código para as plataformas móveis; sem benchmark contra o desenvolvimento nativo. | Menos infraestrutura própria para manter; depende da disponibilidade do provedor. | Códigos de cadastro e recuperação de senha e avisos de avistamento. | Ferramentas de apoio; IA usada como auxiliar de programação e de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Regras: espécie igual +20 (incompatível descarta); sexo igual +10 (oposto descarta); porte igual +15 (pequeno × grande descarta); raça igual +25 (diferentes −20); pelagem 2+ cores em comum +20 (nenhuma −25); idade igual +5 (filhote × idoso −15); distância até 1,2 km +15 (acima de 20 km −15); sem GPS: mesmo bairro +12 (outra cidade −20). Limiar 55 para listar e 60 para notificar, até 3 por publicação. Pesos empíricos, sem calibração com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Pontuação da ferramenta: 51/100. É uma métrica própria do MobSF para triagem, não uma certificação de segurança. Os alertas pedem revisão manual e não são vulnerabilidades confirmadas; vários vêm de bibliotecas incluídas no pacote. Sem teste dinâmico, teste de invasão ou auditoria da infraestrutura.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Limites: 12 voluntários recrutados em um grupo no Facebook; conclusão autorrelatada em uma única pergunta; 4 pessoas relataram dúvidas pontuais; o estudo não mede reencontros.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Entregue: aplicativo funcional, mapa georreferenciado e rota, avistamentos colaborativos, chat privado, cartaz com QR, correspondências sugeridas. Limites: protótipo avaliado não prova mais reencontros; amostra pequena e conclusão autorrelatada; segurança só com análise estática; pesos de correspondência não calibrados. Próximos passos: calibrar a correspondência com pares revisados; avaliar IA para comparar fotos; limpeza global no backend; controles de privacidade no cartaz e no QR; ajustes de usabilidade e nova avaliação; estudo piloto com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Ícone gerado com apoio do ChatGPT e refinado no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9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42.png"/><Relationship Id="rId8" Type="http://schemas.openxmlformats.org/officeDocument/2006/relationships/image" Target="../media/image6.png"/><Relationship Id="rId9" Type="http://schemas.openxmlformats.org/officeDocument/2006/relationships/image" Target="../media/image43.png"/><Relationship Id="rId10" Type="http://schemas.openxmlformats.org/officeDocument/2006/relationships/image" Target="../media/image8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7.png"/><Relationship Id="rId16" Type="http://schemas.openxmlformats.org/officeDocument/2006/relationships/image" Target="../media/image31.png"/><Relationship Id="rId17" Type="http://schemas.openxmlformats.org/officeDocument/2006/relationships/image" Target="../media/image33.png"/><Relationship Id="rId18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3.png"/><Relationship Id="rId4" Type="http://schemas.openxmlformats.org/officeDocument/2006/relationships/image" Target="../media/image56.jpg"/><Relationship Id="rId5" Type="http://schemas.openxmlformats.org/officeDocument/2006/relationships/notesSlide" Target="../notesSlides/notesSlide9.xml"/><Relationship Id="rId6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8.jpeg"/><Relationship Id="rId4" Type="http://schemas.openxmlformats.org/officeDocument/2006/relationships/image" Target="../media/image49.jpeg"/><Relationship Id="rId5" Type="http://schemas.openxmlformats.org/officeDocument/2006/relationships/image" Target="../media/image50.jpeg"/><Relationship Id="rId6" Type="http://schemas.openxmlformats.org/officeDocument/2006/relationships/image" Target="../media/image51.jpeg"/><Relationship Id="rId7" Type="http://schemas.openxmlformats.org/officeDocument/2006/relationships/image" Target="../media/image5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colaborativo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95624"/>
            <a:ext cx="13922893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63184"/>
            <a:ext cx="1360067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Contexto e método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motivação, objetivo e método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análise de sistemas similares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correspondência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verificações,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CONTEXTO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Tempo e proximidade decidem a busca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4784436" cy="6400800"/>
            <a:chOff x="0" y="0"/>
            <a:chExt cx="6379248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63792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66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46,1%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8400" y="2329815"/>
            <a:ext cx="7315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dos lares brasileiros têm cão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58400" y="3152775"/>
            <a:ext cx="7315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IBGE, PNS 2019 (19,3% têm gato)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7305656" y="4201478"/>
            <a:ext cx="1005840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7315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58400" y="4524375"/>
            <a:ext cx="7315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perdem o animal em 5 anos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8400" y="5347335"/>
            <a:ext cx="7315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dos tutores (Weiss; Slater; Lord, 2012)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7305656" y="6396038"/>
            <a:ext cx="1005840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7315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58400" y="6718935"/>
            <a:ext cx="7315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achados a até 500 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58400" y="7541895"/>
            <a:ext cx="7315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gatos, do ponto de fuga (Huang et al., 2018)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adaptada de Huang et al. (2018, p. 9): gatos encontrados vivos (a) no 1º ano e (b) nos primeiros 30 dias.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aplicada, exploratório-descritiva, quantitativa e qualitativa: campo, similares 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entregas, uma de cada vez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65176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4400" y="457200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440680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login e perfil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65176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242816" y="457200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no mapa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5440680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e proximidade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65176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571232" y="457200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5440680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com fotos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65176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899648" y="457200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5440680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e chat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65176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4228064" y="457200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Divulgação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5440680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 com QR code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731520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22376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Gestão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772400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Kanban no Trello · cada entrega testada no celular antes da seguinte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3960">
            <a:off x="914400" y="4023360"/>
            <a:ext cx="1645920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id="50" name="Marco 1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arco 2"/>
          <p:cNvSpPr/>
          <p:nvPr/>
        </p:nvSpPr>
        <p:spPr>
          <a:xfrm>
            <a:off x="4242816" y="3840480"/>
            <a:ext cx="365760" cy="36576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arco 3"/>
          <p:cNvSpPr/>
          <p:nvPr/>
        </p:nvSpPr>
        <p:spPr>
          <a:xfrm>
            <a:off x="7571232" y="3840480"/>
            <a:ext cx="365760" cy="36576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arco 4"/>
          <p:cNvSpPr/>
          <p:nvPr/>
        </p:nvSpPr>
        <p:spPr>
          <a:xfrm>
            <a:off x="10899648" y="3840480"/>
            <a:ext cx="365760" cy="36576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arco 5"/>
          <p:cNvSpPr/>
          <p:nvPr/>
        </p:nvSpPr>
        <p:spPr>
          <a:xfrm>
            <a:off x="14228064" y="3840480"/>
            <a:ext cx="365760" cy="365760"/>
          </a:xfrm>
          <a:prstGeom prst="ellipse">
            <a:avLst/>
          </a:prstGeom>
          <a:solidFill>
            <a:srgbClr val="B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conveniência; os resultados descrevem apenas o grupo consultado.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657540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Cadastro com fotos e descrição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Aplicativo móvel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Cartazes digitais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Filtro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Alertas de publicações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Mapa interativo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Avistamentos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Chat privado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Rota até o local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/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Sugestão de correspondências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7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32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7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32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7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32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51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6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51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6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51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6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A4, 9:16 e 1:1, com QR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30 dias + 30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Sugere, não confirma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Endereço aproximado nas telas públicas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HTTPS em todas as requisições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Imagens leves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 comprimidas antes do envio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desde o cadastro ou a renovação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lembrete para renovar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some do mural e do mapa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e fotos excluídas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alguém achou ou viu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mural, mapa e detalhes; cria conta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Publica, registra avistamentos, conversa e gera cartazes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Analisa denúncias e modera conteúdo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preferências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 e Notificacao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Imagens e avisos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Devolucao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devolução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CORRESPONDÊNCIA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Correspondência: um índice heurístico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55/60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pontos para sugerir / para notificar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 × Encontrado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Índice de 0 a 100 com características e distância (Haversine)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8046720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empíricos, sem calibração. Não é probabilidade e não confirma o reencontro.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pic>
        <p:nvPicPr>
          <p:cNvPr id="18" name="Tela correspondencias" descr="tela-correspondencia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4" y="1005840"/>
            <a:ext cx="2962656" cy="658368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graphicFrame>
        <p:nvGraphicFramePr>
          <p:cNvPr id="19" name="Grafico pesos"/>
          <p:cNvGraphicFramePr>
            <a:graphicFrameLocks noGrp="1"/>
          </p:cNvGraphicFramePr>
          <p:nvPr/>
        </p:nvGraphicFramePr>
        <p:xfrm>
          <a:off x="6583680" y="1188720"/>
          <a:ext cx="7040880" cy="6583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7977588"/>
            <a:ext cx="56692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77824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7" id="7" descr="/tmp/un/ppt/media/image38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" t="0" r="-7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0" id="10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" t="0" r="-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0352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9264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40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2688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6000" y="2103120"/>
            <a:ext cx="3163824" cy="7040880"/>
            <a:chOff x="0" y="0"/>
            <a:chExt cx="4218432" cy="9387840"/>
          </a:xfrm>
        </p:grpSpPr>
        <p:sp>
          <p:nvSpPr>
            <p:cNvPr name="Freeform 16" id="16" descr="/tmp/un/ppt/media/image41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2" t="0" r="-7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5024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Distribuição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Landing page no GitHub Pages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Cuidados éticos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Sem identificação; Res. CNS 510/2016 e LGPD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3960">
            <a:off x="904865" y="3291840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914400" y="384048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4572000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384048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4572000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384048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4572000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217920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funcional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e rota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e chat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 com QR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prova mais reencontros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estática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IA para comparar fotos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no backend</a:t>
            </a:r>
          </a:p>
          <a:p>
            <a:pPr algn="l" marL="627381" indent="-313690" lvl="1">
              <a:lnSpc>
                <a:spcPts val="3120"/>
              </a:lnSpc>
              <a:spcAft>
                <a:spcPts val="2400"/>
              </a:spcAft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Referências (1/2)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ABNT – ASSOCIAÇÃO BRASILEIRA DE NORMAS TÉCNICAS.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ABNT NBR ISO 9241-11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Ergonomia da interação humano-sistema: Parte 11: Usabilidade: Definições e conceitos. Rio de Janeiro: ABNT,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ALERTPET.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Aplicativo e rede de alerta para localização de animais perdidos e encontrados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https://app.alertpet.com.br/.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Conselho Nacional de Saúde. Resolução nº 510, de 7 de abril de 2016. Dispõe sobre as normas aplicáveis a pesquisas em Ciências Humanas e Sociais.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Diário Oficial da União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seção 1, Brasília, DF, p. 44–46, 24 maio 2016.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John. SUS: a ‘quick and dirty’ usability scale. In: JORDAN, Patrick W. et al. (ed.).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Usability evaluation in industry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London: Taylor &amp; Francis, 1996. p. 189–194.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 SDK 54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SDK reference. 2026. Disponível em: https://docs.expo.dev/versions/v54.0.0/.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FUKS, Hugo et al. Teorias e modelos de colaboração. In: PIMENTEL, Mariano; FUKS, Hugo (org.).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Sistemas colaborativos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Rio de Janeiro: Elsevier, 2011. cap. 2, p. 16–33.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6558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GIL, Antonio Carlos.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Liyan et al. Search methods used to locate missing cats and locations where missing cats are found.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Animals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Basel, v. 8, n. 1, art. 5, p. 1–20, 2018. DOI: https://doi.org/10.3390/ani8010005.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IBGE – INSTITUTO BRASILEIRO DE GEOGRAFIA E ESTATÍSTICA.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 – INTERNATIONAL ORGANIZATION FOR STANDARDIZATION.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Systems and software engineering: SQuaRE: Product quality model. Geneva: ISO,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LAKATOS, Eva Maria; MARCONI, Marina de Andrade.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https://github.com/MobSF/Mobile-Security-Framework-MobSF. Acesso em: 14 out. 2026.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Referências (2/2)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NIELSEN, Jakob.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Usability engineering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San Francisco: Morgan Kaufmann, 1994.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PAWBOOST.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power of the PawBoost community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find lost and found pets. 2026. Disponível em: https://www.pawboost.com/.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Roger S.; MAXIM, Bruce 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 0.81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documentação oficial. 2026. Disponível em: https://reactnative.dev/docs/0.81/getting-started.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ROGERS, Yvonne; SHARP, Helen; PREECE, Jennifer.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de interação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além da interação humano-computador. 5. ed. Porto Alegre: Bookman,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Jeff; LEWIS, James 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practical statistics for user research. 2. ed. Cambridge: Morgan Kaufmann, 2016.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6558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Francisco Carlos M. et al.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Porto Alegre: SBC, 2022. p. 199–208.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JavaScript Client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versão 2.87.3: documentação de referência. 2026. Disponível em: https://supabase.com/docs.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TEIXEIRA, Fabricio.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é o SUS (System Usability Scale) e como usá-lo em seu site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UX Collective Brasil, 4 ago. 2015.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Marco Tulio.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princípios e práticas para desenvolvimento de software com produtividade. Belo Horizonte: Edição do Autor,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VIU MEU PET.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Plataforma nacional de busca, divulgação e localização de animais perdidos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https://www.viumeupet.com.br/.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Emily; SLATER, Margaret; LORD, Linda. Frequency of lost dogs and cats in the United States and the methods used to locate them.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Animals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Basel, v. 2, n. 2, p. 301–315, 2012.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