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4"/>
    <p:sldId id="273" r:id="rId23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ooper BT Bold" charset="1" panose="0208080404030B020404"/>
      <p:regular r:id="rId38"/>
    </p:embeddedFont>
    <p:embeddedFont>
      <p:font typeface="Cooper BT Light" charset="1" panose="0208050304030B020404"/>
      <p:regular r:id="rId39"/>
    </p:embeddedFont>
    <p:embeddedFont>
      <p:font typeface="Cambria Bold" charset="1" panose="02040803050406030204"/>
      <p:regular r:id="rId40"/>
    </p:embeddedFont>
    <p:embeddedFont>
      <p:font typeface="Calibri (MS)" charset="1" panose="020F0502020204030204"/>
      <p:regular r:id="rId41"/>
    </p:embeddedFont>
    <p:embeddedFont>
      <p:font typeface="Calibri (MS) Bold" charset="1" panose="020F0702030404030204"/>
      <p:regular r:id="rId42"/>
    </p:embeddedFont>
    <p:embeddedFont>
      <p:font typeface="Calibri (MS) Italics" charset="1" panose="020F05020202040A0204"/>
      <p:regular r:id="rId43"/>
    </p:embeddedFont>
    <p:embeddedFont>
      <p:font typeface="Roboto Bold" charset="1" panose="02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38.png"/><Relationship Id="rId7" Type="http://schemas.openxmlformats.org/officeDocument/2006/relationships/image" Target="../media/image39.svg"/><Relationship Id="rId8" Type="http://schemas.openxmlformats.org/officeDocument/2006/relationships/image" Target="../media/image40.png"/><Relationship Id="rId9" Type="http://schemas.openxmlformats.org/officeDocument/2006/relationships/image" Target="../media/image41.svg"/><Relationship Id="rId10" Type="http://schemas.openxmlformats.org/officeDocument/2006/relationships/image" Target="../media/image42.png"/><Relationship Id="rId11" Type="http://schemas.openxmlformats.org/officeDocument/2006/relationships/image" Target="../media/image43.svg"/><Relationship Id="rId12" Type="http://schemas.openxmlformats.org/officeDocument/2006/relationships/image" Target="../media/image44.png"/><Relationship Id="rId13" Type="http://schemas.openxmlformats.org/officeDocument/2006/relationships/image" Target="../media/image45.svg"/><Relationship Id="rId14" Type="http://schemas.openxmlformats.org/officeDocument/2006/relationships/image" Target="../media/image46.png"/><Relationship Id="rId15" Type="http://schemas.openxmlformats.org/officeDocument/2006/relationships/image" Target="../media/image47.svg"/><Relationship Id="rId16" Type="http://schemas.openxmlformats.org/officeDocument/2006/relationships/image" Target="../media/image48.png"/><Relationship Id="rId17" Type="http://schemas.openxmlformats.org/officeDocument/2006/relationships/image" Target="../media/image49.svg"/><Relationship Id="rId18" Type="http://schemas.openxmlformats.org/officeDocument/2006/relationships/image" Target="../media/image50.png"/><Relationship Id="rId19" Type="http://schemas.openxmlformats.org/officeDocument/2006/relationships/image" Target="../media/image51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28.png"/><Relationship Id="rId7" Type="http://schemas.openxmlformats.org/officeDocument/2006/relationships/image" Target="../media/image29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svg"/><Relationship Id="rId14" Type="http://schemas.openxmlformats.org/officeDocument/2006/relationships/image" Target="../media/image23.png"/><Relationship Id="rId15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Relationship Id="rId23" Type="http://schemas.openxmlformats.org/officeDocument/2006/relationships/image" Target="../media/image72.png"/><Relationship Id="rId24" Type="http://schemas.openxmlformats.org/officeDocument/2006/relationships/image" Target="../media/image7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54.png"/><Relationship Id="rId6" Type="http://schemas.openxmlformats.org/officeDocument/2006/relationships/image" Target="../media/image74.png"/><Relationship Id="rId7" Type="http://schemas.openxmlformats.org/officeDocument/2006/relationships/image" Target="../media/image56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65.png"/><Relationship Id="rId20" Type="http://schemas.openxmlformats.org/officeDocument/2006/relationships/image" Target="../media/image8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8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84.jpeg"/><Relationship Id="rId6" Type="http://schemas.openxmlformats.org/officeDocument/2006/relationships/image" Target="../media/image85.jpeg"/><Relationship Id="rId7" Type="http://schemas.openxmlformats.org/officeDocument/2006/relationships/image" Target="../media/image86.jpeg"/><Relationship Id="rId8" Type="http://schemas.openxmlformats.org/officeDocument/2006/relationships/image" Target="../media/image87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8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8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232202" y="4742183"/>
            <a:ext cx="15823606" cy="11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67049"/>
            <a:ext cx="13922893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121015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520436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886825"/>
            <a:ext cx="13525500" cy="5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34609"/>
            <a:ext cx="13600671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146" t="0" r="-54146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4384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26080" y="2705100"/>
            <a:ext cx="60350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26080" y="3267456"/>
            <a:ext cx="603504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146" t="0" r="-54146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4384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338560" y="2705100"/>
            <a:ext cx="60350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38560" y="3267456"/>
            <a:ext cx="603504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146" t="0" r="-54146" b="0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4384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926080" y="4991100"/>
            <a:ext cx="60350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26080" y="5553456"/>
            <a:ext cx="603504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146" t="0" r="-54146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4384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338560" y="4991100"/>
            <a:ext cx="60350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38560" y="5553456"/>
            <a:ext cx="603504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146" t="0" r="-54146" b="0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4384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2926080" y="7277100"/>
            <a:ext cx="60350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926080" y="7839456"/>
            <a:ext cx="603504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146" t="0" r="-54146" b="0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4384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338560" y="7277100"/>
            <a:ext cx="6035040" cy="54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338560" y="7839456"/>
            <a:ext cx="603504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429" r="0" b="-392428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304324"/>
            <a:ext cx="10972800" cy="518636"/>
            <a:chOff x="0" y="0"/>
            <a:chExt cx="14630400" cy="6915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691516"/>
            </a:xfrm>
            <a:custGeom>
              <a:avLst/>
              <a:gdLst/>
              <a:ahLst/>
              <a:cxnLst/>
              <a:rect r="r" b="b" t="t" l="l"/>
              <a:pathLst>
                <a:path h="6915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91516"/>
                  </a:lnTo>
                  <a:lnTo>
                    <a:pt x="0" y="691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2245" r="0" b="-362244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6304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28480" cy="1674494"/>
            </a:xfrm>
            <a:custGeom>
              <a:avLst/>
              <a:gdLst/>
              <a:ahLst/>
              <a:cxnLst/>
              <a:rect r="r" b="b" t="t" l="l"/>
              <a:pathLst>
                <a:path h="16744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4"/>
                  </a:lnTo>
                  <a:lnTo>
                    <a:pt x="0" y="16744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495" r="0" b="-20749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212848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3" r="0" b="-123"/>
            </a:stretch>
          </a:blipFill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1195816" y="2554576"/>
            <a:ext cx="4556855" cy="1149953"/>
            <a:chOff x="0" y="0"/>
            <a:chExt cx="6075807" cy="15332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5816" y="2618870"/>
            <a:ext cx="4556884" cy="1085707"/>
            <a:chOff x="0" y="0"/>
            <a:chExt cx="6075845" cy="14476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6" r="0" b="-31730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5816" y="2683164"/>
            <a:ext cx="4556884" cy="1021413"/>
            <a:chOff x="0" y="0"/>
            <a:chExt cx="6075845" cy="13618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75845" cy="1361884"/>
            </a:xfrm>
            <a:custGeom>
              <a:avLst/>
              <a:gdLst/>
              <a:ahLst/>
              <a:cxnLst/>
              <a:rect r="r" b="b" t="t" l="l"/>
              <a:pathLst>
                <a:path h="1361884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361884"/>
                  </a:lnTo>
                  <a:lnTo>
                    <a:pt x="0" y="13618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929" r="0" b="-36929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85725"/>
              <a:ext cx="6075845" cy="1276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95816" y="3690280"/>
            <a:ext cx="4556884" cy="121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cães e gatos se perderam ao menos uma vez em cinco anos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5816" y="4830280"/>
            <a:ext cx="4556884" cy="44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3" r="0" b="-123"/>
            </a:stretch>
          </a:blipFill>
        </p:spPr>
        <p:txBody>
          <a:bodyPr/>
          <a:p/>
        </p:txBody>
      </p:sp>
      <p:grpSp>
        <p:nvGrpSpPr>
          <p:cNvPr name="Group 40" id="40"/>
          <p:cNvGrpSpPr/>
          <p:nvPr/>
        </p:nvGrpSpPr>
        <p:grpSpPr>
          <a:xfrm rot="0">
            <a:off x="6842693" y="2554576"/>
            <a:ext cx="4556855" cy="1149953"/>
            <a:chOff x="0" y="0"/>
            <a:chExt cx="6075807" cy="15332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42693" y="2618870"/>
            <a:ext cx="4556884" cy="1085707"/>
            <a:chOff x="0" y="0"/>
            <a:chExt cx="6075845" cy="14476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6" r="0" b="-3173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42693" y="2683164"/>
            <a:ext cx="4556884" cy="1021413"/>
            <a:chOff x="0" y="0"/>
            <a:chExt cx="6075845" cy="13618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75845" cy="1361884"/>
            </a:xfrm>
            <a:custGeom>
              <a:avLst/>
              <a:gdLst/>
              <a:ahLst/>
              <a:cxnLst/>
              <a:rect r="r" b="b" t="t" l="l"/>
              <a:pathLst>
                <a:path h="1361884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361884"/>
                  </a:lnTo>
                  <a:lnTo>
                    <a:pt x="0" y="13618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929" r="0" b="-36929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85725"/>
              <a:ext cx="6075845" cy="1276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842693" y="3690280"/>
            <a:ext cx="4556884" cy="121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estavam a até 500 m do ponto de fuga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42693" y="4830280"/>
            <a:ext cx="4556884" cy="44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3" r="0" b="-123"/>
            </a:stretch>
          </a:blipFill>
        </p:spPr>
        <p:txBody>
          <a:bodyPr/>
          <a:p/>
        </p:txBody>
      </p:sp>
      <p:grpSp>
        <p:nvGrpSpPr>
          <p:cNvPr name="Group 50" id="50"/>
          <p:cNvGrpSpPr/>
          <p:nvPr/>
        </p:nvGrpSpPr>
        <p:grpSpPr>
          <a:xfrm rot="0">
            <a:off x="12489580" y="2554576"/>
            <a:ext cx="4556855" cy="1149953"/>
            <a:chOff x="0" y="0"/>
            <a:chExt cx="6075807" cy="15332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489580" y="2618870"/>
            <a:ext cx="4556884" cy="1085707"/>
            <a:chOff x="0" y="0"/>
            <a:chExt cx="6075845" cy="144761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6" r="0" b="-31730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89580" y="2683164"/>
            <a:ext cx="4556884" cy="1021413"/>
            <a:chOff x="0" y="0"/>
            <a:chExt cx="6075845" cy="13618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75845" cy="1361884"/>
            </a:xfrm>
            <a:custGeom>
              <a:avLst/>
              <a:gdLst/>
              <a:ahLst/>
              <a:cxnLst/>
              <a:rect r="r" b="b" t="t" l="l"/>
              <a:pathLst>
                <a:path h="1361884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361884"/>
                  </a:lnTo>
                  <a:lnTo>
                    <a:pt x="0" y="13618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929" r="0" b="-36929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85725"/>
              <a:ext cx="6075845" cy="1276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50%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489580" y="3690280"/>
            <a:ext cx="4556884" cy="121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 apareceram nos primeiros 30 dias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89580" y="4830280"/>
            <a:ext cx="4556884" cy="44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" t="0" r="-11" b="0"/>
            </a:stretch>
          </a:blipFill>
        </p:spPr>
        <p:txBody>
          <a:bodyPr/>
          <a:p/>
        </p:txBody>
      </p:sp>
      <p:sp>
        <p:nvSpPr>
          <p:cNvPr name="Freeform 60" id="60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1" id="61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62" id="62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63" id="63"/>
          <p:cNvSpPr txBox="true"/>
          <p:nvPr/>
        </p:nvSpPr>
        <p:spPr>
          <a:xfrm rot="0">
            <a:off x="2625814" y="5829976"/>
            <a:ext cx="5950325" cy="72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625814" y="6485696"/>
            <a:ext cx="5950325" cy="131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" t="0" r="-11" b="0"/>
            </a:stretch>
          </a:blipFill>
        </p:spPr>
        <p:txBody>
          <a:bodyPr/>
          <a:p/>
        </p:txBody>
      </p:sp>
      <p:sp>
        <p:nvSpPr>
          <p:cNvPr name="Freeform 66" id="66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7" id="67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68" id="68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69" id="69"/>
          <p:cNvSpPr txBox="true"/>
          <p:nvPr/>
        </p:nvSpPr>
        <p:spPr>
          <a:xfrm rot="0">
            <a:off x="11096139" y="5829976"/>
            <a:ext cx="5950325" cy="72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096139" y="6485696"/>
            <a:ext cx="5950325" cy="131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8368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3811905"/>
            <a:ext cx="51206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5296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296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33" id="33"/>
          <p:cNvSpPr/>
          <p:nvPr/>
        </p:nvSpPr>
        <p:spPr>
          <a:xfrm rot="1980">
            <a:off x="895340" y="6569393"/>
            <a:ext cx="1649731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4" id="34"/>
          <p:cNvSpPr txBox="true"/>
          <p:nvPr/>
        </p:nvSpPr>
        <p:spPr>
          <a:xfrm rot="0">
            <a:off x="9144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7326630"/>
            <a:ext cx="694944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6829425"/>
            <a:ext cx="7315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0" y="7326630"/>
            <a:ext cx="804672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de usabilidade e vulnerabilidade.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59200" y="9624060"/>
            <a:ext cx="914400" cy="4800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59200" y="9624060"/>
            <a:ext cx="914400" cy="4800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980">
            <a:off x="904875" y="4196715"/>
            <a:ext cx="1647825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9" id="19"/>
          <p:cNvSpPr txBox="true"/>
          <p:nvPr/>
        </p:nvSpPr>
        <p:spPr>
          <a:xfrm rot="0">
            <a:off x="914400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4046220"/>
            <a:ext cx="320040" cy="320040"/>
            <a:chOff x="0" y="0"/>
            <a:chExt cx="426720" cy="426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65713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65713" y="4046220"/>
            <a:ext cx="320040" cy="320040"/>
            <a:chOff x="0" y="0"/>
            <a:chExt cx="426720" cy="426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65713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5713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17026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17026" y="4046220"/>
            <a:ext cx="320040" cy="320040"/>
            <a:chOff x="0" y="0"/>
            <a:chExt cx="426720" cy="426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32" id="32"/>
          <p:cNvSpPr txBox="true"/>
          <p:nvPr/>
        </p:nvSpPr>
        <p:spPr>
          <a:xfrm rot="0">
            <a:off x="5617026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7026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68339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68339" y="4046220"/>
            <a:ext cx="320040" cy="320040"/>
            <a:chOff x="0" y="0"/>
            <a:chExt cx="426720" cy="426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7968339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68339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19652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319652" y="4046220"/>
            <a:ext cx="320040" cy="320040"/>
            <a:chOff x="0" y="0"/>
            <a:chExt cx="426720" cy="426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319652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19652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70974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670974" y="4046220"/>
            <a:ext cx="320040" cy="320040"/>
            <a:chOff x="0" y="0"/>
            <a:chExt cx="426720" cy="426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670974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70974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22287" y="1885950"/>
            <a:ext cx="225987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022287" y="4046220"/>
            <a:ext cx="320040" cy="320040"/>
            <a:chOff x="0" y="0"/>
            <a:chExt cx="426720" cy="426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sp>
        <p:nvSpPr>
          <p:cNvPr name="TextBox 52" id="52"/>
          <p:cNvSpPr txBox="true"/>
          <p:nvPr/>
        </p:nvSpPr>
        <p:spPr>
          <a:xfrm rot="0">
            <a:off x="15022287" y="4453890"/>
            <a:ext cx="2259873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22287" y="5208270"/>
            <a:ext cx="2168433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11" id="11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0" r="0" b="-11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630400" y="223456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30400" y="305752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21" id="21"/>
          <p:cNvSpPr/>
          <p:nvPr/>
        </p:nvSpPr>
        <p:spPr>
          <a:xfrm rot="5940">
            <a:off x="11868131" y="4191953"/>
            <a:ext cx="552454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630400" y="442912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30400" y="525208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31" id="31"/>
          <p:cNvSpPr/>
          <p:nvPr/>
        </p:nvSpPr>
        <p:spPr>
          <a:xfrm rot="5940">
            <a:off x="11868131" y="6386512"/>
            <a:ext cx="552454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2" id="32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096" t="0" r="-19096" b="0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6576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630400" y="6623685"/>
            <a:ext cx="2743200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30400" y="7446645"/>
            <a:ext cx="27432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8635365"/>
            <a:ext cx="164592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14400" y="2194560"/>
          <a:ext cx="16383000" cy="6896100"/>
        </p:xfrm>
        <a:graphic>
          <a:graphicData uri="http://schemas.openxmlformats.org/drawingml/2006/table">
            <a:tbl>
              <a:tblPr/>
              <a:tblGrid>
                <a:gridCol w="6735233"/>
                <a:gridCol w="1929553"/>
                <a:gridCol w="1929553"/>
                <a:gridCol w="1929553"/>
                <a:gridCol w="1929553"/>
                <a:gridCol w="1929553"/>
              </a:tblGrid>
              <a:tr h="5828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6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66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74494"/>
            </a:xfrm>
            <a:custGeom>
              <a:avLst/>
              <a:gdLst/>
              <a:ahLst/>
              <a:cxnLst/>
              <a:rect r="r" b="b" t="t" l="l"/>
              <a:pathLst>
                <a:path h="16744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4"/>
                  </a:lnTo>
                  <a:lnTo>
                    <a:pt x="0" y="16744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495" r="0" b="-207495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12848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requisitos funcionais centrais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45" r="0" b="-19145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23" id="2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4" id="24"/>
          <p:cNvSpPr txBox="true"/>
          <p:nvPr/>
        </p:nvSpPr>
        <p:spPr>
          <a:xfrm rot="0">
            <a:off x="2331720" y="2412806"/>
            <a:ext cx="370332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31720" y="2930966"/>
            <a:ext cx="370332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45" r="0" b="-19145"/>
            </a:stretch>
          </a:blipFill>
        </p:spPr>
        <p:txBody>
          <a:bodyPr/>
          <a:p/>
        </p:txBody>
      </p:sp>
      <p:sp>
        <p:nvSpPr>
          <p:cNvPr name="Freeform 27" id="27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8" id="28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7955280" y="2412806"/>
            <a:ext cx="370332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55280" y="2930966"/>
            <a:ext cx="370332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45" r="0" b="-19145"/>
            </a:stretch>
          </a:blipFill>
        </p:spPr>
        <p:txBody>
          <a:bodyPr/>
          <a:p/>
        </p:txBody>
      </p:sp>
      <p:sp>
        <p:nvSpPr>
          <p:cNvPr name="Freeform 33" id="33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4" id="34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578840" y="2412806"/>
            <a:ext cx="370332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78840" y="2930966"/>
            <a:ext cx="370332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45" r="0" b="-19145"/>
            </a:stretch>
          </a:blipFill>
        </p:spPr>
        <p:txBody>
          <a:bodyPr/>
          <a:p/>
        </p:txBody>
      </p:sp>
      <p:sp>
        <p:nvSpPr>
          <p:cNvPr name="Freeform 39" id="39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0" id="40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2" id="42"/>
          <p:cNvSpPr txBox="true"/>
          <p:nvPr/>
        </p:nvSpPr>
        <p:spPr>
          <a:xfrm rot="0">
            <a:off x="2331720" y="4241606"/>
            <a:ext cx="370332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4759766"/>
            <a:ext cx="370332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45" r="0" b="-19145"/>
            </a:stretch>
          </a:blipFill>
        </p:spPr>
        <p:txBody>
          <a:bodyPr/>
          <a:p/>
        </p:txBody>
      </p:sp>
      <p:sp>
        <p:nvSpPr>
          <p:cNvPr name="Freeform 45" id="45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6" id="46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8" id="48"/>
          <p:cNvSpPr txBox="true"/>
          <p:nvPr/>
        </p:nvSpPr>
        <p:spPr>
          <a:xfrm rot="0">
            <a:off x="7955280" y="4241606"/>
            <a:ext cx="370332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955280" y="4759766"/>
            <a:ext cx="370332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45" r="0" b="-19145"/>
            </a:stretch>
          </a:blipFill>
        </p:spPr>
        <p:txBody>
          <a:bodyPr/>
          <a:p/>
        </p:txBody>
      </p:sp>
      <p:sp>
        <p:nvSpPr>
          <p:cNvPr name="Freeform 51" id="51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2" id="52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578840" y="4241606"/>
            <a:ext cx="370332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578840" y="4759766"/>
            <a:ext cx="3703320" cy="57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  <p:txBody>
            <a:bodyPr/>
            <a:p/>
          </p:txBody>
        </p:sp>
      </p:grpSp>
      <p:sp>
        <p:nvSpPr>
          <p:cNvPr name="TextBox 60" id="60"/>
          <p:cNvSpPr txBox="true"/>
          <p:nvPr/>
        </p:nvSpPr>
        <p:spPr>
          <a:xfrm rot="0">
            <a:off x="1161288" y="6160770"/>
            <a:ext cx="4754880" cy="66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  <p:txBody>
            <a:bodyPr/>
            <a:p/>
          </p:txBody>
        </p:sp>
      </p:grpSp>
      <p:sp>
        <p:nvSpPr>
          <p:cNvPr name="TextBox 63" id="63"/>
          <p:cNvSpPr txBox="true"/>
          <p:nvPr/>
        </p:nvSpPr>
        <p:spPr>
          <a:xfrm rot="0">
            <a:off x="6784848" y="6160770"/>
            <a:ext cx="4754880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de uma Publicação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  <p:txBody>
            <a:bodyPr/>
            <a:p/>
          </p:txBody>
        </p:sp>
      </p:grpSp>
      <p:sp>
        <p:nvSpPr>
          <p:cNvPr name="TextBox 66" id="66"/>
          <p:cNvSpPr txBox="true"/>
          <p:nvPr/>
        </p:nvSpPr>
        <p:spPr>
          <a:xfrm rot="0">
            <a:off x="12408408" y="6160770"/>
            <a:ext cx="4754880" cy="66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  <p:txBody>
            <a:bodyPr/>
            <a:p/>
          </p:txBody>
        </p:sp>
      </p:grpSp>
      <p:sp>
        <p:nvSpPr>
          <p:cNvPr name="TextBox 69" id="69"/>
          <p:cNvSpPr txBox="true"/>
          <p:nvPr/>
        </p:nvSpPr>
        <p:spPr>
          <a:xfrm rot="0">
            <a:off x="1161288" y="7532370"/>
            <a:ext cx="4754880" cy="66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Comprovação de tutela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  <p:txBody>
            <a:bodyPr/>
            <a:p/>
          </p:txBody>
        </p:sp>
      </p:grpSp>
      <p:sp>
        <p:nvSpPr>
          <p:cNvPr name="TextBox 72" id="72"/>
          <p:cNvSpPr txBox="true"/>
          <p:nvPr/>
        </p:nvSpPr>
        <p:spPr>
          <a:xfrm rot="0">
            <a:off x="6784848" y="7532370"/>
            <a:ext cx="4754880" cy="66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 Meus pets e carteirinha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  <p:txBody>
            <a:bodyPr/>
            <a:p/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408408" y="7532370"/>
            <a:ext cx="4754880" cy="66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RF20  Adoção responsável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176" r="0" b="-292176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62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68" r="0" b="-208968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8" id="1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19" id="1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8036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036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5" id="2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315700" y="261175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15700" y="345186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9" id="2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0" id="3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2" id="32"/>
          <p:cNvSpPr txBox="true"/>
          <p:nvPr/>
        </p:nvSpPr>
        <p:spPr>
          <a:xfrm rot="0">
            <a:off x="288036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35" id="3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6" id="3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315700" y="5766435"/>
            <a:ext cx="576072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06540"/>
            <a:ext cx="576072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635365"/>
            <a:ext cx="1659636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116"/>
            <a:chOff x="0" y="0"/>
            <a:chExt cx="21945600" cy="50961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1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60"/>
            <a:chOff x="0" y="0"/>
            <a:chExt cx="21945600" cy="51056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80"/>
            </a:xfrm>
            <a:custGeom>
              <a:avLst/>
              <a:gdLst/>
              <a:ahLst/>
              <a:cxnLst/>
              <a:rect r="r" b="b" t="t" l="l"/>
              <a:pathLst>
                <a:path h="5105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80"/>
                  </a:lnTo>
                  <a:lnTo>
                    <a:pt x="0" y="510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751" r="0" b="-33751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5115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1980">
            <a:off x="887406" y="2961894"/>
            <a:ext cx="16513197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914400" y="3596640"/>
            <a:ext cx="38404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4168140"/>
            <a:ext cx="38404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5021580"/>
            <a:ext cx="374904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5120640" y="3596640"/>
            <a:ext cx="38404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20640" y="4168140"/>
            <a:ext cx="38404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0640" y="5021580"/>
            <a:ext cx="374904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9326880" y="3596640"/>
            <a:ext cx="38404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6880" y="4168140"/>
            <a:ext cx="38404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6880" y="5021580"/>
            <a:ext cx="374904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13533120" y="3596640"/>
            <a:ext cx="38404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33120" y="4168140"/>
            <a:ext cx="38404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3120" y="5021580"/>
            <a:ext cx="374904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0" id="30"/>
          <p:cNvSpPr txBox="true"/>
          <p:nvPr/>
        </p:nvSpPr>
        <p:spPr>
          <a:xfrm rot="0">
            <a:off x="1499616" y="6947916"/>
            <a:ext cx="33832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9616" y="7399020"/>
            <a:ext cx="338328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3" id="33"/>
          <p:cNvSpPr txBox="true"/>
          <p:nvPr/>
        </p:nvSpPr>
        <p:spPr>
          <a:xfrm rot="0">
            <a:off x="5705856" y="6947916"/>
            <a:ext cx="33832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05856" y="7399020"/>
            <a:ext cx="338328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6" id="36"/>
          <p:cNvSpPr txBox="true"/>
          <p:nvPr/>
        </p:nvSpPr>
        <p:spPr>
          <a:xfrm rot="0">
            <a:off x="14118336" y="6947916"/>
            <a:ext cx="33832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18336" y="7399020"/>
            <a:ext cx="338328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770620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  <p:txBody>
            <a:bodyPr/>
            <a:p/>
          </p:txBody>
        </p:sp>
      </p:grpSp>
      <p:sp>
        <p:nvSpPr>
          <p:cNvPr name="TextBox 51" id="51"/>
          <p:cNvSpPr txBox="true"/>
          <p:nvPr/>
        </p:nvSpPr>
        <p:spPr>
          <a:xfrm rot="0">
            <a:off x="9912096" y="6947916"/>
            <a:ext cx="33832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12096" y="7399020"/>
            <a:ext cx="338328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74494"/>
            </a:xfrm>
            <a:custGeom>
              <a:avLst/>
              <a:gdLst/>
              <a:ahLst/>
              <a:cxnLst/>
              <a:rect r="r" b="b" t="t" l="l"/>
              <a:pathLst>
                <a:path h="16744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4"/>
                  </a:lnTo>
                  <a:lnTo>
                    <a:pt x="0" y="16744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495" r="0" b="-207495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12848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3" id="2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4" id="24"/>
          <p:cNvSpPr txBox="true"/>
          <p:nvPr/>
        </p:nvSpPr>
        <p:spPr>
          <a:xfrm rot="0">
            <a:off x="2880360" y="254508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80360" y="341376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aprovação libera o endereço exato.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27" id="27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8" id="28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315700" y="254508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15700" y="341376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mapa em grade de ~100 m.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33" id="33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4" id="34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36" id="36"/>
          <p:cNvSpPr txBox="true"/>
          <p:nvPr/>
        </p:nvSpPr>
        <p:spPr>
          <a:xfrm rot="0">
            <a:off x="2880360" y="569976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656844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39" id="39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0" id="40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315700" y="569976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656844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" y="8587740"/>
            <a:ext cx="1659636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16 de 20 participantes preferiram ocultar o endereço exato.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-144434"/>
            <a:ext cx="16459200" cy="2781952"/>
            <a:chOff x="0" y="0"/>
            <a:chExt cx="21945600" cy="3709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70"/>
            </a:xfrm>
            <a:custGeom>
              <a:avLst/>
              <a:gdLst/>
              <a:ahLst/>
              <a:cxnLst/>
              <a:rect r="r" b="b" t="t" l="l"/>
              <a:pathLst>
                <a:path h="370927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70"/>
                  </a:lnTo>
                  <a:lnTo>
                    <a:pt x="0" y="3709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303" r="0" b="-35259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945600" cy="370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1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960" y="25469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b="true" sz="2799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960" y="29813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960" y="43757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b="true" sz="2799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2960" y="4810125"/>
            <a:ext cx="667512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Publica, registra avistamentos, conversa, recebe avisos e sugestões, cadastra seus pets e pede ou analisa comprovação de tutela.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960" y="7118985"/>
            <a:ext cx="667512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b="true" sz="2799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" y="7553325"/>
            <a:ext cx="6675120" cy="23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45801" y="-106334"/>
            <a:ext cx="9304839" cy="10431434"/>
            <a:chOff x="0" y="0"/>
            <a:chExt cx="9243974" cy="10363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43949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9243949">
                  <a:moveTo>
                    <a:pt x="0" y="0"/>
                  </a:moveTo>
                  <a:lnTo>
                    <a:pt x="9243949" y="0"/>
                  </a:lnTo>
                  <a:lnTo>
                    <a:pt x="9243949" y="10363200"/>
                  </a:lnTo>
                  <a:lnTo>
                    <a:pt x="0" y="1036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57569" y="124573"/>
            <a:ext cx="11398700" cy="10669183"/>
            <a:chOff x="0" y="0"/>
            <a:chExt cx="13025641" cy="1219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25628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3025628">
                  <a:moveTo>
                    <a:pt x="0" y="0"/>
                  </a:moveTo>
                  <a:lnTo>
                    <a:pt x="13025628" y="0"/>
                  </a:lnTo>
                  <a:lnTo>
                    <a:pt x="13025628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2225040"/>
            <a:ext cx="603504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2627376"/>
            <a:ext cx="603504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preferências de aviso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413760"/>
            <a:ext cx="603504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3816096"/>
            <a:ext cx="603504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4602480"/>
            <a:ext cx="603504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5004816"/>
            <a:ext cx="603504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5791200"/>
            <a:ext cx="603504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6193536"/>
            <a:ext cx="603504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6979920"/>
            <a:ext cx="603504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7382256"/>
            <a:ext cx="603504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AnimalEstimacao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168640"/>
            <a:ext cx="603504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570976"/>
            <a:ext cx="603504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pelo administrador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2665476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20" id="20"/>
          <p:cNvSpPr/>
          <p:nvPr/>
        </p:nvSpPr>
        <p:spPr>
          <a:xfrm rot="1980">
            <a:off x="895340" y="3954208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1" id="21"/>
          <p:cNvSpPr txBox="true"/>
          <p:nvPr/>
        </p:nvSpPr>
        <p:spPr>
          <a:xfrm rot="0">
            <a:off x="914400" y="4549140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923" r="0" b="-1923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32" id="32"/>
          <p:cNvSpPr/>
          <p:nvPr/>
        </p:nvSpPr>
        <p:spPr>
          <a:xfrm rot="1980">
            <a:off x="895340" y="583787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3" id="33"/>
          <p:cNvSpPr txBox="true"/>
          <p:nvPr/>
        </p:nvSpPr>
        <p:spPr>
          <a:xfrm rot="0">
            <a:off x="914400" y="6432804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AutoShape 38" id="38"/>
          <p:cNvSpPr/>
          <p:nvPr/>
        </p:nvSpPr>
        <p:spPr>
          <a:xfrm rot="1980">
            <a:off x="895340" y="7721536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9" id="39"/>
          <p:cNvSpPr txBox="true"/>
          <p:nvPr/>
        </p:nvSpPr>
        <p:spPr>
          <a:xfrm rot="0">
            <a:off x="914400" y="8316468"/>
            <a:ext cx="457200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2137410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998464" y="30312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82128" y="30312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65792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649456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533120" y="3031236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14400" y="4021074"/>
            <a:ext cx="4572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29184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912848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96512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80176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563840" y="4914900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4400" y="5904738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998464" y="6798564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82128" y="6798564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14400" y="7788402"/>
            <a:ext cx="4572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998464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882128" y="8682228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65792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649456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33120" y="8682228"/>
            <a:ext cx="18288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416784" y="8682228"/>
            <a:ext cx="18653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85" id="85"/>
          <p:cNvSpPr txBox="true"/>
          <p:nvPr/>
        </p:nvSpPr>
        <p:spPr>
          <a:xfrm rot="0">
            <a:off x="6053328" y="4899660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49647" t="0" r="-49647" b="0"/>
              </a:stretch>
            </a:blipFill>
          </p:spPr>
          <p:txBody>
            <a:bodyPr/>
            <a:p/>
          </p:txBody>
        </p:sp>
      </p:grpSp>
      <p:sp>
        <p:nvSpPr>
          <p:cNvPr name="TextBox 88" id="88"/>
          <p:cNvSpPr txBox="true"/>
          <p:nvPr/>
        </p:nvSpPr>
        <p:spPr>
          <a:xfrm rot="0">
            <a:off x="15345918" y="3031236"/>
            <a:ext cx="1828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0588" y="2170748"/>
            <a:ext cx="5899785" cy="6539865"/>
            <a:chOff x="0" y="0"/>
            <a:chExt cx="7866380" cy="87198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6380" cy="8719820"/>
            </a:xfrm>
            <a:custGeom>
              <a:avLst/>
              <a:gdLst/>
              <a:ahLst/>
              <a:cxnLst/>
              <a:rect r="r" b="b" t="t" l="l"/>
              <a:pathLst>
                <a:path h="8719820" w="7866380">
                  <a:moveTo>
                    <a:pt x="0" y="0"/>
                  </a:moveTo>
                  <a:lnTo>
                    <a:pt x="7866380" y="0"/>
                  </a:lnTo>
                  <a:lnTo>
                    <a:pt x="786638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88720" y="2283714"/>
            <a:ext cx="53035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31468" y="2170748"/>
            <a:ext cx="5351145" cy="6539865"/>
            <a:chOff x="0" y="0"/>
            <a:chExt cx="7134860" cy="8719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4860" cy="8719820"/>
            </a:xfrm>
            <a:custGeom>
              <a:avLst/>
              <a:gdLst/>
              <a:ahLst/>
              <a:cxnLst/>
              <a:rect r="r" b="b" t="t" l="l"/>
              <a:pathLst>
                <a:path h="8719820" w="7134860">
                  <a:moveTo>
                    <a:pt x="0" y="0"/>
                  </a:moveTo>
                  <a:lnTo>
                    <a:pt x="7134860" y="0"/>
                  </a:lnTo>
                  <a:lnTo>
                    <a:pt x="713486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29600" y="2283714"/>
            <a:ext cx="47548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423707" y="2170748"/>
            <a:ext cx="2973705" cy="6539865"/>
            <a:chOff x="0" y="0"/>
            <a:chExt cx="3964940" cy="8719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64940" cy="8719820"/>
            </a:xfrm>
            <a:custGeom>
              <a:avLst/>
              <a:gdLst/>
              <a:ahLst/>
              <a:cxnLst/>
              <a:rect r="r" b="b" t="t" l="l"/>
              <a:pathLst>
                <a:path h="8719820" w="3964940">
                  <a:moveTo>
                    <a:pt x="0" y="0"/>
                  </a:moveTo>
                  <a:lnTo>
                    <a:pt x="3964940" y="0"/>
                  </a:lnTo>
                  <a:lnTo>
                    <a:pt x="3964940" y="8719820"/>
                  </a:lnTo>
                  <a:lnTo>
                    <a:pt x="0" y="87198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721840" y="2283714"/>
            <a:ext cx="23774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0" id="20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9" id="29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38" id="38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47" id="47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65" id="65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74" id="74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83" id="83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92" id="92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3" r="0" b="-3973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2560320" cy="971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01" id="10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9052560" y="296608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052560" y="339699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922" r="0" b="-1924"/>
              </a:stretch>
            </a:blipFill>
          </p:spPr>
          <p:txBody>
            <a:bodyPr/>
            <a:p/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9052560" y="406336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052560" y="449427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09" id="10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9052560" y="516064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052560" y="559155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13" id="11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9052560" y="625792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052560" y="668883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17" id="11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9052560" y="7355205"/>
            <a:ext cx="402336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052560" y="7786116"/>
            <a:ext cx="4023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4721840" y="4520565"/>
            <a:ext cx="256032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4721840" y="4951476"/>
            <a:ext cx="256032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123" id="12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14721840" y="6532245"/>
            <a:ext cx="2560320" cy="54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4721840" y="6963156"/>
            <a:ext cx="256032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26" id="126"/>
          <p:cNvSpPr/>
          <p:nvPr/>
        </p:nvSpPr>
        <p:spPr>
          <a:xfrm rot="59760">
            <a:off x="6812766" y="5274945"/>
            <a:ext cx="1096289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127" id="127"/>
          <p:cNvSpPr txBox="true"/>
          <p:nvPr/>
        </p:nvSpPr>
        <p:spPr>
          <a:xfrm rot="0">
            <a:off x="6675120" y="4549140"/>
            <a:ext cx="1371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28" id="128"/>
          <p:cNvSpPr/>
          <p:nvPr/>
        </p:nvSpPr>
        <p:spPr>
          <a:xfrm rot="59760">
            <a:off x="13305006" y="5274945"/>
            <a:ext cx="1096289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129" id="129"/>
          <p:cNvSpPr txBox="true"/>
          <p:nvPr/>
        </p:nvSpPr>
        <p:spPr>
          <a:xfrm rot="0">
            <a:off x="13167360" y="4549140"/>
            <a:ext cx="1371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4545" r="0" b="-4545"/>
              </a:stretch>
            </a:blipFill>
          </p:spPr>
          <p:txBody>
            <a:bodyPr/>
            <a:p/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5087600" y="5687568"/>
            <a:ext cx="329184" cy="329184"/>
            <a:chOff x="0" y="0"/>
            <a:chExt cx="438912" cy="438912"/>
          </a:xfrm>
        </p:grpSpPr>
        <p:sp>
          <p:nvSpPr>
            <p:cNvPr name="Freeform 141" id="141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0–100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144000" y="2613660"/>
            <a:ext cx="82296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 entre perdido e encontrado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3794760"/>
            <a:ext cx="804672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AutoShape 23" id="23"/>
          <p:cNvSpPr/>
          <p:nvPr/>
        </p:nvSpPr>
        <p:spPr>
          <a:xfrm rot="1980">
            <a:off x="890578" y="5467350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91440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Atributos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Espécie, sexo, porte, raça, pelagem e idade.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Distância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68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Haversine; sem GPS, compara cidade e bairro.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5296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5296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 na lista; 60 pts geram aviso (até 3).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8679180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incompatíveis são descartados. Pesos definidos de forma empírica, ainda sem calibração com casos reais.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1" id="11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0160" y="7863288"/>
            <a:ext cx="566928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8702040"/>
            <a:ext cx="64008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69447" y="6833740"/>
            <a:ext cx="2942863" cy="104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97115" y="2324576"/>
            <a:ext cx="3218593" cy="2249996"/>
            <a:chOff x="0" y="0"/>
            <a:chExt cx="4291457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sp>
        <p:nvSpPr>
          <p:cNvPr name="TextBox 25" id="25"/>
          <p:cNvSpPr txBox="true"/>
          <p:nvPr/>
        </p:nvSpPr>
        <p:spPr>
          <a:xfrm rot="0">
            <a:off x="740711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0711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02464" y="2324576"/>
            <a:ext cx="3218593" cy="2249996"/>
            <a:chOff x="0" y="0"/>
            <a:chExt cx="4291457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81246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1246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207804" y="2324576"/>
            <a:ext cx="3218593" cy="2249996"/>
            <a:chOff x="0" y="0"/>
            <a:chExt cx="4291457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  <p:txBody>
            <a:bodyPr/>
            <a:p/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217806" y="4533128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17806" y="4991700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397115" y="5849998"/>
            <a:ext cx="3218593" cy="2249996"/>
            <a:chOff x="0" y="0"/>
            <a:chExt cx="4291457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740711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0711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02464" y="5849998"/>
            <a:ext cx="3218593" cy="2249996"/>
            <a:chOff x="0" y="0"/>
            <a:chExt cx="4291457" cy="29999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  <p:txBody>
            <a:bodyPr/>
            <a:p/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81246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1246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207804" y="5849998"/>
            <a:ext cx="3218593" cy="2249996"/>
            <a:chOff x="0" y="0"/>
            <a:chExt cx="4291457" cy="299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  <p:txBody>
            <a:bodyPr/>
            <a:p/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217806" y="8058550"/>
            <a:ext cx="3218659" cy="6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17806" y="8517122"/>
            <a:ext cx="3218659" cy="5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" t="0" r="-72" b="0"/>
              </a:stretch>
            </a:blip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016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3" id="13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8" t="0" r="-97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0352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94164" y="2103120"/>
            <a:ext cx="3162300" cy="7040880"/>
            <a:chOff x="0" y="0"/>
            <a:chExt cx="4216400" cy="9387840"/>
          </a:xfrm>
        </p:grpSpPr>
        <p:sp>
          <p:nvSpPr>
            <p:cNvPr name="Freeform 16" id="16" descr="/tmp/un/ppt/media/image40.jpeg"/>
            <p:cNvSpPr/>
            <p:nvPr/>
          </p:nvSpPr>
          <p:spPr>
            <a:xfrm flipH="false" flipV="false" rot="0">
              <a:off x="0" y="0"/>
              <a:ext cx="421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2" t="0" r="-121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52576" y="2103120"/>
            <a:ext cx="3163824" cy="7040880"/>
            <a:chOff x="0" y="0"/>
            <a:chExt cx="4218432" cy="9387840"/>
          </a:xfrm>
        </p:grpSpPr>
        <p:sp>
          <p:nvSpPr>
            <p:cNvPr name="Freeform 18" id="18" descr="/tmp/un/ppt/media/image41.jpeg"/>
            <p:cNvSpPr/>
            <p:nvPr/>
          </p:nvSpPr>
          <p:spPr>
            <a:xfrm flipH="false" flipV="false" rot="6000">
              <a:off x="-8189" y="-3674"/>
              <a:ext cx="4234810" cy="9395188"/>
            </a:xfrm>
            <a:custGeom>
              <a:avLst/>
              <a:gdLst/>
              <a:ahLst/>
              <a:cxnLst/>
              <a:rect r="r" b="b" t="t" l="l"/>
              <a:pathLst>
                <a:path h="9395188" w="4234810">
                  <a:moveTo>
                    <a:pt x="0" y="7362"/>
                  </a:moveTo>
                  <a:lnTo>
                    <a:pt x="4218425" y="0"/>
                  </a:lnTo>
                  <a:lnTo>
                    <a:pt x="4234810" y="9387826"/>
                  </a:lnTo>
                  <a:lnTo>
                    <a:pt x="16385" y="9395188"/>
                  </a:lnTo>
                  <a:lnTo>
                    <a:pt x="0" y="7362"/>
                  </a:lnTo>
                  <a:close/>
                </a:path>
              </a:pathLst>
            </a:custGeom>
            <a:blipFill>
              <a:blip r:embed="rId8"/>
              <a:stretch>
                <a:fillRect l="-1702" t="0" r="-3201" b="-502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688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50240" y="9001125"/>
            <a:ext cx="389534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13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5693" y="2345693"/>
            <a:ext cx="13596652" cy="6555772"/>
            <a:chOff x="0" y="0"/>
            <a:chExt cx="18128869" cy="8741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28869" cy="8741029"/>
            </a:xfrm>
            <a:custGeom>
              <a:avLst/>
              <a:gdLst/>
              <a:ahLst/>
              <a:cxnLst/>
              <a:rect r="r" b="b" t="t" l="l"/>
              <a:pathLst>
                <a:path h="8741029" w="18128869">
                  <a:moveTo>
                    <a:pt x="0" y="0"/>
                  </a:moveTo>
                  <a:lnTo>
                    <a:pt x="18128869" y="0"/>
                  </a:lnTo>
                  <a:lnTo>
                    <a:pt x="18128869" y="8741029"/>
                  </a:lnTo>
                  <a:lnTo>
                    <a:pt x="0" y="87410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3" id="13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77440" y="7143750"/>
            <a:ext cx="1353312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de 10 a 25/09/2026, no Redmi Note 13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8368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043" t="0" r="-250043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731520" cy="1834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52960" y="2440305"/>
            <a:ext cx="18288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2960" y="381190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4429125"/>
            <a:ext cx="4937760" cy="160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Segurança: triagem com o MobSF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980">
            <a:off x="895340" y="3282315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914400" y="3821430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495800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em versões antigas do Android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21430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495800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52960" y="3821430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4495800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432 assinaturas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6122670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(MobSF 4.5.4, 14/10/2026): aponta itens para revisão, não vulnerabilidades confirmadas.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2623185"/>
            <a:ext cx="822960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851910"/>
            <a:ext cx="804672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9" id="19"/>
          <p:cNvSpPr/>
          <p:nvPr/>
        </p:nvSpPr>
        <p:spPr>
          <a:xfrm rot="1980">
            <a:off x="895340" y="5472112"/>
            <a:ext cx="164973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0" id="20"/>
          <p:cNvSpPr txBox="true"/>
          <p:nvPr/>
        </p:nvSpPr>
        <p:spPr>
          <a:xfrm rot="0">
            <a:off x="91440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0" y="6006465"/>
            <a:ext cx="512064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52960" y="6688836"/>
            <a:ext cx="51206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726805"/>
            <a:ext cx="16459200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6858000" cy="4800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1" r="0" b="-2201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583680" cy="2466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4914900"/>
            <a:ext cx="457200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6526530"/>
            <a:ext cx="47548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109460"/>
            <a:ext cx="4572000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5" id="15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6583680" y="8086725"/>
            <a:ext cx="10789920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65070"/>
            <a:ext cx="9144000" cy="5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98470"/>
            <a:ext cx="6400800" cy="241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3974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633210"/>
            <a:ext cx="15544800" cy="7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95410"/>
            <a:ext cx="1645920" cy="45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97764"/>
            <a:ext cx="146304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18" r="0" b="-238518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4" id="14"/>
          <p:cNvSpPr/>
          <p:nvPr/>
        </p:nvSpPr>
        <p:spPr>
          <a:xfrm rot="5395320">
            <a:off x="2743210" y="5654992"/>
            <a:ext cx="697802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2252960" y="213741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3120390"/>
            <a:ext cx="5120640" cy="602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731945" indent="-182986" lvl="3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7" id="17"/>
          <p:cNvSpPr/>
          <p:nvPr/>
        </p:nvSpPr>
        <p:spPr>
          <a:xfrm rot="5395320">
            <a:off x="8413432" y="5654992"/>
            <a:ext cx="697802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510" r="0" b="-27251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192655"/>
            <a:ext cx="7863840" cy="699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github.com/MobSF.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2600" y="2192655"/>
            <a:ext cx="7863840" cy="699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recomendação de rotas para buscar animais desaparecidos. In: ERES, 6., 2022.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59200" y="9624060"/>
            <a:ext cx="914400" cy="3429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828800" y="5274945"/>
            <a:ext cx="14630400" cy="149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686550"/>
            <a:ext cx="1463040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846695"/>
            <a:ext cx="14630400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543925"/>
            <a:ext cx="1463040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728662"/>
            <a:ext cx="146304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Baixe e teste o WeFIND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qualificacao apresentacao tcc - wefind</dc:title>
</cp:coreProperties>
</file>