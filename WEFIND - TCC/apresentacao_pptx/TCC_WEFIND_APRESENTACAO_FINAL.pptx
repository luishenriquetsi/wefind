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8288000" cy="10287000"/>
  <p:notesSz cx="6858000" cy="9144000"/>
  <p:embeddedFontLst>
    <p:embeddedFont>
      <p:font typeface="Cooper BT Bold" charset="1" panose="0208080404030B020404"/>
      <p:regular r:id="rId43"/>
    </p:embeddedFont>
    <p:embeddedFont>
      <p:font typeface="Cooper BT Light" charset="1" panose="0208050304030B020404"/>
      <p:regular r:id="rId44"/>
    </p:embeddedFont>
    <p:embeddedFont>
      <p:font typeface="Cambria Bold" charset="1" panose="02040803050406030204"/>
      <p:regular r:id="rId45"/>
    </p:embeddedFont>
    <p:embeddedFont>
      <p:font typeface="Calibri (MS)" charset="1" panose="020F0502020204030204"/>
      <p:regular r:id="rId46"/>
    </p:embeddedFont>
    <p:embeddedFont>
      <p:font typeface="Calibri (MS) Bold" charset="1" panose="020F0702030404030204"/>
      <p:regular r:id="rId47"/>
    </p:embeddedFont>
    <p:embeddedFont>
      <p:font typeface="Calibri (MS) Italics" charset="1" panose="020F05020202040A0204"/>
      <p:regular r:id="rId48"/>
    </p:embeddedFont>
    <p:embeddedFont>
      <p:font typeface="Roboto Bold" charset="1" panose="020000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15" Target="../media/image16.pn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13" Target="../media/image29.png" Type="http://schemas.openxmlformats.org/officeDocument/2006/relationships/image"/><Relationship Id="rId14" Target="../media/image30.png" Type="http://schemas.openxmlformats.org/officeDocument/2006/relationships/image"/><Relationship Id="rId15" Target="../media/image31.png" Type="http://schemas.openxmlformats.org/officeDocument/2006/relationships/image"/><Relationship Id="rId16" Target="../media/image32.png" Type="http://schemas.openxmlformats.org/officeDocument/2006/relationships/image"/><Relationship Id="rId17" Target="../media/image33.png" Type="http://schemas.openxmlformats.org/officeDocument/2006/relationships/image"/><Relationship Id="rId18" Target="../media/image34.pn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39.png" Type="http://schemas.openxmlformats.org/officeDocument/2006/relationships/image"/><Relationship Id="rId13" Target="../media/image40.pn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16" Target="../media/image43.png" Type="http://schemas.openxmlformats.org/officeDocument/2006/relationships/image"/><Relationship Id="rId17" Target="../media/image44.png" Type="http://schemas.openxmlformats.org/officeDocument/2006/relationships/image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svg" Type="http://schemas.openxmlformats.org/officeDocument/2006/relationships/image"/><Relationship Id="rId11" Target="../media/image47.png" Type="http://schemas.openxmlformats.org/officeDocument/2006/relationships/image"/><Relationship Id="rId12" Target="../media/image48.svg" Type="http://schemas.openxmlformats.org/officeDocument/2006/relationships/image"/><Relationship Id="rId13" Target="../media/image49.png" Type="http://schemas.openxmlformats.org/officeDocument/2006/relationships/image"/><Relationship Id="rId14" Target="../media/image50.svg" Type="http://schemas.openxmlformats.org/officeDocument/2006/relationships/image"/><Relationship Id="rId15" Target="../media/image51.png" Type="http://schemas.openxmlformats.org/officeDocument/2006/relationships/image"/><Relationship Id="rId16" Target="../media/image52.svg" Type="http://schemas.openxmlformats.org/officeDocument/2006/relationships/image"/><Relationship Id="rId17" Target="../media/image53.png" Type="http://schemas.openxmlformats.org/officeDocument/2006/relationships/image"/><Relationship Id="rId18" Target="../media/image54.svg" Type="http://schemas.openxmlformats.org/officeDocument/2006/relationships/image"/><Relationship Id="rId19" Target="../media/image55.png" Type="http://schemas.openxmlformats.org/officeDocument/2006/relationships/image"/><Relationship Id="rId2" Target="../media/image3.jpeg" Type="http://schemas.openxmlformats.org/officeDocument/2006/relationships/image"/><Relationship Id="rId20" Target="../media/image56.svg" Type="http://schemas.openxmlformats.org/officeDocument/2006/relationships/image"/><Relationship Id="rId21" Target="../media/image57.png" Type="http://schemas.openxmlformats.org/officeDocument/2006/relationships/image"/><Relationship Id="rId22" Target="../media/image58.sv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11" Target="../media/image37.png" Type="http://schemas.openxmlformats.org/officeDocument/2006/relationships/image"/><Relationship Id="rId12" Target="../media/image38.svg" Type="http://schemas.openxmlformats.org/officeDocument/2006/relationships/image"/><Relationship Id="rId13" Target="../media/image39.png" Type="http://schemas.openxmlformats.org/officeDocument/2006/relationships/image"/><Relationship Id="rId14" Target="../media/image40.png" Type="http://schemas.openxmlformats.org/officeDocument/2006/relationships/image"/><Relationship Id="rId15" Target="../media/image41.png" Type="http://schemas.openxmlformats.org/officeDocument/2006/relationships/image"/><Relationship Id="rId16" Target="../media/image42.svg" Type="http://schemas.openxmlformats.org/officeDocument/2006/relationships/image"/><Relationship Id="rId17" Target="../media/image30.png" Type="http://schemas.openxmlformats.org/officeDocument/2006/relationships/image"/><Relationship Id="rId18" Target="../media/image33.pn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Relationship Id="rId8" Target="../media/image5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png" Type="http://schemas.openxmlformats.org/officeDocument/2006/relationships/image"/><Relationship Id="rId12" Target="../media/image65.png" Type="http://schemas.openxmlformats.org/officeDocument/2006/relationships/image"/><Relationship Id="rId13" Target="../media/image66.png" Type="http://schemas.openxmlformats.org/officeDocument/2006/relationships/image"/><Relationship Id="rId14" Target="../media/image67.png" Type="http://schemas.openxmlformats.org/officeDocument/2006/relationships/image"/><Relationship Id="rId15" Target="../media/image68.png" Type="http://schemas.openxmlformats.org/officeDocument/2006/relationships/image"/><Relationship Id="rId16" Target="../media/image69.png" Type="http://schemas.openxmlformats.org/officeDocument/2006/relationships/image"/><Relationship Id="rId17" Target="../media/image70.png" Type="http://schemas.openxmlformats.org/officeDocument/2006/relationships/image"/><Relationship Id="rId18" Target="../media/image71.png" Type="http://schemas.openxmlformats.org/officeDocument/2006/relationships/image"/><Relationship Id="rId19" Target="../media/image72.png" Type="http://schemas.openxmlformats.org/officeDocument/2006/relationships/image"/><Relationship Id="rId2" Target="../media/image3.jpeg" Type="http://schemas.openxmlformats.org/officeDocument/2006/relationships/image"/><Relationship Id="rId20" Target="../media/image73.png" Type="http://schemas.openxmlformats.org/officeDocument/2006/relationships/image"/><Relationship Id="rId21" Target="../media/image74.png" Type="http://schemas.openxmlformats.org/officeDocument/2006/relationships/image"/><Relationship Id="rId22" Target="../media/image75.png" Type="http://schemas.openxmlformats.org/officeDocument/2006/relationships/image"/><Relationship Id="rId23" Target="../media/image76.png" Type="http://schemas.openxmlformats.org/officeDocument/2006/relationships/image"/><Relationship Id="rId24" Target="../media/image77.pn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png" Type="http://schemas.openxmlformats.org/officeDocument/2006/relationships/image"/><Relationship Id="rId11" Target="../media/image64.png" Type="http://schemas.openxmlformats.org/officeDocument/2006/relationships/image"/><Relationship Id="rId12" Target="../media/image79.png" Type="http://schemas.openxmlformats.org/officeDocument/2006/relationships/image"/><Relationship Id="rId13" Target="../media/image80.png" Type="http://schemas.openxmlformats.org/officeDocument/2006/relationships/image"/><Relationship Id="rId14" Target="../media/image81.png" Type="http://schemas.openxmlformats.org/officeDocument/2006/relationships/image"/><Relationship Id="rId15" Target="../media/image72.png" Type="http://schemas.openxmlformats.org/officeDocument/2006/relationships/image"/><Relationship Id="rId16" Target="../media/image73.png" Type="http://schemas.openxmlformats.org/officeDocument/2006/relationships/image"/><Relationship Id="rId17" Target="../media/image74.png" Type="http://schemas.openxmlformats.org/officeDocument/2006/relationships/image"/><Relationship Id="rId18" Target="../media/image75.png" Type="http://schemas.openxmlformats.org/officeDocument/2006/relationships/image"/><Relationship Id="rId19" Target="../media/image82.png" Type="http://schemas.openxmlformats.org/officeDocument/2006/relationships/image"/><Relationship Id="rId2" Target="../media/image3.jpeg" Type="http://schemas.openxmlformats.org/officeDocument/2006/relationships/image"/><Relationship Id="rId20" Target="../media/image76.png" Type="http://schemas.openxmlformats.org/officeDocument/2006/relationships/image"/><Relationship Id="rId21" Target="../media/image83.png" Type="http://schemas.openxmlformats.org/officeDocument/2006/relationships/image"/><Relationship Id="rId22" Target="../media/image84.png" Type="http://schemas.openxmlformats.org/officeDocument/2006/relationships/image"/><Relationship Id="rId23" Target="../media/image85.png" Type="http://schemas.openxmlformats.org/officeDocument/2006/relationships/image"/><Relationship Id="rId24" Target="../media/image86.png" Type="http://schemas.openxmlformats.org/officeDocument/2006/relationships/image"/><Relationship Id="rId25" Target="../media/image87.png" Type="http://schemas.openxmlformats.org/officeDocument/2006/relationships/image"/><Relationship Id="rId26" Target="../media/image88.png" Type="http://schemas.openxmlformats.org/officeDocument/2006/relationships/image"/><Relationship Id="rId27" Target="../media/image89.png" Type="http://schemas.openxmlformats.org/officeDocument/2006/relationships/image"/><Relationship Id="rId28" Target="../media/image90.png" Type="http://schemas.openxmlformats.org/officeDocument/2006/relationships/image"/><Relationship Id="rId29" Target="../media/image91.pn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11" Target="../media/image37.png" Type="http://schemas.openxmlformats.org/officeDocument/2006/relationships/image"/><Relationship Id="rId12" Target="../media/image38.svg" Type="http://schemas.openxmlformats.org/officeDocument/2006/relationships/image"/><Relationship Id="rId13" Target="../media/image39.png" Type="http://schemas.openxmlformats.org/officeDocument/2006/relationships/image"/><Relationship Id="rId14" Target="../media/image40.png" Type="http://schemas.openxmlformats.org/officeDocument/2006/relationships/image"/><Relationship Id="rId15" Target="../media/image41.png" Type="http://schemas.openxmlformats.org/officeDocument/2006/relationships/image"/><Relationship Id="rId16" Target="../media/image42.svg" Type="http://schemas.openxmlformats.org/officeDocument/2006/relationships/image"/><Relationship Id="rId17" Target="../media/image30.png" Type="http://schemas.openxmlformats.org/officeDocument/2006/relationships/image"/><Relationship Id="rId18" Target="../media/image33.pn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11" Target="../media/image37.png" Type="http://schemas.openxmlformats.org/officeDocument/2006/relationships/image"/><Relationship Id="rId12" Target="../media/image38.svg" Type="http://schemas.openxmlformats.org/officeDocument/2006/relationships/image"/><Relationship Id="rId13" Target="../media/image39.png" Type="http://schemas.openxmlformats.org/officeDocument/2006/relationships/image"/><Relationship Id="rId14" Target="../media/image40.png" Type="http://schemas.openxmlformats.org/officeDocument/2006/relationships/image"/><Relationship Id="rId15" Target="../media/image41.png" Type="http://schemas.openxmlformats.org/officeDocument/2006/relationships/image"/><Relationship Id="rId16" Target="../media/image42.svg" Type="http://schemas.openxmlformats.org/officeDocument/2006/relationships/image"/><Relationship Id="rId17" Target="../media/image30.png" Type="http://schemas.openxmlformats.org/officeDocument/2006/relationships/image"/><Relationship Id="rId18" Target="../media/image33.pn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4.svg" Type="http://schemas.openxmlformats.org/officeDocument/2006/relationships/image"/><Relationship Id="rId11" Target="../media/image95.png" Type="http://schemas.openxmlformats.org/officeDocument/2006/relationships/image"/><Relationship Id="rId12" Target="../media/image96.svg" Type="http://schemas.openxmlformats.org/officeDocument/2006/relationships/image"/><Relationship Id="rId13" Target="../media/image97.png" Type="http://schemas.openxmlformats.org/officeDocument/2006/relationships/image"/><Relationship Id="rId14" Target="../media/image98.svg" Type="http://schemas.openxmlformats.org/officeDocument/2006/relationships/image"/><Relationship Id="rId15" Target="../media/image99.png" Type="http://schemas.openxmlformats.org/officeDocument/2006/relationships/image"/><Relationship Id="rId16" Target="../media/image100.svg" Type="http://schemas.openxmlformats.org/officeDocument/2006/relationships/image"/><Relationship Id="rId17" Target="../media/image101.png" Type="http://schemas.openxmlformats.org/officeDocument/2006/relationships/image"/><Relationship Id="rId18" Target="../media/image102.svg" Type="http://schemas.openxmlformats.org/officeDocument/2006/relationships/image"/><Relationship Id="rId19" Target="../media/image103.png" Type="http://schemas.openxmlformats.org/officeDocument/2006/relationships/image"/><Relationship Id="rId2" Target="../media/image4.jpeg" Type="http://schemas.openxmlformats.org/officeDocument/2006/relationships/image"/><Relationship Id="rId20" Target="../media/image104.svg" Type="http://schemas.openxmlformats.org/officeDocument/2006/relationships/image"/><Relationship Id="rId21" Target="../media/image105.png" Type="http://schemas.openxmlformats.org/officeDocument/2006/relationships/image"/><Relationship Id="rId22" Target="../media/image106.svg" Type="http://schemas.openxmlformats.org/officeDocument/2006/relationships/image"/><Relationship Id="rId23" Target="../media/image107.png" Type="http://schemas.openxmlformats.org/officeDocument/2006/relationships/image"/><Relationship Id="rId24" Target="../media/image108.svg" Type="http://schemas.openxmlformats.org/officeDocument/2006/relationships/image"/><Relationship Id="rId25" Target="../media/image109.png" Type="http://schemas.openxmlformats.org/officeDocument/2006/relationships/image"/><Relationship Id="rId26" Target="../media/image110.sv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Relationship Id="rId8" Target="../media/image92.png" Type="http://schemas.openxmlformats.org/officeDocument/2006/relationships/image"/><Relationship Id="rId9" Target="../media/image9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3.jpeg" Type="http://schemas.openxmlformats.org/officeDocument/2006/relationships/image"/><Relationship Id="rId11" Target="../media/image114.png" Type="http://schemas.openxmlformats.org/officeDocument/2006/relationships/image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Relationship Id="rId8" Target="../media/image111.png" Type="http://schemas.openxmlformats.org/officeDocument/2006/relationships/image"/><Relationship Id="rId9" Target="../media/image112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Relationship Id="rId8" Target="../media/image11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Relationship Id="rId8" Target="../media/image116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7.png" Type="http://schemas.openxmlformats.org/officeDocument/2006/relationships/image"/><Relationship Id="rId3" Target="https://luishenriquetsi.github.io/wefind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561" y="147123"/>
            <a:ext cx="1557242" cy="1470184"/>
            <a:chOff x="0" y="0"/>
            <a:chExt cx="2076323" cy="1960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6323" cy="1960245"/>
            </a:xfrm>
            <a:custGeom>
              <a:avLst/>
              <a:gdLst/>
              <a:ahLst/>
              <a:cxnLst/>
              <a:rect r="r" b="b" t="t" l="l"/>
              <a:pathLst>
                <a:path h="1960245" w="2076323">
                  <a:moveTo>
                    <a:pt x="0" y="0"/>
                  </a:moveTo>
                  <a:lnTo>
                    <a:pt x="2076323" y="0"/>
                  </a:lnTo>
                  <a:lnTo>
                    <a:pt x="2076323" y="1960245"/>
                  </a:lnTo>
                  <a:lnTo>
                    <a:pt x="0" y="1960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06750" y="362026"/>
            <a:ext cx="2184273" cy="1333309"/>
            <a:chOff x="0" y="0"/>
            <a:chExt cx="2912364" cy="1777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2364" cy="1777746"/>
            </a:xfrm>
            <a:custGeom>
              <a:avLst/>
              <a:gdLst/>
              <a:ahLst/>
              <a:cxnLst/>
              <a:rect r="r" b="b" t="t" l="l"/>
              <a:pathLst>
                <a:path h="1777746" w="2912364">
                  <a:moveTo>
                    <a:pt x="0" y="0"/>
                  </a:moveTo>
                  <a:lnTo>
                    <a:pt x="2912364" y="0"/>
                  </a:lnTo>
                  <a:lnTo>
                    <a:pt x="2912364" y="1777746"/>
                  </a:lnTo>
                  <a:lnTo>
                    <a:pt x="0" y="177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32202" y="4818383"/>
            <a:ext cx="15823606" cy="104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sz="3999" b="true">
                <a:solidFill>
                  <a:srgbClr val="1B2A1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WeFIND: Aplicativo móvel para divulgação de animais perdidos e encontrados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832" y="419424"/>
            <a:ext cx="13922893" cy="407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INSTITUTO FEDERAL DE EDUCAÇÃO, CIÊNCIA E TECNOLOGIA SUL-RIO-GRANDENSE - CAMPUS PELOTAS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80" y="7978140"/>
            <a:ext cx="13525500" cy="67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Aluno: Luis Henrique Fonseca Victoria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8377561"/>
            <a:ext cx="13525500" cy="67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Orientadora: Prof.ª Me. Marla Cristina da Silva Sopeña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1851" y="8743950"/>
            <a:ext cx="13525500" cy="67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Coorientadora: Prof.ª Dra. Adriane Pires Rodrigues Ramires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4266" y="786984"/>
            <a:ext cx="13600671" cy="407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CURSO SUPERIOR DE TECNOLOGIA EM SISTEMAS PARA INTERNET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Roteiro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2560320"/>
            <a:ext cx="1828800" cy="1463040"/>
            <a:chOff x="0" y="0"/>
            <a:chExt cx="2438400" cy="1950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2553176"/>
            <a:ext cx="1828800" cy="1470184"/>
            <a:chOff x="0" y="0"/>
            <a:chExt cx="2438400" cy="19602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14400" y="2546033"/>
            <a:ext cx="1828800" cy="1477327"/>
            <a:chOff x="0" y="0"/>
            <a:chExt cx="2438400" cy="19697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2538889"/>
            <a:ext cx="1828800" cy="1484471"/>
            <a:chOff x="0" y="0"/>
            <a:chExt cx="2438400" cy="19792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4400" y="2531745"/>
            <a:ext cx="1828800" cy="1491615"/>
            <a:chOff x="0" y="0"/>
            <a:chExt cx="2438400" cy="19888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2524601"/>
            <a:ext cx="1828800" cy="1498759"/>
            <a:chOff x="0" y="0"/>
            <a:chExt cx="2438400" cy="19983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2517458"/>
            <a:ext cx="1828800" cy="1505902"/>
            <a:chOff x="0" y="0"/>
            <a:chExt cx="2438400" cy="20078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649" t="0" r="-55649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4384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926080" y="2676525"/>
            <a:ext cx="60350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926080" y="3153156"/>
            <a:ext cx="603504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objetivos e método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326880" y="2560320"/>
            <a:ext cx="1828800" cy="1463040"/>
            <a:chOff x="0" y="0"/>
            <a:chExt cx="2438400" cy="1950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326880" y="2553176"/>
            <a:ext cx="1828800" cy="1470184"/>
            <a:chOff x="0" y="0"/>
            <a:chExt cx="2438400" cy="19602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326880" y="2546033"/>
            <a:ext cx="1828800" cy="1477327"/>
            <a:chOff x="0" y="0"/>
            <a:chExt cx="2438400" cy="19697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326880" y="2538889"/>
            <a:ext cx="1828800" cy="1484471"/>
            <a:chOff x="0" y="0"/>
            <a:chExt cx="2438400" cy="197929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326880" y="2531745"/>
            <a:ext cx="1828800" cy="1491615"/>
            <a:chOff x="0" y="0"/>
            <a:chExt cx="2438400" cy="19888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326880" y="2524601"/>
            <a:ext cx="1828800" cy="1498759"/>
            <a:chOff x="0" y="0"/>
            <a:chExt cx="2438400" cy="199834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326880" y="2517458"/>
            <a:ext cx="1828800" cy="1505902"/>
            <a:chOff x="0" y="0"/>
            <a:chExt cx="2438400" cy="200787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649" t="0" r="-55649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24384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1338560" y="2676525"/>
            <a:ext cx="60350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338560" y="3153156"/>
            <a:ext cx="603504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Campo e sistemas similares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14400" y="4846320"/>
            <a:ext cx="1828800" cy="1463040"/>
            <a:chOff x="0" y="0"/>
            <a:chExt cx="2438400" cy="19507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14400" y="4839176"/>
            <a:ext cx="1828800" cy="1470184"/>
            <a:chOff x="0" y="0"/>
            <a:chExt cx="2438400" cy="196024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14400" y="4832032"/>
            <a:ext cx="1828800" cy="1477327"/>
            <a:chOff x="0" y="0"/>
            <a:chExt cx="2438400" cy="196977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14400" y="4824889"/>
            <a:ext cx="1828800" cy="1484471"/>
            <a:chOff x="0" y="0"/>
            <a:chExt cx="2438400" cy="197929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14400" y="4817745"/>
            <a:ext cx="1828800" cy="1491615"/>
            <a:chOff x="0" y="0"/>
            <a:chExt cx="2438400" cy="19888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14400" y="4810601"/>
            <a:ext cx="1828800" cy="1498759"/>
            <a:chOff x="0" y="0"/>
            <a:chExt cx="2438400" cy="199834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14400" y="4803458"/>
            <a:ext cx="1828800" cy="1505902"/>
            <a:chOff x="0" y="0"/>
            <a:chExt cx="2438400" cy="200787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649" t="0" r="-55649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24384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2926080" y="4962525"/>
            <a:ext cx="60350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926080" y="5439156"/>
            <a:ext cx="603504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9326880" y="4846320"/>
            <a:ext cx="1828800" cy="1463040"/>
            <a:chOff x="0" y="0"/>
            <a:chExt cx="2438400" cy="19507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326880" y="4839176"/>
            <a:ext cx="1828800" cy="1470184"/>
            <a:chOff x="0" y="0"/>
            <a:chExt cx="2438400" cy="196024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326880" y="4832032"/>
            <a:ext cx="1828800" cy="1477327"/>
            <a:chOff x="0" y="0"/>
            <a:chExt cx="2438400" cy="196977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326880" y="4824889"/>
            <a:ext cx="1828800" cy="1484471"/>
            <a:chOff x="0" y="0"/>
            <a:chExt cx="2438400" cy="197929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326880" y="4817745"/>
            <a:ext cx="1828800" cy="1491615"/>
            <a:chOff x="0" y="0"/>
            <a:chExt cx="2438400" cy="19888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326880" y="4810601"/>
            <a:ext cx="1828800" cy="1498759"/>
            <a:chOff x="0" y="0"/>
            <a:chExt cx="2438400" cy="199834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326880" y="4803458"/>
            <a:ext cx="1828800" cy="1505902"/>
            <a:chOff x="0" y="0"/>
            <a:chExt cx="2438400" cy="200787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649" t="0" r="-55649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24384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1338560" y="4962525"/>
            <a:ext cx="60350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Solução desenvolvida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338560" y="5439156"/>
            <a:ext cx="603504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Arquitetura, correspondência e telas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914400" y="7132320"/>
            <a:ext cx="1828800" cy="1463040"/>
            <a:chOff x="0" y="0"/>
            <a:chExt cx="2438400" cy="19507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14400" y="7125176"/>
            <a:ext cx="1828800" cy="1470184"/>
            <a:chOff x="0" y="0"/>
            <a:chExt cx="2438400" cy="196024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14400" y="7118032"/>
            <a:ext cx="1828800" cy="1477327"/>
            <a:chOff x="0" y="0"/>
            <a:chExt cx="2438400" cy="196977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14400" y="7110889"/>
            <a:ext cx="1828800" cy="1484471"/>
            <a:chOff x="0" y="0"/>
            <a:chExt cx="2438400" cy="197929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914400" y="7103745"/>
            <a:ext cx="1828800" cy="1491615"/>
            <a:chOff x="0" y="0"/>
            <a:chExt cx="2438400" cy="19888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14400" y="7096601"/>
            <a:ext cx="1828800" cy="1498759"/>
            <a:chOff x="0" y="0"/>
            <a:chExt cx="2438400" cy="199834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14400" y="7089457"/>
            <a:ext cx="1828800" cy="1505902"/>
            <a:chOff x="0" y="0"/>
            <a:chExt cx="2438400" cy="200787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649" t="0" r="-55649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24384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2926080" y="7248525"/>
            <a:ext cx="60350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2926080" y="7725156"/>
            <a:ext cx="603504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análise de segurança e usabilidade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9326880" y="7132320"/>
            <a:ext cx="1828800" cy="1463040"/>
            <a:chOff x="0" y="0"/>
            <a:chExt cx="2438400" cy="195072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326880" y="7125176"/>
            <a:ext cx="1828800" cy="1470184"/>
            <a:chOff x="0" y="0"/>
            <a:chExt cx="2438400" cy="196024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9326880" y="7118032"/>
            <a:ext cx="1828800" cy="1477327"/>
            <a:chOff x="0" y="0"/>
            <a:chExt cx="2438400" cy="196977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9326880" y="7110889"/>
            <a:ext cx="1828800" cy="1484471"/>
            <a:chOff x="0" y="0"/>
            <a:chExt cx="2438400" cy="1979295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326880" y="7103745"/>
            <a:ext cx="1828800" cy="1491615"/>
            <a:chOff x="0" y="0"/>
            <a:chExt cx="2438400" cy="198882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9326880" y="7096601"/>
            <a:ext cx="1828800" cy="1498759"/>
            <a:chOff x="0" y="0"/>
            <a:chExt cx="2438400" cy="1998345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9326880" y="7089457"/>
            <a:ext cx="1828800" cy="1505902"/>
            <a:chOff x="0" y="0"/>
            <a:chExt cx="2438400" cy="200787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649" t="0" r="-55649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9525"/>
              <a:ext cx="24384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sp>
        <p:nvSpPr>
          <p:cNvPr name="TextBox 117" id="117"/>
          <p:cNvSpPr txBox="true"/>
          <p:nvPr/>
        </p:nvSpPr>
        <p:spPr>
          <a:xfrm rot="0">
            <a:off x="11338560" y="7248525"/>
            <a:ext cx="6035040" cy="57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1338560" y="7725156"/>
            <a:ext cx="603504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119" id="1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34" id="134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322195"/>
            <a:ext cx="9144000" cy="7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9895"/>
            <a:ext cx="6400800" cy="244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82590"/>
            <a:ext cx="15544800" cy="119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433185"/>
            <a:ext cx="15544800" cy="93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objetivos e método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411480"/>
            <a:ext cx="10972800" cy="411480"/>
            <a:chOff x="0" y="0"/>
            <a:chExt cx="14630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375761"/>
            <a:ext cx="10972800" cy="447199"/>
            <a:chOff x="0" y="0"/>
            <a:chExt cx="14630400" cy="5962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00" cy="596265"/>
            </a:xfrm>
            <a:custGeom>
              <a:avLst/>
              <a:gdLst/>
              <a:ahLst/>
              <a:cxnLst/>
              <a:rect r="r" b="b" t="t" l="l"/>
              <a:pathLst>
                <a:path h="5962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96265"/>
                  </a:lnTo>
                  <a:lnTo>
                    <a:pt x="0" y="5962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767" r="0" b="-42776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340042"/>
            <a:ext cx="10972800" cy="482918"/>
            <a:chOff x="0" y="0"/>
            <a:chExt cx="14630400" cy="6438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643890"/>
            </a:xfrm>
            <a:custGeom>
              <a:avLst/>
              <a:gdLst/>
              <a:ahLst/>
              <a:cxnLst/>
              <a:rect r="r" b="b" t="t" l="l"/>
              <a:pathLst>
                <a:path h="64389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3890"/>
                  </a:lnTo>
                  <a:lnTo>
                    <a:pt x="0" y="6438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2429" r="0" b="-392428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304324"/>
            <a:ext cx="10972800" cy="518636"/>
            <a:chOff x="0" y="0"/>
            <a:chExt cx="14630400" cy="6915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0" cy="691515"/>
            </a:xfrm>
            <a:custGeom>
              <a:avLst/>
              <a:gdLst/>
              <a:ahLst/>
              <a:cxnLst/>
              <a:rect r="r" b="b" t="t" l="l"/>
              <a:pathLst>
                <a:path h="69151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91515"/>
                  </a:lnTo>
                  <a:lnTo>
                    <a:pt x="0" y="691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1959" r="0" b="-361957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268605"/>
            <a:ext cx="10972800" cy="554355"/>
            <a:chOff x="0" y="0"/>
            <a:chExt cx="14630400" cy="739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00" cy="739140"/>
            </a:xfrm>
            <a:custGeom>
              <a:avLst/>
              <a:gdLst/>
              <a:ahLst/>
              <a:cxnLst/>
              <a:rect r="r" b="b" t="t" l="l"/>
              <a:pathLst>
                <a:path h="7391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5415" r="0" b="-335414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232886"/>
            <a:ext cx="10972800" cy="590074"/>
            <a:chOff x="0" y="0"/>
            <a:chExt cx="14630400" cy="7867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30400" cy="786765"/>
            </a:xfrm>
            <a:custGeom>
              <a:avLst/>
              <a:gdLst/>
              <a:ahLst/>
              <a:cxnLst/>
              <a:rect r="r" b="b" t="t" l="l"/>
              <a:pathLst>
                <a:path h="7867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86765"/>
                  </a:lnTo>
                  <a:lnTo>
                    <a:pt x="0" y="7867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2085" r="0" b="-31208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197167"/>
            <a:ext cx="10972800" cy="625793"/>
            <a:chOff x="0" y="0"/>
            <a:chExt cx="14630400" cy="8343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0" cy="834390"/>
            </a:xfrm>
            <a:custGeom>
              <a:avLst/>
              <a:gdLst/>
              <a:ahLst/>
              <a:cxnLst/>
              <a:rect r="r" b="b" t="t" l="l"/>
              <a:pathLst>
                <a:path h="83439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34390"/>
                  </a:lnTo>
                  <a:lnTo>
                    <a:pt x="0" y="8343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91655" r="0" b="-29165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463040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INTRODUÇÃO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3174" r="0" b="-20317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212848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Perder um pet é comum; a busca é dispersa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803310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3" r="0" b="-123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195816" y="2554576"/>
            <a:ext cx="4556855" cy="1149953"/>
            <a:chOff x="0" y="0"/>
            <a:chExt cx="6075807" cy="15332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8" r="0" b="-27158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95816" y="2618870"/>
            <a:ext cx="4556855" cy="1085660"/>
            <a:chOff x="0" y="0"/>
            <a:chExt cx="6075807" cy="144754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75807" cy="1447546"/>
            </a:xfrm>
            <a:custGeom>
              <a:avLst/>
              <a:gdLst/>
              <a:ahLst/>
              <a:cxnLst/>
              <a:rect r="r" b="b" t="t" l="l"/>
              <a:pathLst>
                <a:path h="144754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447546"/>
                  </a:lnTo>
                  <a:lnTo>
                    <a:pt x="0" y="14475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28" r="0" b="-31727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95816" y="2683164"/>
            <a:ext cx="4556855" cy="1021366"/>
            <a:chOff x="0" y="0"/>
            <a:chExt cx="6075807" cy="136182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075807" cy="1361821"/>
            </a:xfrm>
            <a:custGeom>
              <a:avLst/>
              <a:gdLst/>
              <a:ahLst/>
              <a:cxnLst/>
              <a:rect r="r" b="b" t="t" l="l"/>
              <a:pathLst>
                <a:path h="136182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361821"/>
                  </a:lnTo>
                  <a:lnTo>
                    <a:pt x="0" y="13618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873" r="0" b="-36872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95816" y="2747458"/>
            <a:ext cx="4556855" cy="957072"/>
            <a:chOff x="0" y="0"/>
            <a:chExt cx="6075807" cy="12760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075807" cy="1276096"/>
            </a:xfrm>
            <a:custGeom>
              <a:avLst/>
              <a:gdLst/>
              <a:ahLst/>
              <a:cxnLst/>
              <a:rect r="r" b="b" t="t" l="l"/>
              <a:pathLst>
                <a:path h="127609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276096"/>
                  </a:lnTo>
                  <a:lnTo>
                    <a:pt x="0" y="1276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708" r="0" b="-42707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95816" y="2811751"/>
            <a:ext cx="4556884" cy="892826"/>
            <a:chOff x="0" y="0"/>
            <a:chExt cx="6075845" cy="119043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75807" cy="1190498"/>
            </a:xfrm>
            <a:custGeom>
              <a:avLst/>
              <a:gdLst/>
              <a:ahLst/>
              <a:cxnLst/>
              <a:rect r="r" b="b" t="t" l="l"/>
              <a:pathLst>
                <a:path h="1190498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190498"/>
                  </a:lnTo>
                  <a:lnTo>
                    <a:pt x="0" y="119049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9378" r="0" b="-49371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95816" y="2554576"/>
            <a:ext cx="4556884" cy="828532"/>
            <a:chOff x="0" y="0"/>
            <a:chExt cx="6075845" cy="110471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075845" cy="1104710"/>
            </a:xfrm>
            <a:custGeom>
              <a:avLst/>
              <a:gdLst/>
              <a:ahLst/>
              <a:cxnLst/>
              <a:rect r="r" b="b" t="t" l="l"/>
              <a:pathLst>
                <a:path h="1104710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104710"/>
                  </a:lnTo>
                  <a:lnTo>
                    <a:pt x="0" y="11047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166" r="0" b="-5716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85725"/>
              <a:ext cx="6075845" cy="1018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15%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195816" y="3575980"/>
            <a:ext cx="4556884" cy="132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tutores perderam um cão ou gato em cinco anos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95816" y="4715980"/>
            <a:ext cx="4556884" cy="55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EUA · Weiss et al., 2012</a:t>
            </a:r>
          </a:p>
        </p:txBody>
      </p:sp>
      <p:sp>
        <p:nvSpPr>
          <p:cNvPr name="Freeform 63" id="63"/>
          <p:cNvSpPr/>
          <p:nvPr/>
        </p:nvSpPr>
        <p:spPr>
          <a:xfrm flipH="false" flipV="false" rot="0">
            <a:off x="6450197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3" r="0" b="-123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6842693" y="2554576"/>
            <a:ext cx="4556855" cy="1149953"/>
            <a:chOff x="0" y="0"/>
            <a:chExt cx="6075807" cy="153327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8" r="0" b="-27158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842693" y="2618870"/>
            <a:ext cx="4556855" cy="1085660"/>
            <a:chOff x="0" y="0"/>
            <a:chExt cx="6075807" cy="144754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075807" cy="1447546"/>
            </a:xfrm>
            <a:custGeom>
              <a:avLst/>
              <a:gdLst/>
              <a:ahLst/>
              <a:cxnLst/>
              <a:rect r="r" b="b" t="t" l="l"/>
              <a:pathLst>
                <a:path h="144754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447546"/>
                  </a:lnTo>
                  <a:lnTo>
                    <a:pt x="0" y="14475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28" r="0" b="-31727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842693" y="2683164"/>
            <a:ext cx="4556855" cy="1021366"/>
            <a:chOff x="0" y="0"/>
            <a:chExt cx="6075807" cy="136182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075807" cy="1361821"/>
            </a:xfrm>
            <a:custGeom>
              <a:avLst/>
              <a:gdLst/>
              <a:ahLst/>
              <a:cxnLst/>
              <a:rect r="r" b="b" t="t" l="l"/>
              <a:pathLst>
                <a:path h="136182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361821"/>
                  </a:lnTo>
                  <a:lnTo>
                    <a:pt x="0" y="13618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873" r="0" b="-36872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842693" y="2747458"/>
            <a:ext cx="4556855" cy="957072"/>
            <a:chOff x="0" y="0"/>
            <a:chExt cx="6075807" cy="12760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075807" cy="1276096"/>
            </a:xfrm>
            <a:custGeom>
              <a:avLst/>
              <a:gdLst/>
              <a:ahLst/>
              <a:cxnLst/>
              <a:rect r="r" b="b" t="t" l="l"/>
              <a:pathLst>
                <a:path h="127609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276096"/>
                  </a:lnTo>
                  <a:lnTo>
                    <a:pt x="0" y="1276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708" r="0" b="-42707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842693" y="2811751"/>
            <a:ext cx="4556884" cy="892826"/>
            <a:chOff x="0" y="0"/>
            <a:chExt cx="6075845" cy="119043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075807" cy="1190498"/>
            </a:xfrm>
            <a:custGeom>
              <a:avLst/>
              <a:gdLst/>
              <a:ahLst/>
              <a:cxnLst/>
              <a:rect r="r" b="b" t="t" l="l"/>
              <a:pathLst>
                <a:path h="1190498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190498"/>
                  </a:lnTo>
                  <a:lnTo>
                    <a:pt x="0" y="119049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9378" r="0" b="-49371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842693" y="2554576"/>
            <a:ext cx="4556884" cy="828532"/>
            <a:chOff x="0" y="0"/>
            <a:chExt cx="6075845" cy="110471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075845" cy="1104710"/>
            </a:xfrm>
            <a:custGeom>
              <a:avLst/>
              <a:gdLst/>
              <a:ahLst/>
              <a:cxnLst/>
              <a:rect r="r" b="b" t="t" l="l"/>
              <a:pathLst>
                <a:path h="1104710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104710"/>
                  </a:lnTo>
                  <a:lnTo>
                    <a:pt x="0" y="11047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166" r="0" b="-5716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85725"/>
              <a:ext cx="6075845" cy="1018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75%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6842693" y="3575980"/>
            <a:ext cx="4556884" cy="132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gatos achados vivos estavam a até 500 m do ponto de fuga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6842693" y="4715980"/>
            <a:ext cx="4556884" cy="55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Huang et al., 2018</a:t>
            </a:r>
          </a:p>
        </p:txBody>
      </p:sp>
      <p:sp>
        <p:nvSpPr>
          <p:cNvPr name="Freeform 79" id="79"/>
          <p:cNvSpPr/>
          <p:nvPr/>
        </p:nvSpPr>
        <p:spPr>
          <a:xfrm flipH="false" flipV="false" rot="0">
            <a:off x="12097074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3" r="0" b="-123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12489580" y="2554576"/>
            <a:ext cx="4556855" cy="1149953"/>
            <a:chOff x="0" y="0"/>
            <a:chExt cx="6075807" cy="153327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8" r="0" b="-27158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489580" y="2618870"/>
            <a:ext cx="4556855" cy="1085660"/>
            <a:chOff x="0" y="0"/>
            <a:chExt cx="6075807" cy="144754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075807" cy="1447546"/>
            </a:xfrm>
            <a:custGeom>
              <a:avLst/>
              <a:gdLst/>
              <a:ahLst/>
              <a:cxnLst/>
              <a:rect r="r" b="b" t="t" l="l"/>
              <a:pathLst>
                <a:path h="144754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447546"/>
                  </a:lnTo>
                  <a:lnTo>
                    <a:pt x="0" y="14475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28" r="0" b="-31727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489580" y="2683164"/>
            <a:ext cx="4556855" cy="1021366"/>
            <a:chOff x="0" y="0"/>
            <a:chExt cx="6075807" cy="136182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075807" cy="1361821"/>
            </a:xfrm>
            <a:custGeom>
              <a:avLst/>
              <a:gdLst/>
              <a:ahLst/>
              <a:cxnLst/>
              <a:rect r="r" b="b" t="t" l="l"/>
              <a:pathLst>
                <a:path h="136182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361821"/>
                  </a:lnTo>
                  <a:lnTo>
                    <a:pt x="0" y="13618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873" r="0" b="-36872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489580" y="2747458"/>
            <a:ext cx="4556855" cy="957072"/>
            <a:chOff x="0" y="0"/>
            <a:chExt cx="6075807" cy="127609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075807" cy="1276096"/>
            </a:xfrm>
            <a:custGeom>
              <a:avLst/>
              <a:gdLst/>
              <a:ahLst/>
              <a:cxnLst/>
              <a:rect r="r" b="b" t="t" l="l"/>
              <a:pathLst>
                <a:path h="127609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276096"/>
                  </a:lnTo>
                  <a:lnTo>
                    <a:pt x="0" y="1276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708" r="0" b="-42707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2489580" y="2811751"/>
            <a:ext cx="4556884" cy="892826"/>
            <a:chOff x="0" y="0"/>
            <a:chExt cx="6075845" cy="119043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075807" cy="1190498"/>
            </a:xfrm>
            <a:custGeom>
              <a:avLst/>
              <a:gdLst/>
              <a:ahLst/>
              <a:cxnLst/>
              <a:rect r="r" b="b" t="t" l="l"/>
              <a:pathLst>
                <a:path h="1190498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190498"/>
                  </a:lnTo>
                  <a:lnTo>
                    <a:pt x="0" y="119049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9378" r="0" b="-49371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489580" y="2554576"/>
            <a:ext cx="4556884" cy="828532"/>
            <a:chOff x="0" y="0"/>
            <a:chExt cx="6075845" cy="110471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075845" cy="1104710"/>
            </a:xfrm>
            <a:custGeom>
              <a:avLst/>
              <a:gdLst/>
              <a:ahLst/>
              <a:cxnLst/>
              <a:rect r="r" b="b" t="t" l="l"/>
              <a:pathLst>
                <a:path h="1104710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104710"/>
                  </a:lnTo>
                  <a:lnTo>
                    <a:pt x="0" y="11047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166" r="0" b="-5716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85725"/>
              <a:ext cx="6075845" cy="1018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50%</a:t>
              </a:r>
            </a:p>
          </p:txBody>
        </p:sp>
      </p:grpSp>
      <p:sp>
        <p:nvSpPr>
          <p:cNvPr name="TextBox 93" id="93"/>
          <p:cNvSpPr txBox="true"/>
          <p:nvPr/>
        </p:nvSpPr>
        <p:spPr>
          <a:xfrm rot="0">
            <a:off x="12489580" y="3575980"/>
            <a:ext cx="4556884" cy="132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gatos perdidos foram achados vivos em até 30 dias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2489580" y="4715980"/>
            <a:ext cx="4556884" cy="55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Huang et al., 2018</a:t>
            </a:r>
          </a:p>
        </p:txBody>
      </p:sp>
      <p:sp>
        <p:nvSpPr>
          <p:cNvPr name="Freeform 95" id="95"/>
          <p:cNvSpPr/>
          <p:nvPr/>
        </p:nvSpPr>
        <p:spPr>
          <a:xfrm flipH="false" flipV="false" rot="0">
            <a:off x="803310" y="5687492"/>
            <a:ext cx="8165354" cy="2274999"/>
          </a:xfrm>
          <a:custGeom>
            <a:avLst/>
            <a:gdLst/>
            <a:ahLst/>
            <a:cxnLst/>
            <a:rect r="r" b="b" t="t" l="l"/>
            <a:pathLst>
              <a:path h="2274999" w="8165354">
                <a:moveTo>
                  <a:pt x="0" y="0"/>
                </a:moveTo>
                <a:lnTo>
                  <a:pt x="8165354" y="0"/>
                </a:lnTo>
                <a:lnTo>
                  <a:pt x="8165354" y="2274998"/>
                </a:lnTo>
                <a:lnTo>
                  <a:pt x="0" y="22749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0" t="0" r="-11" b="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1183310" y="6262507"/>
            <a:ext cx="1124950" cy="1124950"/>
          </a:xfrm>
          <a:custGeom>
            <a:avLst/>
            <a:gdLst/>
            <a:ahLst/>
            <a:cxnLst/>
            <a:rect r="r" b="b" t="t" l="l"/>
            <a:pathLst>
              <a:path h="1124950" w="1124950">
                <a:moveTo>
                  <a:pt x="0" y="0"/>
                </a:moveTo>
                <a:lnTo>
                  <a:pt x="1124950" y="0"/>
                </a:lnTo>
                <a:lnTo>
                  <a:pt x="1124950" y="1124950"/>
                </a:lnTo>
                <a:lnTo>
                  <a:pt x="0" y="112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1485814" y="6565001"/>
            <a:ext cx="519970" cy="519970"/>
            <a:chOff x="0" y="0"/>
            <a:chExt cx="693293" cy="693293"/>
          </a:xfrm>
        </p:grpSpPr>
        <p:sp>
          <p:nvSpPr>
            <p:cNvPr name="Freeform 98" id="98" descr="icone"/>
            <p:cNvSpPr/>
            <p:nvPr/>
          </p:nvSpPr>
          <p:spPr>
            <a:xfrm flipH="false" flipV="false" rot="0">
              <a:off x="0" y="0"/>
              <a:ext cx="693293" cy="693293"/>
            </a:xfrm>
            <a:custGeom>
              <a:avLst/>
              <a:gdLst/>
              <a:ahLst/>
              <a:cxnLst/>
              <a:rect r="r" b="b" t="t" l="l"/>
              <a:pathLst>
                <a:path h="693293" w="693293">
                  <a:moveTo>
                    <a:pt x="0" y="0"/>
                  </a:moveTo>
                  <a:lnTo>
                    <a:pt x="693293" y="0"/>
                  </a:lnTo>
                  <a:lnTo>
                    <a:pt x="693293" y="693293"/>
                  </a:lnTo>
                  <a:lnTo>
                    <a:pt x="0" y="693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99" id="99"/>
          <p:cNvSpPr txBox="true"/>
          <p:nvPr/>
        </p:nvSpPr>
        <p:spPr>
          <a:xfrm rot="0">
            <a:off x="2625814" y="5629951"/>
            <a:ext cx="5950325" cy="92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Informação dispersa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2625814" y="6371396"/>
            <a:ext cx="5950325" cy="142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Redes sociais, grupos, cartazes e vizinhos: fica difícil acompanhar as atualizações da busca.</a:t>
            </a:r>
          </a:p>
        </p:txBody>
      </p:sp>
      <p:sp>
        <p:nvSpPr>
          <p:cNvPr name="Freeform 101" id="101"/>
          <p:cNvSpPr/>
          <p:nvPr/>
        </p:nvSpPr>
        <p:spPr>
          <a:xfrm flipH="false" flipV="false" rot="0">
            <a:off x="9273635" y="5687492"/>
            <a:ext cx="8165354" cy="2274999"/>
          </a:xfrm>
          <a:custGeom>
            <a:avLst/>
            <a:gdLst/>
            <a:ahLst/>
            <a:cxnLst/>
            <a:rect r="r" b="b" t="t" l="l"/>
            <a:pathLst>
              <a:path h="2274999" w="8165354">
                <a:moveTo>
                  <a:pt x="0" y="0"/>
                </a:moveTo>
                <a:lnTo>
                  <a:pt x="8165354" y="0"/>
                </a:lnTo>
                <a:lnTo>
                  <a:pt x="8165354" y="2274998"/>
                </a:lnTo>
                <a:lnTo>
                  <a:pt x="0" y="22749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0" t="0" r="-11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9653645" y="6262507"/>
            <a:ext cx="1124950" cy="1124950"/>
          </a:xfrm>
          <a:custGeom>
            <a:avLst/>
            <a:gdLst/>
            <a:ahLst/>
            <a:cxnLst/>
            <a:rect r="r" b="b" t="t" l="l"/>
            <a:pathLst>
              <a:path h="1124950" w="1124950">
                <a:moveTo>
                  <a:pt x="0" y="0"/>
                </a:moveTo>
                <a:lnTo>
                  <a:pt x="1124950" y="0"/>
                </a:lnTo>
                <a:lnTo>
                  <a:pt x="1124950" y="1124950"/>
                </a:lnTo>
                <a:lnTo>
                  <a:pt x="0" y="11249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9956140" y="6565001"/>
            <a:ext cx="519970" cy="519970"/>
            <a:chOff x="0" y="0"/>
            <a:chExt cx="693293" cy="693293"/>
          </a:xfrm>
        </p:grpSpPr>
        <p:sp>
          <p:nvSpPr>
            <p:cNvPr name="Freeform 104" id="104" descr="icone"/>
            <p:cNvSpPr/>
            <p:nvPr/>
          </p:nvSpPr>
          <p:spPr>
            <a:xfrm flipH="false" flipV="false" rot="0">
              <a:off x="0" y="0"/>
              <a:ext cx="693293" cy="693293"/>
            </a:xfrm>
            <a:custGeom>
              <a:avLst/>
              <a:gdLst/>
              <a:ahLst/>
              <a:cxnLst/>
              <a:rect r="r" b="b" t="t" l="l"/>
              <a:pathLst>
                <a:path h="693293" w="693293">
                  <a:moveTo>
                    <a:pt x="0" y="0"/>
                  </a:moveTo>
                  <a:lnTo>
                    <a:pt x="693293" y="0"/>
                  </a:lnTo>
                  <a:lnTo>
                    <a:pt x="693293" y="693293"/>
                  </a:lnTo>
                  <a:lnTo>
                    <a:pt x="0" y="693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105" id="105"/>
          <p:cNvSpPr txBox="true"/>
          <p:nvPr/>
        </p:nvSpPr>
        <p:spPr>
          <a:xfrm rot="0">
            <a:off x="11096139" y="5629951"/>
            <a:ext cx="5950325" cy="92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Privacidade em risco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1096139" y="6371396"/>
            <a:ext cx="5950325" cy="142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Divulgar telefone e endereço expõe dados pessoais de quem participa da busca.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busca real virou um objetivo claro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14400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378333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Experiência real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4286250"/>
            <a:ext cx="49377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busca por um animal desaparecido na família motivou o projeto.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943600" y="2281714"/>
            <a:ext cx="548640" cy="1375886"/>
            <a:chOff x="0" y="0"/>
            <a:chExt cx="731520" cy="183451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943600" y="2188845"/>
            <a:ext cx="548640" cy="1468755"/>
            <a:chOff x="0" y="0"/>
            <a:chExt cx="731520" cy="19583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943600" y="2095976"/>
            <a:ext cx="548640" cy="1561624"/>
            <a:chOff x="0" y="0"/>
            <a:chExt cx="731520" cy="208216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197" t="0" r="-31519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23825"/>
              <a:ext cx="731520" cy="2205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583680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83680" y="3783330"/>
            <a:ext cx="512064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Necessidade identificada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83680" y="4286250"/>
            <a:ext cx="49377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pesquisa de campo e a análise de sistemas similares apontaram a lacuna.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612880" y="2281714"/>
            <a:ext cx="548640" cy="1375886"/>
            <a:chOff x="0" y="0"/>
            <a:chExt cx="731520" cy="183451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612880" y="2188845"/>
            <a:ext cx="548640" cy="1468755"/>
            <a:chOff x="0" y="0"/>
            <a:chExt cx="731520" cy="19583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612880" y="2095976"/>
            <a:ext cx="548640" cy="1561624"/>
            <a:chOff x="0" y="0"/>
            <a:chExt cx="731520" cy="20821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197" t="0" r="-31519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23825"/>
              <a:ext cx="731520" cy="2205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2252960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252960" y="378333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Proposta do WeFIND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252960" y="4286250"/>
            <a:ext cx="49377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Colaboração comunitária, geolocalização e comunicação privada.</a:t>
            </a:r>
          </a:p>
        </p:txBody>
      </p:sp>
      <p:sp>
        <p:nvSpPr>
          <p:cNvPr name="AutoShape 51" id="51"/>
          <p:cNvSpPr/>
          <p:nvPr/>
        </p:nvSpPr>
        <p:spPr>
          <a:xfrm rot="1980">
            <a:off x="881053" y="6555105"/>
            <a:ext cx="16525885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2" id="52"/>
          <p:cNvSpPr txBox="true"/>
          <p:nvPr/>
        </p:nvSpPr>
        <p:spPr>
          <a:xfrm rot="0">
            <a:off x="914400" y="6800850"/>
            <a:ext cx="73152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Objetivo geral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14400" y="7155180"/>
            <a:ext cx="6949440" cy="180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Desenvolver um app móvel colaborativo para divulgar e buscar animais perdidos e encontrados.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144000" y="6800850"/>
            <a:ext cx="73152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Método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144000" y="7155180"/>
            <a:ext cx="804672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aplicada, exploratório-descritiva e quali-quantitativa: questionário, sistemas similares, teste da correspondência, análise estática e SUS.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6459200" y="9509760"/>
            <a:ext cx="9144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Sete passos até o aplicativo avaliado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459200" y="9509760"/>
            <a:ext cx="9144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rot="1980">
            <a:off x="890588" y="4980622"/>
            <a:ext cx="16506835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914400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14400" y="4839653"/>
            <a:ext cx="320040" cy="320040"/>
            <a:chOff x="0" y="0"/>
            <a:chExt cx="426720" cy="426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14400" y="520731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Identificar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dificuldades relatadas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265713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3265713" y="4839653"/>
            <a:ext cx="320040" cy="320040"/>
            <a:chOff x="0" y="0"/>
            <a:chExt cx="426720" cy="4267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3265713" y="520731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Analisar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265713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sistemas similares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617026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5617026" y="4839653"/>
            <a:ext cx="320040" cy="320040"/>
            <a:chOff x="0" y="0"/>
            <a:chExt cx="426720" cy="426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5617026" y="520731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Definir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617026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 e modelar em UML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968339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7968339" y="4839653"/>
            <a:ext cx="320040" cy="320040"/>
            <a:chOff x="0" y="0"/>
            <a:chExt cx="426720" cy="426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7968339" y="520731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Projetar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968339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interface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319652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0319652" y="4839653"/>
            <a:ext cx="320040" cy="320040"/>
            <a:chOff x="0" y="0"/>
            <a:chExt cx="426720" cy="4267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0319652" y="520731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Implementar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319652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com React Native e Supabase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670974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2670974" y="4839653"/>
            <a:ext cx="320040" cy="320040"/>
            <a:chOff x="0" y="0"/>
            <a:chExt cx="426720" cy="4267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2670974" y="520731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Testar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670974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correspondência (20 pares)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5022287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07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5022287" y="4839653"/>
            <a:ext cx="320040" cy="320040"/>
            <a:chOff x="0" y="0"/>
            <a:chExt cx="426720" cy="4267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5022287" y="520731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Avaliar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5022287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usabilidade (SUS)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322195"/>
            <a:ext cx="9144000" cy="7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9895"/>
            <a:ext cx="6400800" cy="244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82590"/>
            <a:ext cx="15544800" cy="119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433185"/>
            <a:ext cx="15544800" cy="93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Campo e sistemas similares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E DIFERENCIAL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48 participantes descreveram o problema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87200" y="2194560"/>
            <a:ext cx="2743200" cy="1463040"/>
            <a:chOff x="0" y="0"/>
            <a:chExt cx="3657600" cy="1950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887200" y="2187416"/>
            <a:ext cx="2743200" cy="1470184"/>
            <a:chOff x="0" y="0"/>
            <a:chExt cx="3657600" cy="19602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887200" y="2180272"/>
            <a:ext cx="2743200" cy="1477327"/>
            <a:chOff x="0" y="0"/>
            <a:chExt cx="3657600" cy="19697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887200" y="2173129"/>
            <a:ext cx="2743200" cy="1484471"/>
            <a:chOff x="0" y="0"/>
            <a:chExt cx="3657600" cy="197929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887200" y="2165985"/>
            <a:ext cx="2743200" cy="1491615"/>
            <a:chOff x="0" y="0"/>
            <a:chExt cx="3657600" cy="19888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887200" y="2158841"/>
            <a:ext cx="2743200" cy="1498759"/>
            <a:chOff x="0" y="0"/>
            <a:chExt cx="3657600" cy="19983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147" t="0" r="-20147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887200" y="2151698"/>
            <a:ext cx="2743200" cy="1505902"/>
            <a:chOff x="0" y="0"/>
            <a:chExt cx="3657600" cy="20078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76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433" t="0" r="-2043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36576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48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4630400" y="2044065"/>
            <a:ext cx="2743200" cy="115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respondentes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630400" y="2867025"/>
            <a:ext cx="274320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52 questões; consulta em out. de 2026</a:t>
            </a:r>
          </a:p>
        </p:txBody>
      </p:sp>
      <p:sp>
        <p:nvSpPr>
          <p:cNvPr name="AutoShape 35" id="35"/>
          <p:cNvSpPr/>
          <p:nvPr/>
        </p:nvSpPr>
        <p:spPr>
          <a:xfrm rot="5880">
            <a:off x="11849081" y="4172903"/>
            <a:ext cx="5562686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1887200" y="4389120"/>
            <a:ext cx="2743200" cy="1463040"/>
            <a:chOff x="0" y="0"/>
            <a:chExt cx="3657600" cy="19507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887200" y="4381976"/>
            <a:ext cx="2743200" cy="1470184"/>
            <a:chOff x="0" y="0"/>
            <a:chExt cx="3657600" cy="19602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887200" y="4374832"/>
            <a:ext cx="2743200" cy="1477327"/>
            <a:chOff x="0" y="0"/>
            <a:chExt cx="3657600" cy="196977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887200" y="4367689"/>
            <a:ext cx="2743200" cy="1484471"/>
            <a:chOff x="0" y="0"/>
            <a:chExt cx="3657600" cy="197929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887200" y="4360545"/>
            <a:ext cx="2743200" cy="1491615"/>
            <a:chOff x="0" y="0"/>
            <a:chExt cx="3657600" cy="19888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887200" y="4353401"/>
            <a:ext cx="2743200" cy="1498759"/>
            <a:chOff x="0" y="0"/>
            <a:chExt cx="3657600" cy="199834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147" t="0" r="-20147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887200" y="4346258"/>
            <a:ext cx="2743200" cy="1505902"/>
            <a:chOff x="0" y="0"/>
            <a:chExt cx="3657600" cy="200787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576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433" t="0" r="-2043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36576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52%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4630400" y="4238625"/>
            <a:ext cx="2743200" cy="115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perderam um animal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630400" y="5061585"/>
            <a:ext cx="274320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25 de 48 participantes</a:t>
            </a:r>
          </a:p>
        </p:txBody>
      </p:sp>
      <p:sp>
        <p:nvSpPr>
          <p:cNvPr name="AutoShape 53" id="53"/>
          <p:cNvSpPr/>
          <p:nvPr/>
        </p:nvSpPr>
        <p:spPr>
          <a:xfrm rot="5880">
            <a:off x="11849081" y="6367462"/>
            <a:ext cx="5562686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1887200" y="6583680"/>
            <a:ext cx="2743200" cy="1463040"/>
            <a:chOff x="0" y="0"/>
            <a:chExt cx="3657600" cy="19507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887200" y="6576536"/>
            <a:ext cx="2743200" cy="1470184"/>
            <a:chOff x="0" y="0"/>
            <a:chExt cx="3657600" cy="196024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887200" y="6569393"/>
            <a:ext cx="2743200" cy="1477327"/>
            <a:chOff x="0" y="0"/>
            <a:chExt cx="3657600" cy="196977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887200" y="6562249"/>
            <a:ext cx="2743200" cy="1484471"/>
            <a:chOff x="0" y="0"/>
            <a:chExt cx="3657600" cy="197929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887200" y="6555105"/>
            <a:ext cx="2743200" cy="1491615"/>
            <a:chOff x="0" y="0"/>
            <a:chExt cx="3657600" cy="19888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1887200" y="6547961"/>
            <a:ext cx="2743200" cy="1498759"/>
            <a:chOff x="0" y="0"/>
            <a:chExt cx="3657600" cy="199834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147" t="0" r="-20147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887200" y="6540818"/>
            <a:ext cx="2743200" cy="1505902"/>
            <a:chOff x="0" y="0"/>
            <a:chExt cx="3657600" cy="200787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6576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433" t="0" r="-2043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36576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84%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14630400" y="6433185"/>
            <a:ext cx="2743200" cy="115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queriam avisos de quem viu o animal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4630400" y="7256145"/>
            <a:ext cx="274320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 dos 25 que já perderam um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14400" y="8444865"/>
            <a:ext cx="164592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por conveniência: formulário divulgado em dois grupos públicos do Facebook; 72,9% moram em Pelotas. Os resultados descrevem apenas o grupo consultado.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6459200" y="947166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pic>
        <p:nvPicPr>
          <p:cNvPr name="Picture 88" id="8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238331" y="2413988"/>
            <a:ext cx="10191323" cy="6361994"/>
          </a:xfrm>
          <a:prstGeom prst="rect">
            <a:avLst/>
          </a:prstGeom>
        </p:spPr>
      </p:pic>
      <p:sp>
        <p:nvSpPr>
          <p:cNvPr name="TextBox 89" id="89"/>
          <p:cNvSpPr txBox="true"/>
          <p:nvPr/>
        </p:nvSpPr>
        <p:spPr>
          <a:xfrm rot="0">
            <a:off x="914400" y="2101215"/>
            <a:ext cx="10241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Dificuldades percebidas na divulgação (Q17 · 48 respostas · mais de uma opção)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E DIFERENCIAL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Sistemas similares analisados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06466" y="2460946"/>
            <a:ext cx="3582038" cy="5136518"/>
            <a:chOff x="0" y="0"/>
            <a:chExt cx="4776051" cy="68486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75962" cy="6848602"/>
            </a:xfrm>
            <a:custGeom>
              <a:avLst/>
              <a:gdLst/>
              <a:ahLst/>
              <a:cxnLst/>
              <a:rect r="r" b="b" t="t" l="l"/>
              <a:pathLst>
                <a:path h="6848602" w="4775962">
                  <a:moveTo>
                    <a:pt x="0" y="286512"/>
                  </a:moveTo>
                  <a:cubicBezTo>
                    <a:pt x="0" y="128270"/>
                    <a:pt x="128270" y="0"/>
                    <a:pt x="286512" y="0"/>
                  </a:cubicBezTo>
                  <a:lnTo>
                    <a:pt x="4489450" y="0"/>
                  </a:lnTo>
                  <a:cubicBezTo>
                    <a:pt x="4647692" y="0"/>
                    <a:pt x="4775962" y="128270"/>
                    <a:pt x="4775962" y="286512"/>
                  </a:cubicBezTo>
                  <a:lnTo>
                    <a:pt x="4775962" y="6562090"/>
                  </a:lnTo>
                  <a:cubicBezTo>
                    <a:pt x="4775962" y="6720332"/>
                    <a:pt x="4647692" y="6848602"/>
                    <a:pt x="4489450" y="6848602"/>
                  </a:cubicBezTo>
                  <a:lnTo>
                    <a:pt x="286512" y="6848602"/>
                  </a:lnTo>
                  <a:cubicBezTo>
                    <a:pt x="128270" y="6848729"/>
                    <a:pt x="0" y="6720332"/>
                    <a:pt x="0" y="656209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645920" y="2971800"/>
            <a:ext cx="2103120" cy="2103120"/>
            <a:chOff x="0" y="0"/>
            <a:chExt cx="2804160" cy="2804160"/>
          </a:xfrm>
        </p:grpSpPr>
        <p:sp>
          <p:nvSpPr>
            <p:cNvPr name="Freeform 36" id="36" descr="viumeupet.png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97280" y="5385435"/>
            <a:ext cx="32004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Viu Meu Pet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97280" y="6225540"/>
            <a:ext cx="32004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Brasileiro · site e app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5204146" y="2460946"/>
            <a:ext cx="3582038" cy="5136518"/>
            <a:chOff x="0" y="0"/>
            <a:chExt cx="4776051" cy="68486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75962" cy="6848602"/>
            </a:xfrm>
            <a:custGeom>
              <a:avLst/>
              <a:gdLst/>
              <a:ahLst/>
              <a:cxnLst/>
              <a:rect r="r" b="b" t="t" l="l"/>
              <a:pathLst>
                <a:path h="6848602" w="4775962">
                  <a:moveTo>
                    <a:pt x="0" y="286512"/>
                  </a:moveTo>
                  <a:cubicBezTo>
                    <a:pt x="0" y="128270"/>
                    <a:pt x="128270" y="0"/>
                    <a:pt x="286512" y="0"/>
                  </a:cubicBezTo>
                  <a:lnTo>
                    <a:pt x="4489450" y="0"/>
                  </a:lnTo>
                  <a:cubicBezTo>
                    <a:pt x="4647692" y="0"/>
                    <a:pt x="4775962" y="128270"/>
                    <a:pt x="4775962" y="286512"/>
                  </a:cubicBezTo>
                  <a:lnTo>
                    <a:pt x="4775962" y="6562090"/>
                  </a:lnTo>
                  <a:cubicBezTo>
                    <a:pt x="4775962" y="6720332"/>
                    <a:pt x="4647692" y="6848602"/>
                    <a:pt x="4489450" y="6848602"/>
                  </a:cubicBezTo>
                  <a:lnTo>
                    <a:pt x="286512" y="6848602"/>
                  </a:lnTo>
                  <a:cubicBezTo>
                    <a:pt x="128270" y="6848729"/>
                    <a:pt x="0" y="6720332"/>
                    <a:pt x="0" y="656209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5943600" y="2971800"/>
            <a:ext cx="2103120" cy="2103120"/>
            <a:chOff x="0" y="0"/>
            <a:chExt cx="2804160" cy="2804160"/>
          </a:xfrm>
        </p:grpSpPr>
        <p:sp>
          <p:nvSpPr>
            <p:cNvPr name="Freeform 42" id="42" descr="pawboost.png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6481" r="0" b="-6481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5394960" y="5385435"/>
            <a:ext cx="32004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PawBoost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394960" y="6225540"/>
            <a:ext cx="32004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Internacional · site e app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501826" y="2460946"/>
            <a:ext cx="3582038" cy="5136518"/>
            <a:chOff x="0" y="0"/>
            <a:chExt cx="4776051" cy="68486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775962" cy="6848602"/>
            </a:xfrm>
            <a:custGeom>
              <a:avLst/>
              <a:gdLst/>
              <a:ahLst/>
              <a:cxnLst/>
              <a:rect r="r" b="b" t="t" l="l"/>
              <a:pathLst>
                <a:path h="6848602" w="4775962">
                  <a:moveTo>
                    <a:pt x="0" y="286512"/>
                  </a:moveTo>
                  <a:cubicBezTo>
                    <a:pt x="0" y="128270"/>
                    <a:pt x="128270" y="0"/>
                    <a:pt x="286512" y="0"/>
                  </a:cubicBezTo>
                  <a:lnTo>
                    <a:pt x="4489450" y="0"/>
                  </a:lnTo>
                  <a:cubicBezTo>
                    <a:pt x="4647692" y="0"/>
                    <a:pt x="4775962" y="128270"/>
                    <a:pt x="4775962" y="286512"/>
                  </a:cubicBezTo>
                  <a:lnTo>
                    <a:pt x="4775962" y="6562090"/>
                  </a:lnTo>
                  <a:cubicBezTo>
                    <a:pt x="4775962" y="6720332"/>
                    <a:pt x="4647692" y="6848602"/>
                    <a:pt x="4489450" y="6848602"/>
                  </a:cubicBezTo>
                  <a:lnTo>
                    <a:pt x="286512" y="6848602"/>
                  </a:lnTo>
                  <a:cubicBezTo>
                    <a:pt x="128270" y="6848729"/>
                    <a:pt x="0" y="6720332"/>
                    <a:pt x="0" y="656209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0241280" y="2971800"/>
            <a:ext cx="2103120" cy="2103120"/>
            <a:chOff x="0" y="0"/>
            <a:chExt cx="2804160" cy="2804160"/>
          </a:xfrm>
        </p:grpSpPr>
        <p:sp>
          <p:nvSpPr>
            <p:cNvPr name="Freeform 48" id="48" descr="alertpet.png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403" t="0" r="-403" b="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9692640" y="5385435"/>
            <a:ext cx="32004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AlertPet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692640" y="6225540"/>
            <a:ext cx="32004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Brasileiro · campanhas pagas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3799506" y="2460946"/>
            <a:ext cx="3582038" cy="5136518"/>
            <a:chOff x="0" y="0"/>
            <a:chExt cx="4776051" cy="684869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775962" cy="6848602"/>
            </a:xfrm>
            <a:custGeom>
              <a:avLst/>
              <a:gdLst/>
              <a:ahLst/>
              <a:cxnLst/>
              <a:rect r="r" b="b" t="t" l="l"/>
              <a:pathLst>
                <a:path h="6848602" w="4775962">
                  <a:moveTo>
                    <a:pt x="0" y="286512"/>
                  </a:moveTo>
                  <a:cubicBezTo>
                    <a:pt x="0" y="128270"/>
                    <a:pt x="128270" y="0"/>
                    <a:pt x="286512" y="0"/>
                  </a:cubicBezTo>
                  <a:lnTo>
                    <a:pt x="4489450" y="0"/>
                  </a:lnTo>
                  <a:cubicBezTo>
                    <a:pt x="4647692" y="0"/>
                    <a:pt x="4775962" y="128270"/>
                    <a:pt x="4775962" y="286512"/>
                  </a:cubicBezTo>
                  <a:lnTo>
                    <a:pt x="4775962" y="6562090"/>
                  </a:lnTo>
                  <a:cubicBezTo>
                    <a:pt x="4775962" y="6720332"/>
                    <a:pt x="4647692" y="6848602"/>
                    <a:pt x="4489450" y="6848602"/>
                  </a:cubicBezTo>
                  <a:lnTo>
                    <a:pt x="286512" y="6848602"/>
                  </a:lnTo>
                  <a:cubicBezTo>
                    <a:pt x="128270" y="6848729"/>
                    <a:pt x="0" y="6720332"/>
                    <a:pt x="0" y="656209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4538960" y="2971800"/>
            <a:ext cx="2103120" cy="2103120"/>
            <a:chOff x="0" y="0"/>
            <a:chExt cx="2804160" cy="2804160"/>
          </a:xfrm>
        </p:grpSpPr>
        <p:sp>
          <p:nvSpPr>
            <p:cNvPr name="Freeform 54" id="54" descr="facebook.png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3990320" y="5385435"/>
            <a:ext cx="32004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Facebook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990320" y="6225540"/>
            <a:ext cx="32004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Rede social · grupos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14400" y="8054340"/>
            <a:ext cx="164592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Seleção intencional: três plataformas de animais perdidos e o Facebook, canal usado por 31 dos 48 participantes da pesquisa.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E DIFERENCIAL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Nenhuma reúne mapa, rota e correspondência</a:t>
              </a:r>
            </a:p>
          </p:txBody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914400" y="2194560"/>
          <a:ext cx="16281400" cy="6755092"/>
        </p:xfrm>
        <a:graphic>
          <a:graphicData uri="http://schemas.openxmlformats.org/drawingml/2006/table">
            <a:tbl>
              <a:tblPr/>
              <a:tblGrid>
                <a:gridCol w="6693465"/>
                <a:gridCol w="1917587"/>
                <a:gridCol w="1917587"/>
                <a:gridCol w="1917587"/>
                <a:gridCol w="1917587"/>
                <a:gridCol w="1917587"/>
              </a:tblGrid>
              <a:tr h="6194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Funcionalidade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Viu Meu 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PawBoost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AlertPet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Facebook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B17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WeFIND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2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Cadastrar animal com fotos e descrição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Disponibilizar aplicativo móvel para busca de animais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Gerar cartazes digitais de busca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Filtrar animais por espécie e município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Enviar alertas sobre publicações relevantes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Visualizar animais em mapa interativo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Registrar relatos de avistamento com localização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Permitir comunicação privada entre usuários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3C5D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Traçar rota até o local informado na publicação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204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Sugerir correspondências entre animais perdidos e encontrados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322195"/>
            <a:ext cx="9144000" cy="7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9895"/>
            <a:ext cx="6400800" cy="244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82590"/>
            <a:ext cx="15544800" cy="119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433185"/>
            <a:ext cx="155448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3174" r="0" b="-20317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212848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21 requisitos funcionais centrais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81045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80611" y="2510438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346911" y="2776738"/>
            <a:ext cx="460820" cy="460820"/>
            <a:chOff x="0" y="0"/>
            <a:chExt cx="614426" cy="614426"/>
          </a:xfrm>
        </p:grpSpPr>
        <p:sp>
          <p:nvSpPr>
            <p:cNvPr name="Freeform 35" id="35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2331720" y="2241356"/>
            <a:ext cx="370332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 e perfil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331720" y="2788091"/>
            <a:ext cx="3703320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RF01 e RF02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643401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6704171" y="2510438"/>
            <a:ext cx="993458" cy="993457"/>
          </a:xfrm>
          <a:custGeom>
            <a:avLst/>
            <a:gdLst/>
            <a:ahLst/>
            <a:cxnLst/>
            <a:rect r="r" b="b" t="t" l="l"/>
            <a:pathLst>
              <a:path h="993457" w="993458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6970471" y="2776738"/>
            <a:ext cx="460820" cy="460820"/>
            <a:chOff x="0" y="0"/>
            <a:chExt cx="614426" cy="614426"/>
          </a:xfrm>
        </p:grpSpPr>
        <p:sp>
          <p:nvSpPr>
            <p:cNvPr name="Freeform 41" id="41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7955280" y="2241356"/>
            <a:ext cx="370332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Publicações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955280" y="2788091"/>
            <a:ext cx="3703320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RF03 a RF05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205757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327731" y="2510438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2594031" y="2776738"/>
            <a:ext cx="460820" cy="460820"/>
            <a:chOff x="0" y="0"/>
            <a:chExt cx="614426" cy="614426"/>
          </a:xfrm>
        </p:grpSpPr>
        <p:sp>
          <p:nvSpPr>
            <p:cNvPr name="Freeform 47" id="47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3578840" y="2241356"/>
            <a:ext cx="370332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e busca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578840" y="2788091"/>
            <a:ext cx="3703320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RF06 a RF08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81045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080611" y="4339238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1346911" y="4605538"/>
            <a:ext cx="460820" cy="460820"/>
            <a:chOff x="0" y="0"/>
            <a:chExt cx="614426" cy="614426"/>
          </a:xfrm>
        </p:grpSpPr>
        <p:sp>
          <p:nvSpPr>
            <p:cNvPr name="Freeform 53" id="53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2331720" y="4070156"/>
            <a:ext cx="370332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331720" y="4616891"/>
            <a:ext cx="3703320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RF09 e RF10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643401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6704171" y="4339238"/>
            <a:ext cx="993458" cy="993458"/>
          </a:xfrm>
          <a:custGeom>
            <a:avLst/>
            <a:gdLst/>
            <a:ahLst/>
            <a:cxnLst/>
            <a:rect r="r" b="b" t="t" l="l"/>
            <a:pathLst>
              <a:path h="993458" w="993458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6970471" y="4605538"/>
            <a:ext cx="460820" cy="460820"/>
            <a:chOff x="0" y="0"/>
            <a:chExt cx="614426" cy="614426"/>
          </a:xfrm>
        </p:grpSpPr>
        <p:sp>
          <p:nvSpPr>
            <p:cNvPr name="Freeform 59" id="59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7955280" y="4070156"/>
            <a:ext cx="370332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Comunicação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955280" y="4616891"/>
            <a:ext cx="3703320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RF11 e RF12</a:t>
            </a:r>
          </a:p>
        </p:txBody>
      </p:sp>
      <p:sp>
        <p:nvSpPr>
          <p:cNvPr name="Freeform 62" id="62"/>
          <p:cNvSpPr/>
          <p:nvPr/>
        </p:nvSpPr>
        <p:spPr>
          <a:xfrm flipH="false" flipV="false" rot="0">
            <a:off x="1205757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2327731" y="4339238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2594031" y="4605538"/>
            <a:ext cx="460820" cy="460820"/>
            <a:chOff x="0" y="0"/>
            <a:chExt cx="614426" cy="614426"/>
          </a:xfrm>
        </p:grpSpPr>
        <p:sp>
          <p:nvSpPr>
            <p:cNvPr name="Freeform 65" id="65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13578840" y="4070156"/>
            <a:ext cx="370332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Moderação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578840" y="4616891"/>
            <a:ext cx="3703320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RF13 e RF14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813816" y="5943600"/>
            <a:ext cx="5376672" cy="1143000"/>
            <a:chOff x="0" y="0"/>
            <a:chExt cx="7168896" cy="15240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1161288" y="5989320"/>
            <a:ext cx="4754880" cy="83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RF15  Cartaz com QR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6437376" y="5943600"/>
            <a:ext cx="5376672" cy="1143000"/>
            <a:chOff x="0" y="0"/>
            <a:chExt cx="7168896" cy="15240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6784848" y="5989320"/>
            <a:ext cx="4754880" cy="96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RF16  Ciclo de vida da publicação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2060936" y="5943600"/>
            <a:ext cx="5376672" cy="1143000"/>
            <a:chOff x="0" y="0"/>
            <a:chExt cx="7168896" cy="15240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12408408" y="5989320"/>
            <a:ext cx="4754880" cy="83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RF17  Correspondências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813816" y="7315200"/>
            <a:ext cx="5376672" cy="1143000"/>
            <a:chOff x="0" y="0"/>
            <a:chExt cx="7168896" cy="15240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81" id="81"/>
          <p:cNvSpPr txBox="true"/>
          <p:nvPr/>
        </p:nvSpPr>
        <p:spPr>
          <a:xfrm rot="0">
            <a:off x="1161288" y="7360920"/>
            <a:ext cx="4754880" cy="83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RF18  Tutela e encontro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6437376" y="7315200"/>
            <a:ext cx="5376672" cy="1143000"/>
            <a:chOff x="0" y="0"/>
            <a:chExt cx="7168896" cy="15240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6784848" y="7360920"/>
            <a:ext cx="4754880" cy="83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RF19 e RF20  Meus pets e adoção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12060936" y="7315200"/>
            <a:ext cx="5376672" cy="1143000"/>
            <a:chOff x="0" y="0"/>
            <a:chExt cx="7168896" cy="15240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87" id="87"/>
          <p:cNvSpPr txBox="true"/>
          <p:nvPr/>
        </p:nvSpPr>
        <p:spPr>
          <a:xfrm rot="0">
            <a:off x="12408408" y="7360920"/>
            <a:ext cx="4754880" cy="83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RF21  Classificação de membros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262" r="0" b="-2392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972800" cy="777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598" r="0" b="-20459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212848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Qualidade: acesso, privacidade e imagens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31" id="3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2880360" y="2411730"/>
            <a:ext cx="576072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RNF01  Autenticação e acesso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80360" y="3337560"/>
            <a:ext cx="5760720" cy="180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 e políticas RLS: ninguém altera ou exclui dados de outra conta.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37" id="3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315700" y="2411730"/>
            <a:ext cx="576072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RNF02  Privacidade da localização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315700" y="3337560"/>
            <a:ext cx="5760720" cy="180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Telas públicas mostram o endereço de forma aproximada (nenhum dos 48 participantes exibiria o endereço completo).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43" id="4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2880360" y="5566410"/>
            <a:ext cx="576072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RNF03  Comunicação segura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80360" y="6492240"/>
            <a:ext cx="5760720" cy="180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Todas as requisições entre o aplicativo e a nuvem usam HTTPS.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49" id="4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1315700" y="5566410"/>
            <a:ext cx="576072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RNF04  Compressão de imagens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315700" y="6492240"/>
            <a:ext cx="5760720" cy="180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As fotos são comprimidas no aparelho antes do envio.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22960" y="8492490"/>
            <a:ext cx="1659636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ISO/IEC 25010. Verificados por inspeção do código e da configuração, sem medições independentes.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-189757"/>
            <a:ext cx="16459200" cy="3814953"/>
            <a:chOff x="0" y="0"/>
            <a:chExt cx="21945600" cy="50866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5086604"/>
            </a:xfrm>
            <a:custGeom>
              <a:avLst/>
              <a:gdLst/>
              <a:ahLst/>
              <a:cxnLst/>
              <a:rect r="r" b="b" t="t" l="l"/>
              <a:pathLst>
                <a:path h="50866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6604"/>
                  </a:lnTo>
                  <a:lnTo>
                    <a:pt x="0" y="5086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07" r="0" b="-3400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-196901"/>
            <a:ext cx="16459200" cy="3822097"/>
            <a:chOff x="0" y="0"/>
            <a:chExt cx="21945600" cy="50961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5096129"/>
            </a:xfrm>
            <a:custGeom>
              <a:avLst/>
              <a:gdLst/>
              <a:ahLst/>
              <a:cxnLst/>
              <a:rect r="r" b="b" t="t" l="l"/>
              <a:pathLst>
                <a:path h="509612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96129"/>
                  </a:lnTo>
                  <a:lnTo>
                    <a:pt x="0" y="50961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850" r="0" b="-3385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-204045"/>
            <a:ext cx="16459200" cy="3829240"/>
            <a:chOff x="0" y="0"/>
            <a:chExt cx="21945600" cy="51056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5105654"/>
            </a:xfrm>
            <a:custGeom>
              <a:avLst/>
              <a:gdLst/>
              <a:ahLst/>
              <a:cxnLst/>
              <a:rect r="r" b="b" t="t" l="l"/>
              <a:pathLst>
                <a:path h="510565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05654"/>
                  </a:lnTo>
                  <a:lnTo>
                    <a:pt x="0" y="51056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694" r="0" b="-3369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-211188"/>
            <a:ext cx="16459200" cy="3836384"/>
            <a:chOff x="0" y="0"/>
            <a:chExt cx="21945600" cy="51151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5115179"/>
            </a:xfrm>
            <a:custGeom>
              <a:avLst/>
              <a:gdLst/>
              <a:ahLst/>
              <a:cxnLst/>
              <a:rect r="r" b="b" t="t" l="l"/>
              <a:pathLst>
                <a:path h="511517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15179"/>
                  </a:lnTo>
                  <a:lnTo>
                    <a:pt x="0" y="511517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538" r="0" b="-3353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-218332"/>
            <a:ext cx="16459200" cy="3843547"/>
            <a:chOff x="0" y="0"/>
            <a:chExt cx="21945600" cy="51247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5124704"/>
            </a:xfrm>
            <a:custGeom>
              <a:avLst/>
              <a:gdLst/>
              <a:ahLst/>
              <a:cxnLst/>
              <a:rect r="r" b="b" t="t" l="l"/>
              <a:pathLst>
                <a:path h="51247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24704"/>
                  </a:lnTo>
                  <a:lnTo>
                    <a:pt x="0" y="512470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382" r="0" b="-33383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-225476"/>
            <a:ext cx="16459200" cy="3850691"/>
            <a:chOff x="0" y="0"/>
            <a:chExt cx="21945600" cy="51342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5134254"/>
            </a:xfrm>
            <a:custGeom>
              <a:avLst/>
              <a:gdLst/>
              <a:ahLst/>
              <a:cxnLst/>
              <a:rect r="r" b="b" t="t" l="l"/>
              <a:pathLst>
                <a:path h="513425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34254"/>
                  </a:lnTo>
                  <a:lnTo>
                    <a:pt x="0" y="513425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285" r="0" b="-3328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51437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RF16: ciclo de vida da publicação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1980">
            <a:off x="873119" y="2947606"/>
            <a:ext cx="16541772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89217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14400" y="3482340"/>
            <a:ext cx="384048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4139565"/>
            <a:ext cx="384048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4878705"/>
            <a:ext cx="374904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Contados do cadastro ou da última renovação.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509841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120640" y="3482340"/>
            <a:ext cx="384048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20640" y="4139565"/>
            <a:ext cx="384048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 dias antes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20640" y="4878705"/>
            <a:ext cx="374904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responsável é avisado para renovar o anúncio.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30465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326880" y="3482340"/>
            <a:ext cx="384048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CARÊNCIA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26880" y="4139565"/>
            <a:ext cx="384048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326880" y="4878705"/>
            <a:ext cx="374904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Oculta do mural e do mapa; ainda pode ser renovada.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351089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3533120" y="3482340"/>
            <a:ext cx="384048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REMOÇÃO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33120" y="4139565"/>
            <a:ext cx="384048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depois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533120" y="4878705"/>
            <a:ext cx="374904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Rotina de limpeza exclui a publicação e as fotos.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89611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499616" y="6919341"/>
            <a:ext cx="338328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E67E22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99616" y="7256145"/>
            <a:ext cx="338328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tutor procura o animal.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510235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5705856" y="6919341"/>
            <a:ext cx="338328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16A34A"/>
                </a:solidFill>
                <a:latin typeface="Cambria Bold"/>
                <a:ea typeface="Cambria Bold"/>
                <a:cs typeface="Cambria Bold"/>
                <a:sym typeface="Cambria Bold"/>
              </a:rPr>
              <a:t>Encontrado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705856" y="7256145"/>
            <a:ext cx="338328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Quem achou ou viu o animal.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351483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4118336" y="6919341"/>
            <a:ext cx="338328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Reencontrado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118336" y="7256145"/>
            <a:ext cx="338328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Encerra a busca.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14400" y="8627745"/>
            <a:ext cx="16459200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Limite: a limpeza roda ao abrir o mural e só alcança as publicações do próprio usuário.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308592" y="7164962"/>
            <a:ext cx="300514" cy="300514"/>
            <a:chOff x="0" y="0"/>
            <a:chExt cx="400685" cy="40068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00685" cy="400685"/>
            </a:xfrm>
            <a:custGeom>
              <a:avLst/>
              <a:gdLst/>
              <a:ahLst/>
              <a:cxnLst/>
              <a:rect r="r" b="b" t="t" l="l"/>
              <a:pathLst>
                <a:path h="400685" w="400685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cubicBezTo>
                    <a:pt x="310896" y="0"/>
                    <a:pt x="400685" y="89662"/>
                    <a:pt x="400685" y="200279"/>
                  </a:cubicBezTo>
                  <a:cubicBezTo>
                    <a:pt x="400685" y="310896"/>
                    <a:pt x="311023" y="400685"/>
                    <a:pt x="200406" y="400685"/>
                  </a:cubicBezTo>
                  <a:cubicBezTo>
                    <a:pt x="89789" y="400685"/>
                    <a:pt x="0" y="311023"/>
                    <a:pt x="0" y="200279"/>
                  </a:cubicBezTo>
                  <a:close/>
                </a:path>
              </a:pathLst>
            </a:custGeom>
            <a:solidFill>
              <a:srgbClr val="BE185D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9912096" y="6919341"/>
            <a:ext cx="338328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E185D"/>
                </a:solidFill>
                <a:latin typeface="Cambria Bold"/>
                <a:ea typeface="Cambria Bold"/>
                <a:cs typeface="Cambria Bold"/>
                <a:sym typeface="Cambria Bold"/>
              </a:rPr>
              <a:t>Para adoção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912096" y="7256145"/>
            <a:ext cx="338328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Encontrado, após 7 dias de busca.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3174" r="0" b="-20317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212848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Privacidade e reencontro seguro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35" id="3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2880360" y="234505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Comprovação de tutela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80360" y="329946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e fotos do tutor; a devolução é combinada em local público.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41" id="4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315700" y="234505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Privacidade por padrão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15700" y="329946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Público vê bairro e rua, sem número; no mapa, grade de ~1 km.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47" id="4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2880360" y="549973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Meus pets e carteirinha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880360" y="645414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Cadastro preventivo com QR; “Meu pet fugiu” vira publicação.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53" id="5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1315700" y="549973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 responsável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315700" y="645414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Animal encontrado só vai para adoção após 7 dias de busca.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22960" y="8444865"/>
            <a:ext cx="16596360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LGPD e Privacy by Design (Cavoukian, 2009). Nenhum dos 48 participantes exibiria o endereço completo de um animal acolhido.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200" r="0" b="-6520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200" r="0" b="-652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-144437"/>
            <a:ext cx="16459200" cy="2781948"/>
            <a:chOff x="0" y="0"/>
            <a:chExt cx="21945600" cy="37092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5201" r="0" b="-6520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-144437"/>
            <a:ext cx="16459200" cy="2781948"/>
            <a:chOff x="0" y="0"/>
            <a:chExt cx="21945600" cy="37092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3709264"/>
            </a:xfrm>
            <a:custGeom>
              <a:avLst/>
              <a:gdLst/>
              <a:ahLst/>
              <a:cxnLst/>
              <a:rect r="r" b="b" t="t" l="l"/>
              <a:pathLst>
                <a:path h="37092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64"/>
                  </a:lnTo>
                  <a:lnTo>
                    <a:pt x="0" y="37092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5281" r="0" b="-6528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3709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casos de uso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2960" y="2518410"/>
            <a:ext cx="61722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visitante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2960" y="2838450"/>
            <a:ext cx="6172200" cy="248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publicações, mapa e detalhes; cria conta e entra.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22960" y="4347210"/>
            <a:ext cx="61722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autenticado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22960" y="4667250"/>
            <a:ext cx="617220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visitante. Publica (com recompensa ou de forma anônima), registra avistamentos, conversa, cadastra seus pets, pede ou analisa a tutela, combina o encontro e classifica membros.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22960" y="7090410"/>
            <a:ext cx="61722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Administrador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22960" y="7410450"/>
            <a:ext cx="6172200" cy="248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usuário autenticado. Analisa denúncias e modera conteúdo.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245801" y="-106337"/>
            <a:ext cx="9304782" cy="10431399"/>
            <a:chOff x="0" y="0"/>
            <a:chExt cx="12406376" cy="1390853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406376" cy="13908532"/>
            </a:xfrm>
            <a:custGeom>
              <a:avLst/>
              <a:gdLst/>
              <a:ahLst/>
              <a:cxnLst/>
              <a:rect r="r" b="b" t="t" l="l"/>
              <a:pathLst>
                <a:path h="13908532" w="12406376">
                  <a:moveTo>
                    <a:pt x="0" y="0"/>
                  </a:moveTo>
                  <a:lnTo>
                    <a:pt x="12406376" y="0"/>
                  </a:lnTo>
                  <a:lnTo>
                    <a:pt x="12406376" y="13908532"/>
                  </a:lnTo>
                  <a:lnTo>
                    <a:pt x="0" y="13908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1" t="0" r="-41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76921" y="10773"/>
            <a:ext cx="10996679" cy="10292886"/>
            <a:chOff x="0" y="0"/>
            <a:chExt cx="14662239" cy="137238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62277" cy="13723874"/>
            </a:xfrm>
            <a:custGeom>
              <a:avLst/>
              <a:gdLst/>
              <a:ahLst/>
              <a:cxnLst/>
              <a:rect r="r" b="b" t="t" l="l"/>
              <a:pathLst>
                <a:path h="13723874" w="14662277">
                  <a:moveTo>
                    <a:pt x="0" y="0"/>
                  </a:moveTo>
                  <a:lnTo>
                    <a:pt x="14662277" y="0"/>
                  </a:lnTo>
                  <a:lnTo>
                    <a:pt x="14662277" y="13723874"/>
                  </a:lnTo>
                  <a:lnTo>
                    <a:pt x="0" y="13723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8" r="0" b="-48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914400"/>
            <a:ext cx="60350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Diagrama de classes de domínio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211074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Usuario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251307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Conta, perfil e animais (AnimalEstimacao)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329946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Publicacao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370179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FotoPublicacao e Recompensa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448818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489051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com local, hora e foto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567690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 e Mensagem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" y="607923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Notificacao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" y="686562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Reencontro e prevenção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726795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SolicitacaoDevolucao e EncontroDevolucao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4400" y="805434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Denuncia e Classificacao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" y="845667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Moderação e notas entre membros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15024" y="202873"/>
            <a:ext cx="10556891" cy="9881245"/>
            <a:chOff x="0" y="0"/>
            <a:chExt cx="14075854" cy="1317499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075918" cy="13174980"/>
            </a:xfrm>
            <a:custGeom>
              <a:avLst/>
              <a:gdLst/>
              <a:ahLst/>
              <a:cxnLst/>
              <a:rect r="r" b="b" t="t" l="l"/>
              <a:pathLst>
                <a:path h="13174980" w="14075918">
                  <a:moveTo>
                    <a:pt x="0" y="0"/>
                  </a:moveTo>
                  <a:lnTo>
                    <a:pt x="14075918" y="0"/>
                  </a:lnTo>
                  <a:lnTo>
                    <a:pt x="14075918" y="13174980"/>
                  </a:lnTo>
                  <a:lnTo>
                    <a:pt x="0" y="13174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2" r="0" b="-23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914400"/>
            <a:ext cx="60350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Modelo lógico do banco de dados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211074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profiles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251307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Contas ligadas ao Supabase Auth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329946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items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370179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item_photos e rewards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448818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sightings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489051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com local e foto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567690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conversations e messages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" y="607923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notifications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" y="686562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item_claims e return_meetups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726795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Tutela e encontro de devolução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4400" y="805434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reports e user_ratings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" y="845667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Denúncias e classificações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322195"/>
            <a:ext cx="9144000" cy="7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9895"/>
            <a:ext cx="6400800" cy="244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82590"/>
            <a:ext cx="15544800" cy="119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Solução desenvolvida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433185"/>
            <a:ext cx="15544800" cy="93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Arquitetura, correspondência e telas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em três partes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62012" y="2142172"/>
            <a:ext cx="5956935" cy="6597015"/>
            <a:chOff x="0" y="0"/>
            <a:chExt cx="7942580" cy="87960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42580" cy="8796020"/>
            </a:xfrm>
            <a:custGeom>
              <a:avLst/>
              <a:gdLst/>
              <a:ahLst/>
              <a:cxnLst/>
              <a:rect r="r" b="b" t="t" l="l"/>
              <a:pathLst>
                <a:path h="8796020" w="7942580">
                  <a:moveTo>
                    <a:pt x="0" y="0"/>
                  </a:moveTo>
                  <a:lnTo>
                    <a:pt x="7942580" y="0"/>
                  </a:lnTo>
                  <a:lnTo>
                    <a:pt x="7942580" y="8796020"/>
                  </a:lnTo>
                  <a:lnTo>
                    <a:pt x="0" y="87960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188720" y="2207514"/>
            <a:ext cx="530352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 móvel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902893" y="2142172"/>
            <a:ext cx="5408295" cy="6597015"/>
            <a:chOff x="0" y="0"/>
            <a:chExt cx="7211060" cy="87960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11060" cy="8796020"/>
            </a:xfrm>
            <a:custGeom>
              <a:avLst/>
              <a:gdLst/>
              <a:ahLst/>
              <a:cxnLst/>
              <a:rect r="r" b="b" t="t" l="l"/>
              <a:pathLst>
                <a:path h="8796020" w="7211060">
                  <a:moveTo>
                    <a:pt x="0" y="0"/>
                  </a:moveTo>
                  <a:lnTo>
                    <a:pt x="7211060" y="0"/>
                  </a:lnTo>
                  <a:lnTo>
                    <a:pt x="7211060" y="8796020"/>
                  </a:lnTo>
                  <a:lnTo>
                    <a:pt x="0" y="87960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8229600" y="2207514"/>
            <a:ext cx="475488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Nuvem (Supabase)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395132" y="2142172"/>
            <a:ext cx="3030855" cy="6597015"/>
            <a:chOff x="0" y="0"/>
            <a:chExt cx="4041140" cy="87960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41140" cy="8796020"/>
            </a:xfrm>
            <a:custGeom>
              <a:avLst/>
              <a:gdLst/>
              <a:ahLst/>
              <a:cxnLst/>
              <a:rect r="r" b="b" t="t" l="l"/>
              <a:pathLst>
                <a:path h="8796020" w="4041140">
                  <a:moveTo>
                    <a:pt x="0" y="0"/>
                  </a:moveTo>
                  <a:lnTo>
                    <a:pt x="4041140" y="0"/>
                  </a:lnTo>
                  <a:lnTo>
                    <a:pt x="4041140" y="8796020"/>
                  </a:lnTo>
                  <a:lnTo>
                    <a:pt x="0" y="87960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4721840" y="2207514"/>
            <a:ext cx="237744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88720" y="3108960"/>
            <a:ext cx="621792" cy="621792"/>
            <a:chOff x="0" y="0"/>
            <a:chExt cx="829056" cy="829056"/>
          </a:xfrm>
        </p:grpSpPr>
        <p:sp>
          <p:nvSpPr>
            <p:cNvPr name="Freeform 28" id="28" descr="/tmp/un/ppt/media/image5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956816" y="3108960"/>
            <a:ext cx="1920240" cy="621792"/>
            <a:chOff x="0" y="0"/>
            <a:chExt cx="2560320" cy="8290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956816" y="3073241"/>
            <a:ext cx="1920240" cy="657511"/>
            <a:chOff x="0" y="0"/>
            <a:chExt cx="2560320" cy="8766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956816" y="3037522"/>
            <a:ext cx="1920240" cy="693230"/>
            <a:chOff x="0" y="0"/>
            <a:chExt cx="2560320" cy="9243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956816" y="3001804"/>
            <a:ext cx="1920240" cy="728948"/>
            <a:chOff x="0" y="0"/>
            <a:chExt cx="2560320" cy="9719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956816" y="2966085"/>
            <a:ext cx="1920240" cy="764667"/>
            <a:chOff x="0" y="0"/>
            <a:chExt cx="2560320" cy="10195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956816" y="2930366"/>
            <a:ext cx="1920240" cy="800386"/>
            <a:chOff x="0" y="0"/>
            <a:chExt cx="2560320" cy="106718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956816" y="2894648"/>
            <a:ext cx="1920240" cy="836105"/>
            <a:chOff x="0" y="0"/>
            <a:chExt cx="2560320" cy="111480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865" t="0" r="-5865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56032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Native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88720" y="4206240"/>
            <a:ext cx="621792" cy="621792"/>
            <a:chOff x="0" y="0"/>
            <a:chExt cx="829056" cy="829056"/>
          </a:xfrm>
        </p:grpSpPr>
        <p:sp>
          <p:nvSpPr>
            <p:cNvPr name="Freeform 45" id="45" descr="/tmp/un/ppt/media/image5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956816" y="4206240"/>
            <a:ext cx="1920240" cy="621792"/>
            <a:chOff x="0" y="0"/>
            <a:chExt cx="2560320" cy="8290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956816" y="4170521"/>
            <a:ext cx="1920240" cy="657511"/>
            <a:chOff x="0" y="0"/>
            <a:chExt cx="2560320" cy="87668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956816" y="4134803"/>
            <a:ext cx="1920240" cy="693230"/>
            <a:chOff x="0" y="0"/>
            <a:chExt cx="2560320" cy="92430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956816" y="4099084"/>
            <a:ext cx="1920240" cy="728948"/>
            <a:chOff x="0" y="0"/>
            <a:chExt cx="2560320" cy="97193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956816" y="4063365"/>
            <a:ext cx="1920240" cy="764667"/>
            <a:chOff x="0" y="0"/>
            <a:chExt cx="2560320" cy="10195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956816" y="4027646"/>
            <a:ext cx="1920240" cy="800386"/>
            <a:chOff x="0" y="0"/>
            <a:chExt cx="2560320" cy="106718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956816" y="3991928"/>
            <a:ext cx="1920240" cy="836105"/>
            <a:chOff x="0" y="0"/>
            <a:chExt cx="2560320" cy="111480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865" t="0" r="-5865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256032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88720" y="5303520"/>
            <a:ext cx="621792" cy="621792"/>
            <a:chOff x="0" y="0"/>
            <a:chExt cx="829056" cy="829056"/>
          </a:xfrm>
        </p:grpSpPr>
        <p:sp>
          <p:nvSpPr>
            <p:cNvPr name="Freeform 62" id="62" descr="/tmp/un/ppt/media/image5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956816" y="5303520"/>
            <a:ext cx="1920240" cy="621792"/>
            <a:chOff x="0" y="0"/>
            <a:chExt cx="2560320" cy="82905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956816" y="5267801"/>
            <a:ext cx="1920240" cy="657511"/>
            <a:chOff x="0" y="0"/>
            <a:chExt cx="2560320" cy="87668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956816" y="5232082"/>
            <a:ext cx="1920240" cy="693230"/>
            <a:chOff x="0" y="0"/>
            <a:chExt cx="2560320" cy="92430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956816" y="5196364"/>
            <a:ext cx="1920240" cy="728948"/>
            <a:chOff x="0" y="0"/>
            <a:chExt cx="2560320" cy="97193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956816" y="5160645"/>
            <a:ext cx="1920240" cy="764667"/>
            <a:chOff x="0" y="0"/>
            <a:chExt cx="2560320" cy="10195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956816" y="5124926"/>
            <a:ext cx="1920240" cy="800386"/>
            <a:chOff x="0" y="0"/>
            <a:chExt cx="2560320" cy="106718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956816" y="5089208"/>
            <a:ext cx="1920240" cy="836105"/>
            <a:chOff x="0" y="0"/>
            <a:chExt cx="2560320" cy="111480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865" t="0" r="-5865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256032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JavaScript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3931920" y="6401562"/>
            <a:ext cx="621792" cy="621792"/>
            <a:chOff x="0" y="0"/>
            <a:chExt cx="829056" cy="829056"/>
          </a:xfrm>
        </p:grpSpPr>
        <p:sp>
          <p:nvSpPr>
            <p:cNvPr name="Freeform 79" id="79" descr="/tmp/un/ppt/media/image7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700016" y="6401562"/>
            <a:ext cx="1920240" cy="621792"/>
            <a:chOff x="0" y="0"/>
            <a:chExt cx="2560320" cy="82905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4700016" y="6365843"/>
            <a:ext cx="1920240" cy="657511"/>
            <a:chOff x="0" y="0"/>
            <a:chExt cx="2560320" cy="87668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4700016" y="6330125"/>
            <a:ext cx="1920240" cy="693230"/>
            <a:chOff x="0" y="0"/>
            <a:chExt cx="2560320" cy="92430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4700016" y="6294406"/>
            <a:ext cx="1920240" cy="728948"/>
            <a:chOff x="0" y="0"/>
            <a:chExt cx="2560320" cy="97193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4700016" y="6258687"/>
            <a:ext cx="1920240" cy="764667"/>
            <a:chOff x="0" y="0"/>
            <a:chExt cx="2560320" cy="101955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4700016" y="6222968"/>
            <a:ext cx="1920240" cy="800386"/>
            <a:chOff x="0" y="0"/>
            <a:chExt cx="2560320" cy="106718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4700016" y="6187250"/>
            <a:ext cx="1920240" cy="836105"/>
            <a:chOff x="0" y="0"/>
            <a:chExt cx="2560320" cy="111480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865" t="0" r="-5865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256032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88720" y="7498080"/>
            <a:ext cx="621792" cy="621792"/>
            <a:chOff x="0" y="0"/>
            <a:chExt cx="829056" cy="829056"/>
          </a:xfrm>
        </p:grpSpPr>
        <p:sp>
          <p:nvSpPr>
            <p:cNvPr name="Freeform 96" id="96" descr="/tmp/un/ppt/media/image56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956816" y="7498080"/>
            <a:ext cx="1920240" cy="621792"/>
            <a:chOff x="0" y="0"/>
            <a:chExt cx="2560320" cy="82905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956816" y="7462361"/>
            <a:ext cx="1920240" cy="657511"/>
            <a:chOff x="0" y="0"/>
            <a:chExt cx="2560320" cy="87668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956816" y="7426643"/>
            <a:ext cx="1920240" cy="693230"/>
            <a:chOff x="0" y="0"/>
            <a:chExt cx="2560320" cy="92430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956816" y="7390924"/>
            <a:ext cx="1920240" cy="728948"/>
            <a:chOff x="0" y="0"/>
            <a:chExt cx="2560320" cy="97193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956816" y="7355205"/>
            <a:ext cx="1920240" cy="764667"/>
            <a:chOff x="0" y="0"/>
            <a:chExt cx="2560320" cy="101955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956816" y="7319486"/>
            <a:ext cx="1920240" cy="800386"/>
            <a:chOff x="0" y="0"/>
            <a:chExt cx="2560320" cy="106718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956816" y="7283768"/>
            <a:ext cx="1920240" cy="836105"/>
            <a:chOff x="0" y="0"/>
            <a:chExt cx="2560320" cy="111480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865" t="0" r="-5865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256032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Mapa interativo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3931920" y="3108960"/>
            <a:ext cx="621792" cy="621792"/>
            <a:chOff x="0" y="0"/>
            <a:chExt cx="829056" cy="829056"/>
          </a:xfrm>
        </p:grpSpPr>
        <p:sp>
          <p:nvSpPr>
            <p:cNvPr name="Freeform 113" id="113" descr="/tmp/un/ppt/media/image7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700016" y="3108960"/>
            <a:ext cx="1920240" cy="621792"/>
            <a:chOff x="0" y="0"/>
            <a:chExt cx="2560320" cy="829056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4700016" y="3073241"/>
            <a:ext cx="1920240" cy="657511"/>
            <a:chOff x="0" y="0"/>
            <a:chExt cx="2560320" cy="87668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700016" y="3037522"/>
            <a:ext cx="1920240" cy="693230"/>
            <a:chOff x="0" y="0"/>
            <a:chExt cx="2560320" cy="92430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700016" y="3001804"/>
            <a:ext cx="1920240" cy="728948"/>
            <a:chOff x="0" y="0"/>
            <a:chExt cx="2560320" cy="971931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4700016" y="2966085"/>
            <a:ext cx="1920240" cy="764667"/>
            <a:chOff x="0" y="0"/>
            <a:chExt cx="2560320" cy="101955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700016" y="2930366"/>
            <a:ext cx="1920240" cy="800386"/>
            <a:chOff x="0" y="0"/>
            <a:chExt cx="2560320" cy="1067181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700016" y="2894648"/>
            <a:ext cx="1920240" cy="836105"/>
            <a:chOff x="0" y="0"/>
            <a:chExt cx="2560320" cy="1114806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865" t="0" r="-5865" b="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47625"/>
              <a:ext cx="256032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Câmera e galeria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3931920" y="4206240"/>
            <a:ext cx="621792" cy="621792"/>
            <a:chOff x="0" y="0"/>
            <a:chExt cx="829056" cy="829056"/>
          </a:xfrm>
        </p:grpSpPr>
        <p:sp>
          <p:nvSpPr>
            <p:cNvPr name="Freeform 130" id="130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4700016" y="4206240"/>
            <a:ext cx="1920240" cy="621792"/>
            <a:chOff x="0" y="0"/>
            <a:chExt cx="2560320" cy="829056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4700016" y="4170521"/>
            <a:ext cx="1920240" cy="657511"/>
            <a:chOff x="0" y="0"/>
            <a:chExt cx="2560320" cy="876681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4700016" y="4134803"/>
            <a:ext cx="1920240" cy="693230"/>
            <a:chOff x="0" y="0"/>
            <a:chExt cx="2560320" cy="92430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4700016" y="4099084"/>
            <a:ext cx="1920240" cy="728948"/>
            <a:chOff x="0" y="0"/>
            <a:chExt cx="2560320" cy="971931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4700016" y="4063365"/>
            <a:ext cx="1920240" cy="764667"/>
            <a:chOff x="0" y="0"/>
            <a:chExt cx="2560320" cy="1019556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4700016" y="4027646"/>
            <a:ext cx="1920240" cy="800386"/>
            <a:chOff x="0" y="0"/>
            <a:chExt cx="2560320" cy="1067181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4700016" y="3991928"/>
            <a:ext cx="1920240" cy="836105"/>
            <a:chOff x="0" y="0"/>
            <a:chExt cx="2560320" cy="1114806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865" t="0" r="-5865" b="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256032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Notificações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3931920" y="5303520"/>
            <a:ext cx="621792" cy="621792"/>
            <a:chOff x="0" y="0"/>
            <a:chExt cx="829056" cy="829056"/>
          </a:xfrm>
        </p:grpSpPr>
        <p:sp>
          <p:nvSpPr>
            <p:cNvPr name="Freeform 147" id="147" descr="/tmp/un/ppt/media/image7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4700016" y="5303520"/>
            <a:ext cx="1920240" cy="621792"/>
            <a:chOff x="0" y="0"/>
            <a:chExt cx="2560320" cy="829056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4700016" y="5267801"/>
            <a:ext cx="1920240" cy="657511"/>
            <a:chOff x="0" y="0"/>
            <a:chExt cx="2560320" cy="876681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4700016" y="5232082"/>
            <a:ext cx="1920240" cy="693230"/>
            <a:chOff x="0" y="0"/>
            <a:chExt cx="2560320" cy="924306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4700016" y="5196364"/>
            <a:ext cx="1920240" cy="728948"/>
            <a:chOff x="0" y="0"/>
            <a:chExt cx="2560320" cy="971931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4700016" y="5160645"/>
            <a:ext cx="1920240" cy="764667"/>
            <a:chOff x="0" y="0"/>
            <a:chExt cx="2560320" cy="101955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4700016" y="5124926"/>
            <a:ext cx="1920240" cy="800386"/>
            <a:chOff x="0" y="0"/>
            <a:chExt cx="2560320" cy="1067181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4700016" y="5089208"/>
            <a:ext cx="1920240" cy="836105"/>
            <a:chOff x="0" y="0"/>
            <a:chExt cx="2560320" cy="1114806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865" t="0" r="-5865" b="0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47625"/>
              <a:ext cx="256032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Cartaz com QR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188720" y="6401562"/>
            <a:ext cx="621792" cy="621792"/>
            <a:chOff x="0" y="0"/>
            <a:chExt cx="829056" cy="829056"/>
          </a:xfrm>
        </p:grpSpPr>
        <p:sp>
          <p:nvSpPr>
            <p:cNvPr name="Freeform 164" id="164" descr="/tmp/un/ppt/media/image7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956816" y="6401562"/>
            <a:ext cx="1920240" cy="621792"/>
            <a:chOff x="0" y="0"/>
            <a:chExt cx="2560320" cy="829056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956816" y="6365843"/>
            <a:ext cx="1920240" cy="657511"/>
            <a:chOff x="0" y="0"/>
            <a:chExt cx="2560320" cy="876681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956816" y="6330125"/>
            <a:ext cx="1920240" cy="693230"/>
            <a:chOff x="0" y="0"/>
            <a:chExt cx="2560320" cy="924306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956816" y="6294406"/>
            <a:ext cx="1920240" cy="728948"/>
            <a:chOff x="0" y="0"/>
            <a:chExt cx="2560320" cy="971931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956816" y="6258687"/>
            <a:ext cx="1920240" cy="764667"/>
            <a:chOff x="0" y="0"/>
            <a:chExt cx="2560320" cy="10195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956816" y="6222968"/>
            <a:ext cx="1920240" cy="800386"/>
            <a:chOff x="0" y="0"/>
            <a:chExt cx="2560320" cy="1067181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956816" y="6187250"/>
            <a:ext cx="1920240" cy="836105"/>
            <a:chOff x="0" y="0"/>
            <a:chExt cx="2560320" cy="1114806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865" t="0" r="-5865" b="0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47625"/>
              <a:ext cx="256032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Google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8229600" y="3182112"/>
            <a:ext cx="621792" cy="621792"/>
            <a:chOff x="0" y="0"/>
            <a:chExt cx="829056" cy="829056"/>
          </a:xfrm>
        </p:grpSpPr>
        <p:sp>
          <p:nvSpPr>
            <p:cNvPr name="Freeform 181" id="181" descr="/tmp/un/ppt/media/image7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182" id="182"/>
          <p:cNvSpPr txBox="true"/>
          <p:nvPr/>
        </p:nvSpPr>
        <p:spPr>
          <a:xfrm rot="0">
            <a:off x="9052560" y="2775585"/>
            <a:ext cx="4023360" cy="73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 Auth</a:t>
            </a:r>
          </a:p>
        </p:txBody>
      </p:sp>
      <p:sp>
        <p:nvSpPr>
          <p:cNvPr name="TextBox 183" id="183"/>
          <p:cNvSpPr txBox="true"/>
          <p:nvPr/>
        </p:nvSpPr>
        <p:spPr>
          <a:xfrm rot="0">
            <a:off x="9052560" y="3244596"/>
            <a:ext cx="402336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login, sessão e Google (OAuth)</a:t>
            </a:r>
          </a:p>
        </p:txBody>
      </p:sp>
      <p:grpSp>
        <p:nvGrpSpPr>
          <p:cNvPr name="Group 184" id="184"/>
          <p:cNvGrpSpPr/>
          <p:nvPr/>
        </p:nvGrpSpPr>
        <p:grpSpPr>
          <a:xfrm rot="0">
            <a:off x="8229600" y="4279392"/>
            <a:ext cx="621792" cy="621792"/>
            <a:chOff x="0" y="0"/>
            <a:chExt cx="829056" cy="829056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2127" r="0" b="-2127"/>
              </a:stretch>
            </a:blipFill>
          </p:spPr>
        </p:sp>
      </p:grpSp>
      <p:sp>
        <p:nvSpPr>
          <p:cNvPr name="TextBox 186" id="186"/>
          <p:cNvSpPr txBox="true"/>
          <p:nvPr/>
        </p:nvSpPr>
        <p:spPr>
          <a:xfrm rot="0">
            <a:off x="9052560" y="3872865"/>
            <a:ext cx="4023360" cy="73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PostgreSQL + RLS</a:t>
            </a:r>
          </a:p>
        </p:txBody>
      </p:sp>
      <p:sp>
        <p:nvSpPr>
          <p:cNvPr name="TextBox 187" id="187"/>
          <p:cNvSpPr txBox="true"/>
          <p:nvPr/>
        </p:nvSpPr>
        <p:spPr>
          <a:xfrm rot="0">
            <a:off x="9052560" y="4341876"/>
            <a:ext cx="402336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dados e controle de acesso</a:t>
            </a:r>
          </a:p>
        </p:txBody>
      </p:sp>
      <p:grpSp>
        <p:nvGrpSpPr>
          <p:cNvPr name="Group 188" id="188"/>
          <p:cNvGrpSpPr/>
          <p:nvPr/>
        </p:nvGrpSpPr>
        <p:grpSpPr>
          <a:xfrm rot="0">
            <a:off x="8229600" y="5376672"/>
            <a:ext cx="621792" cy="621792"/>
            <a:chOff x="0" y="0"/>
            <a:chExt cx="829056" cy="829056"/>
          </a:xfrm>
        </p:grpSpPr>
        <p:sp>
          <p:nvSpPr>
            <p:cNvPr name="Freeform 189" id="189" descr="/tmp/un/ppt/media/image6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190" id="190"/>
          <p:cNvSpPr txBox="true"/>
          <p:nvPr/>
        </p:nvSpPr>
        <p:spPr>
          <a:xfrm rot="0">
            <a:off x="9052560" y="4970145"/>
            <a:ext cx="4023360" cy="73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</a:t>
            </a:r>
          </a:p>
        </p:txBody>
      </p:sp>
      <p:sp>
        <p:nvSpPr>
          <p:cNvPr name="TextBox 191" id="191"/>
          <p:cNvSpPr txBox="true"/>
          <p:nvPr/>
        </p:nvSpPr>
        <p:spPr>
          <a:xfrm rot="0">
            <a:off x="9052560" y="5439156"/>
            <a:ext cx="402336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armazenamento de imagens</a:t>
            </a:r>
          </a:p>
        </p:txBody>
      </p:sp>
      <p:grpSp>
        <p:nvGrpSpPr>
          <p:cNvPr name="Group 192" id="192"/>
          <p:cNvGrpSpPr/>
          <p:nvPr/>
        </p:nvGrpSpPr>
        <p:grpSpPr>
          <a:xfrm rot="0">
            <a:off x="8229600" y="6473952"/>
            <a:ext cx="621792" cy="621792"/>
            <a:chOff x="0" y="0"/>
            <a:chExt cx="829056" cy="829056"/>
          </a:xfrm>
        </p:grpSpPr>
        <p:sp>
          <p:nvSpPr>
            <p:cNvPr name="Freeform 193" id="193" descr="/tmp/un/ppt/media/image6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TextBox 194" id="194"/>
          <p:cNvSpPr txBox="true"/>
          <p:nvPr/>
        </p:nvSpPr>
        <p:spPr>
          <a:xfrm rot="0">
            <a:off x="9052560" y="6067425"/>
            <a:ext cx="4023360" cy="73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Realtime</a:t>
            </a:r>
          </a:p>
        </p:txBody>
      </p:sp>
      <p:sp>
        <p:nvSpPr>
          <p:cNvPr name="TextBox 195" id="195"/>
          <p:cNvSpPr txBox="true"/>
          <p:nvPr/>
        </p:nvSpPr>
        <p:spPr>
          <a:xfrm rot="0">
            <a:off x="9052560" y="6536436"/>
            <a:ext cx="402336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atualizações em tempo real</a:t>
            </a:r>
          </a:p>
        </p:txBody>
      </p:sp>
      <p:grpSp>
        <p:nvGrpSpPr>
          <p:cNvPr name="Group 196" id="196"/>
          <p:cNvGrpSpPr/>
          <p:nvPr/>
        </p:nvGrpSpPr>
        <p:grpSpPr>
          <a:xfrm rot="0">
            <a:off x="8229600" y="7571232"/>
            <a:ext cx="621792" cy="621792"/>
            <a:chOff x="0" y="0"/>
            <a:chExt cx="829056" cy="829056"/>
          </a:xfrm>
        </p:grpSpPr>
        <p:sp>
          <p:nvSpPr>
            <p:cNvPr name="Freeform 197" id="197" descr="/tmp/un/ppt/media/image6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sp>
        <p:nvSpPr>
          <p:cNvPr name="TextBox 198" id="198"/>
          <p:cNvSpPr txBox="true"/>
          <p:nvPr/>
        </p:nvSpPr>
        <p:spPr>
          <a:xfrm rot="0">
            <a:off x="9052560" y="7164705"/>
            <a:ext cx="4023360" cy="73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Edge Functions</a:t>
            </a:r>
          </a:p>
        </p:txBody>
      </p:sp>
      <p:sp>
        <p:nvSpPr>
          <p:cNvPr name="TextBox 199" id="199"/>
          <p:cNvSpPr txBox="true"/>
          <p:nvPr/>
        </p:nvSpPr>
        <p:spPr>
          <a:xfrm rot="0">
            <a:off x="9052560" y="7633716"/>
            <a:ext cx="402336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guardam chaves de serviços externos</a:t>
            </a:r>
          </a:p>
        </p:txBody>
      </p:sp>
      <p:sp>
        <p:nvSpPr>
          <p:cNvPr name="TextBox 200" id="200"/>
          <p:cNvSpPr txBox="true"/>
          <p:nvPr/>
        </p:nvSpPr>
        <p:spPr>
          <a:xfrm rot="0">
            <a:off x="14721840" y="4330065"/>
            <a:ext cx="2560320" cy="73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</a:t>
            </a:r>
          </a:p>
        </p:txBody>
      </p:sp>
      <p:sp>
        <p:nvSpPr>
          <p:cNvPr name="TextBox 201" id="201"/>
          <p:cNvSpPr txBox="true"/>
          <p:nvPr/>
        </p:nvSpPr>
        <p:spPr>
          <a:xfrm rot="0">
            <a:off x="14721840" y="4799076"/>
            <a:ext cx="256032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hospedada no Render</a:t>
            </a:r>
          </a:p>
        </p:txBody>
      </p:sp>
      <p:grpSp>
        <p:nvGrpSpPr>
          <p:cNvPr name="Group 202" id="202"/>
          <p:cNvGrpSpPr/>
          <p:nvPr/>
        </p:nvGrpSpPr>
        <p:grpSpPr>
          <a:xfrm rot="0">
            <a:off x="14721840" y="5989320"/>
            <a:ext cx="731520" cy="731520"/>
            <a:chOff x="0" y="0"/>
            <a:chExt cx="975360" cy="975360"/>
          </a:xfrm>
        </p:grpSpPr>
        <p:sp>
          <p:nvSpPr>
            <p:cNvPr name="Freeform 203" id="203" descr="/tmp/un/ppt/media/image64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sp>
        <p:nvSpPr>
          <p:cNvPr name="TextBox 204" id="204"/>
          <p:cNvSpPr txBox="true"/>
          <p:nvPr/>
        </p:nvSpPr>
        <p:spPr>
          <a:xfrm rot="0">
            <a:off x="14721840" y="6764655"/>
            <a:ext cx="2560320" cy="73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WhatsApp</a:t>
            </a:r>
          </a:p>
        </p:txBody>
      </p:sp>
      <p:sp>
        <p:nvSpPr>
          <p:cNvPr name="TextBox 205" id="205"/>
          <p:cNvSpPr txBox="true"/>
          <p:nvPr/>
        </p:nvSpPr>
        <p:spPr>
          <a:xfrm rot="0">
            <a:off x="14721840" y="7231380"/>
            <a:ext cx="256032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envia mensagens</a:t>
            </a:r>
          </a:p>
        </p:txBody>
      </p:sp>
      <p:sp>
        <p:nvSpPr>
          <p:cNvPr name="AutoShape 206" id="206"/>
          <p:cNvSpPr/>
          <p:nvPr/>
        </p:nvSpPr>
        <p:spPr>
          <a:xfrm rot="55800">
            <a:off x="6774351" y="5236845"/>
            <a:ext cx="1173118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7" id="207"/>
          <p:cNvSpPr txBox="true"/>
          <p:nvPr/>
        </p:nvSpPr>
        <p:spPr>
          <a:xfrm rot="0">
            <a:off x="6675120" y="4396740"/>
            <a:ext cx="137160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</a:t>
            </a:r>
          </a:p>
        </p:txBody>
      </p:sp>
      <p:sp>
        <p:nvSpPr>
          <p:cNvPr name="AutoShape 208" id="208"/>
          <p:cNvSpPr/>
          <p:nvPr/>
        </p:nvSpPr>
        <p:spPr>
          <a:xfrm rot="55800">
            <a:off x="13266591" y="5236845"/>
            <a:ext cx="1173118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9" id="209"/>
          <p:cNvSpPr txBox="true"/>
          <p:nvPr/>
        </p:nvSpPr>
        <p:spPr>
          <a:xfrm rot="0">
            <a:off x="13167360" y="4396740"/>
            <a:ext cx="137160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HTTPS/API</a:t>
            </a:r>
          </a:p>
        </p:txBody>
      </p:sp>
      <p:sp>
        <p:nvSpPr>
          <p:cNvPr name="TextBox 210" id="210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grpSp>
        <p:nvGrpSpPr>
          <p:cNvPr name="Group 211" id="21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13" id="21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15" id="21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17" id="21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19" id="21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14721840" y="3474720"/>
            <a:ext cx="731520" cy="731520"/>
            <a:chOff x="0" y="0"/>
            <a:chExt cx="975360" cy="975360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4444" r="0" b="-4445"/>
              </a:stretch>
            </a:blipFill>
          </p:spPr>
        </p:sp>
      </p:grpSp>
      <p:grpSp>
        <p:nvGrpSpPr>
          <p:cNvPr name="Group 228" id="228"/>
          <p:cNvGrpSpPr/>
          <p:nvPr/>
        </p:nvGrpSpPr>
        <p:grpSpPr>
          <a:xfrm rot="0">
            <a:off x="15087600" y="5824728"/>
            <a:ext cx="329184" cy="329184"/>
            <a:chOff x="0" y="0"/>
            <a:chExt cx="438912" cy="438912"/>
          </a:xfrm>
        </p:grpSpPr>
        <p:sp>
          <p:nvSpPr>
            <p:cNvPr name="Freeform 229" id="229" descr="/tmp/un/ppt/media/image72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uma base de código móvel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4400" y="2513076"/>
            <a:ext cx="457200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Uma base de código para as plataformas móveis; sem benchmark contra o desenvolvimento nativo.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28816" y="2286000"/>
            <a:ext cx="768096" cy="768096"/>
            <a:chOff x="0" y="0"/>
            <a:chExt cx="1024128" cy="1024128"/>
          </a:xfrm>
        </p:grpSpPr>
        <p:sp>
          <p:nvSpPr>
            <p:cNvPr name="Freeform 19" id="19" descr="/tmp/un/ppt/media/image5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412480" y="2286000"/>
            <a:ext cx="768096" cy="768096"/>
            <a:chOff x="0" y="0"/>
            <a:chExt cx="1024128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96144" y="2286000"/>
            <a:ext cx="768096" cy="768096"/>
            <a:chOff x="0" y="0"/>
            <a:chExt cx="1024128" cy="1024128"/>
          </a:xfrm>
        </p:grpSpPr>
        <p:sp>
          <p:nvSpPr>
            <p:cNvPr name="Freeform 23" id="23" descr="/tmp/un/ppt/media/image5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179808" y="2286000"/>
            <a:ext cx="768096" cy="768096"/>
            <a:chOff x="0" y="0"/>
            <a:chExt cx="1024128" cy="10241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063472" y="2286000"/>
            <a:ext cx="768096" cy="768096"/>
            <a:chOff x="0" y="0"/>
            <a:chExt cx="1024128" cy="1024128"/>
          </a:xfrm>
        </p:grpSpPr>
        <p:sp>
          <p:nvSpPr>
            <p:cNvPr name="Freeform 27" id="27" descr="/tmp/un/ppt/media/image5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AutoShape 28" id="28"/>
          <p:cNvSpPr/>
          <p:nvPr/>
        </p:nvSpPr>
        <p:spPr>
          <a:xfrm rot="1980">
            <a:off x="876290" y="3935158"/>
            <a:ext cx="165354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914400" y="4396740"/>
            <a:ext cx="457200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Menos infraestrutura própria para manter; depende da disponibilidade do provedor.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559536" y="4169664"/>
            <a:ext cx="768096" cy="768096"/>
            <a:chOff x="0" y="0"/>
            <a:chExt cx="1024128" cy="1024128"/>
          </a:xfrm>
        </p:grpSpPr>
        <p:sp>
          <p:nvSpPr>
            <p:cNvPr name="Freeform 31" id="31" descr="/tmp/un/ppt/media/image58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443200" y="4169664"/>
            <a:ext cx="768096" cy="768096"/>
            <a:chOff x="0" y="0"/>
            <a:chExt cx="1024128" cy="10241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2127" r="0" b="-2126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326864" y="4169664"/>
            <a:ext cx="768096" cy="768096"/>
            <a:chOff x="0" y="0"/>
            <a:chExt cx="1024128" cy="1024128"/>
          </a:xfrm>
        </p:grpSpPr>
        <p:sp>
          <p:nvSpPr>
            <p:cNvPr name="Freeform 35" id="35" descr="/tmp/un/ppt/media/image60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210528" y="4169664"/>
            <a:ext cx="768096" cy="768096"/>
            <a:chOff x="0" y="0"/>
            <a:chExt cx="1024128" cy="1024128"/>
          </a:xfrm>
        </p:grpSpPr>
        <p:sp>
          <p:nvSpPr>
            <p:cNvPr name="Freeform 37" id="37" descr="/tmp/un/ppt/media/image61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6094192" y="4169664"/>
            <a:ext cx="768096" cy="768096"/>
            <a:chOff x="0" y="0"/>
            <a:chExt cx="1024128" cy="1024128"/>
          </a:xfrm>
        </p:grpSpPr>
        <p:sp>
          <p:nvSpPr>
            <p:cNvPr name="Freeform 39" id="39" descr="/tmp/un/ppt/media/image62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AutoShape 40" id="40"/>
          <p:cNvSpPr/>
          <p:nvPr/>
        </p:nvSpPr>
        <p:spPr>
          <a:xfrm rot="1980">
            <a:off x="876290" y="5818822"/>
            <a:ext cx="165354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914400" y="6280404"/>
            <a:ext cx="457200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Códigos de verificação e avisos de avistamento, correspondência e devolução.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528816" y="6053328"/>
            <a:ext cx="768096" cy="768096"/>
            <a:chOff x="0" y="0"/>
            <a:chExt cx="1024128" cy="1024128"/>
          </a:xfrm>
        </p:grpSpPr>
        <p:sp>
          <p:nvSpPr>
            <p:cNvPr name="Freeform 43" id="43" descr="/tmp/un/ppt/media/image6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412480" y="6053328"/>
            <a:ext cx="768096" cy="768096"/>
            <a:chOff x="0" y="0"/>
            <a:chExt cx="1024128" cy="1024128"/>
          </a:xfrm>
        </p:grpSpPr>
        <p:sp>
          <p:nvSpPr>
            <p:cNvPr name="Freeform 45" id="45" descr="/tmp/un/ppt/media/image64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AutoShape 46" id="46"/>
          <p:cNvSpPr/>
          <p:nvPr/>
        </p:nvSpPr>
        <p:spPr>
          <a:xfrm rot="1980">
            <a:off x="876290" y="7702486"/>
            <a:ext cx="165354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7" id="47"/>
          <p:cNvSpPr txBox="true"/>
          <p:nvPr/>
        </p:nvSpPr>
        <p:spPr>
          <a:xfrm rot="0">
            <a:off x="914400" y="8164068"/>
            <a:ext cx="457200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Copilot no código; ChatGPT na busca exploratória e na identidade visual, com revisão do autor.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6528816" y="7938802"/>
            <a:ext cx="768096" cy="768096"/>
            <a:chOff x="0" y="0"/>
            <a:chExt cx="1024128" cy="1024128"/>
          </a:xfrm>
        </p:grpSpPr>
        <p:sp>
          <p:nvSpPr>
            <p:cNvPr name="Freeform 49" id="49" descr="/tmp/un/ppt/media/image6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57413" y="7938802"/>
            <a:ext cx="768096" cy="768096"/>
            <a:chOff x="0" y="0"/>
            <a:chExt cx="1024128" cy="1024128"/>
          </a:xfrm>
        </p:grpSpPr>
        <p:sp>
          <p:nvSpPr>
            <p:cNvPr name="Freeform 51" id="51" descr="/tmp/un/ppt/media/image66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455270" y="7938802"/>
            <a:ext cx="768096" cy="768096"/>
            <a:chOff x="0" y="0"/>
            <a:chExt cx="1024128" cy="102412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183857" y="7938802"/>
            <a:ext cx="768096" cy="768096"/>
            <a:chOff x="0" y="0"/>
            <a:chExt cx="1024128" cy="102412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912454" y="7938802"/>
            <a:ext cx="768096" cy="768096"/>
            <a:chOff x="0" y="0"/>
            <a:chExt cx="1024128" cy="1024128"/>
          </a:xfrm>
        </p:grpSpPr>
        <p:sp>
          <p:nvSpPr>
            <p:cNvPr name="Freeform 57" id="57" descr="/tmp/un/ppt/media/image69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528816" y="4169664"/>
            <a:ext cx="768096" cy="768096"/>
            <a:chOff x="0" y="0"/>
            <a:chExt cx="1024128" cy="102412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5809214" y="2359152"/>
            <a:ext cx="1080516" cy="768096"/>
            <a:chOff x="0" y="0"/>
            <a:chExt cx="1440688" cy="10241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44068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40688">
                  <a:moveTo>
                    <a:pt x="0" y="0"/>
                  </a:moveTo>
                  <a:lnTo>
                    <a:pt x="1440688" y="0"/>
                  </a:lnTo>
                  <a:lnTo>
                    <a:pt x="144068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-49590" t="0" r="-49590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986010" y="7950232"/>
            <a:ext cx="508730" cy="745236"/>
            <a:chOff x="0" y="0"/>
            <a:chExt cx="678307" cy="9936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78307" cy="993648"/>
            </a:xfrm>
            <a:custGeom>
              <a:avLst/>
              <a:gdLst/>
              <a:ahLst/>
              <a:cxnLst/>
              <a:rect r="r" b="b" t="t" l="l"/>
              <a:pathLst>
                <a:path h="993648" w="678307">
                  <a:moveTo>
                    <a:pt x="0" y="0"/>
                  </a:moveTo>
                  <a:lnTo>
                    <a:pt x="678307" y="0"/>
                  </a:lnTo>
                  <a:lnTo>
                    <a:pt x="678307" y="993648"/>
                  </a:lnTo>
                  <a:lnTo>
                    <a:pt x="0" y="993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-1197" r="0" b="-1198"/>
              </a:stretch>
            </a:blip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14400" y="2061210"/>
            <a:ext cx="45720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5998464" y="3098292"/>
            <a:ext cx="18288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7882128" y="3098292"/>
            <a:ext cx="18288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Expo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765792" y="3098292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649456" y="3098292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Maps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3533120" y="3098292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NativeWind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914400" y="3944874"/>
            <a:ext cx="45720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Backend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8029184" y="4981956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9912848" y="4981956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+ RLS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1796512" y="4981956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Storage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3680176" y="4981956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Realtime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5563840" y="4981956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Edge Functions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14400" y="5828538"/>
            <a:ext cx="45720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998464" y="6865620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Evolution API (Render)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7882128" y="6865620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WhatsApp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914400" y="7712202"/>
            <a:ext cx="45720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Apoio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5998464" y="8749284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 e GitHub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7772400" y="8749284"/>
            <a:ext cx="18288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Trello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9390888" y="8749284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Figma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1043780" y="8749284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Astah UML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2808953" y="8749284"/>
            <a:ext cx="182880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VS Code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4459826" y="8749284"/>
            <a:ext cx="186537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ChatGPT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6459200" y="947166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6053328" y="4966716"/>
            <a:ext cx="18288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5345918" y="3098292"/>
            <a:ext cx="18288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API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16641051" y="7938802"/>
            <a:ext cx="768096" cy="768096"/>
            <a:chOff x="0" y="0"/>
            <a:chExt cx="1024128" cy="102412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0"/>
              </a:stretch>
            </a:blipFill>
          </p:spPr>
        </p:sp>
      </p:grpSp>
      <p:sp>
        <p:nvSpPr>
          <p:cNvPr name="TextBox 107" id="107"/>
          <p:cNvSpPr txBox="true"/>
          <p:nvPr/>
        </p:nvSpPr>
        <p:spPr>
          <a:xfrm rot="0">
            <a:off x="16110699" y="8752894"/>
            <a:ext cx="186537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Copilot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Correspondência: sugere, não confirma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0–100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144000" y="2585085"/>
            <a:ext cx="82296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Índice heurístico de semelhança entre perdido e encontrado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4000" y="3623310"/>
            <a:ext cx="8046720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Não é probabilidade: os usuários confirmam ou descartam.</a:t>
            </a:r>
          </a:p>
        </p:txBody>
      </p:sp>
      <p:sp>
        <p:nvSpPr>
          <p:cNvPr name="AutoShape 35" id="35"/>
          <p:cNvSpPr/>
          <p:nvPr/>
        </p:nvSpPr>
        <p:spPr>
          <a:xfrm rot="1980">
            <a:off x="876290" y="5453062"/>
            <a:ext cx="165354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914400" y="5968365"/>
            <a:ext cx="51206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Atributos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14400" y="6536436"/>
            <a:ext cx="5120640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Espécie, sexo, porte, raça, pelagem e idade.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583680" y="5968365"/>
            <a:ext cx="51206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Distância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583680" y="6536436"/>
            <a:ext cx="5120640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Haversine; sem GPS, compara cidade e bairro.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252960" y="5968365"/>
            <a:ext cx="51206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Limiares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252960" y="6536436"/>
            <a:ext cx="5120640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55 pts na lista; 60 pts geram aviso (até 3).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4400" y="8536305"/>
            <a:ext cx="16459200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Pares incompatíveis são descartados. Pesos definidos de forma empírica, ainda sem calibração com casos reais.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3174" r="0" b="-20317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212848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Busca na rua: avistamento, pista e rota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35" id="3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2880360" y="234505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 o pet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80360" y="329946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Quem viu marca no mapa se o animal está na rua ou em uma casa.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41" id="4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315700" y="234505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Pista quente, morna ou fria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15700" y="329946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Até 6 h é quente, até 48 h é morna; depois disso, fica sem rota.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47" id="4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2880360" y="549973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Rota até uma área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880360" y="645414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Raio de ~150 m, deslocado 30 a 70 m; a pé, bike, carro ou ônibus.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53" id="5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1315700" y="549973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Histórico no mapa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315700" y="645414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Círculos numerados (1 = mais recente), na cor da idade da pista.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22960" y="8444865"/>
            <a:ext cx="16596360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Rotas calculadas com OSRM e Transitous. Nunca até a casa do tutor, um animal acolhido ou um animal para adoção.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3174" r="0" b="-20317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212848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Devolução segura e confiança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35" id="3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2880360" y="234505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Comprovação de tutela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80360" y="329946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Fotos, vacina ou marcas ocultas; quem acolheu analisa pelo chat.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41" id="4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315700" y="234505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Encontro em local público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15700" y="329946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Dia, hora e ponto no mapa; confirmar, remarcar ou cancelar.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47" id="4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2880360" y="549973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Publicação anônima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880360" y="645414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Quem encontra pode publicar sem nome, para evitar julgamentos.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53" id="5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1315700" y="549973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Classificação de membros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315700" y="645414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1 a 5 estrelas após 24 h sem mensagens; média no perfil.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22960" y="8444865"/>
            <a:ext cx="16596360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 endereço de quem acolheu nunca é liberado. Todos os 48 participantes pediriam prova de tutela antes de devolver um animal.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Identidade visual: encontrar em conjunto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37360" y="2560320"/>
            <a:ext cx="4754880" cy="4608576"/>
            <a:chOff x="0" y="0"/>
            <a:chExt cx="6339840" cy="6144768"/>
          </a:xfrm>
        </p:grpSpPr>
        <p:sp>
          <p:nvSpPr>
            <p:cNvPr name="Freeform 17" id="17" descr="/tmp/un/ppt/media/image37.png"/>
            <p:cNvSpPr/>
            <p:nvPr/>
          </p:nvSpPr>
          <p:spPr>
            <a:xfrm flipH="false" flipV="false" rot="0">
              <a:off x="0" y="0"/>
              <a:ext cx="6339840" cy="6144768"/>
            </a:xfrm>
            <a:custGeom>
              <a:avLst/>
              <a:gdLst/>
              <a:ahLst/>
              <a:cxnLst/>
              <a:rect r="r" b="b" t="t" l="l"/>
              <a:pathLst>
                <a:path h="61447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397481" y="7691838"/>
            <a:ext cx="389184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nós  </a:t>
            </a:r>
            <a:r>
              <a:rPr lang="en-US" sz="26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encontrar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8587740"/>
            <a:ext cx="6400800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Cão e gato em volta de um pin de localização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3037132" y="6928799"/>
            <a:ext cx="2612546" cy="977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8"/>
              </a:lnSpc>
            </a:pPr>
            <a:r>
              <a:rPr lang="en-US" b="true" sz="5553" spc="52">
                <a:solidFill>
                  <a:srgbClr val="B57645"/>
                </a:solidFill>
                <a:latin typeface="Roboto Bold"/>
                <a:ea typeface="Roboto Bold"/>
                <a:cs typeface="Roboto Bold"/>
                <a:sym typeface="Roboto Bold"/>
              </a:rPr>
              <a:t>We</a:t>
            </a:r>
            <a:r>
              <a:rPr lang="en-US" b="true" sz="5553" spc="52">
                <a:solidFill>
                  <a:srgbClr val="3C5D40"/>
                </a:solidFill>
                <a:latin typeface="Roboto Bold"/>
                <a:ea typeface="Roboto Bold"/>
                <a:cs typeface="Roboto Bold"/>
                <a:sym typeface="Roboto Bold"/>
              </a:rPr>
              <a:t>FIND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7389362" y="2567235"/>
            <a:ext cx="1762392" cy="1236688"/>
          </a:xfrm>
          <a:custGeom>
            <a:avLst/>
            <a:gdLst/>
            <a:ahLst/>
            <a:cxnLst/>
            <a:rect r="r" b="b" t="t" l="l"/>
            <a:pathLst>
              <a:path h="1236688" w="1762392">
                <a:moveTo>
                  <a:pt x="0" y="0"/>
                </a:moveTo>
                <a:lnTo>
                  <a:pt x="1762391" y="0"/>
                </a:lnTo>
                <a:lnTo>
                  <a:pt x="1762391" y="1236688"/>
                </a:lnTo>
                <a:lnTo>
                  <a:pt x="0" y="12366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7397115" y="3811172"/>
            <a:ext cx="104798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Primária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97115" y="4306472"/>
            <a:ext cx="87344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#2E5634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339844" y="2567235"/>
            <a:ext cx="1762392" cy="1236688"/>
          </a:xfrm>
          <a:custGeom>
            <a:avLst/>
            <a:gdLst/>
            <a:ahLst/>
            <a:cxnLst/>
            <a:rect r="r" b="b" t="t" l="l"/>
            <a:pathLst>
              <a:path h="1236688" w="1762392">
                <a:moveTo>
                  <a:pt x="0" y="0"/>
                </a:moveTo>
                <a:lnTo>
                  <a:pt x="1762391" y="0"/>
                </a:lnTo>
                <a:lnTo>
                  <a:pt x="1762391" y="1236688"/>
                </a:lnTo>
                <a:lnTo>
                  <a:pt x="0" y="12366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347597" y="3811172"/>
            <a:ext cx="132714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Secundária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347597" y="4306472"/>
            <a:ext cx="95361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#B1734A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7389409" y="5286727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7397115" y="6527673"/>
            <a:ext cx="140976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Encontrado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397115" y="7018925"/>
            <a:ext cx="9552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#15803D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1270371" y="5286727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4" y="0"/>
                </a:lnTo>
                <a:lnTo>
                  <a:pt x="1752304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1278076" y="6523625"/>
            <a:ext cx="92215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278076" y="7018925"/>
            <a:ext cx="92215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#DB2777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9329890" y="5286727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9347597" y="6527673"/>
            <a:ext cx="95361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Perdido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347597" y="7018925"/>
            <a:ext cx="95361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#D64545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397115" y="1988496"/>
            <a:ext cx="375643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a. Principais cores do aplicativo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397115" y="4707941"/>
            <a:ext cx="36433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b. Tipos de Publicação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7389409" y="7999171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7397115" y="9236069"/>
            <a:ext cx="70488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397115" y="9731369"/>
            <a:ext cx="9552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#D97706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397115" y="7420394"/>
            <a:ext cx="408378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c. Avisos e elementos da interface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9339891" y="8003229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9347597" y="9240126"/>
            <a:ext cx="18059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Texto Principal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347597" y="9735426"/>
            <a:ext cx="9552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#0F172A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1290373" y="8007286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11298079" y="9244174"/>
            <a:ext cx="84843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Fundo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298079" y="9739474"/>
            <a:ext cx="9552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#F6F8F6</a:t>
            </a:r>
          </a:p>
        </p:txBody>
      </p:sp>
      <p:sp>
        <p:nvSpPr>
          <p:cNvPr name="Freeform 62" id="62"/>
          <p:cNvSpPr/>
          <p:nvPr/>
        </p:nvSpPr>
        <p:spPr>
          <a:xfrm flipH="false" flipV="false" rot="0">
            <a:off x="13240855" y="8011335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0"/>
                </a:lnTo>
                <a:lnTo>
                  <a:pt x="0" y="122961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13248561" y="9248232"/>
            <a:ext cx="122395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Superfície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248561" y="9743532"/>
            <a:ext cx="9552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#FFFFFF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aplicativo em quatro telas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45920" y="2783681"/>
            <a:ext cx="3163824" cy="6474619"/>
            <a:chOff x="0" y="0"/>
            <a:chExt cx="4218432" cy="86328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18432" cy="8632825"/>
            </a:xfrm>
            <a:custGeom>
              <a:avLst/>
              <a:gdLst/>
              <a:ahLst/>
              <a:cxnLst/>
              <a:rect r="r" b="b" t="t" l="l"/>
              <a:pathLst>
                <a:path h="8632825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8632825"/>
                  </a:lnTo>
                  <a:lnTo>
                    <a:pt x="0" y="863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294" r="0" b="-429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669280" y="2783681"/>
            <a:ext cx="3163824" cy="6474619"/>
            <a:chOff x="0" y="0"/>
            <a:chExt cx="4218432" cy="86328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18432" cy="8632825"/>
            </a:xfrm>
            <a:custGeom>
              <a:avLst/>
              <a:gdLst/>
              <a:ahLst/>
              <a:cxnLst/>
              <a:rect r="r" b="b" t="t" l="l"/>
              <a:pathLst>
                <a:path h="8632825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8632825"/>
                  </a:lnTo>
                  <a:lnTo>
                    <a:pt x="0" y="863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294" r="0" b="-429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94164" y="2783681"/>
            <a:ext cx="3162300" cy="6474619"/>
            <a:chOff x="0" y="0"/>
            <a:chExt cx="4216400" cy="8632825"/>
          </a:xfrm>
        </p:grpSpPr>
        <p:sp>
          <p:nvSpPr>
            <p:cNvPr name="Freeform 20" id="20" descr="/tmp/un/ppt/media/image40.jpeg"/>
            <p:cNvSpPr/>
            <p:nvPr/>
          </p:nvSpPr>
          <p:spPr>
            <a:xfrm flipH="false" flipV="false" rot="0">
              <a:off x="0" y="0"/>
              <a:ext cx="4216400" cy="8632825"/>
            </a:xfrm>
            <a:custGeom>
              <a:avLst/>
              <a:gdLst/>
              <a:ahLst/>
              <a:cxnLst/>
              <a:rect r="r" b="b" t="t" l="l"/>
              <a:pathLst>
                <a:path h="8632825" w="4216400">
                  <a:moveTo>
                    <a:pt x="0" y="0"/>
                  </a:moveTo>
                  <a:lnTo>
                    <a:pt x="4216400" y="0"/>
                  </a:lnTo>
                  <a:lnTo>
                    <a:pt x="4216400" y="8632825"/>
                  </a:lnTo>
                  <a:lnTo>
                    <a:pt x="0" y="863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240" r="0" b="-424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6000">
            <a:off x="13746928" y="2780929"/>
            <a:ext cx="3176111" cy="6474619"/>
            <a:chOff x="0" y="0"/>
            <a:chExt cx="4234815" cy="86328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34815" cy="8632825"/>
            </a:xfrm>
            <a:custGeom>
              <a:avLst/>
              <a:gdLst/>
              <a:ahLst/>
              <a:cxnLst/>
              <a:rect r="r" b="b" t="t" l="l"/>
              <a:pathLst>
                <a:path h="8632825" w="4234815">
                  <a:moveTo>
                    <a:pt x="0" y="6731"/>
                  </a:moveTo>
                  <a:lnTo>
                    <a:pt x="4218432" y="0"/>
                  </a:lnTo>
                  <a:lnTo>
                    <a:pt x="4234815" y="8626094"/>
                  </a:lnTo>
                  <a:lnTo>
                    <a:pt x="16383" y="8632825"/>
                  </a:lnTo>
                  <a:lnTo>
                    <a:pt x="0" y="6731"/>
                  </a:lnTo>
                  <a:close/>
                </a:path>
              </a:pathLst>
            </a:custGeom>
            <a:blipFill>
              <a:blip r:embed="rId11"/>
              <a:stretch>
                <a:fillRect l="0" t="-4505" r="0" b="-450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577846" y="2088071"/>
            <a:ext cx="1299982" cy="45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20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Tela inicial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277356" y="2088071"/>
            <a:ext cx="1947672" cy="45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20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interativo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350055" y="2085308"/>
            <a:ext cx="1850507" cy="45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20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Publicar animal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977176" y="2085308"/>
            <a:ext cx="2715635" cy="45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20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Detalhes da publicação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322195"/>
            <a:ext cx="9144000" cy="7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9895"/>
            <a:ext cx="6400800" cy="244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82590"/>
            <a:ext cx="15544800" cy="119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433185"/>
            <a:ext cx="15544800" cy="93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análise de segurança e usabilidade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Demonstração do WeFIND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317118" y="2317118"/>
            <a:ext cx="13653802" cy="6612922"/>
            <a:chOff x="0" y="0"/>
            <a:chExt cx="18205069" cy="88172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205069" cy="8817229"/>
            </a:xfrm>
            <a:custGeom>
              <a:avLst/>
              <a:gdLst/>
              <a:ahLst/>
              <a:cxnLst/>
              <a:rect r="r" b="b" t="t" l="l"/>
              <a:pathLst>
                <a:path h="8817229" w="18205069">
                  <a:moveTo>
                    <a:pt x="0" y="0"/>
                  </a:moveTo>
                  <a:lnTo>
                    <a:pt x="18205069" y="0"/>
                  </a:lnTo>
                  <a:lnTo>
                    <a:pt x="18205069" y="8817229"/>
                  </a:lnTo>
                  <a:lnTo>
                    <a:pt x="0" y="88172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9DFD6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503920" y="4937760"/>
            <a:ext cx="1280160" cy="1280160"/>
            <a:chOff x="0" y="0"/>
            <a:chExt cx="1706880" cy="1706880"/>
          </a:xfrm>
        </p:grpSpPr>
        <p:sp>
          <p:nvSpPr>
            <p:cNvPr name="Freeform 19" id="19" descr="/tmp/un/ppt/media/image44.png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377440" y="6972300"/>
            <a:ext cx="1353312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 da demonstração (até 1 min 20 s)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28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Como o aplicativo foi examinado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14400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3783330"/>
            <a:ext cx="384048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Verificação funcional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4700016"/>
            <a:ext cx="35661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Pelo autor, em set. e out. de 2026, no Redmi Note 13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943600" y="2281714"/>
            <a:ext cx="548640" cy="1375886"/>
            <a:chOff x="0" y="0"/>
            <a:chExt cx="731520" cy="183451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943600" y="2188845"/>
            <a:ext cx="548640" cy="1468755"/>
            <a:chOff x="0" y="0"/>
            <a:chExt cx="731520" cy="19583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526280" y="2095976"/>
            <a:ext cx="548640" cy="1561624"/>
            <a:chOff x="0" y="0"/>
            <a:chExt cx="731520" cy="208216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197" t="0" r="-31519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23825"/>
              <a:ext cx="731520" cy="2205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5120640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20640" y="3783330"/>
            <a:ext cx="384048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Análise estática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20640" y="4700016"/>
            <a:ext cx="35661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 4.5.4, em 14/10/2026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612880" y="2281714"/>
            <a:ext cx="548640" cy="1375886"/>
            <a:chOff x="0" y="0"/>
            <a:chExt cx="731520" cy="183451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612880" y="2188845"/>
            <a:ext cx="548640" cy="1468755"/>
            <a:chOff x="0" y="0"/>
            <a:chExt cx="731520" cy="19583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732520" y="2095976"/>
            <a:ext cx="548640" cy="1561624"/>
            <a:chOff x="0" y="0"/>
            <a:chExt cx="731520" cy="20821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197" t="0" r="-31519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23825"/>
              <a:ext cx="731520" cy="2205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grpSp>
        <p:nvGrpSpPr>
          <p:cNvPr name="Group 45 b" id="68"/>
          <p:cNvGrpSpPr/>
          <p:nvPr/>
        </p:nvGrpSpPr>
        <p:grpSpPr>
          <a:xfrm rot="0">
            <a:off x="12938759" y="2095976"/>
            <a:ext cx="548640" cy="1561624"/>
            <a:chOff x="0" y="0"/>
            <a:chExt cx="731520" cy="2082165"/>
          </a:xfrm>
        </p:grpSpPr>
        <p:sp>
          <p:nvSpPr>
            <p:cNvPr name="Freeform 46 b" id="69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197" t="0" r="-315197" b="0"/>
              </a:stretch>
            </a:blipFill>
          </p:spPr>
        </p:sp>
        <p:sp>
          <p:nvSpPr>
            <p:cNvPr name="TextBox 47 b" id="70"/>
            <p:cNvSpPr txBox="true"/>
            <p:nvPr/>
          </p:nvSpPr>
          <p:spPr>
            <a:xfrm>
              <a:off x="0" y="-123825"/>
              <a:ext cx="731520" cy="2205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9326880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48 b" id="65"/>
          <p:cNvSpPr txBox="true"/>
          <p:nvPr/>
        </p:nvSpPr>
        <p:spPr>
          <a:xfrm rot="0">
            <a:off x="13533119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326880" y="3783330"/>
            <a:ext cx="384048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</a:t>
            </a:r>
          </a:p>
        </p:txBody>
      </p:sp>
      <p:sp>
        <p:nvSpPr>
          <p:cNvPr name="TextBox 49 b" id="66"/>
          <p:cNvSpPr txBox="true"/>
          <p:nvPr/>
        </p:nvSpPr>
        <p:spPr>
          <a:xfrm rot="0">
            <a:off x="13533119" y="3783330"/>
            <a:ext cx="384048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Correspondência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326880" y="4700016"/>
            <a:ext cx="35661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tutores, 5 tarefas e SUS</a:t>
            </a:r>
          </a:p>
        </p:txBody>
      </p:sp>
      <p:sp>
        <p:nvSpPr>
          <p:cNvPr name="TextBox 50 b" id="67"/>
          <p:cNvSpPr txBox="true"/>
          <p:nvPr/>
        </p:nvSpPr>
        <p:spPr>
          <a:xfrm rot="0">
            <a:off x="13533119" y="4700016"/>
            <a:ext cx="35661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20 pares fictícios, em 16/10/2026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29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MobSF: triagem, não certificação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51/100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144000" y="2594610"/>
            <a:ext cx="82296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Pontuação da ferramenta, não é uma certificação de segurança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0" y="3680460"/>
            <a:ext cx="804672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alertas pedem revisão manual; não são vulnerabilidades confirmadas.</a:t>
            </a:r>
          </a:p>
        </p:txBody>
      </p:sp>
      <p:sp>
        <p:nvSpPr>
          <p:cNvPr name="AutoShape 31" id="31"/>
          <p:cNvSpPr/>
          <p:nvPr/>
        </p:nvSpPr>
        <p:spPr>
          <a:xfrm rot="1980">
            <a:off x="881053" y="5457825"/>
            <a:ext cx="1652588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914400" y="597789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4400" y="6574536"/>
            <a:ext cx="512064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possível em versões antigas do Android.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83680" y="597789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583680" y="6574536"/>
            <a:ext cx="512064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código; vários vêm de bibliotecas.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52960" y="597789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52960" y="6574536"/>
            <a:ext cx="512064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as 432 assinaturas examinadas.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14400" y="8583930"/>
            <a:ext cx="1645920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em 14/10/2026 (MobSF 4.5.4). Sem teste dinâmico, teste de invasão ou auditoria da infraestrutura.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30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5840"/>
            <a:ext cx="47548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Usabilidade: SUS com 12 tutores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108960"/>
            <a:ext cx="4937760" cy="1828800"/>
            <a:chOff x="0" y="0"/>
            <a:chExt cx="658368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2" r="0" b="-257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3101816"/>
            <a:ext cx="4937760" cy="1835944"/>
            <a:chOff x="0" y="0"/>
            <a:chExt cx="6583680" cy="24479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3680" cy="2447925"/>
            </a:xfrm>
            <a:custGeom>
              <a:avLst/>
              <a:gdLst/>
              <a:ahLst/>
              <a:cxnLst/>
              <a:rect r="r" b="b" t="t" l="l"/>
              <a:pathLst>
                <a:path h="244792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47925"/>
                  </a:lnTo>
                  <a:lnTo>
                    <a:pt x="0" y="2447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" r="0" b="-236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094672"/>
            <a:ext cx="4937760" cy="1843088"/>
            <a:chOff x="0" y="0"/>
            <a:chExt cx="6583680" cy="2457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83680" cy="2457450"/>
            </a:xfrm>
            <a:custGeom>
              <a:avLst/>
              <a:gdLst/>
              <a:ahLst/>
              <a:cxnLst/>
              <a:rect r="r" b="b" t="t" l="l"/>
              <a:pathLst>
                <a:path h="245745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57450"/>
                  </a:lnTo>
                  <a:lnTo>
                    <a:pt x="0" y="2457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65" r="0" b="-216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3087529"/>
            <a:ext cx="4937760" cy="1850231"/>
            <a:chOff x="0" y="0"/>
            <a:chExt cx="6583680" cy="24669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83680" cy="2466975"/>
            </a:xfrm>
            <a:custGeom>
              <a:avLst/>
              <a:gdLst/>
              <a:ahLst/>
              <a:cxnLst/>
              <a:rect r="r" b="b" t="t" l="l"/>
              <a:pathLst>
                <a:path h="246697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66975"/>
                  </a:lnTo>
                  <a:lnTo>
                    <a:pt x="0" y="246697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3" r="0" b="-196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3080385"/>
            <a:ext cx="4937760" cy="1857375"/>
            <a:chOff x="0" y="0"/>
            <a:chExt cx="6583680" cy="2476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83680" cy="2476500"/>
            </a:xfrm>
            <a:custGeom>
              <a:avLst/>
              <a:gdLst/>
              <a:ahLst/>
              <a:cxnLst/>
              <a:rect r="r" b="b" t="t" l="l"/>
              <a:pathLst>
                <a:path h="24765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76500"/>
                  </a:lnTo>
                  <a:lnTo>
                    <a:pt x="0" y="24765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64" r="0" b="-176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3073241"/>
            <a:ext cx="4937760" cy="1864519"/>
            <a:chOff x="0" y="0"/>
            <a:chExt cx="6583680" cy="24860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83680" cy="2486025"/>
            </a:xfrm>
            <a:custGeom>
              <a:avLst/>
              <a:gdLst/>
              <a:ahLst/>
              <a:cxnLst/>
              <a:rect r="r" b="b" t="t" l="l"/>
              <a:pathLst>
                <a:path h="248602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86025"/>
                  </a:lnTo>
                  <a:lnTo>
                    <a:pt x="0" y="248602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601" r="0" b="-1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583680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sz="11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93,33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4400" y="4800600"/>
            <a:ext cx="457200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média SUS: grau A+ (a partir de 84,1)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6469380"/>
            <a:ext cx="475488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5 tarefas no aplicativo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6995160"/>
            <a:ext cx="4572000" cy="150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de 12 disseram ter concluído todas com facilidade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583680" y="914400"/>
            <a:ext cx="10789920" cy="6675120"/>
            <a:chOff x="0" y="0"/>
            <a:chExt cx="14386560" cy="8900160"/>
          </a:xfrm>
        </p:grpSpPr>
        <p:sp>
          <p:nvSpPr>
            <p:cNvPr name="Freeform 21" id="21" descr="/tmp/un/ppt/media/image43.png"/>
            <p:cNvSpPr/>
            <p:nvPr/>
          </p:nvSpPr>
          <p:spPr>
            <a:xfrm flipH="false" flipV="false" rot="0">
              <a:off x="0" y="0"/>
              <a:ext cx="14386561" cy="8900160"/>
            </a:xfrm>
            <a:custGeom>
              <a:avLst/>
              <a:gdLst/>
              <a:ahLst/>
              <a:cxnLst/>
              <a:rect r="r" b="b" t="t" l="l"/>
              <a:pathLst>
                <a:path h="890016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8900160"/>
                  </a:lnTo>
                  <a:lnTo>
                    <a:pt x="0" y="890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9" t="0" r="-29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583680" y="7943850"/>
            <a:ext cx="10789920" cy="1383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Escala de Sauro e Lewis (2016). Amostra pequena e conclusão autorrelatada. APK distribuído pela landing page no GitHub Pages.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31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Correspondência testada com 20 pares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8/10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144000" y="2594610"/>
            <a:ext cx="82296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pares do mesmo animal foram sugeridos (limiar de 55)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0" y="3680460"/>
            <a:ext cx="804672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Mas 6 dos 10 pares de animais diferentes também foram.</a:t>
            </a:r>
          </a:p>
        </p:txBody>
      </p:sp>
      <p:sp>
        <p:nvSpPr>
          <p:cNvPr name="AutoShape 31" id="31"/>
          <p:cNvSpPr/>
          <p:nvPr/>
        </p:nvSpPr>
        <p:spPr>
          <a:xfrm rot="1980">
            <a:off x="881053" y="5457825"/>
            <a:ext cx="1652588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914400" y="597789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55 pontos: lista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4400" y="6574536"/>
            <a:ext cx="512064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8 corretas entre 14 sugestões (57%).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83680" y="597789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60 pontos: aviso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583680" y="6574536"/>
            <a:ext cx="512064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8 corretas entre 13 sugestões (62%).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52960" y="597789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Por que errou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52960" y="6574536"/>
            <a:ext cx="512064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Cores sinônimas, raça com hífen; idade e distância pesam pouco.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14400" y="8583930"/>
            <a:ext cx="1645920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Teste em 16/10/2026 com 20 pares fictícios em Pelotas. A pontuação é uma sugestão; as pessoas confirmam.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32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322195"/>
            <a:ext cx="9144000" cy="7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9895"/>
            <a:ext cx="6400800" cy="244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82590"/>
            <a:ext cx="1554480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433185"/>
            <a:ext cx="15544800" cy="93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146304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CONSIDERAÇÕES FINAIS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Considerações finais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14400" y="2080260"/>
            <a:ext cx="512064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Entregue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2948940"/>
            <a:ext cx="5120640" cy="619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Aplicativo WeFIND funcional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georreferenciado e rota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colaborativos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Chat, cartaz com QR e devolução segura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Correspondências sugeridas e testadas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83680" y="2080260"/>
            <a:ext cx="512064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83680" y="2948940"/>
            <a:ext cx="5120640" cy="619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Protótipo avaliado: não prova mais reencontros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pequena e conclusão autorrelatada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Segurança só com análise estática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Pesos de correspondência não calibrados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SUS feito em set./2026: funções novas sem teste com usuários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Privacidade de usuários logados ainda depende da interface</a:t>
            </a:r>
          </a:p>
        </p:txBody>
      </p:sp>
      <p:sp>
        <p:nvSpPr>
          <p:cNvPr name="AutoShape 20" id="20"/>
          <p:cNvSpPr/>
          <p:nvPr/>
        </p:nvSpPr>
        <p:spPr>
          <a:xfrm rot="5400000">
            <a:off x="2728922" y="5640705"/>
            <a:ext cx="7006628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2252960" y="2080260"/>
            <a:ext cx="512064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Próximos passos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52960" y="2948940"/>
            <a:ext cx="5120640" cy="619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Calibrar a correspondência com pares revisados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Restringir no banco os dados de perfil e as coordenadas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 IA para comparar fotos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global de publicações no backend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Ajustes de usabilidade e nova avaliação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Estudo piloto com casos reais</a:t>
            </a:r>
          </a:p>
        </p:txBody>
      </p:sp>
      <p:sp>
        <p:nvSpPr>
          <p:cNvPr name="AutoShape 23" id="23"/>
          <p:cNvSpPr/>
          <p:nvPr/>
        </p:nvSpPr>
        <p:spPr>
          <a:xfrm rot="5400000">
            <a:off x="8399145" y="5640705"/>
            <a:ext cx="7006628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34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4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796090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788946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781802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774659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767515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760371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Principais referências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14400" y="2049780"/>
            <a:ext cx="7863840" cy="713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BROOKE, J.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SUS: a “quick and dirty” usability scale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In: JORDAN, P. W. et al. (ed.). Usability evaluation in industry. London: Taylor &amp; Francis, 1996. p. 189–194.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GIL, A. C.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Como elaborar projetos de pesquisa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7. ed. São Paulo: Atlas, 2022.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HUANG, L. et al.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Search methods used to locate missing cats and locations where missing cats are found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Animals, v. 8, n. 1, art. 5, 2018.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ISO.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ISO/IEC 25010:2023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product quality model. Geneva: ISO,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 Security Framework (MobSF)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2026. Disponível em: github.com/MobSF. Acesso em: 14 out. 2026.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PRESSMAN, R. S.; MAXIM, B. R.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uma abordagem profissional. 9. ed. Porto Alegre: AMGH, 2021.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72600" y="2049780"/>
            <a:ext cx="7863840" cy="713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SAURO, J.; LEWIS, J. R.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Quantifying the user experience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2. ed. Cambridge: Morgan Kaufmann, 2016.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SINNOTT, R. W.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Virtues of the Haversine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Sky and Telescope, v. 68, n. 2, p. 159, 1984.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SOMMERVILLE, I.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10. ed. São Paulo: Pearson, 2019.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SOUZA, F. C. M. et al.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FugaPet-Rotas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recomendação de rotas para buscar animais desaparecidos. In: ERES, 6., 2022. Porto Alegre: SBC, 2022. p. 199–208.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VALENTE, M. T.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 moderna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Belo Horizonte: Edição do Autor,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WEISS, E.; SLATER, M.; LORD, 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Frequency of lost dogs and cats in the United States and the methods used to locate them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Animals, v. 2, n. 2, p. 301–315, 2012.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459200" y="95097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2400" y="1952149"/>
            <a:ext cx="2743200" cy="2651760"/>
            <a:chOff x="0" y="0"/>
            <a:chExt cx="3657600" cy="3535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35680"/>
                  </a:lnTo>
                  <a:lnTo>
                    <a:pt x="0" y="353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24" r="0" b="-172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28800" y="5246370"/>
            <a:ext cx="1463040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8"/>
              </a:lnSpc>
            </a:pPr>
            <a:r>
              <a:rPr lang="en-US" sz="8799" b="true">
                <a:solidFill>
                  <a:srgbClr val="1B2A1F"/>
                </a:solidFill>
                <a:latin typeface="Cambria Bold"/>
                <a:ea typeface="Cambria Bold"/>
                <a:cs typeface="Cambria Bold"/>
                <a:sym typeface="Cambria Bold"/>
              </a:rPr>
              <a:t>Obrigado!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0" y="6515100"/>
            <a:ext cx="14630400" cy="982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Fico à disposição para perguntas e comentários.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800" y="7646670"/>
            <a:ext cx="1463040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Luis Henrique Fonseca Victoria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8401050"/>
            <a:ext cx="1463040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IFSul Campus Pelotas  |  Curso Superior de Tecnologia em Sistemas para Internet  | 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66770" y="1745905"/>
            <a:ext cx="9554460" cy="36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7"/>
              </a:lnSpc>
            </a:pPr>
            <a:r>
              <a:rPr lang="en-US" sz="2089" u="sng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  <a:hlinkClick r:id="rId3" tooltip="https://luishenriquetsi.github.io/wefind/"/>
              </a:rPr>
              <a:t>Acesse o link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66770" y="4556284"/>
            <a:ext cx="9554460" cy="36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7"/>
              </a:lnSpc>
            </a:pPr>
            <a:r>
              <a:rPr lang="en-US" sz="2089" u="sng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https://luishenriquetsi.github.io/wefind/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DAG8JFa4rfI</dc:identifier>
  <dcterms:modified xsi:type="dcterms:W3CDTF">2011-08-01T06:04:30Z</dcterms:modified>
  <cp:revision>1</cp:revision>
  <dc:title>TCC_WEFIND_APREESNTACAO_QUALIFICACAO_VERSAO_ORIGINAL</dc:title>
</cp:coreProperties>
</file>