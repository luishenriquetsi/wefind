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5" r:id="rId15"/>
  </p:sldIdLst>
  <p:sldSz cx="18288000" cy="10287000"/>
  <p:notesSz cx="6858000" cy="9144000"/>
  <p:embeddedFontLst>
    <p:embeddedFont>
      <p:font typeface="Cooper BT Bold" charset="1" panose="0208080404030B020404"/>
      <p:regular r:id="rId43"/>
    </p:embeddedFont>
    <p:embeddedFont>
      <p:font typeface="Cooper BT Light" charset="1" panose="0208050304030B020404"/>
      <p:regular r:id="rId44"/>
    </p:embeddedFont>
    <p:embeddedFont>
      <p:font typeface="Cambria Bold" charset="1" panose="02040803050406030204"/>
      <p:regular r:id="rId45"/>
    </p:embeddedFont>
    <p:embeddedFont>
      <p:font typeface="Calibri (MS)" charset="1" panose="020F0502020204030204"/>
      <p:regular r:id="rId46"/>
    </p:embeddedFont>
    <p:embeddedFont>
      <p:font typeface="Calibri (MS) Bold" charset="1" panose="020F0702030404030204"/>
      <p:regular r:id="rId47"/>
    </p:embeddedFont>
    <p:embeddedFont>
      <p:font typeface="Calibri (MS) Italics" charset="1" panose="020F05020202040A0204"/>
      <p:regular r:id="rId48"/>
    </p:embeddedFont>
    <p:embeddedFont>
      <p:font typeface="Roboto Bold" charset="1" panose="02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5" Type="http://schemas.openxmlformats.org/officeDocument/2006/relationships/slide" Target="slides/slide1.xml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Metodologia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1734A"/>
                </a:solidFill>
                <a:latin typeface="Calibri (MS) Bold"/>
              </a:rPr>
              <a:t>COMO O TRABALHO FOI FEITO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71016" y="3145536"/>
            <a:ext cx="0" cy="2377440"/>
          </a:xfrm>
          <a:prstGeom prst="line">
            <a:avLst/>
          </a:prstGeom>
          <a:ln w="25400">
            <a:solidFill>
              <a:srgbClr val="C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14400" y="2788920"/>
            <a:ext cx="713232" cy="713232"/>
          </a:xfrm>
          <a:prstGeom prst="ellipse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 (MS) 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715768"/>
            <a:ext cx="6400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2E5634"/>
                </a:solidFill>
                <a:latin typeface="Calibri (MS) Bold"/>
              </a:rPr>
              <a:t>Ouvir e pesquisar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Questionário com 48 participantes e análise de 4 plataformas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3977639"/>
            <a:ext cx="713232" cy="713232"/>
          </a:xfrm>
          <a:prstGeom prst="ellipse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 (MS) Bold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04487"/>
            <a:ext cx="6400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2E5634"/>
                </a:solidFill>
                <a:latin typeface="Calibri (MS) Bold"/>
              </a:rPr>
              <a:t>Construir o aplicativo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Em 6 partes, uma de cada vez  →</a:t>
            </a:r>
          </a:p>
        </p:txBody>
      </p:sp>
      <p:sp>
        <p:nvSpPr>
          <p:cNvPr id="37" name="Oval 36"/>
          <p:cNvSpPr/>
          <p:nvPr/>
        </p:nvSpPr>
        <p:spPr>
          <a:xfrm>
            <a:off x="914400" y="5166360"/>
            <a:ext cx="713232" cy="713232"/>
          </a:xfrm>
          <a:prstGeom prst="ellipse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 (MS) Bol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093208"/>
            <a:ext cx="6400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2E5634"/>
                </a:solidFill>
                <a:latin typeface="Calibri (MS) Bold"/>
              </a:rPr>
              <a:t>Testar com tutores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Testes funcionais, segurança e usabilidade (SUS)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6400800"/>
            <a:ext cx="7223760" cy="868680"/>
          </a:xfrm>
          <a:prstGeom prst="roundRect">
            <a:avLst>
              <a:gd name="adj" fmla="val 20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6400800"/>
            <a:ext cx="6766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2A1F"/>
                </a:solidFill>
                <a:latin typeface="Calibri (MS) Bold"/>
              </a:rPr>
              <a:t>Pesquisa aplicada, exploratória e descritiva</a:t>
            </a:r>
          </a:p>
          <a:p>
            <a:pPr algn="l"/>
            <a:r>
              <a:rPr sz="1200" b="0">
                <a:solidFill>
                  <a:srgbClr val="5B6B5F"/>
                </a:solidFill>
                <a:latin typeface="Calibri (MS)"/>
              </a:rPr>
              <a:t>Gil (2022); Marconi e Lakatos (2022)</a:t>
            </a:r>
          </a:p>
        </p:txBody>
      </p:sp>
      <p:pic>
        <p:nvPicPr>
          <p:cNvPr id="41" name="Quadro Kanban Trello" descr="quadro_kanban_trello_wefi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543800"/>
            <a:ext cx="3021330" cy="1463040"/>
          </a:xfrm>
          <a:prstGeom prst="rect">
            <a:avLst/>
          </a:prstGeom>
          <a:ln w="12700">
            <a:solidFill>
              <a:srgbClr val="C9D4C6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4210050" y="7726679"/>
            <a:ext cx="392811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5634"/>
                </a:solidFill>
                <a:latin typeface="Calibri (MS) Bold"/>
              </a:rPr>
              <a:t>Tarefas no Trello</a:t>
            </a:r>
          </a:p>
          <a:p>
            <a:pPr algn="l"/>
            <a:r>
              <a:rPr sz="1400" b="0">
                <a:solidFill>
                  <a:srgbClr val="5B6B5F"/>
                </a:solidFill>
                <a:latin typeface="Calibri (MS)"/>
              </a:rPr>
              <a:t>quadro Kanban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2148840"/>
            <a:ext cx="8412480" cy="6675120"/>
          </a:xfrm>
          <a:prstGeom prst="roundRect">
            <a:avLst>
              <a:gd name="adj" fmla="val 4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242316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1734A"/>
                </a:solidFill>
                <a:latin typeface="Calibri (MS) Bold"/>
              </a:rPr>
              <a:t>CONSTRUÇÃO EM 6 PARTES (ITERATIVA E INCREMENTAL)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20" y="2926080"/>
            <a:ext cx="292608" cy="292608"/>
          </a:xfrm>
          <a:prstGeom prst="roundRect">
            <a:avLst/>
          </a:prstGeom>
          <a:solidFill>
            <a:srgbClr val="8F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02368" y="2898648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2A1F"/>
                </a:solidFill>
                <a:latin typeface="Calibri (MS)"/>
              </a:rPr>
              <a:t>Planejar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018520" y="2926080"/>
            <a:ext cx="292608" cy="292608"/>
          </a:xfrm>
          <a:prstGeom prst="round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02568" y="2898648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2A1F"/>
                </a:solidFill>
                <a:latin typeface="Calibri (MS)"/>
              </a:rPr>
              <a:t>Desenvolver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920472" y="2926080"/>
            <a:ext cx="292608" cy="292608"/>
          </a:xfrm>
          <a:prstGeom prst="roundRect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304520" y="2898648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2A1F"/>
                </a:solidFill>
                <a:latin typeface="Calibri (MS)"/>
              </a:rPr>
              <a:t>Testar no celular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425928" y="2926080"/>
            <a:ext cx="292608" cy="292608"/>
          </a:xfrm>
          <a:prstGeom prst="roundRect">
            <a:avLst/>
          </a:prstGeom>
          <a:solidFill>
            <a:srgbClr val="7A4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09976" y="2898648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2A1F"/>
                </a:solidFill>
                <a:latin typeface="Calibri (MS)"/>
              </a:rPr>
              <a:t>Entregar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35204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5634"/>
                </a:solidFill>
                <a:latin typeface="Calibri (MS) Bold"/>
              </a:rPr>
              <a:t>1  Acesso</a:t>
            </a:r>
          </a:p>
        </p:txBody>
      </p:sp>
      <p:sp>
        <p:nvSpPr>
          <p:cNvPr id="54" name="Incremento 1 Planejar"/>
          <p:cNvSpPr/>
          <p:nvPr/>
        </p:nvSpPr>
        <p:spPr>
          <a:xfrm>
            <a:off x="10972800" y="3575304"/>
            <a:ext cx="749808" cy="402336"/>
          </a:xfrm>
          <a:prstGeom prst="rect">
            <a:avLst/>
          </a:prstGeom>
          <a:solidFill>
            <a:srgbClr val="8F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ncremento 1 Desenvolver"/>
          <p:cNvSpPr/>
          <p:nvPr/>
        </p:nvSpPr>
        <p:spPr>
          <a:xfrm>
            <a:off x="11777472" y="3575304"/>
            <a:ext cx="749808" cy="402336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ncremento 1 Testar no celular"/>
          <p:cNvSpPr/>
          <p:nvPr/>
        </p:nvSpPr>
        <p:spPr>
          <a:xfrm>
            <a:off x="12582144" y="3575304"/>
            <a:ext cx="749808" cy="402336"/>
          </a:xfrm>
          <a:prstGeom prst="rect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ncremento 1 Entregar"/>
          <p:cNvSpPr/>
          <p:nvPr/>
        </p:nvSpPr>
        <p:spPr>
          <a:xfrm>
            <a:off x="13386816" y="3575304"/>
            <a:ext cx="749808" cy="402336"/>
          </a:xfrm>
          <a:prstGeom prst="rect">
            <a:avLst/>
          </a:prstGeom>
          <a:solidFill>
            <a:srgbClr val="7A4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0" y="4233672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5634"/>
                </a:solidFill>
                <a:latin typeface="Calibri (MS) Bold"/>
              </a:rPr>
              <a:t>2  Mapa</a:t>
            </a:r>
          </a:p>
        </p:txBody>
      </p:sp>
      <p:sp>
        <p:nvSpPr>
          <p:cNvPr id="59" name="Incremento 2 Planejar"/>
          <p:cNvSpPr/>
          <p:nvPr/>
        </p:nvSpPr>
        <p:spPr>
          <a:xfrm>
            <a:off x="11484864" y="4288536"/>
            <a:ext cx="749808" cy="402336"/>
          </a:xfrm>
          <a:prstGeom prst="rect">
            <a:avLst/>
          </a:prstGeom>
          <a:solidFill>
            <a:srgbClr val="8F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ncremento 2 Desenvolver"/>
          <p:cNvSpPr/>
          <p:nvPr/>
        </p:nvSpPr>
        <p:spPr>
          <a:xfrm>
            <a:off x="12289536" y="4288536"/>
            <a:ext cx="749808" cy="402336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ncremento 2 Testar no celular"/>
          <p:cNvSpPr/>
          <p:nvPr/>
        </p:nvSpPr>
        <p:spPr>
          <a:xfrm>
            <a:off x="13094208" y="4288536"/>
            <a:ext cx="749808" cy="402336"/>
          </a:xfrm>
          <a:prstGeom prst="rect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ncremento 2 Entregar"/>
          <p:cNvSpPr/>
          <p:nvPr/>
        </p:nvSpPr>
        <p:spPr>
          <a:xfrm>
            <a:off x="13898880" y="4288536"/>
            <a:ext cx="749808" cy="402336"/>
          </a:xfrm>
          <a:prstGeom prst="rect">
            <a:avLst/>
          </a:prstGeom>
          <a:solidFill>
            <a:srgbClr val="7A4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4946904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5634"/>
                </a:solidFill>
                <a:latin typeface="Calibri (MS) Bold"/>
              </a:rPr>
              <a:t>3  Publicações</a:t>
            </a:r>
          </a:p>
        </p:txBody>
      </p:sp>
      <p:sp>
        <p:nvSpPr>
          <p:cNvPr id="64" name="Incremento 3 Planejar"/>
          <p:cNvSpPr/>
          <p:nvPr/>
        </p:nvSpPr>
        <p:spPr>
          <a:xfrm>
            <a:off x="11996928" y="5001768"/>
            <a:ext cx="749808" cy="402336"/>
          </a:xfrm>
          <a:prstGeom prst="rect">
            <a:avLst/>
          </a:prstGeom>
          <a:solidFill>
            <a:srgbClr val="8F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ncremento 3 Desenvolver"/>
          <p:cNvSpPr/>
          <p:nvPr/>
        </p:nvSpPr>
        <p:spPr>
          <a:xfrm>
            <a:off x="12801600" y="5001768"/>
            <a:ext cx="749808" cy="402336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ncremento 3 Testar no celular"/>
          <p:cNvSpPr/>
          <p:nvPr/>
        </p:nvSpPr>
        <p:spPr>
          <a:xfrm>
            <a:off x="13606272" y="5001768"/>
            <a:ext cx="749808" cy="402336"/>
          </a:xfrm>
          <a:prstGeom prst="rect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ncremento 3 Entregar"/>
          <p:cNvSpPr/>
          <p:nvPr/>
        </p:nvSpPr>
        <p:spPr>
          <a:xfrm>
            <a:off x="14410944" y="5001768"/>
            <a:ext cx="749808" cy="402336"/>
          </a:xfrm>
          <a:prstGeom prst="rect">
            <a:avLst/>
          </a:prstGeom>
          <a:solidFill>
            <a:srgbClr val="7A4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0" y="5660136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5634"/>
                </a:solidFill>
                <a:latin typeface="Calibri (MS) Bold"/>
              </a:rPr>
              <a:t>4  Comunicação</a:t>
            </a:r>
          </a:p>
        </p:txBody>
      </p:sp>
      <p:sp>
        <p:nvSpPr>
          <p:cNvPr id="69" name="Incremento 4 Planejar"/>
          <p:cNvSpPr/>
          <p:nvPr/>
        </p:nvSpPr>
        <p:spPr>
          <a:xfrm>
            <a:off x="12508992" y="5714999"/>
            <a:ext cx="749808" cy="402336"/>
          </a:xfrm>
          <a:prstGeom prst="rect">
            <a:avLst/>
          </a:prstGeom>
          <a:solidFill>
            <a:srgbClr val="8F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ncremento 4 Desenvolver"/>
          <p:cNvSpPr/>
          <p:nvPr/>
        </p:nvSpPr>
        <p:spPr>
          <a:xfrm>
            <a:off x="13313664" y="5714999"/>
            <a:ext cx="749808" cy="402336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Incremento 4 Testar no celular"/>
          <p:cNvSpPr/>
          <p:nvPr/>
        </p:nvSpPr>
        <p:spPr>
          <a:xfrm>
            <a:off x="14118336" y="5714999"/>
            <a:ext cx="749808" cy="402336"/>
          </a:xfrm>
          <a:prstGeom prst="rect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ncremento 4 Entregar"/>
          <p:cNvSpPr/>
          <p:nvPr/>
        </p:nvSpPr>
        <p:spPr>
          <a:xfrm>
            <a:off x="14923008" y="5714999"/>
            <a:ext cx="749808" cy="402336"/>
          </a:xfrm>
          <a:prstGeom prst="rect">
            <a:avLst/>
          </a:prstGeom>
          <a:solidFill>
            <a:srgbClr val="7A4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18320" y="6373368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5634"/>
                </a:solidFill>
                <a:latin typeface="Calibri (MS) Bold"/>
              </a:rPr>
              <a:t>5  Cartaz QR</a:t>
            </a:r>
          </a:p>
        </p:txBody>
      </p:sp>
      <p:sp>
        <p:nvSpPr>
          <p:cNvPr id="74" name="Incremento 5 Planejar"/>
          <p:cNvSpPr/>
          <p:nvPr/>
        </p:nvSpPr>
        <p:spPr>
          <a:xfrm>
            <a:off x="13021056" y="6428232"/>
            <a:ext cx="749808" cy="402336"/>
          </a:xfrm>
          <a:prstGeom prst="rect">
            <a:avLst/>
          </a:prstGeom>
          <a:solidFill>
            <a:srgbClr val="8F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Incremento 5 Desenvolver"/>
          <p:cNvSpPr/>
          <p:nvPr/>
        </p:nvSpPr>
        <p:spPr>
          <a:xfrm>
            <a:off x="13825728" y="6428232"/>
            <a:ext cx="749808" cy="402336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ncremento 5 Testar no celular"/>
          <p:cNvSpPr/>
          <p:nvPr/>
        </p:nvSpPr>
        <p:spPr>
          <a:xfrm>
            <a:off x="14630400" y="6428232"/>
            <a:ext cx="749808" cy="402336"/>
          </a:xfrm>
          <a:prstGeom prst="rect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ncremento 5 Entregar"/>
          <p:cNvSpPr/>
          <p:nvPr/>
        </p:nvSpPr>
        <p:spPr>
          <a:xfrm>
            <a:off x="15435072" y="6428232"/>
            <a:ext cx="749808" cy="402336"/>
          </a:xfrm>
          <a:prstGeom prst="rect">
            <a:avLst/>
          </a:prstGeom>
          <a:solidFill>
            <a:srgbClr val="7A4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18320" y="708660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B1734A"/>
                </a:solidFill>
                <a:latin typeface="Calibri (MS) Bold"/>
              </a:rPr>
              <a:t>6  Reencontro</a:t>
            </a:r>
          </a:p>
        </p:txBody>
      </p:sp>
      <p:sp>
        <p:nvSpPr>
          <p:cNvPr id="79" name="Incremento 6 Planejar"/>
          <p:cNvSpPr/>
          <p:nvPr/>
        </p:nvSpPr>
        <p:spPr>
          <a:xfrm>
            <a:off x="13533120" y="7141464"/>
            <a:ext cx="749808" cy="402336"/>
          </a:xfrm>
          <a:prstGeom prst="rect">
            <a:avLst/>
          </a:prstGeom>
          <a:solidFill>
            <a:srgbClr val="8F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Incremento 6 Desenvolver"/>
          <p:cNvSpPr/>
          <p:nvPr/>
        </p:nvSpPr>
        <p:spPr>
          <a:xfrm>
            <a:off x="14337792" y="7141464"/>
            <a:ext cx="749808" cy="402336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Incremento 6 Testar no celular"/>
          <p:cNvSpPr/>
          <p:nvPr/>
        </p:nvSpPr>
        <p:spPr>
          <a:xfrm>
            <a:off x="15142464" y="7141464"/>
            <a:ext cx="749808" cy="402336"/>
          </a:xfrm>
          <a:prstGeom prst="rect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ncremento 6 Entregar"/>
          <p:cNvSpPr/>
          <p:nvPr/>
        </p:nvSpPr>
        <p:spPr>
          <a:xfrm>
            <a:off x="15947136" y="7141464"/>
            <a:ext cx="749808" cy="402336"/>
          </a:xfrm>
          <a:prstGeom prst="rect">
            <a:avLst/>
          </a:prstGeom>
          <a:solidFill>
            <a:srgbClr val="7A4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972800" y="7845552"/>
            <a:ext cx="6126480" cy="0"/>
          </a:xfrm>
          <a:prstGeom prst="line">
            <a:avLst/>
          </a:prstGeom>
          <a:ln w="19050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3898880" y="791870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5B6B5F"/>
                </a:solidFill>
                <a:latin typeface="Calibri (MS)"/>
              </a:rPr>
              <a:t>tempo do projeto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18320" y="8183879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B5F"/>
                </a:solidFill>
                <a:latin typeface="Calibri (MS)"/>
              </a:rPr>
              <a:t>Cada parte foi planejada, feita, testada no celular e entregue antes da próxima (Valente, 2023).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TCC_WEFIND_APREESNTACAO_QUALIFICACAO_VERSAO_ORIGINAL</dc:title>
</cp:coreProperties>
</file>