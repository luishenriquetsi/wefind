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77" r:id="rId35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8" r:id="rId36"/>
    <p:sldId id="269" r:id="rId19"/>
    <p:sldId id="270" r:id="rId20"/>
    <p:sldId id="271" r:id="rId21"/>
    <p:sldId id="279" r:id="rId37"/>
    <p:sldId id="272" r:id="rId22"/>
    <p:sldId id="273" r:id="rId23"/>
    <p:sldId id="274" r:id="rId24"/>
    <p:sldId id="275" r:id="rId25"/>
    <p:sldId id="280" r:id="rId38"/>
    <p:sldId id="276" r:id="rId26"/>
  </p:sldIdLst>
  <p:sldSz cx="18288000" cy="10287000"/>
  <p:notesSz cx="6858000" cy="9144000"/>
  <p:embeddedFontLst>
    <p:embeddedFont>
      <p:font typeface="Cooper BT Bold" charset="1" panose="0208080404030B020404"/>
      <p:regular r:id="rId27"/>
    </p:embeddedFont>
    <p:embeddedFont>
      <p:font typeface="Cooper BT Light" charset="1" panose="0208050304030B020404"/>
      <p:regular r:id="rId28"/>
    </p:embeddedFont>
    <p:embeddedFont>
      <p:font typeface="Cambria Bold" charset="1" panose="02040803050406030204"/>
      <p:regular r:id="rId29"/>
    </p:embeddedFont>
    <p:embeddedFont>
      <p:font typeface="Calibri (MS)" charset="1" panose="020F0502020204030204"/>
      <p:regular r:id="rId30"/>
    </p:embeddedFont>
    <p:embeddedFont>
      <p:font typeface="Calibri (MS) Bold" charset="1" panose="020F0702030404030204"/>
      <p:regular r:id="rId31"/>
    </p:embeddedFont>
    <p:embeddedFont>
      <p:font typeface="Calibri (MS) Italics" charset="1" panose="020F05020202040A0204"/>
      <p:regular r:id="rId32"/>
    </p:embeddedFont>
    <p:embeddedFont>
      <p:font typeface="Roboto Bold" charset="1" panose="02000000000000000000"/>
      <p:regular r:id="rId33"/>
    </p:embeddedFont>
    <p:embeddedFont>
      <p:font typeface="Calibri (MS) Light" charset="1" panose="020F0302020204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5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slide" Target="slides/slide3.xml"/><Relationship Id="rId36" Type="http://schemas.openxmlformats.org/officeDocument/2006/relationships/slide" Target="slides/slide15.xml"/><Relationship Id="rId37" Type="http://schemas.openxmlformats.org/officeDocument/2006/relationships/slide" Target="slides/slide19.xml"/><Relationship Id="rId38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Relationship Id="rId4" Type="http://schemas.openxmlformats.org/officeDocument/2006/relationships/image" Target="../media/image5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9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41.png"/><Relationship Id="rId5" Type="http://schemas.openxmlformats.org/officeDocument/2006/relationships/image" Target="../media/image25.png"/><Relationship Id="rId6" Type="http://schemas.openxmlformats.org/officeDocument/2006/relationships/image" Target="../media/image5.png"/><Relationship Id="rId7" Type="http://schemas.openxmlformats.org/officeDocument/2006/relationships/image" Target="../media/image42.png"/><Relationship Id="rId8" Type="http://schemas.openxmlformats.org/officeDocument/2006/relationships/image" Target="../media/image6.png"/><Relationship Id="rId9" Type="http://schemas.openxmlformats.org/officeDocument/2006/relationships/image" Target="../media/image43.png"/><Relationship Id="rId10" Type="http://schemas.openxmlformats.org/officeDocument/2006/relationships/image" Target="../media/image8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7.png"/><Relationship Id="rId16" Type="http://schemas.openxmlformats.org/officeDocument/2006/relationships/image" Target="../media/image31.png"/><Relationship Id="rId17" Type="http://schemas.openxmlformats.org/officeDocument/2006/relationships/image" Target="../media/image33.png"/><Relationship Id="rId18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3.png"/><Relationship Id="rId4" Type="http://schemas.openxmlformats.org/officeDocument/2006/relationships/image" Target="../media/image5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8.jpeg"/><Relationship Id="rId4" Type="http://schemas.openxmlformats.org/officeDocument/2006/relationships/image" Target="../media/image49.jpeg"/><Relationship Id="rId5" Type="http://schemas.openxmlformats.org/officeDocument/2006/relationships/image" Target="../media/image50.jpeg"/><Relationship Id="rId6" Type="http://schemas.openxmlformats.org/officeDocument/2006/relationships/image" Target="../media/image5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71" cy="1470222"/>
            <a:chOff x="0" y="0"/>
            <a:chExt cx="2076361" cy="1960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25" cy="1333348"/>
            <a:chOff x="0" y="0"/>
            <a:chExt cx="2912300" cy="17777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2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1232202" y="4685033"/>
            <a:ext cx="15823606" cy="117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b="true" sz="3999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colaborativo para divulgação de animais perdidos e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95624"/>
            <a:ext cx="13922893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821626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615686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982075"/>
            <a:ext cx="13525500" cy="436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863184"/>
            <a:ext cx="13600671" cy="33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2608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Contexto e método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2608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Problema, motivação, objetivo e método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8560" y="2733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Pesquisa e diferencial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0" y="3381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Campo e análise de sistemas similares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2608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2608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Funcionais, qualidade, ciclo de vida e UML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338560" y="5019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Arquitetura e design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560" y="5667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Tecnologias, nuvem, correspondência e telas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92608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Demonstração e avaliação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608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Vídeo, verificações, segurança e usabilidade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4384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38560" y="7305675"/>
            <a:ext cx="60350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38560" y="7953756"/>
            <a:ext cx="603504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CONTEXTO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Tempo e proximidade decidem a busca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4784436" cy="6400800"/>
            <a:chOff x="0" y="0"/>
            <a:chExt cx="6379248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6379248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66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46,1%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00" y="232981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dos lares têm cão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400" y="315277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IBGE, PNS 2019 (19,3% têm gato)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11877656" y="420147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4" id="1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0" y="452437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perdem o animal em 5 anos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534733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dos tutores (Weiss; Slater; Lord, 2012)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11877656" y="639603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0" id="2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75%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671893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achados a até 500 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754189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gatos, do ponto de fuga (Huang et al., 2018)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Figura adaptada de Huang et al. (2018, p. 9): gatos encontrados vivos ao longo dos dias, (a) no primeiro ano e (b) nos primeiros 30 dias. Os estudos de Huang e de Weiss são internacionais; os de Huang tratam apenas de gatos.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035040" y="2240280"/>
            <a:ext cx="53035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Janela crítica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35040" y="2760280"/>
            <a:ext cx="530352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Dos gatos achados vivos, 34% apareceram na 1ª semana e 50% em 30 dias; depois de 60 dias, quase não há ganho.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5040" y="4343400"/>
            <a:ext cx="53035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Busca na vizinhança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35040" y="4863400"/>
            <a:ext cx="530352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de 2% estavam em abrigos. Ajudaram a busca no entorno, os vizinhos e os cartazes.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5040" y="6446520"/>
            <a:ext cx="530352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Informação espalhada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35040" y="6966520"/>
            <a:ext cx="530352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Avisos e relatos circulam em redes, grupos e conversas, o que dificulta acompanhar o caso.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MOTIVAÇÃO E OBJETIVO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Experiência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por um animal desaparecido na família motivou o projeto.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Necessidade identificada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pesquisa de campo e a análise de sistemas similares apontaram a lacuna.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Proposta do WeFIND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Colaboração comunitária, geolocalização e comunicação privada.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Objetivo geral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Desenvolver um app móvel colaborativo para divulgar e buscar animais perdidos e encontrados.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aplicada, exploratório-descritiva, quantitativa e qualitativa: campo, similares e SUS.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MÉTODO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Cinco incrementos funcionais, testados no celular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31520" cy="731520"/>
            <a:chOff x="0" y="0"/>
            <a:chExt cx="975360" cy="975360"/>
          </a:xfrm>
        </p:grpSpPr>
        <p:sp>
          <p:nvSpPr>
            <p:cNvPr name="Freeform 7" id="7" descr="/tmp/un/ppt/media/image76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11680" y="2377440"/>
            <a:ext cx="731520" cy="731520"/>
            <a:chOff x="0" y="0"/>
            <a:chExt cx="97536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Acesso e usuários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Criação de conta, login seguro e perfil.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242816" y="2377440"/>
            <a:ext cx="731520" cy="731520"/>
            <a:chOff x="0" y="0"/>
            <a:chExt cx="975360" cy="975360"/>
          </a:xfrm>
        </p:grpSpPr>
        <p:sp>
          <p:nvSpPr>
            <p:cNvPr name="Freeform 14" id="14" descr="/tmp/un/ppt/media/image70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340096" y="2377440"/>
            <a:ext cx="731520" cy="731520"/>
            <a:chOff x="0" y="0"/>
            <a:chExt cx="9753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242816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Busca espacial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42816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interativo, proximidade e filtro por espécie.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71232" y="2377440"/>
            <a:ext cx="731520" cy="731520"/>
            <a:chOff x="0" y="0"/>
            <a:chExt cx="975360" cy="975360"/>
          </a:xfrm>
        </p:grpSpPr>
        <p:sp>
          <p:nvSpPr>
            <p:cNvPr name="Freeform 21" id="21" descr="/tmp/un/ppt/media/image7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68512" y="2377440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571232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Publicações e fotos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71232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Anúncios de perdido ou encontrado, com características e imagens.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899648" y="2377440"/>
            <a:ext cx="731520" cy="731520"/>
            <a:chOff x="0" y="0"/>
            <a:chExt cx="975360" cy="975360"/>
          </a:xfrm>
        </p:grpSpPr>
        <p:sp>
          <p:nvSpPr>
            <p:cNvPr name="Freeform 28" id="28" descr="/tmp/un/ppt/media/image61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96928" y="2377440"/>
            <a:ext cx="731520" cy="731520"/>
            <a:chOff x="0" y="0"/>
            <a:chExt cx="975360" cy="975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99648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Comunicação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9648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de avistamento e chat privado em tempo real.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228064" y="2377440"/>
            <a:ext cx="731520" cy="731520"/>
            <a:chOff x="0" y="0"/>
            <a:chExt cx="975360" cy="975360"/>
          </a:xfrm>
        </p:grpSpPr>
        <p:sp>
          <p:nvSpPr>
            <p:cNvPr name="Freeform 35" id="35" descr="/tmp/un/ppt/media/image73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325344" y="2377440"/>
            <a:ext cx="731520" cy="731520"/>
            <a:chOff x="0" y="0"/>
            <a:chExt cx="975360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75360" cy="984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228064" y="3912870"/>
            <a:ext cx="310896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Cartaz com QR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228064" y="4798695"/>
            <a:ext cx="301752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Cartazes padronizados para compartilhar ou imprimir.</a:t>
            </a:r>
          </a:p>
        </p:txBody>
      </p:sp>
      <p:sp>
        <p:nvSpPr>
          <p:cNvPr name="AutoShape 41" id="4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2" id="42"/>
          <p:cNvGrpSpPr/>
          <p:nvPr/>
        </p:nvGrpSpPr>
        <p:grpSpPr>
          <a:xfrm rot="0">
            <a:off x="914400" y="7223760"/>
            <a:ext cx="1005840" cy="1005840"/>
            <a:chOff x="0" y="0"/>
            <a:chExt cx="1341120" cy="1341120"/>
          </a:xfrm>
        </p:grpSpPr>
        <p:sp>
          <p:nvSpPr>
            <p:cNvPr name="Freeform 43" id="43" descr="/tmp/un/ppt/media/image66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2560320" y="7021830"/>
            <a:ext cx="9144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Kanban no Trello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560320" y="7633335"/>
            <a:ext cx="14813280" cy="169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Listas para atualização, testes e validação, desenvolvimento, a fazer, ideias futuras e concluídas. Cada incremento era planejado, desenvolvido e testado no celular antes de começar o seguinte.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PESQUISA DE CAMPO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 participantes descreveram o problema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10241280" cy="6400800"/>
            <a:chOff x="0" y="0"/>
            <a:chExt cx="13655040" cy="8534400"/>
          </a:xfrm>
        </p:grpSpPr>
        <p:sp>
          <p:nvSpPr>
            <p:cNvPr name="Freeform 7" id="7" descr="/tmp/un/ppt/media/image14.png"/>
            <p:cNvSpPr/>
            <p:nvPr/>
          </p:nvSpPr>
          <p:spPr>
            <a:xfrm flipH="false" flipV="false" rot="0">
              <a:off x="0" y="0"/>
              <a:ext cx="13655039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0" r="0" b="-11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630400" y="232981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0400" y="315277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perguntas, de 1º a 11 de set. de 2026</a:t>
            </a:r>
          </a:p>
        </p:txBody>
      </p:sp>
      <p:sp>
        <p:nvSpPr>
          <p:cNvPr name="AutoShape 13" id="13"/>
          <p:cNvSpPr/>
          <p:nvPr/>
        </p:nvSpPr>
        <p:spPr>
          <a:xfrm rot="11880">
            <a:off x="11877656" y="420147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4" id="14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90%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30400" y="452437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30400" y="534733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 de 20 participantes</a:t>
            </a:r>
          </a:p>
        </p:txBody>
      </p:sp>
      <p:sp>
        <p:nvSpPr>
          <p:cNvPr name="AutoShape 19" id="19"/>
          <p:cNvSpPr/>
          <p:nvPr/>
        </p:nvSpPr>
        <p:spPr>
          <a:xfrm rot="11880">
            <a:off x="11877656" y="6396038"/>
            <a:ext cx="550547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0" id="20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6576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80%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630400" y="6718935"/>
            <a:ext cx="274320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preferem ocultar o endereço exato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630400" y="7541895"/>
            <a:ext cx="2743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 de 20 participantes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8730615"/>
            <a:ext cx="164592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Canais usados (19 respostas): redes sociais 100%, WhatsApp 73,7%, cartazes 57,9%, vizinhos 42,1%. Amostra por conveniência, recrutada em um grupo de proteção animal no Facebook; os resultados descrevem apenas o grupo consultado.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SISTEMAS SIMILARES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" y="2194560"/>
          <a:ext cx="16408400" cy="7026749"/>
        </p:xfrm>
        <a:graphic>
          <a:graphicData uri="http://schemas.openxmlformats.org/drawingml/2006/table">
            <a:tbl>
              <a:tblPr/>
              <a:tblGrid>
                <a:gridCol w="6745676"/>
                <a:gridCol w="1932545"/>
                <a:gridCol w="1932545"/>
                <a:gridCol w="1932545"/>
                <a:gridCol w="1932545"/>
                <a:gridCol w="1932545"/>
              </a:tblGrid>
              <a:tr h="5754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94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8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</a:t>
                      </a: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93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b="true" sz="2300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 requisitos funcionais centrais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5363528" cy="2140267"/>
            <a:chOff x="0" y="0"/>
            <a:chExt cx="7151370" cy="28536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7755" y="2596515"/>
            <a:ext cx="979170" cy="979170"/>
            <a:chOff x="0" y="0"/>
            <a:chExt cx="1305560" cy="1305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6911" y="2855671"/>
            <a:ext cx="460858" cy="460858"/>
            <a:chOff x="0" y="0"/>
            <a:chExt cx="614477" cy="614477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-8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3172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3172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3172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Cadastro, login, recuperação de senha e perfil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439376" y="2324576"/>
            <a:ext cx="5363528" cy="2140267"/>
            <a:chOff x="0" y="0"/>
            <a:chExt cx="7151370" cy="2853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711315" y="2596515"/>
            <a:ext cx="979170" cy="979170"/>
            <a:chOff x="0" y="0"/>
            <a:chExt cx="1305560" cy="1305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970471" y="2855671"/>
            <a:ext cx="460858" cy="460858"/>
            <a:chOff x="0" y="0"/>
            <a:chExt cx="614477" cy="614477"/>
          </a:xfrm>
        </p:grpSpPr>
        <p:sp>
          <p:nvSpPr>
            <p:cNvPr name="Freeform 22" id="22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-8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528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528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5528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Consultar, publicar e atualizar animais perdidos ou encontrados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62936" y="2324576"/>
            <a:ext cx="5363528" cy="2140267"/>
            <a:chOff x="0" y="0"/>
            <a:chExt cx="7151370" cy="28536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334875" y="2596515"/>
            <a:ext cx="979170" cy="979170"/>
            <a:chOff x="0" y="0"/>
            <a:chExt cx="1305560" cy="1305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594031" y="2855671"/>
            <a:ext cx="460858" cy="460858"/>
            <a:chOff x="0" y="0"/>
            <a:chExt cx="614477" cy="614477"/>
          </a:xfrm>
        </p:grpSpPr>
        <p:sp>
          <p:nvSpPr>
            <p:cNvPr name="Freeform 31" id="3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8" b="-8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578840" y="248031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78840" y="296989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78840" y="338137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Mapa, filtros por espécie e distância, rota até o local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15816" y="4656296"/>
            <a:ext cx="5363528" cy="2140267"/>
            <a:chOff x="0" y="0"/>
            <a:chExt cx="7151370" cy="2853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87755" y="4928235"/>
            <a:ext cx="979170" cy="979170"/>
            <a:chOff x="0" y="0"/>
            <a:chExt cx="1305560" cy="1305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346911" y="5187391"/>
            <a:ext cx="460858" cy="460858"/>
            <a:chOff x="0" y="0"/>
            <a:chExt cx="614477" cy="614477"/>
          </a:xfrm>
        </p:grpSpPr>
        <p:sp>
          <p:nvSpPr>
            <p:cNvPr name="Freeform 40" id="40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8" b="-8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233172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172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3172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Relatos com local, horário e foto, vinculados à publicação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39376" y="4656296"/>
            <a:ext cx="5363528" cy="2140267"/>
            <a:chOff x="0" y="0"/>
            <a:chExt cx="7151370" cy="28536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6711315" y="4928235"/>
            <a:ext cx="979170" cy="979170"/>
            <a:chOff x="0" y="0"/>
            <a:chExt cx="1305560" cy="1305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970471" y="5187391"/>
            <a:ext cx="460858" cy="460858"/>
            <a:chOff x="0" y="0"/>
            <a:chExt cx="614477" cy="61447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8" b="-8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795528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95528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5528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 e notificações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062936" y="4656296"/>
            <a:ext cx="5363528" cy="2140267"/>
            <a:chOff x="0" y="0"/>
            <a:chExt cx="7151370" cy="28536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51370" cy="2853690"/>
            </a:xfrm>
            <a:custGeom>
              <a:avLst/>
              <a:gdLst/>
              <a:ahLst/>
              <a:cxnLst/>
              <a:rect r="r" b="b" t="t" l="l"/>
              <a:pathLst>
                <a:path h="2853690" w="71513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30390" y="0"/>
                  </a:lnTo>
                  <a:cubicBezTo>
                    <a:pt x="7052437" y="0"/>
                    <a:pt x="7151370" y="98933"/>
                    <a:pt x="7151370" y="220980"/>
                  </a:cubicBezTo>
                  <a:lnTo>
                    <a:pt x="7151370" y="2632710"/>
                  </a:lnTo>
                  <a:cubicBezTo>
                    <a:pt x="7151370" y="2754757"/>
                    <a:pt x="7052437" y="2853690"/>
                    <a:pt x="6930390" y="2853690"/>
                  </a:cubicBezTo>
                  <a:lnTo>
                    <a:pt x="220980" y="2853690"/>
                  </a:lnTo>
                  <a:cubicBezTo>
                    <a:pt x="98933" y="2853690"/>
                    <a:pt x="0" y="2754757"/>
                    <a:pt x="0" y="263271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DE5D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2334875" y="4928235"/>
            <a:ext cx="979170" cy="979170"/>
            <a:chOff x="0" y="0"/>
            <a:chExt cx="1305560" cy="1305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305560" cy="1305560"/>
            </a:xfrm>
            <a:custGeom>
              <a:avLst/>
              <a:gdLst/>
              <a:ahLst/>
              <a:cxnLst/>
              <a:rect r="r" b="b" t="t" l="l"/>
              <a:pathLst>
                <a:path h="1305560" w="1305560">
                  <a:moveTo>
                    <a:pt x="0" y="652780"/>
                  </a:moveTo>
                  <a:cubicBezTo>
                    <a:pt x="0" y="292227"/>
                    <a:pt x="292227" y="0"/>
                    <a:pt x="652780" y="0"/>
                  </a:cubicBezTo>
                  <a:cubicBezTo>
                    <a:pt x="1013333" y="0"/>
                    <a:pt x="1305560" y="292227"/>
                    <a:pt x="1305560" y="652780"/>
                  </a:cubicBezTo>
                  <a:cubicBezTo>
                    <a:pt x="1305560" y="1013333"/>
                    <a:pt x="1013333" y="1305560"/>
                    <a:pt x="652780" y="1305560"/>
                  </a:cubicBezTo>
                  <a:cubicBezTo>
                    <a:pt x="292227" y="1305560"/>
                    <a:pt x="0" y="1013333"/>
                    <a:pt x="0" y="65278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2594031" y="5187391"/>
            <a:ext cx="460858" cy="460858"/>
            <a:chOff x="0" y="0"/>
            <a:chExt cx="614477" cy="614477"/>
          </a:xfrm>
        </p:grpSpPr>
        <p:sp>
          <p:nvSpPr>
            <p:cNvPr name="Freeform 58" id="58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8" b="-8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3578840" y="4812030"/>
            <a:ext cx="370332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78840" y="5301615"/>
            <a:ext cx="3703320" cy="4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578840" y="5713095"/>
            <a:ext cx="37033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Denúncia de conteúdo e análise pelo administrador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15816" y="7125176"/>
            <a:ext cx="5363528" cy="2208848"/>
            <a:chOff x="0" y="0"/>
            <a:chExt cx="7151370" cy="29451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116586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de divulgação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Formatos A4, 9:16 e 1:1; o A4 leva um QR code para a publicação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6439376" y="7125176"/>
            <a:ext cx="5363528" cy="2208848"/>
            <a:chOff x="0" y="0"/>
            <a:chExt cx="7151370" cy="294513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678942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78942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Ativa por 30 dias, aviso 3 dias antes e mais 30 dias de carência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062936" y="7125176"/>
            <a:ext cx="5363528" cy="2208848"/>
            <a:chOff x="0" y="0"/>
            <a:chExt cx="7151370" cy="294513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51370" cy="2945130"/>
            </a:xfrm>
            <a:custGeom>
              <a:avLst/>
              <a:gdLst/>
              <a:ahLst/>
              <a:cxnLst/>
              <a:rect r="r" b="b" t="t" l="l"/>
              <a:pathLst>
                <a:path h="2945130" w="715137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6930517" y="0"/>
                  </a:lnTo>
                  <a:cubicBezTo>
                    <a:pt x="7052564" y="0"/>
                    <a:pt x="7151370" y="98933"/>
                    <a:pt x="7151370" y="220853"/>
                  </a:cubicBezTo>
                  <a:lnTo>
                    <a:pt x="7151370" y="2724277"/>
                  </a:lnTo>
                  <a:cubicBezTo>
                    <a:pt x="7151370" y="2846324"/>
                    <a:pt x="7052437" y="2945130"/>
                    <a:pt x="6930517" y="2945130"/>
                  </a:cubicBezTo>
                  <a:lnTo>
                    <a:pt x="220853" y="2945130"/>
                  </a:lnTo>
                  <a:cubicBezTo>
                    <a:pt x="98933" y="2945130"/>
                    <a:pt x="0" y="2846197"/>
                    <a:pt x="0" y="2724277"/>
                  </a:cubicBezTo>
                  <a:close/>
                </a:path>
              </a:pathLst>
            </a:custGeom>
            <a:solidFill>
              <a:srgbClr val="F3E6DA"/>
            </a:solidFill>
            <a:ln w="14288" cap="sq">
              <a:solidFill>
                <a:srgbClr val="F3E6DA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12412980" y="729043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412980" y="7898130"/>
            <a:ext cx="466344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pares perdido/encontrado, sem confirmar automaticamente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4400" y="473964"/>
            <a:ext cx="45720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93156"/>
            <a:ext cx="8175307" cy="2894648"/>
            <a:chOff x="0" y="0"/>
            <a:chExt cx="10900410" cy="3859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24915" y="2870835"/>
            <a:ext cx="1253490" cy="1253490"/>
            <a:chOff x="0" y="0"/>
            <a:chExt cx="1671320" cy="1671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55394" y="3201314"/>
            <a:ext cx="592531" cy="592531"/>
            <a:chOff x="0" y="0"/>
            <a:chExt cx="790042" cy="790042"/>
          </a:xfrm>
        </p:grpSpPr>
        <p:sp>
          <p:nvSpPr>
            <p:cNvPr name="Freeform 13" id="1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88036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036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1156" y="2393156"/>
            <a:ext cx="8175307" cy="2894648"/>
            <a:chOff x="0" y="0"/>
            <a:chExt cx="10900410" cy="38595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60255" y="2870835"/>
            <a:ext cx="1253490" cy="1253490"/>
            <a:chOff x="0" y="0"/>
            <a:chExt cx="1671320" cy="1671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90734" y="3201314"/>
            <a:ext cx="592531" cy="592531"/>
            <a:chOff x="0" y="0"/>
            <a:chExt cx="790042" cy="790042"/>
          </a:xfrm>
        </p:grpSpPr>
        <p:sp>
          <p:nvSpPr>
            <p:cNvPr name="Freeform 21" id="2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315700" y="274510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15700" y="352806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(16 de 20 preferiram ocultar o exato).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5816" y="5547836"/>
            <a:ext cx="8175307" cy="2894648"/>
            <a:chOff x="0" y="0"/>
            <a:chExt cx="10900410" cy="3859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3C5D4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24915" y="6025515"/>
            <a:ext cx="1253490" cy="1253490"/>
            <a:chOff x="0" y="0"/>
            <a:chExt cx="1671320" cy="16713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55394" y="6355994"/>
            <a:ext cx="592531" cy="592531"/>
            <a:chOff x="0" y="0"/>
            <a:chExt cx="790042" cy="790042"/>
          </a:xfrm>
        </p:grpSpPr>
        <p:sp>
          <p:nvSpPr>
            <p:cNvPr name="Freeform 29" id="2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88036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8036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251156" y="5547836"/>
            <a:ext cx="8175307" cy="2894648"/>
            <a:chOff x="0" y="0"/>
            <a:chExt cx="10900410" cy="38595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679938" y="0"/>
                  </a:lnTo>
                  <a:cubicBezTo>
                    <a:pt x="10801731" y="0"/>
                    <a:pt x="10900410" y="98679"/>
                    <a:pt x="10900410" y="220472"/>
                  </a:cubicBezTo>
                  <a:lnTo>
                    <a:pt x="10900410" y="3639058"/>
                  </a:lnTo>
                  <a:cubicBezTo>
                    <a:pt x="10900410" y="3760851"/>
                    <a:pt x="10801731" y="3859530"/>
                    <a:pt x="10679938" y="3859530"/>
                  </a:cubicBezTo>
                  <a:lnTo>
                    <a:pt x="220472" y="3859530"/>
                  </a:lnTo>
                  <a:cubicBezTo>
                    <a:pt x="98679" y="3859530"/>
                    <a:pt x="0" y="3760851"/>
                    <a:pt x="0" y="363905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60255" y="6025515"/>
            <a:ext cx="1253490" cy="1253490"/>
            <a:chOff x="0" y="0"/>
            <a:chExt cx="1671320" cy="1671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1320" cy="1671320"/>
            </a:xfrm>
            <a:custGeom>
              <a:avLst/>
              <a:gdLst/>
              <a:ahLst/>
              <a:cxnLst/>
              <a:rect r="r" b="b" t="t" l="l"/>
              <a:pathLst>
                <a:path h="1671320" w="1671320">
                  <a:moveTo>
                    <a:pt x="0" y="835660"/>
                  </a:moveTo>
                  <a:cubicBezTo>
                    <a:pt x="0" y="374142"/>
                    <a:pt x="374142" y="0"/>
                    <a:pt x="835660" y="0"/>
                  </a:cubicBezTo>
                  <a:cubicBezTo>
                    <a:pt x="1297178" y="0"/>
                    <a:pt x="1671320" y="374142"/>
                    <a:pt x="1671320" y="835660"/>
                  </a:cubicBezTo>
                  <a:cubicBezTo>
                    <a:pt x="1671320" y="1297178"/>
                    <a:pt x="1297178" y="1671320"/>
                    <a:pt x="835660" y="1671320"/>
                  </a:cubicBezTo>
                  <a:cubicBezTo>
                    <a:pt x="374142" y="1671320"/>
                    <a:pt x="0" y="1297178"/>
                    <a:pt x="0" y="835660"/>
                  </a:cubicBezTo>
                  <a:close/>
                </a:path>
              </a:pathLst>
            </a:custGeom>
            <a:solidFill>
              <a:srgbClr val="2E5634"/>
            </a:solidFill>
            <a:ln w="19050" cap="sq">
              <a:solidFill>
                <a:srgbClr val="2E5634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90734" y="6355994"/>
            <a:ext cx="592531" cy="592531"/>
            <a:chOff x="0" y="0"/>
            <a:chExt cx="790042" cy="790042"/>
          </a:xfrm>
        </p:grpSpPr>
        <p:sp>
          <p:nvSpPr>
            <p:cNvPr name="Freeform 37" id="3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315700" y="5899785"/>
            <a:ext cx="576072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15700" y="6682740"/>
            <a:ext cx="5760720" cy="161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8730615"/>
            <a:ext cx="1659636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NÃO FUNCIONAIS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FUNCIONAIS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6" id="6"/>
          <p:cNvSpPr/>
          <p:nvPr/>
        </p:nvSpPr>
        <p:spPr>
          <a:xfrm rot="5280">
            <a:off x="901694" y="2976181"/>
            <a:ext cx="164846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901703" y="2821943"/>
            <a:ext cx="318011" cy="318011"/>
            <a:chOff x="0" y="0"/>
            <a:chExt cx="424015" cy="4240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1440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07943" y="2821943"/>
            <a:ext cx="318011" cy="318011"/>
            <a:chOff x="0" y="0"/>
            <a:chExt cx="424015" cy="4240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D4AC0D"/>
            </a:solidFill>
            <a:ln w="25400" cap="sq">
              <a:solidFill>
                <a:srgbClr val="D4AC0D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2064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2064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4183" y="2821943"/>
            <a:ext cx="318011" cy="318011"/>
            <a:chOff x="0" y="0"/>
            <a:chExt cx="424015" cy="4240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32688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2688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688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20423" y="2821943"/>
            <a:ext cx="318011" cy="318011"/>
            <a:chOff x="0" y="0"/>
            <a:chExt cx="424015" cy="4240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9B2C2C"/>
            </a:solidFill>
            <a:ln w="25400" cap="sq">
              <a:solidFill>
                <a:srgbClr val="9B2C2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120" y="3710940"/>
            <a:ext cx="38404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33120" y="4196715"/>
            <a:ext cx="384048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3120" y="5164455"/>
            <a:ext cx="374904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rotina de limpeza pode excluir a publicação e suas fotos.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1703" y="7174487"/>
            <a:ext cx="281435" cy="281435"/>
            <a:chOff x="0" y="0"/>
            <a:chExt cx="375247" cy="37524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E67E22"/>
            </a:solidFill>
            <a:ln w="25400" cap="sq">
              <a:solidFill>
                <a:srgbClr val="E67E22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9961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9961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Publicação do tutor que procura o animal.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79543" y="7174487"/>
            <a:ext cx="281435" cy="281435"/>
            <a:chOff x="0" y="0"/>
            <a:chExt cx="375247" cy="37524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16A34A"/>
            </a:solidFill>
            <a:ln w="25400" cap="sq">
              <a:solidFill>
                <a:srgbClr val="16A34A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07745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7745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Anúncio de quem localizou ou viu o animal.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57383" y="7174487"/>
            <a:ext cx="281435" cy="281435"/>
            <a:chOff x="0" y="0"/>
            <a:chExt cx="375247" cy="3752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75285" cy="375285"/>
            </a:xfrm>
            <a:custGeom>
              <a:avLst/>
              <a:gdLst/>
              <a:ahLst/>
              <a:cxnLst/>
              <a:rect r="r" b="b" t="t" l="l"/>
              <a:pathLst>
                <a:path h="375285" w="375285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cubicBezTo>
                    <a:pt x="291211" y="0"/>
                    <a:pt x="375285" y="83947"/>
                    <a:pt x="375285" y="187579"/>
                  </a:cubicBezTo>
                  <a:cubicBezTo>
                    <a:pt x="375285" y="291211"/>
                    <a:pt x="291211" y="375285"/>
                    <a:pt x="187579" y="375285"/>
                  </a:cubicBezTo>
                  <a:cubicBezTo>
                    <a:pt x="83947" y="375285"/>
                    <a:pt x="0" y="291211"/>
                    <a:pt x="0" y="187579"/>
                  </a:cubicBezTo>
                  <a:close/>
                </a:path>
              </a:pathLst>
            </a:custGeom>
            <a:solidFill>
              <a:srgbClr val="2E5634"/>
            </a:solidFill>
            <a:ln w="25400" cap="sq">
              <a:solidFill>
                <a:srgbClr val="2E563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55296" y="6976491"/>
            <a:ext cx="4572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5296" y="7541895"/>
            <a:ext cx="47548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 quando o animal volta ao tutor; até lá a publicação segue ativa.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4400" y="891349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 atual: a limpeza roda ao carregar o mural e considera só as publicações do usuário autenticado. A limpeza global no backend é trabalho futuro.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194560"/>
            <a:ext cx="8595360" cy="7004304"/>
            <a:chOff x="0" y="0"/>
            <a:chExt cx="11460480" cy="9339072"/>
          </a:xfrm>
        </p:grpSpPr>
        <p:sp>
          <p:nvSpPr>
            <p:cNvPr name="Freeform 7" id="7" descr="/tmp/un/ppt/media/image47.png"/>
            <p:cNvSpPr/>
            <p:nvPr/>
          </p:nvSpPr>
          <p:spPr>
            <a:xfrm flipH="false" flipV="false" rot="0">
              <a:off x="0" y="0"/>
              <a:ext cx="11460480" cy="9339072"/>
            </a:xfrm>
            <a:custGeom>
              <a:avLst/>
              <a:gdLst/>
              <a:ahLst/>
              <a:cxnLst/>
              <a:rect r="r" b="b" t="t" l="l"/>
              <a:pathLst>
                <a:path h="933907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9339072"/>
                  </a:lnTo>
                  <a:lnTo>
                    <a:pt x="0" y="9339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9" r="0" b="-29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698480" y="2185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8480" y="2695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8480" y="40138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8480" y="45243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animal, registra avistamento, troca mensagens, recebe notificações e sugestões, gera cartaz, denuncia e gerencia o perfil.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8480" y="6757035"/>
            <a:ext cx="667512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8480" y="7267575"/>
            <a:ext cx="6675120" cy="224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98480" y="8273415"/>
            <a:ext cx="66751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5B6B5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«include»: cadastrar publicação e registrar avistamento sempre incluem selecionar a localização no mapa. Especificação textual no Apêndice 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3393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27416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autenticação, perfil e preferências de notificação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52806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93039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perdido ou encontrado: categoria, espécie, porte, local, situação e ciclo de vida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71678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11911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vinculado à publicação: local, data e hora, descrição e foto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90550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FotoPublicacao e Notificacao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630783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Imagens da publicação; avisos de correspondência e atualizações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709422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49655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por publicação, sem expor o telefone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8282940"/>
            <a:ext cx="603504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Devolucao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685276"/>
            <a:ext cx="603504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de conteúdo; pedido de devolução com comprovante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21040" y="640080"/>
            <a:ext cx="8961120" cy="8961120"/>
            <a:chOff x="0" y="0"/>
            <a:chExt cx="11948160" cy="11948160"/>
          </a:xfrm>
        </p:grpSpPr>
        <p:sp>
          <p:nvSpPr>
            <p:cNvPr name="Freeform 17" id="17" descr="/tmp/un/ppt/media/image51.png"/>
            <p:cNvSpPr/>
            <p:nvPr/>
          </p:nvSpPr>
          <p:spPr>
            <a:xfrm flipH="false" flipV="false" rot="0">
              <a:off x="0" y="0"/>
              <a:ext cx="11948160" cy="11948160"/>
            </a:xfrm>
            <a:custGeom>
              <a:avLst/>
              <a:gdLst/>
              <a:ahLst/>
              <a:cxnLst/>
              <a:rect r="r" b="b" t="t" l="l"/>
              <a:pathLst>
                <a:path h="1194816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948160"/>
                  </a:lnTo>
                  <a:lnTo>
                    <a:pt x="0" y="1194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0" t="0" r="-16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741676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7" id="7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9" t="0" r="-99" b="-1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11" id="11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15" id="15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 rot="3960">
            <a:off x="904865" y="3963734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914400" y="4625340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59541" y="4169664"/>
            <a:ext cx="768096" cy="768096"/>
            <a:chOff x="0" y="0"/>
            <a:chExt cx="1024128" cy="1024128"/>
          </a:xfrm>
        </p:grpSpPr>
        <p:sp>
          <p:nvSpPr>
            <p:cNvPr name="Freeform 19" id="19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43205" y="4169664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62" r="0" b="-156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26869" y="4169664"/>
            <a:ext cx="768096" cy="768096"/>
            <a:chOff x="0" y="0"/>
            <a:chExt cx="1024128" cy="1024128"/>
          </a:xfrm>
        </p:grpSpPr>
        <p:sp>
          <p:nvSpPr>
            <p:cNvPr name="Freeform 23" id="23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10533" y="4169664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094197" y="4169664"/>
            <a:ext cx="768096" cy="768096"/>
            <a:chOff x="0" y="0"/>
            <a:chExt cx="1024128" cy="1024128"/>
          </a:xfrm>
        </p:grpSpPr>
        <p:sp>
          <p:nvSpPr>
            <p:cNvPr name="Freeform 27" id="27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AutoShape 28" id="28"/>
          <p:cNvSpPr/>
          <p:nvPr/>
        </p:nvSpPr>
        <p:spPr>
          <a:xfrm rot="3960">
            <a:off x="904865" y="5847397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9" id="29"/>
          <p:cNvSpPr txBox="true"/>
          <p:nvPr/>
        </p:nvSpPr>
        <p:spPr>
          <a:xfrm rot="0">
            <a:off x="914400" y="6509004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cadastro e recuperação de senha e avisos de avistamento.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31" id="31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3960">
            <a:off x="904865" y="7731062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35" id="35"/>
          <p:cNvSpPr txBox="true"/>
          <p:nvPr/>
        </p:nvSpPr>
        <p:spPr>
          <a:xfrm rot="0">
            <a:off x="914400" y="8392668"/>
            <a:ext cx="457200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Ferramentas de apoio; IA usada como auxiliar de programação e de conteúdo.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28816" y="7936992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412480" y="7936992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96144" y="7936992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179808" y="7936992"/>
            <a:ext cx="768096" cy="768096"/>
            <a:chOff x="0" y="0"/>
            <a:chExt cx="1024128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63472" y="7936992"/>
            <a:ext cx="768096" cy="768096"/>
            <a:chOff x="0" y="0"/>
            <a:chExt cx="1024128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-997" t="-1995" r="-997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947136" y="7936992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TECNOLOGIAS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4400" y="2175510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98464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 0.81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882128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 SDK 54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65792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49456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533120" y="3107436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4059174"/>
            <a:ext cx="457200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29189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12853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796517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80181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563845" y="4991100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4400" y="5942838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998464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882128" y="6874764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4400" y="7826502"/>
            <a:ext cx="45720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998464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28" y="8758428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65792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49456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8758428"/>
            <a:ext cx="18288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416784" y="8758428"/>
            <a:ext cx="1865376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 / Copilot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99" t="0" r="-99" b="-198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6053328" y="4975860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5809211" y="2359152"/>
            <a:ext cx="1080521" cy="768096"/>
            <a:chOff x="0" y="0"/>
            <a:chExt cx="1440695" cy="102412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40695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95">
                  <a:moveTo>
                    <a:pt x="0" y="0"/>
                  </a:moveTo>
                  <a:lnTo>
                    <a:pt x="1440695" y="0"/>
                  </a:lnTo>
                  <a:lnTo>
                    <a:pt x="1440695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56044" t="0" r="-64438" b="-10896"/>
              </a:stretch>
            </a:blip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5345918" y="3107436"/>
            <a:ext cx="18288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ARQUITETURA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4875" y="2185035"/>
            <a:ext cx="5871210" cy="6511290"/>
            <a:chOff x="0" y="0"/>
            <a:chExt cx="7828280" cy="8681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2828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828280">
                  <a:moveTo>
                    <a:pt x="0" y="0"/>
                  </a:moveTo>
                  <a:lnTo>
                    <a:pt x="7828280" y="0"/>
                  </a:lnTo>
                  <a:lnTo>
                    <a:pt x="782828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88720" y="2321814"/>
            <a:ext cx="530352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45755" y="2185035"/>
            <a:ext cx="5322570" cy="6511290"/>
            <a:chOff x="0" y="0"/>
            <a:chExt cx="7096760" cy="8681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6760" cy="8681720"/>
            </a:xfrm>
            <a:custGeom>
              <a:avLst/>
              <a:gdLst/>
              <a:ahLst/>
              <a:cxnLst/>
              <a:rect r="r" b="b" t="t" l="l"/>
              <a:pathLst>
                <a:path h="8681720" w="7096760">
                  <a:moveTo>
                    <a:pt x="0" y="0"/>
                  </a:moveTo>
                  <a:lnTo>
                    <a:pt x="7096760" y="0"/>
                  </a:lnTo>
                  <a:lnTo>
                    <a:pt x="709676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229600" y="2321814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7995" y="2185035"/>
            <a:ext cx="2945130" cy="6511290"/>
            <a:chOff x="0" y="0"/>
            <a:chExt cx="3926840" cy="8681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26840" cy="8681720"/>
            </a:xfrm>
            <a:custGeom>
              <a:avLst/>
              <a:gdLst/>
              <a:ahLst/>
              <a:cxnLst/>
              <a:rect r="r" b="b" t="t" l="l"/>
              <a:pathLst>
                <a:path h="8681720" w="3926840">
                  <a:moveTo>
                    <a:pt x="0" y="0"/>
                  </a:moveTo>
                  <a:lnTo>
                    <a:pt x="3926840" y="0"/>
                  </a:lnTo>
                  <a:lnTo>
                    <a:pt x="3926840" y="8681720"/>
                  </a:lnTo>
                  <a:lnTo>
                    <a:pt x="0" y="868172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721840" y="2321814"/>
            <a:ext cx="237744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16" id="16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21" id="21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26" id="26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31920" y="6401562"/>
            <a:ext cx="621792" cy="621792"/>
            <a:chOff x="0" y="0"/>
            <a:chExt cx="829056" cy="829056"/>
          </a:xfrm>
        </p:grpSpPr>
        <p:sp>
          <p:nvSpPr>
            <p:cNvPr name="Freeform 31" id="31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00016" y="6401562"/>
            <a:ext cx="1920240" cy="621792"/>
            <a:chOff x="0" y="0"/>
            <a:chExt cx="2560320" cy="8290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" y="7498080"/>
            <a:ext cx="621792" cy="621792"/>
            <a:chOff x="0" y="0"/>
            <a:chExt cx="829056" cy="829056"/>
          </a:xfrm>
        </p:grpSpPr>
        <p:sp>
          <p:nvSpPr>
            <p:cNvPr name="Freeform 36" id="3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7498080"/>
            <a:ext cx="1920240" cy="621792"/>
            <a:chOff x="0" y="0"/>
            <a:chExt cx="2560320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931920" y="3108960"/>
            <a:ext cx="621792" cy="621792"/>
            <a:chOff x="0" y="0"/>
            <a:chExt cx="829056" cy="829056"/>
          </a:xfrm>
        </p:grpSpPr>
        <p:sp>
          <p:nvSpPr>
            <p:cNvPr name="Freeform 41" id="41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00016" y="3108960"/>
            <a:ext cx="1920240" cy="621792"/>
            <a:chOff x="0" y="0"/>
            <a:chExt cx="2560320" cy="8290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46" id="46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51" id="51" descr="/tmp/un/ppt/media/image7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Cartaz com QR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" y="6401562"/>
            <a:ext cx="621792" cy="621792"/>
            <a:chOff x="0" y="0"/>
            <a:chExt cx="829056" cy="829056"/>
          </a:xfrm>
        </p:grpSpPr>
        <p:sp>
          <p:nvSpPr>
            <p:cNvPr name="Freeform 56" id="56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956816" y="6401562"/>
            <a:ext cx="1920240" cy="621792"/>
            <a:chOff x="0" y="0"/>
            <a:chExt cx="2560320" cy="8290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256032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61" id="6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052560" y="306133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052560" y="347319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62" r="0" b="-1562"/>
              </a:stretch>
            </a:blipFill>
          </p:spPr>
        </p:sp>
      </p:grpSp>
      <p:sp>
        <p:nvSpPr>
          <p:cNvPr name="TextBox 66" id="66"/>
          <p:cNvSpPr txBox="true"/>
          <p:nvPr/>
        </p:nvSpPr>
        <p:spPr>
          <a:xfrm rot="0">
            <a:off x="9052560" y="415861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052560" y="457047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69" id="6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9052560" y="525589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052560" y="566775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73" id="7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9052560" y="635317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52560" y="676503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77" id="7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9052560" y="7450455"/>
            <a:ext cx="402336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052560" y="7862316"/>
            <a:ext cx="40233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721840" y="461581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721840" y="502767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721840" y="5852160"/>
            <a:ext cx="731520" cy="731520"/>
            <a:chOff x="0" y="0"/>
            <a:chExt cx="975360" cy="975360"/>
          </a:xfrm>
        </p:grpSpPr>
        <p:sp>
          <p:nvSpPr>
            <p:cNvPr name="Freeform 83" id="8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14721840" y="6627495"/>
            <a:ext cx="25603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721840" y="7039356"/>
            <a:ext cx="256032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86" id="86"/>
          <p:cNvSpPr/>
          <p:nvPr/>
        </p:nvSpPr>
        <p:spPr>
          <a:xfrm rot="165120">
            <a:off x="683198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87" id="87"/>
          <p:cNvSpPr txBox="true"/>
          <p:nvPr/>
        </p:nvSpPr>
        <p:spPr>
          <a:xfrm rot="0">
            <a:off x="667512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88" id="88"/>
          <p:cNvSpPr/>
          <p:nvPr/>
        </p:nvSpPr>
        <p:spPr>
          <a:xfrm rot="165120">
            <a:off x="13324227" y="5293995"/>
            <a:ext cx="1057856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89" id="89"/>
          <p:cNvSpPr txBox="true"/>
          <p:nvPr/>
        </p:nvSpPr>
        <p:spPr>
          <a:xfrm rot="0">
            <a:off x="13167360" y="4625340"/>
            <a:ext cx="1371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087600" y="4005072"/>
            <a:ext cx="731520" cy="731520"/>
            <a:chOff x="0" y="0"/>
            <a:chExt cx="975360" cy="9753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31" t="0" r="-231" b="-8865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087600" y="5687568"/>
            <a:ext cx="329184" cy="329184"/>
            <a:chOff x="0" y="0"/>
            <a:chExt cx="829056" cy="829056"/>
          </a:xfrm>
        </p:grpSpPr>
        <p:sp>
          <p:nvSpPr>
            <p:cNvPr name="Freeform 97" id="97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CORRESPONDÊNCIA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Correspondência: um índice heurístico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55/60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pontos mínimos para sugerir um par / para notificar (até 3 por publicação)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 × Encontrado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Compara espécie, sexo, porte, raça, pelagem, idade e distância (Haversine) e gera um índice de 0 a 100.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0" y="8181975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definidos de forma empírica, sem calibração com casos reais. O índice ordena sugestões: não é probabilidade e não confirma o reencontro; quem decide são os usuários.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4687" y="9700260"/>
            <a:ext cx="2574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aphicFrame>
        <p:nvGraphicFramePr>
          <p:cNvPr id="17" name="Tabela correspondencia"/>
          <p:cNvGraphicFramePr>
            <a:graphicFrameLocks noGrp="1"/>
          </p:cNvGraphicFramePr>
          <p:nvPr/>
        </p:nvGraphicFramePr>
        <p:xfrm>
          <a:off x="6400800" y="1005840"/>
          <a:ext cx="7680960" cy="68580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246888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 (MS) Bold"/>
                        </a:rPr>
                        <a:t>Critério</a:t>
                      </a:r>
                    </a:p>
                  </a:txBody>
                  <a:tcPr marL="137160" marR="137160" anchor="ctr">
                    <a:solidFill>
                      <a:srgbClr val="2E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 (MS) Bold"/>
                        </a:rPr>
                        <a:t>Regra (exemplos)</a:t>
                      </a:r>
                    </a:p>
                  </a:txBody>
                  <a:tcPr marL="137160" marR="137160" anchor="ctr">
                    <a:solidFill>
                      <a:srgbClr val="2E56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 (MS) Bold"/>
                        </a:rPr>
                        <a:t>Pontos</a:t>
                      </a:r>
                    </a:p>
                  </a:txBody>
                  <a:tcPr marL="137160" marR="137160" anchor="ctr">
                    <a:solidFill>
                      <a:srgbClr val="2E563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Espécie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igual  ·  incompatível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+20  ·  descarta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Sexo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igual  ·  oposto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+10  ·  descarta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Porte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igual  ·  pequeno × grande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+15  ·  descarta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Raça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igual  ·  duas raças diferentes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+25  ·  −20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Pelagem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2+ cores em comum  ·  nenhuma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+20  ·  −25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Idade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igual  ·  filhote × idoso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+5  ·  −15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Distância (GPS)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até 1,2 km  ·  acima de 20 km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+15  ·  −15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B2A1F"/>
                          </a:solidFill>
                          <a:latin typeface="Calibri (MS) Bold"/>
                        </a:rPr>
                        <a:t>Sem GPS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2A1F"/>
                          </a:solidFill>
                          <a:latin typeface="Calibri (MS)"/>
                        </a:rPr>
                        <a:t>mesmo bairro  ·  outra cidade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B1734A"/>
                          </a:solidFill>
                          <a:latin typeface="Calibri (MS) Bold"/>
                        </a:rPr>
                        <a:t>+12  ·  −20</a:t>
                      </a:r>
                    </a:p>
                  </a:txBody>
                  <a:tcPr marL="137160" marR="137160" anchor="ctr">
                    <a:solidFill>
                      <a:srgbClr val="F3ECE3"/>
                    </a:solidFill>
                  </a:tcPr>
                </a:tc>
              </a:tr>
            </a:tbl>
          </a:graphicData>
        </a:graphic>
      </p:graphicFrame>
      <p:pic>
        <p:nvPicPr>
          <p:cNvPr id="18" name="Tela correspondencias" descr="tela-correspondencia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0944" y="1005840"/>
            <a:ext cx="2962656" cy="658368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7" id="7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83110" y="7977588"/>
            <a:ext cx="391553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 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8648700"/>
            <a:ext cx="64008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localização. Ícone gerado com apoio do ChatGPT e refinado no Figma.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69449" y="6967093"/>
            <a:ext cx="2942863" cy="9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b="true" sz="5554" spc="54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4" spc="54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97115" y="2324576"/>
            <a:ext cx="3218659" cy="2249996"/>
            <a:chOff x="0" y="0"/>
            <a:chExt cx="4291546" cy="2999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40711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0711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802464" y="2324576"/>
            <a:ext cx="3218659" cy="2249996"/>
            <a:chOff x="0" y="0"/>
            <a:chExt cx="4291546" cy="29999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81246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1246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207804" y="2324576"/>
            <a:ext cx="3218659" cy="2249996"/>
            <a:chOff x="0" y="0"/>
            <a:chExt cx="4291546" cy="2999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E67E22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217806" y="4647428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17806" y="5086950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#E67E22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97115" y="5849998"/>
            <a:ext cx="3218659" cy="2249996"/>
            <a:chOff x="0" y="0"/>
            <a:chExt cx="4291546" cy="2999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40711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711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#16A34A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802464" y="5849998"/>
            <a:ext cx="3218659" cy="2249996"/>
            <a:chOff x="0" y="0"/>
            <a:chExt cx="4291546" cy="29999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81246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1246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#BE185D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207804" y="5849998"/>
            <a:ext cx="3218659" cy="2249996"/>
            <a:chOff x="0" y="0"/>
            <a:chExt cx="4291546" cy="29999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1457" cy="2999994"/>
            </a:xfrm>
            <a:custGeom>
              <a:avLst/>
              <a:gdLst/>
              <a:ahLst/>
              <a:cxnLst/>
              <a:rect r="r" b="b" t="t" l="l"/>
              <a:pathLst>
                <a:path h="2999994" w="4291457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4071493" y="0"/>
                  </a:lnTo>
                  <a:cubicBezTo>
                    <a:pt x="4193032" y="0"/>
                    <a:pt x="4291457" y="98552"/>
                    <a:pt x="4291457" y="219964"/>
                  </a:cubicBezTo>
                  <a:lnTo>
                    <a:pt x="4291457" y="2780030"/>
                  </a:lnTo>
                  <a:cubicBezTo>
                    <a:pt x="4291457" y="2901569"/>
                    <a:pt x="4192905" y="2999994"/>
                    <a:pt x="4071493" y="2999994"/>
                  </a:cubicBezTo>
                  <a:lnTo>
                    <a:pt x="219964" y="2999994"/>
                  </a:lnTo>
                  <a:cubicBezTo>
                    <a:pt x="98552" y="2999994"/>
                    <a:pt x="0" y="2901569"/>
                    <a:pt x="0" y="2780030"/>
                  </a:cubicBezTo>
                  <a:close/>
                </a:path>
              </a:pathLst>
            </a:custGeom>
            <a:solidFill>
              <a:srgbClr val="D4AC0D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4217806" y="8172850"/>
            <a:ext cx="3218659" cy="52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17806" y="8612372"/>
            <a:ext cx="3218659" cy="47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#D4AC0D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DESIGN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 aplicativo em quatro telas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45920" y="2103120"/>
            <a:ext cx="3163824" cy="7040880"/>
            <a:chOff x="0" y="0"/>
            <a:chExt cx="4218432" cy="9387840"/>
          </a:xfrm>
        </p:grpSpPr>
        <p:sp>
          <p:nvSpPr>
            <p:cNvPr name="Freeform 7" id="7" descr="/tmp/un/ppt/media/image38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" t="0" r="-7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8016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interativo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69280" y="2103120"/>
            <a:ext cx="3163824" cy="7040880"/>
            <a:chOff x="0" y="0"/>
            <a:chExt cx="4218432" cy="9387840"/>
          </a:xfrm>
        </p:grpSpPr>
        <p:sp>
          <p:nvSpPr>
            <p:cNvPr name="Freeform 10" id="10" descr="/tmp/un/ppt/media/image39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2" t="0" r="-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30352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 animal perdido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92640" y="2103120"/>
            <a:ext cx="3163824" cy="7040880"/>
            <a:chOff x="0" y="0"/>
            <a:chExt cx="4218432" cy="9387840"/>
          </a:xfrm>
        </p:grpSpPr>
        <p:sp>
          <p:nvSpPr>
            <p:cNvPr name="Freeform 13" id="13" descr="/tmp/un/ppt/media/image40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2" t="0" r="-72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2688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Registrar avistamento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716000" y="2103120"/>
            <a:ext cx="3163824" cy="7040880"/>
            <a:chOff x="0" y="0"/>
            <a:chExt cx="4218432" cy="9387840"/>
          </a:xfrm>
        </p:grpSpPr>
        <p:sp>
          <p:nvSpPr>
            <p:cNvPr name="Freeform 16" id="16" descr="/tmp/un/ppt/media/image41.jpeg"/>
            <p:cNvSpPr/>
            <p:nvPr/>
          </p:nvSpPr>
          <p:spPr>
            <a:xfrm flipH="false" flipV="false" rot="0">
              <a:off x="0" y="0"/>
              <a:ext cx="4218432" cy="9387840"/>
            </a:xfrm>
            <a:custGeom>
              <a:avLst/>
              <a:gdLst/>
              <a:ahLst/>
              <a:cxnLst/>
              <a:rect r="r" b="b" t="t" l="l"/>
              <a:pathLst>
                <a:path h="9387840" w="4218432">
                  <a:moveTo>
                    <a:pt x="0" y="0"/>
                  </a:moveTo>
                  <a:lnTo>
                    <a:pt x="4218432" y="0"/>
                  </a:lnTo>
                  <a:lnTo>
                    <a:pt x="4218432" y="9387840"/>
                  </a:lnTo>
                  <a:lnTo>
                    <a:pt x="0" y="938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2" t="0" r="-7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350240" y="9096375"/>
            <a:ext cx="389534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Detalhes da publicação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364743" y="2364743"/>
            <a:ext cx="13558523" cy="6517643"/>
            <a:chOff x="0" y="0"/>
            <a:chExt cx="18078031" cy="86901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078069" cy="8690229"/>
            </a:xfrm>
            <a:custGeom>
              <a:avLst/>
              <a:gdLst/>
              <a:ahLst/>
              <a:cxnLst/>
              <a:rect r="r" b="b" t="t" l="l"/>
              <a:pathLst>
                <a:path h="8690229" w="18078069">
                  <a:moveTo>
                    <a:pt x="0" y="0"/>
                  </a:moveTo>
                  <a:lnTo>
                    <a:pt x="18078069" y="0"/>
                  </a:lnTo>
                  <a:lnTo>
                    <a:pt x="18078069" y="8690229"/>
                  </a:lnTo>
                  <a:lnTo>
                    <a:pt x="0" y="869022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9DFD6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03920" y="4937760"/>
            <a:ext cx="1280160" cy="1280160"/>
            <a:chOff x="0" y="0"/>
            <a:chExt cx="1706880" cy="1706880"/>
          </a:xfrm>
        </p:grpSpPr>
        <p:sp>
          <p:nvSpPr>
            <p:cNvPr name="Freeform 9" id="9" descr="/tmp/un/ppt/media/image44.png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77440" y="7258050"/>
            <a:ext cx="1353312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Vídeo da demonstração (até 1 min 20 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Três formas de examinar o aplicativo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Fluxos percorridos pelo autor de 10 a 25/09/2026 em um Redmi Note 13 (Android 15).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8368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8368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APK examinado no MobSF 4.5.4, em 14/10/2026, sem executar o aplicativo.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73152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252960" y="2459355"/>
            <a:ext cx="18288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2960" y="383095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52960" y="4524375"/>
            <a:ext cx="4937760" cy="151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questionário SUS com perguntas abertas.</a:t>
            </a:r>
          </a:p>
        </p:txBody>
      </p:sp>
      <p:sp>
        <p:nvSpPr>
          <p:cNvPr name="AutoShape 21" id="21"/>
          <p:cNvSpPr/>
          <p:nvPr/>
        </p:nvSpPr>
        <p:spPr>
          <a:xfrm rot="3960">
            <a:off x="904865" y="6578918"/>
            <a:ext cx="16478260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9144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Distribuição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440930"/>
            <a:ext cx="69494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APK baixado de uma landing page no GitHub Pages; convite feito em um grupo do Facebook.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6848475"/>
            <a:ext cx="7315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Cuidados éticos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7440930"/>
            <a:ext cx="71323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Formulários sem identificação; envio como consentimento (Res. CNS 510/2016 e LGPD).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550640" y="9700260"/>
            <a:ext cx="731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9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0" y="2642235"/>
            <a:ext cx="822960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966210"/>
            <a:ext cx="804672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11" id="11"/>
          <p:cNvSpPr/>
          <p:nvPr/>
        </p:nvSpPr>
        <p:spPr>
          <a:xfrm rot="3960">
            <a:off x="904865" y="5481638"/>
            <a:ext cx="1647826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91440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368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8368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52960" y="6025515"/>
            <a:ext cx="5120640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52960" y="6765036"/>
            <a:ext cx="51206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" y="8822055"/>
            <a:ext cx="1645920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47548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TESTES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09" r="0" b="-260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65836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4991100"/>
            <a:ext cx="457200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 (escores de 85 a 100); a partir de 84,1 = grau A+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6564630"/>
            <a:ext cx="47548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85660"/>
            <a:ext cx="457200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 (autorrelato)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11" id="11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9" t="0" r="-29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583680" y="8181975"/>
            <a:ext cx="107899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(2016), média de referência ≈ 68. Limites: 12 voluntários de um grupo no Facebook; conclusão autorrelatada em uma única pergunta; 4 pessoas relataram dúvidas pontuais; o estudo não mede reencontros.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4687" y="9700260"/>
            <a:ext cx="25747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473964"/>
            <a:ext cx="14630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cartaz com QR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avaliado: não prova mais reencontros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pequena e conclusão autorrelatada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Segurança só com análise estática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não calibrados</a:t>
            </a:r>
          </a:p>
        </p:txBody>
      </p:sp>
      <p:sp>
        <p:nvSpPr>
          <p:cNvPr name="AutoShape 10" id="10"/>
          <p:cNvSpPr/>
          <p:nvPr/>
        </p:nvSpPr>
        <p:spPr>
          <a:xfrm rot="5390220">
            <a:off x="290740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12252960" y="2175510"/>
            <a:ext cx="5120640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2960" y="3234690"/>
            <a:ext cx="5120640" cy="590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Calibrar a correspondência com pares revisados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Controles de privacidade no cartaz e no QR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de usabilidade e nova avaliação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Estudo piloto com casos reais</a:t>
            </a:r>
          </a:p>
        </p:txBody>
      </p:sp>
      <p:sp>
        <p:nvSpPr>
          <p:cNvPr name="AutoShape 13" id="13"/>
          <p:cNvSpPr/>
          <p:nvPr/>
        </p:nvSpPr>
        <p:spPr>
          <a:xfrm rot="5390220">
            <a:off x="8576681" y="5618797"/>
            <a:ext cx="6694199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Referências (1/2)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ABNT – ASSOCIAÇÃO BRASILEIRA DE NORMAS TÉCNICAS.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ABNT NBR ISO 9241-11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Ergonomia da interação humano-sistema: Parte 11: Usabilidade: Definições e conceitos. Rio de Janeiro: ABNT, 2021.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ALERTPET.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Aplicativo e rede de alerta para localização de animais perdidos e encontrados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https://app.alertpet.com.br/. Acesso em: 31 ago.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Conselho Nacional de Saúde. Resolução nº 510, de 7 de abril de 2016. Dispõe sobre as normas aplicáveis a pesquisas em Ciências Humanas e Sociais.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Diário Oficial da União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seção 1, Brasília, DF, p. 44–46, 24 maio 2016.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John. SUS: a ‘quick and dirty’ usability scale. In: JORDAN, Patrick W. et al. (ed.).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Usability evaluation in industry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London: Taylor &amp; Francis, 1996. p. 189–194.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EXPO.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 SDK 54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SDK reference. 2026. Disponível em: https://docs.expo.dev/versions/v54.0.0/. Acesso em: 07 out.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FUKS, Hugo et al. Teorias e modelos de colaboração. In: PIMENTEL, Mariano; FUKS, Hugo (org.).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Sistemas colaborativos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Rio de Janeiro: Elsevier, 2011. cap. 2, p. 16–33.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6558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GIL, Antonio Carlos.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Liyan et al. Search methods used to locate missing cats and locations where missing cats are found.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Animals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Basel, v. 8, n. 1, art. 5, p. 1–20, 2018. DOI: https://doi.org/10.3390/ani8010005.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IBGE – INSTITUTO BRASILEIRO DE GEOGRAFIA E ESTATÍSTICA.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Nacional de Saúde 2019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informações sobre domicílios, acesso e utilização dos serviços de saúde. Rio de Janeiro: IBGE, 2020.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ISO – INTERNATIONAL ORGANIZATION FOR STANDARDIZATION.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Systems and software engineering: SQuaRE: Product quality model. Geneva: ISO, 2023.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LAKATOS, Eva Maria; MARCONI, Marina de Andrade.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 científica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8. ed. São Paulo: Atlas, 2021.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https://github.com/MobSF/Mobile-Security-Framework-MobSF. Acesso em: 14 out. 2026.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Referências (2/2)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50640" y="9700260"/>
            <a:ext cx="731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395" r="0" b="-31439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72800" cy="624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2972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NIELSEN, Jakob.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Usability engineering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San Francisco: Morgan Kaufmann, 1994.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PAWBOOST.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power of the PawBoost community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find lost and found pets. 2026. Disponível em: https://www.pawboost.com/. Acesso em: 31 ago.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Roger S.; MAXIM, Bruce R.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 0.81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documentação oficial. 2026. Disponível em: https://reactnative.dev/docs/0.81/getting-started. Acesso em: 07 out.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ROGERS, Yvonne; SHARP, Helen; PREECE, Jennifer.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Design de interação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além da interação humano-computador. 5. ed. Porto Alegre: Bookman, 2023.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Jeff; LEWIS, James R.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practical statistics for user research. 2. ed. Cambridge: Morgan Kaufmann, 2016.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6558" y="2194560"/>
            <a:ext cx="7680960" cy="481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Francisco Carlos M. et al.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Porto Alegre: SBC, 2022. p. 199–208.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JavaScript Client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versão 2.87.3: documentação de referência. 2026. Disponível em: https://supabase.com/docs. Acesso em: 07 out.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TEIXEIRA, Fabricio.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é o SUS (System Usability Scale) e como usá-lo em seu site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UX Collective Brasil, 4 ago. 2015.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Marco Tulio.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princípios e práticas para desenvolvimento de software com produtividade. Belo Horizonte: Edição do Autor, 2023.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VIU MEU PET.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Plataforma nacional de busca, divulgação e localização de animais perdidos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2026. Disponível em: https://www.viumeupet.com.br/. Acesso em: 31 ago. 2026.</a:t>
            </a:r>
          </a:p>
          <a:p>
            <a:pPr algn="l">
              <a:lnSpc>
                <a:spcPts val="2100"/>
              </a:lnSpc>
              <a:spcAft>
                <a:spcPts val="1000"/>
              </a:spcAft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Emily; SLATER, Margaret; LORD, Linda. Frequency of lost dogs and cats in the United States and the methods used to locate them. </a:t>
            </a:r>
            <a:r>
              <a:rPr lang="en-US" sz="18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Animals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Basel, v. 2, n. 2, p. 301–315, 2012.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280160"/>
            <a:ext cx="2743200" cy="2651760"/>
            <a:chOff x="0" y="0"/>
            <a:chExt cx="3657600" cy="3535680"/>
          </a:xfrm>
        </p:grpSpPr>
        <p:sp>
          <p:nvSpPr>
            <p:cNvPr name="Freeform 3" id="3" descr="/tmp/un/ppt/media/image46.png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0" b="-1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93995"/>
            <a:ext cx="146304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800850"/>
            <a:ext cx="146304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980045"/>
            <a:ext cx="146304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639175"/>
            <a:ext cx="1463040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DAHYG26IjrM</dc:identifier>
  <dcterms:modified xsi:type="dcterms:W3CDTF">2011-08-01T06:04:30Z</dcterms:modified>
  <cp:revision>1</cp:revision>
  <dc:title>CURSO SUPERIOR DE TECNOLOGIA EM SISTEMAS PARA INTERNET | 2026</dc:title>
</cp:coreProperties>
</file>