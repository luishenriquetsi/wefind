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Ordem da fala (siga os números da esquerda):</a:t>
            </a:r>
          </a:p>
          <a:p>
            <a:r>
              <a:t>1. Como diferencial, o sistema compara uma publicação de perdido com uma de encontrado.</a:t>
            </a:r>
          </a:p>
          <a:p>
            <a:r>
              <a:t>2. Cada par recebe uma nota de 0 a 100: característica igual soma pontos, diferente tira; espécie, sexo ou porte muito diferente descartam o par.</a:t>
            </a:r>
          </a:p>
          <a:p>
            <a:r>
              <a:t>3. A partir de 55 pontos o par entra na lista de sugestões; a partir de 60, o usuário recebe um aviso.</a:t>
            </a:r>
          </a:p>
          <a:p>
            <a:r>
              <a:t>4. O usuário decide: confirma, se for o animal dele, ou descarta a sugestão. É uma nota de semelhança, não uma probabilidade.</a:t>
            </a:r>
          </a:p>
          <a:p>
            <a:r>
              <a:t>(Não ler a tabela. Se perguntarem dos pesos: definidos de forma empírica, ainda serão calibrados nos testes.)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0000"/>
            <a:ext cx="90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1734A"/>
                </a:solidFill>
                <a:latin typeface="Calibri"/>
              </a:rPr>
              <a:t>0 4   D E S E N V O L V I M E N T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80000"/>
            <a:ext cx="164592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E5634"/>
                </a:solidFill>
                <a:latin typeface="Calibri"/>
              </a:rPr>
              <a:t>O diferencial: comparar uma publicação de perdido com uma de encontrado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420000"/>
            <a:ext cx="8229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WeFIND  |  TCC  |  IFSul Campus Pelotas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0" y="9395460"/>
            <a:ext cx="9144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800" b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50000"/>
            <a:ext cx="576072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1734A"/>
                </a:solidFill>
                <a:latin typeface="Calibri"/>
              </a:rPr>
              <a:t>COMO FUNCIONA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710000"/>
            <a:ext cx="640080" cy="64008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25296" y="3410080"/>
            <a:ext cx="18288" cy="879920"/>
          </a:xfrm>
          <a:prstGeom prst="rect">
            <a:avLst/>
          </a:prstGeom>
          <a:solidFill>
            <a:srgbClr val="D1D9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690000"/>
            <a:ext cx="4892040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5634"/>
                </a:solidFill>
                <a:latin typeface="Calibri"/>
              </a:rPr>
              <a:t>Compara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uma publicação de perdido com uma de encontrado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350000"/>
            <a:ext cx="640080" cy="64008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5050080"/>
            <a:ext cx="18288" cy="879920"/>
          </a:xfrm>
          <a:prstGeom prst="rect">
            <a:avLst/>
          </a:prstGeom>
          <a:solidFill>
            <a:srgbClr val="D1D9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4330000"/>
            <a:ext cx="4892040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5634"/>
                </a:solidFill>
                <a:latin typeface="Calibri"/>
              </a:rPr>
              <a:t>Dá uma nota de 0 a 100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igual soma, diferente tira; espécie, sexo ou porte muito diferente descartam o par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5990000"/>
            <a:ext cx="640080" cy="64008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5296" y="6690080"/>
            <a:ext cx="18288" cy="879920"/>
          </a:xfrm>
          <a:prstGeom prst="rect">
            <a:avLst/>
          </a:prstGeom>
          <a:solidFill>
            <a:srgbClr val="D1D9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970000"/>
            <a:ext cx="4892040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5634"/>
                </a:solidFill>
                <a:latin typeface="Calibri"/>
              </a:rPr>
              <a:t>55 sugere · 60 avisa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55 pts: entra na lista de sugestões · 60 pts: o usuário recebe um aviso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7630000"/>
            <a:ext cx="640080" cy="640080"/>
          </a:xfrm>
          <a:prstGeom prst="ellipse">
            <a:avLst/>
          </a:prstGeom>
          <a:solidFill>
            <a:srgbClr val="2E563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7610000"/>
            <a:ext cx="4892040" cy="1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5634"/>
                </a:solidFill>
                <a:latin typeface="Calibri"/>
              </a:rPr>
              <a:t>O usuário decide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confirma ou descarta: é nota de semelhança, não probabilidade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150000"/>
            <a:ext cx="1024128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1734A"/>
                </a:solidFill>
                <a:latin typeface="Calibri"/>
              </a:rPr>
              <a:t>PONTUAÇÃO POR CRITÉRIO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132320" y="2710000"/>
          <a:ext cx="10241278" cy="630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41017"/>
                <a:gridCol w="3072384"/>
                <a:gridCol w="2765145"/>
                <a:gridCol w="2662732"/>
              </a:tblGrid>
              <a:tr h="7000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anchor="ctr" marL="91440" marR="91440" marT="27432" marB="27432">
                    <a:solidFill>
                      <a:srgbClr val="2E56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Igual</a:t>
                      </a:r>
                    </a:p>
                  </a:txBody>
                  <a:tcPr anchor="ctr" marL="91440" marR="91440" marT="27432" marB="27432">
                    <a:solidFill>
                      <a:srgbClr val="2E56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Parcial ou não informado</a:t>
                      </a:r>
                    </a:p>
                  </a:txBody>
                  <a:tcPr anchor="ctr" marL="91440" marR="91440" marT="27432" marB="27432">
                    <a:solidFill>
                      <a:srgbClr val="2E56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Diferente</a:t>
                      </a:r>
                    </a:p>
                  </a:txBody>
                  <a:tcPr anchor="ctr" marL="91440" marR="91440" marT="27432" marB="27432">
                    <a:solidFill>
                      <a:srgbClr val="2E5634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Espécie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+20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descarta o par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Sexo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descarta o par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Porte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+15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+6 diferente · +5 ausente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descarta (pequeno × grande)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Raça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+25 · +18 se uma contém a outra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+8 ambos SRD · +4 SRD × raça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−20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Pelagem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+20 (2+ cores) · +12 (1 cor)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+4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−25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Idade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−15 (filhote × idoso)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Distância (GPS)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+15 até 1,2 km · +10 até 3,5 · +5 até 8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+2 de 8 a 20 km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−15 acima de 20 km</a:t>
                      </a:r>
                    </a:p>
                  </a:txBody>
                  <a:tcPr anchor="ctr" marL="91440" marR="91440" marT="27432" marB="27432">
                    <a:solidFill>
                      <a:srgbClr val="FFFFFF"/>
                    </a:solidFill>
                  </a:tcPr>
                </a:tc>
              </a:tr>
              <a:tr h="70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E5634"/>
                          </a:solidFill>
                          <a:latin typeface="Calibri"/>
                        </a:rPr>
                        <a:t>Sem GPS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+12 mesmo bairro · +5 mesma cidade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0 sem dados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B1734A"/>
                          </a:solidFill>
                          <a:latin typeface="Calibri"/>
                        </a:rPr>
                        <a:t>−20 cidades diferentes</a:t>
                      </a:r>
                    </a:p>
                  </a:txBody>
                  <a:tcPr anchor="ctr" marL="91440" marR="91440" marT="27432" marB="27432">
                    <a:solidFill>
                      <a:srgbClr val="F3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