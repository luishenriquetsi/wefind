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76" r:id="rId34"/>
    <p:sldId id="258" r:id="rId8"/>
    <p:sldId id="259" r:id="rId9"/>
    <p:sldId id="277" r:id="rId36"/>
    <p:sldId id="260" r:id="rId10"/>
    <p:sldId id="261" r:id="rId11"/>
    <p:sldId id="278" r:id="rId37"/>
    <p:sldId id="262" r:id="rId12"/>
    <p:sldId id="263" r:id="rId13"/>
    <p:sldId id="264" r:id="rId14"/>
    <p:sldId id="265" r:id="rId15"/>
    <p:sldId id="266" r:id="rId16"/>
    <p:sldId id="279" r:id="rId38"/>
    <p:sldId id="267" r:id="rId17"/>
    <p:sldId id="268" r:id="rId18"/>
    <p:sldId id="269" r:id="rId19"/>
    <p:sldId id="280" r:id="rId39"/>
    <p:sldId id="270" r:id="rId20"/>
    <p:sldId id="271" r:id="rId21"/>
    <p:sldId id="272" r:id="rId22"/>
    <p:sldId id="281" r:id="rId40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ooper BT Bold" charset="1" panose="0208080404030B020404"/>
      <p:regular r:id="rId26"/>
    </p:embeddedFont>
    <p:embeddedFont>
      <p:font typeface="Cooper BT Light" charset="1" panose="0208050304030B020404"/>
      <p:regular r:id="rId27"/>
    </p:embeddedFont>
    <p:embeddedFont>
      <p:font typeface="Cambria Bold" charset="1" panose="02040803050406030204"/>
      <p:regular r:id="rId28"/>
    </p:embeddedFont>
    <p:embeddedFont>
      <p:font typeface="Calibri (MS)" charset="1" panose="020F0502020204030204"/>
      <p:regular r:id="rId29"/>
    </p:embeddedFont>
    <p:embeddedFont>
      <p:font typeface="Calibri (MS) Bold" charset="1" panose="020F0702030404030204"/>
      <p:regular r:id="rId30"/>
    </p:embeddedFont>
    <p:embeddedFont>
      <p:font typeface="Calibri (MS) Italics" charset="1" panose="020F05020202040A0204"/>
      <p:regular r:id="rId31"/>
    </p:embeddedFont>
    <p:embeddedFont>
      <p:font typeface="Roboto Bold" charset="1" panose="02000000000000000000"/>
      <p:regular r:id="rId32"/>
    </p:embeddedFont>
    <p:embeddedFont>
      <p:font typeface="Calibri (MS) Light" charset="1" panose="020F030202020403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slide" Target="slides/slide3.xml"/><Relationship Id="rId35" Type="http://schemas.openxmlformats.org/officeDocument/2006/relationships/notesMaster" Target="notesMasters/notesMaster1.xml"/><Relationship Id="rId36" Type="http://schemas.openxmlformats.org/officeDocument/2006/relationships/slide" Target="slides/slide6.xml"/><Relationship Id="rId37" Type="http://schemas.openxmlformats.org/officeDocument/2006/relationships/slide" Target="slides/slide9.xml"/><Relationship Id="rId38" Type="http://schemas.openxmlformats.org/officeDocument/2006/relationships/slide" Target="slides/slide15.xml"/><Relationship Id="rId39" Type="http://schemas.openxmlformats.org/officeDocument/2006/relationships/slide" Target="slides/slide19.xml"/><Relationship Id="rId4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contexto e método (problema, objetivo e processo de desenvolvimento).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pesquisa e diferencial (campo e sistemas similares).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requisitos e modelagem (funcionais, qualidade, ciclo de vida e uml).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arquitetura e design (tecnologias, nuvem e identidade visual).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demonstração e avaliação (vídeo, segurança e usabilidade).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conclusões (entregas, limites e próximos passos).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7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9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3.png"/><Relationship Id="rId4" Type="http://schemas.openxmlformats.org/officeDocument/2006/relationships/image" Target="../media/image41.png"/><Relationship Id="rId5" Type="http://schemas.openxmlformats.org/officeDocument/2006/relationships/image" Target="../media/image25.png"/><Relationship Id="rId6" Type="http://schemas.openxmlformats.org/officeDocument/2006/relationships/image" Target="../media/image5.png"/><Relationship Id="rId7" Type="http://schemas.openxmlformats.org/officeDocument/2006/relationships/image" Target="../media/image42.png"/><Relationship Id="rId8" Type="http://schemas.openxmlformats.org/officeDocument/2006/relationships/image" Target="../media/image6.png"/><Relationship Id="rId9" Type="http://schemas.openxmlformats.org/officeDocument/2006/relationships/image" Target="../media/image43.png"/><Relationship Id="rId10" Type="http://schemas.openxmlformats.org/officeDocument/2006/relationships/image" Target="../media/image8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7.png"/><Relationship Id="rId16" Type="http://schemas.openxmlformats.org/officeDocument/2006/relationships/image" Target="../media/image31.png"/><Relationship Id="rId17" Type="http://schemas.openxmlformats.org/officeDocument/2006/relationships/image" Target="../media/image33.png"/><Relationship Id="rId18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71" cy="1470222"/>
            <a:chOff x="0" y="0"/>
            <a:chExt cx="2076361" cy="1960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25" cy="1333348"/>
            <a:chOff x="0" y="0"/>
            <a:chExt cx="2912300" cy="1777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685033"/>
            <a:ext cx="15823606" cy="117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b="true" sz="3999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86099"/>
            <a:ext cx="13922893" cy="34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21626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615686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98207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53659"/>
            <a:ext cx="13600671" cy="34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2608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Contexto e método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2608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 e processo de desenvolvimento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33856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856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Campo, sistemas similares e correspondência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92608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2608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Funcionais, qualidade, ciclo de vida e UML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33856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56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nuvem, identidade e telas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92608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608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3856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Conclusões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3856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01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Contexto e método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Problema, objetivo e processo de desenvolvimento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MOTIVAÇÃO E OBJETIVO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8368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confirmada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25296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296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21" id="2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144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7440930"/>
            <a:ext cx="694944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7440930"/>
            <a:ext cx="71323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 e exploratório-descritiva: campo, sistemas similares e teste SUS.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MÉTODO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Cinco incrementos funcionais, testados no celular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731520" cy="731520"/>
            <a:chOff x="0" y="0"/>
            <a:chExt cx="975360" cy="975360"/>
          </a:xfrm>
        </p:grpSpPr>
        <p:sp>
          <p:nvSpPr>
            <p:cNvPr name="Freeform 7" id="7" descr="/tmp/un/ppt/media/image76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11680" y="2377440"/>
            <a:ext cx="731520" cy="731520"/>
            <a:chOff x="0" y="0"/>
            <a:chExt cx="97536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Acesso e usuários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Criação de conta, login seguro e perfil.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42816" y="2377440"/>
            <a:ext cx="731520" cy="731520"/>
            <a:chOff x="0" y="0"/>
            <a:chExt cx="975360" cy="975360"/>
          </a:xfrm>
        </p:grpSpPr>
        <p:sp>
          <p:nvSpPr>
            <p:cNvPr name="Freeform 14" id="14" descr="/tmp/un/ppt/media/image70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340096" y="2377440"/>
            <a:ext cx="731520" cy="731520"/>
            <a:chOff x="0" y="0"/>
            <a:chExt cx="9753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242816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Busca espacial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42816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interativo, proximidade e filtro por espécie.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71232" y="2377440"/>
            <a:ext cx="731520" cy="731520"/>
            <a:chOff x="0" y="0"/>
            <a:chExt cx="975360" cy="975360"/>
          </a:xfrm>
        </p:grpSpPr>
        <p:sp>
          <p:nvSpPr>
            <p:cNvPr name="Freeform 21" id="21" descr="/tmp/un/ppt/media/image7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668512" y="2377440"/>
            <a:ext cx="731520" cy="731520"/>
            <a:chOff x="0" y="0"/>
            <a:chExt cx="97536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571232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Publicações e fotos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71232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Anúncios de perdido ou encontrado, com características e imagens.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99648" y="2377440"/>
            <a:ext cx="731520" cy="731520"/>
            <a:chOff x="0" y="0"/>
            <a:chExt cx="975360" cy="975360"/>
          </a:xfrm>
        </p:grpSpPr>
        <p:sp>
          <p:nvSpPr>
            <p:cNvPr name="Freeform 28" id="28" descr="/tmp/un/ppt/media/image6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996928" y="2377440"/>
            <a:ext cx="731520" cy="731520"/>
            <a:chOff x="0" y="0"/>
            <a:chExt cx="97536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899648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Comunicação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99648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de avistamento e chat privado em tempo real.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228064" y="2377440"/>
            <a:ext cx="731520" cy="731520"/>
            <a:chOff x="0" y="0"/>
            <a:chExt cx="975360" cy="975360"/>
          </a:xfrm>
        </p:grpSpPr>
        <p:sp>
          <p:nvSpPr>
            <p:cNvPr name="Freeform 35" id="35" descr="/tmp/un/ppt/media/image73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325344" y="2377440"/>
            <a:ext cx="731520" cy="731520"/>
            <a:chOff x="0" y="0"/>
            <a:chExt cx="97536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228064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Cartaz com QR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28064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Cartazes padronizados para compartilhar ou imprimir.</a:t>
            </a:r>
          </a:p>
        </p:txBody>
      </p:sp>
      <p:sp>
        <p:nvSpPr>
          <p:cNvPr name="AutoShape 41" id="4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14400" y="7223760"/>
            <a:ext cx="1005840" cy="1005840"/>
            <a:chOff x="0" y="0"/>
            <a:chExt cx="1341120" cy="1341120"/>
          </a:xfrm>
        </p:grpSpPr>
        <p:sp>
          <p:nvSpPr>
            <p:cNvPr name="Freeform 43" id="43" descr="/tmp/un/ppt/media/image66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560320" y="7021830"/>
            <a:ext cx="9144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Kanban no Trello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560320" y="7633335"/>
            <a:ext cx="1481328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Listas para atualização, testes e validação, desenvolvimento, a fazer, ideias futuras e concluídas. Cada incremento era planejado, desenvolvido e testado no celular antes de começar o seguinte.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02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Pesquisa e diferencial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Campo e sistemas similares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DE CAMPO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pessoas confirmaram o problema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7" id="7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0" r="0" b="-1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630400" y="232981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400" y="315277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13" id="13"/>
          <p:cNvSpPr/>
          <p:nvPr/>
        </p:nvSpPr>
        <p:spPr>
          <a:xfrm rot="11880">
            <a:off x="11877656" y="420147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30400" y="452437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30400" y="534733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19" id="19"/>
          <p:cNvSpPr/>
          <p:nvPr/>
        </p:nvSpPr>
        <p:spPr>
          <a:xfrm rot="11880">
            <a:off x="11877656" y="639603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30400" y="671893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0400" y="754189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8730615"/>
            <a:ext cx="164592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conveniência, recrutada em um grupo de proteção animal no Facebook. Os resultados descrevem apenas o grupo consultado e não se generalizam.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SISTEMAS SIMILARES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2194560"/>
          <a:ext cx="16408400" cy="7026749"/>
        </p:xfrm>
        <a:graphic>
          <a:graphicData uri="http://schemas.openxmlformats.org/drawingml/2006/table">
            <a:tbl>
              <a:tblPr/>
              <a:tblGrid>
                <a:gridCol w="6745676"/>
                <a:gridCol w="1932545"/>
                <a:gridCol w="1932545"/>
                <a:gridCol w="1932545"/>
                <a:gridCol w="1932545"/>
                <a:gridCol w="1932545"/>
              </a:tblGrid>
              <a:tr h="5754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94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9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03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Requisitos e modelagem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Funcionais, qualidade, ciclo de vida e UML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17 requisitos funcionais centrais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24576"/>
            <a:ext cx="5363528" cy="2140267"/>
            <a:chOff x="0" y="0"/>
            <a:chExt cx="7151370" cy="2853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7755" y="2596515"/>
            <a:ext cx="979170" cy="979170"/>
            <a:chOff x="0" y="0"/>
            <a:chExt cx="1305560" cy="1305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6911" y="2855671"/>
            <a:ext cx="460858" cy="460858"/>
            <a:chOff x="0" y="0"/>
            <a:chExt cx="614477" cy="614477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-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3172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3172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3172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Cadastro, login, recuperação de senha e perfil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39376" y="2324576"/>
            <a:ext cx="5363528" cy="2140267"/>
            <a:chOff x="0" y="0"/>
            <a:chExt cx="7151370" cy="2853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711315" y="2596515"/>
            <a:ext cx="979170" cy="979170"/>
            <a:chOff x="0" y="0"/>
            <a:chExt cx="1305560" cy="1305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970471" y="2855671"/>
            <a:ext cx="460858" cy="460858"/>
            <a:chOff x="0" y="0"/>
            <a:chExt cx="614477" cy="614477"/>
          </a:xfrm>
        </p:grpSpPr>
        <p:sp>
          <p:nvSpPr>
            <p:cNvPr name="Freeform 22" id="22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95528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5528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5528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Consultar, publicar e atualizar animais perdidos ou encontrados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62936" y="2324576"/>
            <a:ext cx="5363528" cy="2140267"/>
            <a:chOff x="0" y="0"/>
            <a:chExt cx="7151370" cy="28536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334875" y="2596515"/>
            <a:ext cx="979170" cy="979170"/>
            <a:chOff x="0" y="0"/>
            <a:chExt cx="1305560" cy="1305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94031" y="2855671"/>
            <a:ext cx="460858" cy="460858"/>
            <a:chOff x="0" y="0"/>
            <a:chExt cx="614477" cy="61447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" b="-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57884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7884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7884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Mapa, filtros por espécie e distância, rota até o local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15816" y="4656296"/>
            <a:ext cx="5363528" cy="2140267"/>
            <a:chOff x="0" y="0"/>
            <a:chExt cx="7151370" cy="28536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87755" y="4928235"/>
            <a:ext cx="979170" cy="979170"/>
            <a:chOff x="0" y="0"/>
            <a:chExt cx="1305560" cy="1305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46911" y="5187391"/>
            <a:ext cx="460858" cy="460858"/>
            <a:chOff x="0" y="0"/>
            <a:chExt cx="614477" cy="614477"/>
          </a:xfrm>
        </p:grpSpPr>
        <p:sp>
          <p:nvSpPr>
            <p:cNvPr name="Freeform 40" id="40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8" b="-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233172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3172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3172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com local, horário e foto, vinculados à publicação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39376" y="4656296"/>
            <a:ext cx="5363528" cy="2140267"/>
            <a:chOff x="0" y="0"/>
            <a:chExt cx="7151370" cy="28536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711315" y="4928235"/>
            <a:ext cx="979170" cy="979170"/>
            <a:chOff x="0" y="0"/>
            <a:chExt cx="1305560" cy="1305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970471" y="5187391"/>
            <a:ext cx="460858" cy="460858"/>
            <a:chOff x="0" y="0"/>
            <a:chExt cx="614477" cy="61447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" b="-8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95528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95528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5528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 e notificações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062936" y="4656296"/>
            <a:ext cx="5363528" cy="2140267"/>
            <a:chOff x="0" y="0"/>
            <a:chExt cx="7151370" cy="28536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34875" y="4928235"/>
            <a:ext cx="979170" cy="979170"/>
            <a:chOff x="0" y="0"/>
            <a:chExt cx="1305560" cy="1305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594031" y="5187391"/>
            <a:ext cx="460858" cy="460858"/>
            <a:chOff x="0" y="0"/>
            <a:chExt cx="614477" cy="614477"/>
          </a:xfrm>
        </p:grpSpPr>
        <p:sp>
          <p:nvSpPr>
            <p:cNvPr name="Freeform 58" id="58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8" b="-8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357884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7884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57884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15816" y="7125176"/>
            <a:ext cx="5363528" cy="2208848"/>
            <a:chOff x="0" y="0"/>
            <a:chExt cx="7151370" cy="29451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116586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de divulgação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6586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Formatos A4, 9:16 e 1:1; o A4 leva um QR code para a publicação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439376" y="7125176"/>
            <a:ext cx="5363528" cy="2208848"/>
            <a:chOff x="0" y="0"/>
            <a:chExt cx="7151370" cy="294513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678942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78942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Ativa por 30 dias, aviso 3 dias antes e mais 30 dias de carência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62936" y="7125176"/>
            <a:ext cx="5363528" cy="2208848"/>
            <a:chOff x="0" y="0"/>
            <a:chExt cx="7151370" cy="294513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1241298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41298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Sugere pares perdido/encontrado, sem confirmar automaticamente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4400" y="473964"/>
            <a:ext cx="45720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93156"/>
            <a:ext cx="8175307" cy="2894648"/>
            <a:chOff x="0" y="0"/>
            <a:chExt cx="10900410" cy="3859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24915" y="2870835"/>
            <a:ext cx="1253490" cy="1253490"/>
            <a:chOff x="0" y="0"/>
            <a:chExt cx="1671320" cy="167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55394" y="3201314"/>
            <a:ext cx="592531" cy="592531"/>
            <a:chOff x="0" y="0"/>
            <a:chExt cx="790042" cy="790042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8036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036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1156" y="2393156"/>
            <a:ext cx="8175307" cy="2894648"/>
            <a:chOff x="0" y="0"/>
            <a:chExt cx="10900410" cy="38595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60255" y="2870835"/>
            <a:ext cx="1253490" cy="1253490"/>
            <a:chOff x="0" y="0"/>
            <a:chExt cx="1671320" cy="1671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90734" y="3201314"/>
            <a:ext cx="592531" cy="592531"/>
            <a:chOff x="0" y="0"/>
            <a:chExt cx="790042" cy="790042"/>
          </a:xfrm>
        </p:grpSpPr>
        <p:sp>
          <p:nvSpPr>
            <p:cNvPr name="Freeform 21" id="2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1570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1570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5816" y="5547836"/>
            <a:ext cx="8175307" cy="2894648"/>
            <a:chOff x="0" y="0"/>
            <a:chExt cx="10900410" cy="3859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3C5D4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24915" y="6025515"/>
            <a:ext cx="1253490" cy="1253490"/>
            <a:chOff x="0" y="0"/>
            <a:chExt cx="1671320" cy="1671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55394" y="6355994"/>
            <a:ext cx="592531" cy="592531"/>
            <a:chOff x="0" y="0"/>
            <a:chExt cx="790042" cy="790042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88036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8036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51156" y="5547836"/>
            <a:ext cx="8175307" cy="2894648"/>
            <a:chOff x="0" y="0"/>
            <a:chExt cx="10900410" cy="38595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60255" y="6025515"/>
            <a:ext cx="1253490" cy="1253490"/>
            <a:chOff x="0" y="0"/>
            <a:chExt cx="1671320" cy="1671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990734" y="6355994"/>
            <a:ext cx="592531" cy="592531"/>
            <a:chOff x="0" y="0"/>
            <a:chExt cx="790042" cy="790042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31570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8730615"/>
            <a:ext cx="1659636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NÃO FUNCIONAIS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5280">
            <a:off x="901694" y="2976181"/>
            <a:ext cx="164846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01703" y="2821943"/>
            <a:ext cx="318011" cy="318011"/>
            <a:chOff x="0" y="0"/>
            <a:chExt cx="424015" cy="4240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07943" y="2821943"/>
            <a:ext cx="318011" cy="318011"/>
            <a:chOff x="0" y="0"/>
            <a:chExt cx="424015" cy="4240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D4AC0D"/>
            </a:solidFill>
            <a:ln w="25400" cap="sq">
              <a:solidFill>
                <a:srgbClr val="D4AC0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2064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2064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4183" y="2821943"/>
            <a:ext cx="318011" cy="318011"/>
            <a:chOff x="0" y="0"/>
            <a:chExt cx="424015" cy="4240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32688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688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88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520423" y="2821943"/>
            <a:ext cx="318011" cy="318011"/>
            <a:chOff x="0" y="0"/>
            <a:chExt cx="424015" cy="4240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9B2C2C"/>
            </a:solidFill>
            <a:ln w="25400" cap="sq">
              <a:solidFill>
                <a:srgbClr val="9B2C2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53312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312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3312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rotina de limpeza pode excluir a publicação e suas fotos.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1703" y="7174487"/>
            <a:ext cx="281435" cy="281435"/>
            <a:chOff x="0" y="0"/>
            <a:chExt cx="375247" cy="3752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9961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961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Publicação do tutor que procura o animal.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79543" y="7174487"/>
            <a:ext cx="281435" cy="281435"/>
            <a:chOff x="0" y="0"/>
            <a:chExt cx="375247" cy="3752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07745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7745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 de quem localizou ou viu o animal.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57383" y="7174487"/>
            <a:ext cx="281435" cy="281435"/>
            <a:chOff x="0" y="0"/>
            <a:chExt cx="375247" cy="3752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65529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5529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 quando o animal volta ao tutor; até lá a publicação segue ativa.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4400" y="8913495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 atual: a limpeza roda ao carregar o mural e considera só as publicações do usuário autenticado. A limpeza global no backend é trabalho futuro.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8595360" cy="7004304"/>
            <a:chOff x="0" y="0"/>
            <a:chExt cx="11460480" cy="9339072"/>
          </a:xfrm>
        </p:grpSpPr>
        <p:sp>
          <p:nvSpPr>
            <p:cNvPr name="Freeform 7" id="7" descr="/tmp/un/ppt/media/image47.png"/>
            <p:cNvSpPr/>
            <p:nvPr/>
          </p:nvSpPr>
          <p:spPr>
            <a:xfrm flipH="false" flipV="false" rot="0">
              <a:off x="0" y="0"/>
              <a:ext cx="11460480" cy="9339072"/>
            </a:xfrm>
            <a:custGeom>
              <a:avLst/>
              <a:gdLst/>
              <a:ahLst/>
              <a:cxnLst/>
              <a:rect r="r" b="b" t="t" l="l"/>
              <a:pathLst>
                <a:path h="933907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339072"/>
                  </a:lnTo>
                  <a:lnTo>
                    <a:pt x="0" y="9339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98480" y="2185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8480" y="2695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0" y="40138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8480" y="45243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animal, registra avistamento, troca mensagens, recebe notificações e sugestões, gera cartaz, denuncia e gerencia o perfil.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8480" y="6757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8480" y="7267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98480" y="8273415"/>
            <a:ext cx="66751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B6B5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«include»: cadastrar publicação e registrar avistamento sempre incluem selecionar a localização no mapa. Especificação textual no Apêndice 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5486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3393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27416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autenticação, perfil e preferências de notificação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352806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93039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perdido ou encontrado: categoria, espécie, porte, local, situação e ciclo de vida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71678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11911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vinculado à publicação: local, data e hora, descrição e foto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90550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FotoPublicacao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630783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 0 a 6 imagens por publicação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709422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749655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publicação, sem expor o telefone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82829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86852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321040" y="640080"/>
            <a:ext cx="8961120" cy="8961120"/>
            <a:chOff x="0" y="0"/>
            <a:chExt cx="11948160" cy="11948160"/>
          </a:xfrm>
        </p:grpSpPr>
        <p:sp>
          <p:nvSpPr>
            <p:cNvPr name="Freeform 17" id="17" descr="/tmp/un/ppt/media/image51.png"/>
            <p:cNvSpPr/>
            <p:nvPr/>
          </p:nvSpPr>
          <p:spPr>
            <a:xfrm flipH="false" flipV="false" rot="0">
              <a:off x="0" y="0"/>
              <a:ext cx="11948160" cy="11948160"/>
            </a:xfrm>
            <a:custGeom>
              <a:avLst/>
              <a:gdLst/>
              <a:ahLst/>
              <a:cxnLst/>
              <a:rect r="r" b="b" t="t" l="l"/>
              <a:pathLst>
                <a:path h="119481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948160"/>
                  </a:lnTo>
                  <a:lnTo>
                    <a:pt x="0" y="1194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0" t="0" r="-16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04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Arquitetura e design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Tecnologias, nuvem e identidade visual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741676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7" id="7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t="0" r="-99" b="-1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1" id="11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15" id="15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AutoShape 16" id="16"/>
          <p:cNvSpPr/>
          <p:nvPr/>
        </p:nvSpPr>
        <p:spPr>
          <a:xfrm rot="3960">
            <a:off x="904865" y="3963734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914400" y="4625340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59541" y="4169664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43205" y="4169664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26869" y="4169664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210533" y="4169664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094197" y="4169664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AutoShape 28" id="28"/>
          <p:cNvSpPr/>
          <p:nvPr/>
        </p:nvSpPr>
        <p:spPr>
          <a:xfrm rot="3960">
            <a:off x="904865" y="5847397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914400" y="6509004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cadastro e recuperação de senha e avisos de avistamento.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 rot="3960">
            <a:off x="904865" y="7731062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914400" y="8392668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de apoio; IA usada como auxiliar de programação e de conteúdo.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28816" y="7936992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0" y="7936992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296144" y="7936992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179808" y="7936992"/>
            <a:ext cx="768096" cy="768096"/>
            <a:chOff x="0" y="0"/>
            <a:chExt cx="1024128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063472" y="7936992"/>
            <a:ext cx="768096" cy="768096"/>
            <a:chOff x="0" y="0"/>
            <a:chExt cx="1024128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997" t="-1995" r="-997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947136" y="7936992"/>
            <a:ext cx="768096" cy="768096"/>
            <a:chOff x="0" y="0"/>
            <a:chExt cx="1024128" cy="1024128"/>
          </a:xfrm>
        </p:grpSpPr>
        <p:sp>
          <p:nvSpPr>
            <p:cNvPr name="Freeform 47" id="47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TECNOLOGIAS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4400" y="2175510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998464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 0.81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82128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 SDK 54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65792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49456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33120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4400" y="4059174"/>
            <a:ext cx="4572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29189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12853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796517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680181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563845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14400" y="5942838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998464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882128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4400" y="7826502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998464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82128" y="8758428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765792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49456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416784" y="8758428"/>
            <a:ext cx="1865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/ Copilot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99" t="0" r="-99" b="-198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6053328" y="4975860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5809211" y="2359152"/>
            <a:ext cx="1080521" cy="768096"/>
            <a:chOff x="0" y="0"/>
            <a:chExt cx="1440695" cy="10241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40695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95">
                  <a:moveTo>
                    <a:pt x="0" y="0"/>
                  </a:moveTo>
                  <a:lnTo>
                    <a:pt x="1440695" y="0"/>
                  </a:lnTo>
                  <a:lnTo>
                    <a:pt x="1440695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56044" t="0" r="-64438" b="-10896"/>
              </a:stretch>
            </a:blip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5345918" y="31074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ARQUITETURA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4875" y="2185035"/>
            <a:ext cx="5871210" cy="6511290"/>
            <a:chOff x="0" y="0"/>
            <a:chExt cx="7828280" cy="8681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2828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828280">
                  <a:moveTo>
                    <a:pt x="0" y="0"/>
                  </a:moveTo>
                  <a:lnTo>
                    <a:pt x="7828280" y="0"/>
                  </a:lnTo>
                  <a:lnTo>
                    <a:pt x="782828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88720" y="2321814"/>
            <a:ext cx="53035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45755" y="2185035"/>
            <a:ext cx="5322570" cy="6511290"/>
            <a:chOff x="0" y="0"/>
            <a:chExt cx="7096760" cy="8681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9676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0" y="2321814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437995" y="2185035"/>
            <a:ext cx="2945130" cy="6511290"/>
            <a:chOff x="0" y="0"/>
            <a:chExt cx="3926840" cy="8681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26840" cy="8681720"/>
            </a:xfrm>
            <a:custGeom>
              <a:avLst/>
              <a:gdLst/>
              <a:ahLst/>
              <a:cxnLst/>
              <a:rect r="r" b="b" t="t" l="l"/>
              <a:pathLst>
                <a:path h="8681720" w="3926840">
                  <a:moveTo>
                    <a:pt x="0" y="0"/>
                  </a:moveTo>
                  <a:lnTo>
                    <a:pt x="3926840" y="0"/>
                  </a:lnTo>
                  <a:lnTo>
                    <a:pt x="392684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721840" y="2321814"/>
            <a:ext cx="23774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16" id="16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21" id="21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26" id="26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31" id="31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36" id="3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41" id="41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46" id="46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51" id="51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56" id="56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61" id="6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052560" y="306133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052560" y="347319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562" r="0" b="-1562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9052560" y="415861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052560" y="457047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69" id="6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9052560" y="525589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052560" y="566775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73" id="7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9052560" y="635317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052560" y="676503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77" id="7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9052560" y="745045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052560" y="786231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721840" y="461581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721840" y="502767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83" id="8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4721840" y="662749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721840" y="703935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86" id="86"/>
          <p:cNvSpPr/>
          <p:nvPr/>
        </p:nvSpPr>
        <p:spPr>
          <a:xfrm rot="165120">
            <a:off x="683198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7" id="87"/>
          <p:cNvSpPr txBox="true"/>
          <p:nvPr/>
        </p:nvSpPr>
        <p:spPr>
          <a:xfrm rot="0">
            <a:off x="667512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88" id="88"/>
          <p:cNvSpPr/>
          <p:nvPr/>
        </p:nvSpPr>
        <p:spPr>
          <a:xfrm rot="165120">
            <a:off x="1332422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9" id="89"/>
          <p:cNvSpPr txBox="true"/>
          <p:nvPr/>
        </p:nvSpPr>
        <p:spPr>
          <a:xfrm rot="0">
            <a:off x="1316736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31" t="0" r="-231" b="-8865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087600" y="5687568"/>
            <a:ext cx="329184" cy="329184"/>
            <a:chOff x="0" y="0"/>
            <a:chExt cx="829056" cy="829056"/>
          </a:xfrm>
        </p:grpSpPr>
        <p:sp>
          <p:nvSpPr>
            <p:cNvPr name="Freeform 97" id="97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7" id="7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83110" y="7977588"/>
            <a:ext cx="391553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8648700"/>
            <a:ext cx="640080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localização. Ícone gerado com apoio do ChatGPT e refinado no Figma.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69449" y="6967093"/>
            <a:ext cx="2942863" cy="9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b="true" sz="5554" spc="54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4" spc="54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397115" y="2324576"/>
            <a:ext cx="3218659" cy="2249996"/>
            <a:chOff x="0" y="0"/>
            <a:chExt cx="4291546" cy="29999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40711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0711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02464" y="2324576"/>
            <a:ext cx="3218659" cy="2249996"/>
            <a:chOff x="0" y="0"/>
            <a:chExt cx="4291546" cy="29999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81246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1246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207804" y="2324576"/>
            <a:ext cx="3218659" cy="2249996"/>
            <a:chOff x="0" y="0"/>
            <a:chExt cx="4291546" cy="2999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21780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1780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97115" y="5849998"/>
            <a:ext cx="3218659" cy="2249996"/>
            <a:chOff x="0" y="0"/>
            <a:chExt cx="4291546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40711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0711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02464" y="5849998"/>
            <a:ext cx="3218659" cy="2249996"/>
            <a:chOff x="0" y="0"/>
            <a:chExt cx="4291546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81246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1246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207804" y="5849998"/>
            <a:ext cx="3218659" cy="2249996"/>
            <a:chOff x="0" y="0"/>
            <a:chExt cx="4291546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421780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1780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05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Demonstração e avaliação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Vídeo, segurança e usabilidade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64743" y="2364743"/>
            <a:ext cx="13558523" cy="6517643"/>
            <a:chOff x="0" y="0"/>
            <a:chExt cx="18078031" cy="86901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78069" cy="8690229"/>
            </a:xfrm>
            <a:custGeom>
              <a:avLst/>
              <a:gdLst/>
              <a:ahLst/>
              <a:cxnLst/>
              <a:rect r="r" b="b" t="t" l="l"/>
              <a:pathLst>
                <a:path h="8690229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9" id="9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77440" y="7258050"/>
            <a:ext cx="135331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9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0" y="2642235"/>
            <a:ext cx="82296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966210"/>
            <a:ext cx="804672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11" id="11"/>
          <p:cNvSpPr/>
          <p:nvPr/>
        </p:nvSpPr>
        <p:spPr>
          <a:xfrm rot="3960">
            <a:off x="904865" y="5481638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1440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5296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8822055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47548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5836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4991100"/>
            <a:ext cx="45720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 (escores de 85 a 100); acima de 80,3 = Grau 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6564630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185660"/>
            <a:ext cx="45720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 (autorrelato)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1" id="11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83680" y="8181975"/>
            <a:ext cx="107899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Limites: 12 voluntários recrutados em um grupo no Facebook; conclusão autorrelatada em uma única pergunta; 4 pessoas relataram dúvidas pontuais; o estudo não mede reencontros.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06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Conclusões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Entregas, limites e próximos passos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cartaz com QR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368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8368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0" id="10"/>
          <p:cNvSpPr/>
          <p:nvPr/>
        </p:nvSpPr>
        <p:spPr>
          <a:xfrm rot="5390220">
            <a:off x="290740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25296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296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3" id="13"/>
          <p:cNvSpPr/>
          <p:nvPr/>
        </p:nvSpPr>
        <p:spPr>
          <a:xfrm rot="5390220">
            <a:off x="857668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2972" y="2091016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Aplicativo e rede de alerta para localização de animais perdidos e encontrados.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https://app.alertpet.com.br/. Acesso em: 31 ago. 2026.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2972" y="2622811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AMSTEL, Frederick van.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fazer uma análise de similares.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Usabilidoido, 2024. Disponível em: https://www.usabilidoido.com.br/como_fazer_uma_analise_de_similares.html. Acesso em: 31 ago. 2026.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2972" y="3346023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ASSOCIAÇÃO BRASILEIRA DE NORMAS TÉCNICAS.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ABNT NBR ISO 9241-11: Ergonomia da interação humano-sistema: Parte 11: Usabilidade: Definições e conceitos.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Rio de Janeiro: ABNT, 2021.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2972" y="407936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BROOKE, John.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SUS: a 'quick and dirty' usability scale.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In: JORDAN, Patrick W. et al. (ed.). Usability evaluation in industry. London: Taylor &amp; Francis, 1996. p. 189–194.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2972" y="461014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Evolution API Documentation: the open source API for WhatsApp.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https://evolution-api.com/. Acesso em: 10 set. 2026.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2972" y="5140927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Expo Documentation: tools for creating native Android, iOS, and web apps with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https://docs.expo.dev/. Acesso em: 31 ago. 2026.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2972" y="5671709"/>
            <a:ext cx="7798470" cy="25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GIL, Antonio Carlos.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elaborar projetos de pesquisa.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7. ed. São Paulo: Atlas, 2022.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2972" y="6010061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INTERNATIONAL ORGANIZATION FOR STANDARDIZATION.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ISO/IEC 25010:2023: Systems and software engineering: Systems and software Quality Requirements and Evaluation (SQuaRE): Product quality model.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Geneva: ISO, 2023.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2972" y="6753529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PAWBOOST.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power of the PawBoost community: find lost and found pets.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https://www.pawboost.com/. Acesso em: 31 ago. 2026.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2972" y="7284311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PRESSMAN, Roger S.; MAXIM, Bruce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Engenharia de software: uma abordagem profissional.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9. ed. Porto Alegre: McGraw-Hill, 2021.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2972" y="781509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framework for building native apps using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https://reactnative.dev/. Acesso em: 31 ago. 2026.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46558" y="2611670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SAURO, Jeff; LEWIS, James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Quantifying the user experience: practical statistics for user research.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2. ed. Cambridge: Morgan Kaufmann, 2022.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46558" y="476000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Open Source Firebase Alternative and PostgreSQL Database.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https://supabase.com/docs. Acesso em: 31 ago. 2026.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46558" y="7237608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VIU MEU 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Plataforma nacional de busca, divulgação e localização de animais perdidos.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https://www.viumeupet.com.br/. Acesso em: 31 ago. 2026.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46558" y="7768390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W3C.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Web Content Accessibility Guidelines (WCAG) 2.2: W3C Recommendation.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World Wide Web Consortium, 2023. Disponível em: https://www.w3.org/TR/WCAG22/. Acesso em: 10 set. 2025.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46558" y="6524524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VALENTE, Marco Tulio.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 moderna: princípios e práticas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desenvolvimento de software com produtividade. Belo Horizonte: Edição do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Autor, 2023. Disponível em: https://engsoftmoderna.info/. Acesso em: 07 set. 2026.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46558" y="5811440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UOL.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ONGs resgatam animais em enchentes no RS e mobilizam voluntários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acolhimento e reencontros. UOL Notícias, Porto Alegre, 10 maio 2024.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Disponível em: https://noticias.uol.com.br/. Acesso em: 31 ago. 2026.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46558" y="529078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TRELLO.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Gerenciamento de projetos com quadros Kanban e listas visuais.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Atlassian, 2026. Disponível em: https://trello.com/. Acesso em: 31 ago. 2026.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46558" y="3662060"/>
            <a:ext cx="7798470" cy="114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SOUZA, Francisco Carlos M. et al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. FugaPet-Rotas: um algoritmo inteligente para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recomendação de rotas visando buscar animais desaparecidos. In: CONGRESSO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BRASILEIRO DE SOFTWARE (CBSoft). Porto Alegre: Sociedade Brasileira de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Computação, 2022. p. 1–10. Disponível em: https://sol.sbc.org.br/. Acesso em: 07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set. 2026.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46558" y="314039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SOMMERVILLE, Ian.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software. 10. ed. São Paulo: Pearson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Education do Brasil, 2019.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46558" y="2091016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ROGERS, Yvonne; SHARP, Helen; PREECE, Jennifer.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Design de interação: além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da interação humano-computador. 5. ed. Porto Alegre: Bookman, 2023.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2972" y="834587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RENDER. Cloud Application Hosting for Developers: unified cloud platform. 2026.</a:t>
            </a:r>
          </a:p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Disponível em: https://render.com/. Acesso em: 10 set. 2026.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280160"/>
            <a:ext cx="2743200" cy="2651760"/>
            <a:chOff x="0" y="0"/>
            <a:chExt cx="3657600" cy="3535680"/>
          </a:xfrm>
        </p:grpSpPr>
        <p:sp>
          <p:nvSpPr>
            <p:cNvPr name="Freeform 3" id="3" descr="/tmp/un/ppt/media/image46.png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0" b="-13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93995"/>
            <a:ext cx="146304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b="true" sz="8799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800850"/>
            <a:ext cx="146304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980045"/>
            <a:ext cx="146304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639175"/>
            <a:ext cx="146304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DAHYG26IjrM</dc:identifier>
  <dcterms:modified xsi:type="dcterms:W3CDTF">2011-08-01T06:04:30Z</dcterms:modified>
  <cp:revision>1</cp:revision>
  <dc:title>CURSO SUPERIOR DE TECNOLOGIA EM SISTEMAS PARA INTERNET | 2026</dc:title>
</cp:coreProperties>
</file>