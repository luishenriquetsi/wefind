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76" r:id="rId26"/>
  </p:sldIdLst>
  <p:sldSz cx="18288000" cy="10287000"/>
  <p:notesSz cx="6858000" cy="9144000"/>
  <p:embeddedFontLst>
    <p:embeddedFont>
      <p:font typeface="Cooper BT Bold" charset="1" panose="0208080404030B020404"/>
      <p:regular r:id="rId42"/>
    </p:embeddedFont>
    <p:embeddedFont>
      <p:font typeface="Cooper BT Light" charset="1" panose="0208050304030B020404"/>
      <p:regular r:id="rId43"/>
    </p:embeddedFont>
    <p:embeddedFont>
      <p:font typeface="Cambria Bold" charset="1" panose="02040803050406030204"/>
      <p:regular r:id="rId44"/>
    </p:embeddedFont>
    <p:embeddedFont>
      <p:font typeface="Calibri (MS)" charset="1" panose="020F0502020204030204"/>
      <p:regular r:id="rId45"/>
    </p:embeddedFont>
    <p:embeddedFont>
      <p:font typeface="Calibri (MS) Bold" charset="1" panose="020F0702030404030204"/>
      <p:regular r:id="rId46"/>
    </p:embeddedFont>
    <p:embeddedFont>
      <p:font typeface="Calibri (MS) Italics" charset="1" panose="020F05020202040A0204"/>
      <p:regular r:id="rId47"/>
    </p:embeddedFont>
    <p:embeddedFont>
      <p:font typeface="Roboto Bold" charset="1" panose="02000000000000000000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6" Type="http://schemas.openxmlformats.org/officeDocument/2006/relationships/slide" Target="slides/slide21.xml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57.png"/><Relationship Id="rId11" Type="http://schemas.openxmlformats.org/officeDocument/2006/relationships/image" Target="../media/image73.png"/><Relationship Id="rId12" Type="http://schemas.openxmlformats.org/officeDocument/2006/relationships/image" Target="../media/image59.png"/><Relationship Id="rId13" Type="http://schemas.openxmlformats.org/officeDocument/2006/relationships/image" Target="../media/image74.png"/><Relationship Id="rId14" Type="http://schemas.openxmlformats.org/officeDocument/2006/relationships/image" Target="../media/image75.png"/><Relationship Id="rId15" Type="http://schemas.openxmlformats.org/officeDocument/2006/relationships/image" Target="../media/image76.png"/><Relationship Id="rId16" Type="http://schemas.openxmlformats.org/officeDocument/2006/relationships/image" Target="../media/image67.png"/><Relationship Id="rId17" Type="http://schemas.openxmlformats.org/officeDocument/2006/relationships/image" Target="../media/image68.png"/><Relationship Id="rId18" Type="http://schemas.openxmlformats.org/officeDocument/2006/relationships/image" Target="../media/image69.png"/><Relationship Id="rId19" Type="http://schemas.openxmlformats.org/officeDocument/2006/relationships/image" Target="../media/image70.png"/><Relationship Id="rId20" Type="http://schemas.openxmlformats.org/officeDocument/2006/relationships/image" Target="../media/image77.png"/><Relationship Id="rId21" Type="http://schemas.openxmlformats.org/officeDocument/2006/relationships/image" Target="../media/image71.png"/><Relationship Id="rId22" Type="http://schemas.openxmlformats.org/officeDocument/2006/relationships/image" Target="../media/image78.png"/><Relationship Id="rId23" Type="http://schemas.openxmlformats.org/officeDocument/2006/relationships/image" Target="../media/image79.png"/><Relationship Id="rId24" Type="http://schemas.openxmlformats.org/officeDocument/2006/relationships/image" Target="../media/image80.png"/><Relationship Id="rId25" Type="http://schemas.openxmlformats.org/officeDocument/2006/relationships/image" Target="../media/image81.png"/><Relationship Id="rId26" Type="http://schemas.openxmlformats.org/officeDocument/2006/relationships/image" Target="../media/image82.png"/><Relationship Id="rId27" Type="http://schemas.openxmlformats.org/officeDocument/2006/relationships/image" Target="../media/image83.png"/><Relationship Id="rId28" Type="http://schemas.openxmlformats.org/officeDocument/2006/relationships/image" Target="../media/image84.png"/><Relationship Id="rId29" Type="http://schemas.openxmlformats.org/officeDocument/2006/relationships/image" Target="../media/image85.png"/><Relationship Id="rId30" Type="http://schemas.openxmlformats.org/officeDocument/2006/relationships/image" Target="../media/image86.png"/></Relationships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Tecnologias: por que cada escolha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62" id="6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66" id="6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68" id="68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70" id="70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72" id="72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74" id="74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6459200" y="9433560"/>
            <a:ext cx="9144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14400" y="2103120"/>
            <a:ext cx="16459200" cy="1828800"/>
          </a:xfrm>
          <a:prstGeom prst="roundRect">
            <a:avLst>
              <a:gd name="adj" fmla="val 12000"/>
            </a:avLst>
          </a:prstGeom>
          <a:solidFill>
            <a:srgbClr val="EE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280160" y="2103120"/>
            <a:ext cx="420624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2E5634"/>
                </a:solidFill>
                <a:latin typeface="Cambria Bold"/>
              </a:rPr>
              <a:t>Aplicativo</a:t>
            </a:r>
          </a:p>
          <a:p>
            <a:pPr algn="l">
              <a:spcBef>
                <a:spcPts val="200"/>
              </a:spcBef>
            </a:pPr>
            <a:r>
              <a:rPr sz="1700" b="1">
                <a:solidFill>
                  <a:srgbClr val="B1734A"/>
                </a:solidFill>
                <a:latin typeface="Calibri (MS) Bold"/>
              </a:rPr>
              <a:t>um código para Android e iOS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696712" y="2926079"/>
            <a:ext cx="1865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2A1F"/>
                </a:solidFill>
                <a:latin typeface="Calibri (MS) Bold"/>
              </a:rPr>
              <a:t>React Native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5B6B5F"/>
                </a:solidFill>
                <a:latin typeface="Calibri (MS)"/>
              </a:rPr>
              <a:t>Android e iOS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616952" y="2926079"/>
            <a:ext cx="1865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2A1F"/>
                </a:solidFill>
                <a:latin typeface="Calibri (MS) Bold"/>
              </a:rPr>
              <a:t>Expo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5B6B5F"/>
                </a:solidFill>
                <a:latin typeface="Calibri (MS)"/>
              </a:rPr>
              <a:t>testar e gerar o app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537192" y="2926079"/>
            <a:ext cx="1865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2A1F"/>
                </a:solidFill>
                <a:latin typeface="Calibri (MS) Bold"/>
              </a:rPr>
              <a:t>JavaScript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5B6B5F"/>
                </a:solidFill>
                <a:latin typeface="Calibri (MS)"/>
              </a:rPr>
              <a:t>linguagem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457432" y="2926079"/>
            <a:ext cx="1865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2A1F"/>
                </a:solidFill>
                <a:latin typeface="Calibri (MS) Bold"/>
              </a:rPr>
              <a:t>NativeWind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5B6B5F"/>
                </a:solidFill>
                <a:latin typeface="Calibri (MS)"/>
              </a:rPr>
              <a:t>telas mais rápido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3377672" y="2926079"/>
            <a:ext cx="1865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2A1F"/>
                </a:solidFill>
                <a:latin typeface="Calibri (MS) Bold"/>
              </a:rPr>
              <a:t>Google Maps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5B6B5F"/>
                </a:solidFill>
                <a:latin typeface="Calibri (MS)"/>
              </a:rPr>
              <a:t>gratuito e conhecido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5297912" y="2926079"/>
            <a:ext cx="1865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2A1F"/>
                </a:solidFill>
                <a:latin typeface="Calibri (MS) Bold"/>
              </a:rPr>
              <a:t>Google API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5B6B5F"/>
                </a:solidFill>
                <a:latin typeface="Calibri (MS)"/>
              </a:rPr>
              <a:t>mapa e login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914400" y="4069080"/>
            <a:ext cx="16459200" cy="1645920"/>
          </a:xfrm>
          <a:prstGeom prst="roundRect">
            <a:avLst>
              <a:gd name="adj" fmla="val 12000"/>
            </a:avLst>
          </a:prstGeom>
          <a:solidFill>
            <a:srgbClr val="EE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280160" y="4069080"/>
            <a:ext cx="42062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2E5634"/>
                </a:solidFill>
                <a:latin typeface="Cambria Bold"/>
              </a:rPr>
              <a:t>Backend</a:t>
            </a:r>
          </a:p>
          <a:p>
            <a:pPr algn="l">
              <a:spcBef>
                <a:spcPts val="200"/>
              </a:spcBef>
            </a:pPr>
            <a:r>
              <a:rPr sz="1700" b="1">
                <a:solidFill>
                  <a:srgbClr val="B1734A"/>
                </a:solidFill>
                <a:latin typeface="Calibri (MS) Bold"/>
              </a:rPr>
              <a:t>tudo pronto, sem servidor próprio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12280" y="4069080"/>
            <a:ext cx="45720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1B2A1F"/>
                </a:solidFill>
                <a:latin typeface="Calibri (MS) Bold"/>
              </a:rPr>
              <a:t>Supabase</a:t>
            </a:r>
          </a:p>
          <a:p>
            <a:pPr algn="l">
              <a:spcBef>
                <a:spcPts val="200"/>
              </a:spcBef>
            </a:pPr>
            <a:r>
              <a:rPr sz="1700" b="0">
                <a:solidFill>
                  <a:srgbClr val="5B6B5F"/>
                </a:solidFill>
                <a:latin typeface="Calibri (MS)"/>
              </a:rPr>
              <a:t>login, banco e fotos prontos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2481560" y="4069080"/>
            <a:ext cx="45720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1B2A1F"/>
                </a:solidFill>
                <a:latin typeface="Calibri (MS) Bold"/>
              </a:rPr>
              <a:t>PostgreSQL</a:t>
            </a:r>
          </a:p>
          <a:p>
            <a:pPr algn="l">
              <a:spcBef>
                <a:spcPts val="200"/>
              </a:spcBef>
            </a:pPr>
            <a:r>
              <a:rPr sz="1700" b="0">
                <a:solidFill>
                  <a:srgbClr val="5B6B5F"/>
                </a:solidFill>
                <a:latin typeface="Calibri (MS)"/>
              </a:rPr>
              <a:t>banco relacional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14400" y="5852160"/>
            <a:ext cx="16459200" cy="1645920"/>
          </a:xfrm>
          <a:prstGeom prst="roundRect">
            <a:avLst>
              <a:gd name="adj" fmla="val 12000"/>
            </a:avLst>
          </a:prstGeom>
          <a:solidFill>
            <a:srgbClr val="EE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280160" y="5852160"/>
            <a:ext cx="42062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2E5634"/>
                </a:solidFill>
                <a:latin typeface="Cambria Bold"/>
              </a:rPr>
              <a:t>Mensageria</a:t>
            </a:r>
          </a:p>
          <a:p>
            <a:pPr algn="l">
              <a:spcBef>
                <a:spcPts val="200"/>
              </a:spcBef>
            </a:pPr>
            <a:r>
              <a:rPr sz="1700" b="1">
                <a:solidFill>
                  <a:srgbClr val="B1734A"/>
                </a:solidFill>
                <a:latin typeface="Calibri (MS) Bold"/>
              </a:rPr>
              <a:t>onde as pessoas já estão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12280" y="5852160"/>
            <a:ext cx="45720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1B2A1F"/>
                </a:solidFill>
                <a:latin typeface="Calibri (MS) Bold"/>
              </a:rPr>
              <a:t>WhatsApp</a:t>
            </a:r>
          </a:p>
          <a:p>
            <a:pPr algn="l">
              <a:spcBef>
                <a:spcPts val="200"/>
              </a:spcBef>
            </a:pPr>
            <a:r>
              <a:rPr sz="1700" b="0">
                <a:solidFill>
                  <a:srgbClr val="5B6B5F"/>
                </a:solidFill>
                <a:latin typeface="Calibri (MS)"/>
              </a:rPr>
              <a:t>todos usam no dia a dia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2481560" y="5852160"/>
            <a:ext cx="45720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1B2A1F"/>
                </a:solidFill>
                <a:latin typeface="Calibri (MS) Bold"/>
              </a:rPr>
              <a:t>Render + Evolution API</a:t>
            </a:r>
          </a:p>
          <a:p>
            <a:pPr algn="l">
              <a:spcBef>
                <a:spcPts val="200"/>
              </a:spcBef>
            </a:pPr>
            <a:r>
              <a:rPr sz="1700" b="0">
                <a:solidFill>
                  <a:srgbClr val="5B6B5F"/>
                </a:solidFill>
                <a:latin typeface="Calibri (MS)"/>
              </a:rPr>
              <a:t>hospeda o envio automático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914400" y="7635240"/>
            <a:ext cx="16459200" cy="1508760"/>
          </a:xfrm>
          <a:prstGeom prst="roundRect">
            <a:avLst>
              <a:gd name="adj" fmla="val 12000"/>
            </a:avLst>
          </a:prstGeom>
          <a:solidFill>
            <a:srgbClr val="EE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280160" y="7635240"/>
            <a:ext cx="420624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2E5634"/>
                </a:solidFill>
                <a:latin typeface="Cambria Bold"/>
              </a:rPr>
              <a:t>Apoio</a:t>
            </a:r>
          </a:p>
          <a:p>
            <a:pPr algn="l">
              <a:spcBef>
                <a:spcPts val="200"/>
              </a:spcBef>
            </a:pPr>
            <a:r>
              <a:rPr sz="1700" b="1">
                <a:solidFill>
                  <a:srgbClr val="B1734A"/>
                </a:solidFill>
                <a:latin typeface="Calibri (MS) Bold"/>
              </a:rPr>
              <a:t>organizar e construir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696712" y="8458200"/>
            <a:ext cx="15910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2A1F"/>
                </a:solidFill>
                <a:latin typeface="Calibri (MS) Bold"/>
              </a:rPr>
              <a:t>Git e GitHub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5B6B5F"/>
                </a:solidFill>
                <a:latin typeface="Calibri (MS)"/>
              </a:rPr>
              <a:t>versões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342631" y="8458200"/>
            <a:ext cx="15910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2A1F"/>
                </a:solidFill>
                <a:latin typeface="Calibri (MS) Bold"/>
              </a:rPr>
              <a:t>Trello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5B6B5F"/>
                </a:solidFill>
                <a:latin typeface="Calibri (MS)"/>
              </a:rPr>
              <a:t>tarefas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988552" y="8458200"/>
            <a:ext cx="15910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2A1F"/>
                </a:solidFill>
                <a:latin typeface="Calibri (MS) Bold"/>
              </a:rPr>
              <a:t>Figma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5B6B5F"/>
                </a:solidFill>
                <a:latin typeface="Calibri (MS)"/>
              </a:rPr>
              <a:t>telas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634472" y="8458200"/>
            <a:ext cx="15910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2A1F"/>
                </a:solidFill>
                <a:latin typeface="Calibri (MS) Bold"/>
              </a:rPr>
              <a:t>Astah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5B6B5F"/>
                </a:solidFill>
                <a:latin typeface="Calibri (MS)"/>
              </a:rPr>
              <a:t>UML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2280392" y="8458200"/>
            <a:ext cx="15910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2A1F"/>
                </a:solidFill>
                <a:latin typeface="Calibri (MS) Bold"/>
              </a:rPr>
              <a:t>VS Code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5B6B5F"/>
                </a:solidFill>
                <a:latin typeface="Calibri (MS)"/>
              </a:rPr>
              <a:t>código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3926311" y="8458200"/>
            <a:ext cx="15910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2A1F"/>
                </a:solidFill>
                <a:latin typeface="Calibri (MS) Bold"/>
              </a:rPr>
              <a:t>ChatGPT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5B6B5F"/>
                </a:solidFill>
                <a:latin typeface="Calibri (MS)"/>
              </a:rPr>
              <a:t>apoio revisado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5572232" y="8458200"/>
            <a:ext cx="15910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2A1F"/>
                </a:solidFill>
                <a:latin typeface="Calibri (MS) Bold"/>
              </a:rPr>
              <a:t>Copilot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5B6B5F"/>
                </a:solidFill>
                <a:latin typeface="Calibri (MS)"/>
              </a:rPr>
              <a:t>apoio revisado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377940" y="2331720"/>
            <a:ext cx="502920" cy="502920"/>
            <a:chOff x="0" y="0"/>
            <a:chExt cx="1024128" cy="1024128"/>
          </a:xfrm>
        </p:grpSpPr>
        <p:sp>
          <p:nvSpPr>
            <p:cNvPr name="Freeform 21" id="21" descr="/tmp/un/ppt/media/image5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98180" y="2331720"/>
            <a:ext cx="502920" cy="502920"/>
            <a:chOff x="0" y="0"/>
            <a:chExt cx="1024128" cy="10241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18420" y="2331720"/>
            <a:ext cx="502920" cy="502920"/>
            <a:chOff x="0" y="0"/>
            <a:chExt cx="1024128" cy="1024128"/>
          </a:xfrm>
        </p:grpSpPr>
        <p:sp>
          <p:nvSpPr>
            <p:cNvPr name="Freeform 25" id="25" descr="/tmp/un/ppt/media/image5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138660" y="2331720"/>
            <a:ext cx="502920" cy="502920"/>
            <a:chOff x="0" y="0"/>
            <a:chExt cx="1024128" cy="1024128"/>
          </a:xfrm>
        </p:grpSpPr>
        <p:sp>
          <p:nvSpPr>
            <p:cNvPr name="Freeform 29" id="29" descr="/tmp/un/ppt/media/image5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058900" y="2331720"/>
            <a:ext cx="502920" cy="502920"/>
            <a:chOff x="0" y="0"/>
            <a:chExt cx="1024128" cy="10241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79" id="79"/>
          <p:cNvGrpSpPr/>
          <p:nvPr/>
        </p:nvGrpSpPr>
        <p:grpSpPr>
          <a:xfrm rot="0">
            <a:off x="15876859" y="2331720"/>
            <a:ext cx="707480" cy="502920"/>
            <a:chOff x="0" y="0"/>
            <a:chExt cx="1440688" cy="102412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44068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40688">
                  <a:moveTo>
                    <a:pt x="0" y="0"/>
                  </a:moveTo>
                  <a:lnTo>
                    <a:pt x="1440688" y="0"/>
                  </a:lnTo>
                  <a:lnTo>
                    <a:pt x="144068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-49590" t="0" r="-49590" b="0"/>
              </a:stretch>
            </a:blipFill>
          </p:spPr>
          <p:txBody>
            <a:bodyPr/>
            <a:p/>
          </p:txBody>
        </p:sp>
      </p:grpSp>
      <p:grpSp>
        <p:nvGrpSpPr>
          <p:cNvPr name="Group 77" id="77"/>
          <p:cNvGrpSpPr/>
          <p:nvPr/>
        </p:nvGrpSpPr>
        <p:grpSpPr>
          <a:xfrm rot="0">
            <a:off x="5875020" y="4549140"/>
            <a:ext cx="685800" cy="685800"/>
            <a:chOff x="0" y="0"/>
            <a:chExt cx="1024128" cy="102412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544300" y="4549140"/>
            <a:ext cx="685800" cy="685800"/>
            <a:chOff x="0" y="0"/>
            <a:chExt cx="1024128" cy="10241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2127" r="0" b="-2126"/>
              </a:stretch>
            </a:blipFill>
          </p:spPr>
          <p:txBody>
            <a:bodyPr/>
            <a:p/>
          </p:txBody>
        </p:sp>
      </p:grpSp>
      <p:grpSp>
        <p:nvGrpSpPr>
          <p:cNvPr name="Group 46" id="46"/>
          <p:cNvGrpSpPr/>
          <p:nvPr/>
        </p:nvGrpSpPr>
        <p:grpSpPr>
          <a:xfrm rot="0">
            <a:off x="5875020" y="6332220"/>
            <a:ext cx="685800" cy="685800"/>
            <a:chOff x="0" y="0"/>
            <a:chExt cx="1024128" cy="1024128"/>
          </a:xfrm>
        </p:grpSpPr>
        <p:sp>
          <p:nvSpPr>
            <p:cNvPr name="Freeform 47" id="47" descr="/tmp/un/ppt/media/image64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544300" y="6332220"/>
            <a:ext cx="685800" cy="685800"/>
            <a:chOff x="0" y="0"/>
            <a:chExt cx="1024128" cy="1024128"/>
          </a:xfrm>
        </p:grpSpPr>
        <p:sp>
          <p:nvSpPr>
            <p:cNvPr name="Freeform 45" id="45" descr="/tmp/un/ppt/media/image6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6240780" y="7863840"/>
            <a:ext cx="502920" cy="502920"/>
            <a:chOff x="0" y="0"/>
            <a:chExt cx="1024128" cy="1024128"/>
          </a:xfrm>
        </p:grpSpPr>
        <p:sp>
          <p:nvSpPr>
            <p:cNvPr name="Freeform 51" id="51" descr="/tmp/un/ppt/media/image6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7886700" y="7863840"/>
            <a:ext cx="502920" cy="502920"/>
            <a:chOff x="0" y="0"/>
            <a:chExt cx="1024128" cy="1024128"/>
          </a:xfrm>
        </p:grpSpPr>
        <p:sp>
          <p:nvSpPr>
            <p:cNvPr name="Freeform 53" id="53" descr="/tmp/un/ppt/media/image66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81" id="81"/>
          <p:cNvGrpSpPr/>
          <p:nvPr/>
        </p:nvGrpSpPr>
        <p:grpSpPr>
          <a:xfrm rot="0">
            <a:off x="9612422" y="7863840"/>
            <a:ext cx="343314" cy="502920"/>
            <a:chOff x="0" y="0"/>
            <a:chExt cx="678307" cy="99364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78307" cy="993648"/>
            </a:xfrm>
            <a:custGeom>
              <a:avLst/>
              <a:gdLst/>
              <a:ahLst/>
              <a:cxnLst/>
              <a:rect r="r" b="b" t="t" l="l"/>
              <a:pathLst>
                <a:path h="993648" w="678307">
                  <a:moveTo>
                    <a:pt x="0" y="0"/>
                  </a:moveTo>
                  <a:lnTo>
                    <a:pt x="678307" y="0"/>
                  </a:lnTo>
                  <a:lnTo>
                    <a:pt x="678307" y="993648"/>
                  </a:lnTo>
                  <a:lnTo>
                    <a:pt x="0" y="993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-1197" r="0" b="-1198"/>
              </a:stretch>
            </a:blipFill>
          </p:spPr>
          <p:txBody>
            <a:bodyPr/>
            <a:p/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178540" y="7863840"/>
            <a:ext cx="502920" cy="502920"/>
            <a:chOff x="0" y="0"/>
            <a:chExt cx="1024128" cy="102412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824460" y="7863840"/>
            <a:ext cx="502920" cy="502920"/>
            <a:chOff x="0" y="0"/>
            <a:chExt cx="1024128" cy="10241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470379" y="7863840"/>
            <a:ext cx="502920" cy="502920"/>
            <a:chOff x="0" y="0"/>
            <a:chExt cx="1024128" cy="1024128"/>
          </a:xfrm>
        </p:grpSpPr>
        <p:sp>
          <p:nvSpPr>
            <p:cNvPr name="Freeform 59" id="59" descr="/tmp/un/ppt/media/image69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6116300" y="7863840"/>
            <a:ext cx="502920" cy="502920"/>
            <a:chOff x="0" y="0"/>
            <a:chExt cx="1024128" cy="102412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DAG8JFa4rfI</dc:identifier>
  <dcterms:modified xsi:type="dcterms:W3CDTF">2011-08-01T06:04:30Z</dcterms:modified>
  <cp:revision>1</cp:revision>
  <dc:title>TCC_WEFIND_APREESNTACAO_QUALIFICACAO_VERSAO_ORIGINAL</dc:title>
</cp:coreProperties>
</file>