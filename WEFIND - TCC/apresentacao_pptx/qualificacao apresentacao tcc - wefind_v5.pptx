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88" r:id="rId45"/>
    <p:sldId id="272" r:id="rId22"/>
    <p:sldId id="273" r:id="rId23"/>
    <p:sldId id="274" r:id="rId24"/>
    <p:sldId id="275" r:id="rId25"/>
    <p:sldId id="290" r:id="rId47"/>
    <p:sldId id="289" r:id="rId46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91" r:id="rId48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Cooper BT Bold" charset="1" panose="0208080404030B020404"/>
      <p:regular r:id="rId38"/>
    </p:embeddedFont>
    <p:embeddedFont>
      <p:font typeface="Cooper BT Light" charset="1" panose="0208050304030B020404"/>
      <p:regular r:id="rId39"/>
    </p:embeddedFont>
    <p:embeddedFont>
      <p:font typeface="Cambria Bold" charset="1" panose="02040803050406030204"/>
      <p:regular r:id="rId40"/>
    </p:embeddedFont>
    <p:embeddedFont>
      <p:font typeface="Calibri (MS)" charset="1" panose="020F0502020204030204"/>
      <p:regular r:id="rId41"/>
    </p:embeddedFont>
    <p:embeddedFont>
      <p:font typeface="Calibri (MS) Bold" charset="1" panose="020F0702030404030204"/>
      <p:regular r:id="rId42"/>
    </p:embeddedFont>
    <p:embeddedFont>
      <p:font typeface="Calibri (MS) Italics" charset="1" panose="020F05020202040A0204"/>
      <p:regular r:id="rId43"/>
    </p:embeddedFont>
    <p:embeddedFont>
      <p:font typeface="Roboto Bold" charset="1" panose="020000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  <Relationship Id="rId48" Type="http://schemas.openxmlformats.org/officeDocument/2006/relationships/slide" Target="slides/slide36.xml"/>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43.png" Type="http://schemas.openxmlformats.org/officeDocument/2006/relationships/image"/><Relationship Id="rId12" Target="../media/image44.svg" Type="http://schemas.openxmlformats.org/officeDocument/2006/relationships/image"/><Relationship Id="rId13" Target="../media/image45.png" Type="http://schemas.openxmlformats.org/officeDocument/2006/relationships/image"/><Relationship Id="rId14" Target="../media/image46.svg" Type="http://schemas.openxmlformats.org/officeDocument/2006/relationships/image"/><Relationship Id="rId15" Target="../media/image47.png" Type="http://schemas.openxmlformats.org/officeDocument/2006/relationships/image"/><Relationship Id="rId16" Target="../media/image48.svg" Type="http://schemas.openxmlformats.org/officeDocument/2006/relationships/image"/><Relationship Id="rId17" Target="../media/image49.png" Type="http://schemas.openxmlformats.org/officeDocument/2006/relationships/image"/><Relationship Id="rId18" Target="../media/image50.svg" Type="http://schemas.openxmlformats.org/officeDocument/2006/relationships/image"/><Relationship Id="rId19" Target="../media/image51.png" Type="http://schemas.openxmlformats.org/officeDocument/2006/relationships/image"/><Relationship Id="rId2" Target="../media/image3.jpeg" Type="http://schemas.openxmlformats.org/officeDocument/2006/relationships/image"/><Relationship Id="rId20" Target="../media/image52.sv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15" Target="../media/image24.png" Type="http://schemas.openxmlformats.org/officeDocument/2006/relationships/image"/><Relationship Id="rId16" Target="../media/image27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5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5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14" Target="../media/image63.png" Type="http://schemas.openxmlformats.org/officeDocument/2006/relationships/image"/><Relationship Id="rId15" Target="../media/image64.png" Type="http://schemas.openxmlformats.org/officeDocument/2006/relationships/image"/><Relationship Id="rId16" Target="../media/image65.png" Type="http://schemas.openxmlformats.org/officeDocument/2006/relationships/image"/><Relationship Id="rId17" Target="../media/image66.png" Type="http://schemas.openxmlformats.org/officeDocument/2006/relationships/image"/><Relationship Id="rId18" Target="../media/image67.png" Type="http://schemas.openxmlformats.org/officeDocument/2006/relationships/image"/><Relationship Id="rId19" Target="../media/image68.png" Type="http://schemas.openxmlformats.org/officeDocument/2006/relationships/image"/><Relationship Id="rId2" Target="../media/image4.jpeg" Type="http://schemas.openxmlformats.org/officeDocument/2006/relationships/image"/><Relationship Id="rId20" Target="../media/image69.png" Type="http://schemas.openxmlformats.org/officeDocument/2006/relationships/image"/><Relationship Id="rId21" Target="../media/image70.pn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75.png" Type="http://schemas.openxmlformats.org/officeDocument/2006/relationships/image"/><Relationship Id="rId17" Target="../media/image69.png" Type="http://schemas.openxmlformats.org/officeDocument/2006/relationships/image"/><Relationship Id="rId18" Target="../media/image76.png" Type="http://schemas.openxmlformats.org/officeDocument/2006/relationships/image"/><Relationship Id="rId19" Target="../media/image77.png" Type="http://schemas.openxmlformats.org/officeDocument/2006/relationships/image"/><Relationship Id="rId2" Target="../media/image4.jpeg" Type="http://schemas.openxmlformats.org/officeDocument/2006/relationships/image"/><Relationship Id="rId20" Target="../media/image78.png" Type="http://schemas.openxmlformats.org/officeDocument/2006/relationships/image"/><Relationship Id="rId21" Target="../media/image79.png" Type="http://schemas.openxmlformats.org/officeDocument/2006/relationships/image"/><Relationship Id="rId22" Target="../media/image80.png" Type="http://schemas.openxmlformats.org/officeDocument/2006/relationships/image"/><Relationship Id="rId23" Target="../media/image81.png" Type="http://schemas.openxmlformats.org/officeDocument/2006/relationships/image"/><Relationship Id="rId24" Target="../media/image82.png" Type="http://schemas.openxmlformats.org/officeDocument/2006/relationships/image"/><Relationship Id="rId25" Target="../media/image83.png" Type="http://schemas.openxmlformats.org/officeDocument/2006/relationships/image"/><Relationship Id="rId26" Target="../media/image84.pn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55.png" Type="http://schemas.openxmlformats.org/officeDocument/2006/relationships/image"/><Relationship Id="rId7" Target="../media/image71.png" Type="http://schemas.openxmlformats.org/officeDocument/2006/relationships/image"/><Relationship Id="rId8" Target="../media/image57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6.jpeg" Type="http://schemas.openxmlformats.org/officeDocument/2006/relationships/image"/><Relationship Id="rId7" Target="../media/image87.jpeg" Type="http://schemas.openxmlformats.org/officeDocument/2006/relationships/image"/><Relationship Id="rId8" Target="../media/image88.jpeg" Type="http://schemas.openxmlformats.org/officeDocument/2006/relationships/image"/><Relationship Id="rId9" Target="../media/image89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9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9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200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15" Target="../media/image24.png" Type="http://schemas.openxmlformats.org/officeDocument/2006/relationships/image"/><Relationship Id="rId16" Target="../media/image27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15" Target="../media/image24.png" Type="http://schemas.openxmlformats.org/officeDocument/2006/relationships/image"/><Relationship Id="rId16" Target="../media/image27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770758"/>
            <a:ext cx="15823606" cy="10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57524"/>
            <a:ext cx="13922893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073390"/>
            <a:ext cx="13525500" cy="57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472811"/>
            <a:ext cx="13525500" cy="57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839200"/>
            <a:ext cx="13525500" cy="57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25084"/>
            <a:ext cx="13600671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857" r="0" b="-2348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2538889"/>
            <a:ext cx="1828800" cy="1484471"/>
            <a:chOff x="0" y="0"/>
            <a:chExt cx="2438400" cy="1979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2531745"/>
            <a:ext cx="1828800" cy="1491615"/>
            <a:chOff x="0" y="0"/>
            <a:chExt cx="2438400" cy="19888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26080" y="2695575"/>
            <a:ext cx="60350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26080" y="3229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26880" y="2538889"/>
            <a:ext cx="1828800" cy="1484471"/>
            <a:chOff x="0" y="0"/>
            <a:chExt cx="2438400" cy="19792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26880" y="2531745"/>
            <a:ext cx="1828800" cy="1491615"/>
            <a:chOff x="0" y="0"/>
            <a:chExt cx="2438400" cy="19888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338560" y="2695575"/>
            <a:ext cx="60350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338560" y="3229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14400" y="4824889"/>
            <a:ext cx="1828800" cy="1484471"/>
            <a:chOff x="0" y="0"/>
            <a:chExt cx="2438400" cy="197929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4817745"/>
            <a:ext cx="1828800" cy="1491615"/>
            <a:chOff x="0" y="0"/>
            <a:chExt cx="2438400" cy="19888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2926080" y="4981575"/>
            <a:ext cx="60350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926080" y="5515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326880" y="4824889"/>
            <a:ext cx="1828800" cy="1484471"/>
            <a:chOff x="0" y="0"/>
            <a:chExt cx="2438400" cy="19792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326880" y="4817745"/>
            <a:ext cx="1828800" cy="1491615"/>
            <a:chOff x="0" y="0"/>
            <a:chExt cx="2438400" cy="19888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1338560" y="4981575"/>
            <a:ext cx="60350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338560" y="5515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14400" y="7110889"/>
            <a:ext cx="1828800" cy="1484471"/>
            <a:chOff x="0" y="0"/>
            <a:chExt cx="2438400" cy="19792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14400" y="7103745"/>
            <a:ext cx="1828800" cy="1491615"/>
            <a:chOff x="0" y="0"/>
            <a:chExt cx="2438400" cy="19888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2926080" y="7267575"/>
            <a:ext cx="60350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926080" y="7801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326880" y="7110889"/>
            <a:ext cx="1828800" cy="1484471"/>
            <a:chOff x="0" y="0"/>
            <a:chExt cx="2438400" cy="197929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326880" y="7103745"/>
            <a:ext cx="1828800" cy="1491615"/>
            <a:chOff x="0" y="0"/>
            <a:chExt cx="2438400" cy="19888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1338560" y="7267575"/>
            <a:ext cx="6035040" cy="55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338560" y="7801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15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8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411480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375761"/>
            <a:ext cx="10972800" cy="447199"/>
            <a:chOff x="0" y="0"/>
            <a:chExt cx="14630400" cy="5962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96265"/>
            </a:xfrm>
            <a:custGeom>
              <a:avLst/>
              <a:gdLst/>
              <a:ahLst/>
              <a:cxnLst/>
              <a:rect r="r" b="b" t="t" l="l"/>
              <a:pathLst>
                <a:path h="5962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767" r="0" b="-42776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340042"/>
            <a:ext cx="10972800" cy="482918"/>
            <a:chOff x="0" y="0"/>
            <a:chExt cx="14630400" cy="6438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643890"/>
            </a:xfrm>
            <a:custGeom>
              <a:avLst/>
              <a:gdLst/>
              <a:ahLst/>
              <a:cxnLst/>
              <a:rect r="r" b="b" t="t" l="l"/>
              <a:pathLst>
                <a:path h="6438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3890"/>
                  </a:lnTo>
                  <a:lnTo>
                    <a:pt x="0" y="643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2429" r="0" b="-39242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304324"/>
            <a:ext cx="10972800" cy="518636"/>
            <a:chOff x="0" y="0"/>
            <a:chExt cx="14630400" cy="6915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691515"/>
            </a:xfrm>
            <a:custGeom>
              <a:avLst/>
              <a:gdLst/>
              <a:ahLst/>
              <a:cxnLst/>
              <a:rect r="r" b="b" t="t" l="l"/>
              <a:pathLst>
                <a:path h="6915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91515"/>
                  </a:lnTo>
                  <a:lnTo>
                    <a:pt x="0" y="691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1959" r="0" b="-36195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268605"/>
            <a:ext cx="10972800" cy="554355"/>
            <a:chOff x="0" y="0"/>
            <a:chExt cx="14630400" cy="739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739140"/>
            </a:xfrm>
            <a:custGeom>
              <a:avLst/>
              <a:gdLst/>
              <a:ahLst/>
              <a:cxnLst/>
              <a:rect r="r" b="b" t="t" l="l"/>
              <a:pathLst>
                <a:path h="7391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683" r="0" b="-33568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4630400" cy="786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INTRODUÇÃO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6038" r="0" b="-20603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212848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Perder um pet é comum; a busca é dispersa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803310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195816" y="2554576"/>
            <a:ext cx="4556855" cy="1149953"/>
            <a:chOff x="0" y="0"/>
            <a:chExt cx="6075807" cy="15332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95816" y="2618870"/>
            <a:ext cx="4556855" cy="1085660"/>
            <a:chOff x="0" y="0"/>
            <a:chExt cx="6075807" cy="144754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95816" y="2683164"/>
            <a:ext cx="4556884" cy="1021413"/>
            <a:chOff x="0" y="0"/>
            <a:chExt cx="6075845" cy="13618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1" r="0" b="-36874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95816" y="2747458"/>
            <a:ext cx="4556884" cy="957120"/>
            <a:chOff x="0" y="0"/>
            <a:chExt cx="6075845" cy="1276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75845" cy="1276159"/>
            </a:xfrm>
            <a:custGeom>
              <a:avLst/>
              <a:gdLst/>
              <a:ahLst/>
              <a:cxnLst/>
              <a:rect r="r" b="b" t="t" l="l"/>
              <a:pathLst>
                <a:path h="1276159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276159"/>
                  </a:lnTo>
                  <a:lnTo>
                    <a:pt x="0" y="12761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69" r="0" b="-4276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85725"/>
              <a:ext cx="6075845" cy="1190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195816" y="3652180"/>
            <a:ext cx="4556884" cy="125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cães e gatos se perderam ao menos uma vez em cinco anos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5816" y="4792180"/>
            <a:ext cx="4556884" cy="48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EUA · Weiss et al., 2012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6450197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6842693" y="2554576"/>
            <a:ext cx="4556855" cy="1149953"/>
            <a:chOff x="0" y="0"/>
            <a:chExt cx="6075807" cy="15332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842693" y="2618870"/>
            <a:ext cx="4556855" cy="1085660"/>
            <a:chOff x="0" y="0"/>
            <a:chExt cx="6075807" cy="144754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842693" y="2683164"/>
            <a:ext cx="4556884" cy="1021413"/>
            <a:chOff x="0" y="0"/>
            <a:chExt cx="6075845" cy="13618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1" r="0" b="-36874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842693" y="2747458"/>
            <a:ext cx="4556884" cy="957120"/>
            <a:chOff x="0" y="0"/>
            <a:chExt cx="6075845" cy="12761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75845" cy="1276159"/>
            </a:xfrm>
            <a:custGeom>
              <a:avLst/>
              <a:gdLst/>
              <a:ahLst/>
              <a:cxnLst/>
              <a:rect r="r" b="b" t="t" l="l"/>
              <a:pathLst>
                <a:path h="1276159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276159"/>
                  </a:lnTo>
                  <a:lnTo>
                    <a:pt x="0" y="12761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69" r="0" b="-4276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85725"/>
              <a:ext cx="6075845" cy="1190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75%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6842693" y="3652180"/>
            <a:ext cx="4556884" cy="125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achados estavam a até 500 m do ponto de fuga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842693" y="4792180"/>
            <a:ext cx="4556884" cy="48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2097074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2489580" y="2554576"/>
            <a:ext cx="4556855" cy="1149953"/>
            <a:chOff x="0" y="0"/>
            <a:chExt cx="6075807" cy="15332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489580" y="2618870"/>
            <a:ext cx="4556855" cy="1085660"/>
            <a:chOff x="0" y="0"/>
            <a:chExt cx="6075807" cy="144754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489580" y="2683164"/>
            <a:ext cx="4556884" cy="1021413"/>
            <a:chOff x="0" y="0"/>
            <a:chExt cx="6075845" cy="13618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1" r="0" b="-36874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489580" y="2747458"/>
            <a:ext cx="4556884" cy="957120"/>
            <a:chOff x="0" y="0"/>
            <a:chExt cx="6075845" cy="12761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75845" cy="1276159"/>
            </a:xfrm>
            <a:custGeom>
              <a:avLst/>
              <a:gdLst/>
              <a:ahLst/>
              <a:cxnLst/>
              <a:rect r="r" b="b" t="t" l="l"/>
              <a:pathLst>
                <a:path h="1276159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276159"/>
                  </a:lnTo>
                  <a:lnTo>
                    <a:pt x="0" y="12761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69" r="0" b="-4276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85725"/>
              <a:ext cx="6075845" cy="1190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50%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2489580" y="3652180"/>
            <a:ext cx="4556884" cy="125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achados vivos apareceram nos primeiros 30 dias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489580" y="4792180"/>
            <a:ext cx="4556884" cy="48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0">
            <a:off x="803310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" t="0" r="-11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183310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485814" y="6565001"/>
            <a:ext cx="519970" cy="519970"/>
            <a:chOff x="0" y="0"/>
            <a:chExt cx="693293" cy="693293"/>
          </a:xfrm>
        </p:grpSpPr>
        <p:sp>
          <p:nvSpPr>
            <p:cNvPr name="Freeform 74" id="74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2625814" y="5763301"/>
            <a:ext cx="5950325" cy="78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Informação dispersa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625814" y="6447596"/>
            <a:ext cx="5950325" cy="135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Redes sociais, grupos, cartazes e vizinhos: fica difícil acompanhar as atualizações da busca.</a:t>
            </a:r>
          </a:p>
        </p:txBody>
      </p:sp>
      <p:sp>
        <p:nvSpPr>
          <p:cNvPr name="Freeform 77" id="77"/>
          <p:cNvSpPr/>
          <p:nvPr/>
        </p:nvSpPr>
        <p:spPr>
          <a:xfrm flipH="false" flipV="false" rot="0">
            <a:off x="9273635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" t="0" r="-11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9653645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9956140" y="6565001"/>
            <a:ext cx="519970" cy="519970"/>
            <a:chOff x="0" y="0"/>
            <a:chExt cx="693293" cy="693293"/>
          </a:xfrm>
        </p:grpSpPr>
        <p:sp>
          <p:nvSpPr>
            <p:cNvPr name="Freeform 80" id="80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1096139" y="5763301"/>
            <a:ext cx="5950325" cy="78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em risco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096139" y="6447596"/>
            <a:ext cx="5950325" cy="135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Divulgar telefone e endereço expõe dados pessoais de quem participa da busca.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440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80238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834516"/>
            </a:xfrm>
            <a:custGeom>
              <a:avLst/>
              <a:gdLst/>
              <a:ahLst/>
              <a:cxnLst/>
              <a:rect r="r" b="b" t="t" l="l"/>
              <a:pathLst>
                <a:path h="18345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6"/>
                  </a:lnTo>
                  <a:lnTo>
                    <a:pt x="0" y="18345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761" t="0" r="-27176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73152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58368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83680" y="3802380"/>
            <a:ext cx="51206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identificada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8368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1834516"/>
            </a:xfrm>
            <a:custGeom>
              <a:avLst/>
              <a:gdLst/>
              <a:ahLst/>
              <a:cxnLst/>
              <a:rect r="r" b="b" t="t" l="l"/>
              <a:pathLst>
                <a:path h="18345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6"/>
                  </a:lnTo>
                  <a:lnTo>
                    <a:pt x="0" y="18345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761" t="0" r="-27176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23825"/>
              <a:ext cx="73152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25296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52960" y="380238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5296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39" id="39"/>
          <p:cNvSpPr/>
          <p:nvPr/>
        </p:nvSpPr>
        <p:spPr>
          <a:xfrm rot="1980">
            <a:off x="890578" y="6564630"/>
            <a:ext cx="16506835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914400" y="6819900"/>
            <a:ext cx="7315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7269480"/>
            <a:ext cx="694944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44000" y="6819900"/>
            <a:ext cx="7315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44000" y="7269480"/>
            <a:ext cx="804672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 e exploratório-descritiva: campo, sistemas similares e teste de usabilidade e vulnerabilidade.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459200" y="9585960"/>
            <a:ext cx="9144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Sete passos até o aplicativo avaliado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459200" y="9585960"/>
            <a:ext cx="9144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900114" y="4985399"/>
            <a:ext cx="16487772" cy="9496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914400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" y="4839653"/>
            <a:ext cx="320040" cy="320040"/>
            <a:chOff x="0" y="0"/>
            <a:chExt cx="426720" cy="426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14400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Identificar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dificuldades relatadas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65713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265713" y="4839653"/>
            <a:ext cx="320040" cy="320040"/>
            <a:chOff x="0" y="0"/>
            <a:chExt cx="426720" cy="426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3265713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Analisar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265713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17026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617026" y="4839653"/>
            <a:ext cx="320040" cy="320040"/>
            <a:chOff x="0" y="0"/>
            <a:chExt cx="426720" cy="426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5617026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Definir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17026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requisitos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68339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968339" y="4839653"/>
            <a:ext cx="320040" cy="320040"/>
            <a:chOff x="0" y="0"/>
            <a:chExt cx="426720" cy="426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968339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Modelar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968339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sistema em UML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19652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319652" y="4839653"/>
            <a:ext cx="320040" cy="320040"/>
            <a:chOff x="0" y="0"/>
            <a:chExt cx="426720" cy="426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0319652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Projetar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319652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70974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6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670974" y="4839653"/>
            <a:ext cx="320040" cy="320040"/>
            <a:chOff x="0" y="0"/>
            <a:chExt cx="426720" cy="426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2670974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Implementar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70974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com React Native e Supabase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022287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5022287" y="4839653"/>
            <a:ext cx="320040" cy="320040"/>
            <a:chOff x="0" y="0"/>
            <a:chExt cx="426720" cy="426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5022287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022287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(SUS)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15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8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participantes descreveram o problema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13" id="13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0" r="0" b="-11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887200" y="2173129"/>
            <a:ext cx="2743200" cy="1484471"/>
            <a:chOff x="0" y="0"/>
            <a:chExt cx="3657600" cy="19792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30" t="0" r="-1943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30400" y="2186940"/>
            <a:ext cx="2743200" cy="101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30400" y="3009900"/>
            <a:ext cx="27432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25" id="25"/>
          <p:cNvSpPr/>
          <p:nvPr/>
        </p:nvSpPr>
        <p:spPr>
          <a:xfrm rot="5940">
            <a:off x="11863368" y="4187190"/>
            <a:ext cx="5534082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887200" y="4367689"/>
            <a:ext cx="2743200" cy="1484471"/>
            <a:chOff x="0" y="0"/>
            <a:chExt cx="3657600" cy="19792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30" t="0" r="-1943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657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630400" y="4381500"/>
            <a:ext cx="2743200" cy="101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30400" y="5204460"/>
            <a:ext cx="27432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37" id="37"/>
          <p:cNvSpPr/>
          <p:nvPr/>
        </p:nvSpPr>
        <p:spPr>
          <a:xfrm rot="5940">
            <a:off x="11863368" y="6381750"/>
            <a:ext cx="5534082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0" y="6562249"/>
            <a:ext cx="2743200" cy="1484471"/>
            <a:chOff x="0" y="0"/>
            <a:chExt cx="3657600" cy="197929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30" t="0" r="-1943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657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4630400" y="6576060"/>
            <a:ext cx="2743200" cy="101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630400" y="7399020"/>
            <a:ext cx="27432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" y="8587740"/>
            <a:ext cx="164592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conveniência, recrutada em um grupo de proteção animal no Facebook. Os resultados descrevem apenas o grupo consultado e não se generalizam.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914400" y="2194560"/>
          <a:ext cx="16319500" cy="6858000"/>
        </p:xfrm>
        <a:graphic>
          <a:graphicData uri="http://schemas.openxmlformats.org/drawingml/2006/table">
            <a:tbl>
              <a:tblPr/>
              <a:tblGrid>
                <a:gridCol w="6709128"/>
                <a:gridCol w="1922074"/>
                <a:gridCol w="1922074"/>
                <a:gridCol w="1922074"/>
                <a:gridCol w="1922074"/>
                <a:gridCol w="1922074"/>
              </a:tblGrid>
              <a:tr h="5886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26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73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15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6038" r="0" b="-20603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12848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 requisitos funcionais centrais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1045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8061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346911" y="2776738"/>
            <a:ext cx="460820" cy="460820"/>
            <a:chOff x="0" y="0"/>
            <a:chExt cx="614426" cy="614426"/>
          </a:xfrm>
        </p:grpSpPr>
        <p:sp>
          <p:nvSpPr>
            <p:cNvPr name="Freeform 27" id="2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331720" y="23556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31720" y="28833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43401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704171" y="2510438"/>
            <a:ext cx="993458" cy="993457"/>
          </a:xfrm>
          <a:custGeom>
            <a:avLst/>
            <a:gdLst/>
            <a:ahLst/>
            <a:cxnLst/>
            <a:rect r="r" b="b" t="t" l="l"/>
            <a:pathLst>
              <a:path h="993457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970471" y="2776738"/>
            <a:ext cx="460820" cy="460820"/>
            <a:chOff x="0" y="0"/>
            <a:chExt cx="614426" cy="614426"/>
          </a:xfrm>
        </p:grpSpPr>
        <p:sp>
          <p:nvSpPr>
            <p:cNvPr name="Freeform 33" id="3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955280" y="23556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955280" y="28833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205757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32773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2594031" y="2776738"/>
            <a:ext cx="460820" cy="460820"/>
            <a:chOff x="0" y="0"/>
            <a:chExt cx="614426" cy="614426"/>
          </a:xfrm>
        </p:grpSpPr>
        <p:sp>
          <p:nvSpPr>
            <p:cNvPr name="Freeform 39" id="3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3578840" y="23556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78840" y="28833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81045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8061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346911" y="4605538"/>
            <a:ext cx="460820" cy="460820"/>
            <a:chOff x="0" y="0"/>
            <a:chExt cx="614426" cy="614426"/>
          </a:xfrm>
        </p:grpSpPr>
        <p:sp>
          <p:nvSpPr>
            <p:cNvPr name="Freeform 45" id="4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2331720" y="41844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331720" y="47121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643401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704171" y="4339238"/>
            <a:ext cx="993458" cy="993458"/>
          </a:xfrm>
          <a:custGeom>
            <a:avLst/>
            <a:gdLst/>
            <a:ahLst/>
            <a:cxnLst/>
            <a:rect r="r" b="b" t="t" l="l"/>
            <a:pathLst>
              <a:path h="993458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6970471" y="4605538"/>
            <a:ext cx="460820" cy="460820"/>
            <a:chOff x="0" y="0"/>
            <a:chExt cx="614426" cy="614426"/>
          </a:xfrm>
        </p:grpSpPr>
        <p:sp>
          <p:nvSpPr>
            <p:cNvPr name="Freeform 51" id="5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7955280" y="41844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955280" y="47121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205757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232773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2594031" y="4605538"/>
            <a:ext cx="460820" cy="460820"/>
            <a:chOff x="0" y="0"/>
            <a:chExt cx="614426" cy="614426"/>
          </a:xfrm>
        </p:grpSpPr>
        <p:sp>
          <p:nvSpPr>
            <p:cNvPr name="Freeform 57" id="5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3578840" y="41844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578840" y="47121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13816" y="5943600"/>
            <a:ext cx="5376672" cy="1143000"/>
            <a:chOff x="0" y="0"/>
            <a:chExt cx="7168896" cy="1524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161288" y="6103620"/>
            <a:ext cx="4754880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com QR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437376" y="5943600"/>
            <a:ext cx="5376672" cy="1143000"/>
            <a:chOff x="0" y="0"/>
            <a:chExt cx="7168896" cy="1524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6784848" y="6103620"/>
            <a:ext cx="4754880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 da publicação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2060936" y="5943600"/>
            <a:ext cx="5376672" cy="1143000"/>
            <a:chOff x="0" y="0"/>
            <a:chExt cx="7168896" cy="1524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2408408" y="6103620"/>
            <a:ext cx="4754880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813816" y="7315200"/>
            <a:ext cx="5376672" cy="1143000"/>
            <a:chOff x="0" y="0"/>
            <a:chExt cx="7168896" cy="1524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161288" y="7475220"/>
            <a:ext cx="4754880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RF18  Tutela e encontro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6437376" y="7315200"/>
            <a:ext cx="5376672" cy="1143000"/>
            <a:chOff x="0" y="0"/>
            <a:chExt cx="7168896" cy="1524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6784848" y="7475220"/>
            <a:ext cx="4754880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RF19 e RF20  Meus pets e adoção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060936" y="7315200"/>
            <a:ext cx="5376672" cy="1143000"/>
            <a:chOff x="0" y="0"/>
            <a:chExt cx="7168896" cy="1524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2408408" y="7475220"/>
            <a:ext cx="4754880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RF21  Classificação de membros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74494"/>
            </a:xfrm>
            <a:custGeom>
              <a:avLst/>
              <a:gdLst/>
              <a:ahLst/>
              <a:cxnLst/>
              <a:rect r="r" b="b" t="t" l="l"/>
              <a:pathLst>
                <a:path h="1674494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4"/>
                  </a:lnTo>
                  <a:lnTo>
                    <a:pt x="0" y="16744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495" r="0" b="-2074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212848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23" id="2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880360" y="254508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80360" y="341376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29" id="2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315700" y="254508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15700" y="341376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(16 de 20 preferiram ocultar o exato).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569976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656844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569976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656844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2960" y="8587740"/>
            <a:ext cx="16596360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53"/>
            <a:chOff x="0" y="0"/>
            <a:chExt cx="21945600" cy="5086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097"/>
            <a:chOff x="0" y="0"/>
            <a:chExt cx="21945600" cy="50961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29"/>
            </a:xfrm>
            <a:custGeom>
              <a:avLst/>
              <a:gdLst/>
              <a:ahLst/>
              <a:cxnLst/>
              <a:rect r="r" b="b" t="t" l="l"/>
              <a:pathLst>
                <a:path h="50961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29"/>
                  </a:lnTo>
                  <a:lnTo>
                    <a:pt x="0" y="50961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50" r="0" b="-3385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-204045"/>
            <a:ext cx="16459200" cy="3829260"/>
            <a:chOff x="0" y="0"/>
            <a:chExt cx="21945600" cy="51056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105654"/>
            </a:xfrm>
            <a:custGeom>
              <a:avLst/>
              <a:gdLst/>
              <a:ahLst/>
              <a:cxnLst/>
              <a:rect r="r" b="b" t="t" l="l"/>
              <a:pathLst>
                <a:path h="51056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05654"/>
                  </a:lnTo>
                  <a:lnTo>
                    <a:pt x="0" y="51056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93" r="0" b="-3369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-211188"/>
            <a:ext cx="16459200" cy="3836403"/>
            <a:chOff x="0" y="0"/>
            <a:chExt cx="21945600" cy="51152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5115205"/>
            </a:xfrm>
            <a:custGeom>
              <a:avLst/>
              <a:gdLst/>
              <a:ahLst/>
              <a:cxnLst/>
              <a:rect r="r" b="b" t="t" l="l"/>
              <a:pathLst>
                <a:path h="51152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15205"/>
                  </a:lnTo>
                  <a:lnTo>
                    <a:pt x="0" y="51152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96" r="0" b="-3359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512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1980">
            <a:off x="882644" y="2957131"/>
            <a:ext cx="1652272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4400" y="3558540"/>
            <a:ext cx="384048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4158615"/>
            <a:ext cx="38404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4973955"/>
            <a:ext cx="3749040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120640" y="3558540"/>
            <a:ext cx="384048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20640" y="4158615"/>
            <a:ext cx="38404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20640" y="4973955"/>
            <a:ext cx="3749040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326880" y="3558540"/>
            <a:ext cx="384048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26880" y="4158615"/>
            <a:ext cx="38404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26880" y="4973955"/>
            <a:ext cx="3749040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533120" y="3558540"/>
            <a:ext cx="384048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33120" y="4158615"/>
            <a:ext cx="38404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33120" y="4973955"/>
            <a:ext cx="3749040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Rotina de limpeza exclui a publicação e as fotos.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89611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99616" y="6938391"/>
            <a:ext cx="3383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9616" y="7351395"/>
            <a:ext cx="3383280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 o animal.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510235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705856" y="6938391"/>
            <a:ext cx="3383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705856" y="7351395"/>
            <a:ext cx="3383280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Quem achou ou viu o animal.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351483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4118336" y="6938391"/>
            <a:ext cx="3383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118336" y="7351395"/>
            <a:ext cx="3383280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4400" y="8722995"/>
            <a:ext cx="16459200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Limite: a limpeza roda ao abrir o mural e só alcança as publicações do próprio usuário.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08592" y="7164962"/>
            <a:ext cx="300514" cy="300514"/>
            <a:chOff x="0" y="0"/>
            <a:chExt cx="400685" cy="40068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0685" cy="400685"/>
            </a:xfrm>
            <a:custGeom>
              <a:avLst/>
              <a:gdLst/>
              <a:ahLst/>
              <a:cxnLst/>
              <a:rect r="r" b="b" t="t" l="l"/>
              <a:pathLst>
                <a:path h="400685" w="400685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cubicBezTo>
                    <a:pt x="310896" y="0"/>
                    <a:pt x="400685" y="89662"/>
                    <a:pt x="400685" y="200279"/>
                  </a:cubicBezTo>
                  <a:cubicBezTo>
                    <a:pt x="400685" y="310896"/>
                    <a:pt x="311023" y="400685"/>
                    <a:pt x="200406" y="400685"/>
                  </a:cubicBezTo>
                  <a:cubicBezTo>
                    <a:pt x="89789" y="400685"/>
                    <a:pt x="0" y="311023"/>
                    <a:pt x="0" y="200279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9912096" y="6938391"/>
            <a:ext cx="3383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E185D"/>
                </a:solidFill>
                <a:latin typeface="Cambria Bold"/>
                <a:ea typeface="Cambria Bold"/>
                <a:cs typeface="Cambria Bold"/>
                <a:sym typeface="Cambria Bold"/>
              </a:rPr>
              <a:t>Para adoção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912096" y="7351395"/>
            <a:ext cx="3383280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Encontrado, após 7 dias de busca.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6038" r="0" b="-20603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12848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Privacidade e reencontro seguro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27" id="2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880360" y="247840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0360" y="337566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e fotos do tutor; a devolução é combinada em local público.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33" id="3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315700" y="247840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por padrão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15700" y="337566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Público vê bairro e rua, sem número; no mapa, grade de ~1 km.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39" id="3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880360" y="563308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Meus pets e carteirinha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80360" y="653034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 preventivo com QR; “Meu pet fugiu” vira publicação.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45" id="4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315700" y="563308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 responsável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15700" y="653034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encontrado só vai para adoção após 7 dias de busca.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2960" y="8540115"/>
            <a:ext cx="1659636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LGPD e Privacy by Design (Cavoukian, 2009). 16 de 20 participantes preferiram ocultar o endereço exato.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01" r="0" b="-6520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709269"/>
            </a:xfrm>
            <a:custGeom>
              <a:avLst/>
              <a:gdLst/>
              <a:ahLst/>
              <a:cxnLst/>
              <a:rect r="r" b="b" t="t" l="l"/>
              <a:pathLst>
                <a:path h="370926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69"/>
                  </a:lnTo>
                  <a:lnTo>
                    <a:pt x="0" y="37092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281" r="0" b="-652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370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2960" y="2537460"/>
            <a:ext cx="667512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2960" y="2933700"/>
            <a:ext cx="6675120" cy="238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2960" y="4366260"/>
            <a:ext cx="667512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2960" y="4762500"/>
            <a:ext cx="667512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(com recompensa ou de forma anônima), registra avistamentos, conversa, cadastra seus pets, pede ou analisa a tutela, combina o encontro e classifica membros.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2960" y="7109460"/>
            <a:ext cx="667512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2960" y="7505700"/>
            <a:ext cx="6675120" cy="238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245801" y="-106337"/>
            <a:ext cx="9304811" cy="10431437"/>
            <a:chOff x="0" y="0"/>
            <a:chExt cx="12406414" cy="139085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06376" cy="13908532"/>
            </a:xfrm>
            <a:custGeom>
              <a:avLst/>
              <a:gdLst/>
              <a:ahLst/>
              <a:cxnLst/>
              <a:rect r="r" b="b" t="t" l="l"/>
              <a:pathLst>
                <a:path h="13908532" w="12406376">
                  <a:moveTo>
                    <a:pt x="0" y="0"/>
                  </a:moveTo>
                  <a:lnTo>
                    <a:pt x="12406376" y="0"/>
                  </a:lnTo>
                  <a:lnTo>
                    <a:pt x="12406376" y="13908532"/>
                  </a:lnTo>
                  <a:lnTo>
                    <a:pt x="0" y="13908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" t="0" r="-8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57565" y="124577"/>
            <a:ext cx="11398691" cy="10669181"/>
            <a:chOff x="0" y="0"/>
            <a:chExt cx="15198255" cy="142255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98217" cy="14225524"/>
            </a:xfrm>
            <a:custGeom>
              <a:avLst/>
              <a:gdLst/>
              <a:ahLst/>
              <a:cxnLst/>
              <a:rect r="r" b="b" t="t" l="l"/>
              <a:pathLst>
                <a:path h="14225524" w="15198217">
                  <a:moveTo>
                    <a:pt x="0" y="0"/>
                  </a:moveTo>
                  <a:lnTo>
                    <a:pt x="15198217" y="0"/>
                  </a:lnTo>
                  <a:lnTo>
                    <a:pt x="15198217" y="14225524"/>
                  </a:lnTo>
                  <a:lnTo>
                    <a:pt x="0" y="14225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2" r="0" b="-2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218694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258927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perfil e animais (AnimalEstimacao)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337566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377799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FotoPublicacao e Recompensa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456438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496671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com local, hora e foto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575310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615543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Notificacao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694182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Reencontro e prevenção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734415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SolicitacaoDevolucao e EncontroDevolucao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813054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 e Classificacao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853287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e notas entre membros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15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8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3444" y="2163604"/>
            <a:ext cx="5914072" cy="6554153"/>
            <a:chOff x="0" y="0"/>
            <a:chExt cx="7885430" cy="87388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85430" cy="8738870"/>
            </a:xfrm>
            <a:custGeom>
              <a:avLst/>
              <a:gdLst/>
              <a:ahLst/>
              <a:cxnLst/>
              <a:rect r="r" b="b" t="t" l="l"/>
              <a:pathLst>
                <a:path h="8738870" w="7885430">
                  <a:moveTo>
                    <a:pt x="0" y="0"/>
                  </a:moveTo>
                  <a:lnTo>
                    <a:pt x="7885430" y="0"/>
                  </a:lnTo>
                  <a:lnTo>
                    <a:pt x="7885430" y="8738870"/>
                  </a:lnTo>
                  <a:lnTo>
                    <a:pt x="0" y="87388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88720" y="2264664"/>
            <a:ext cx="530352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924324" y="2163604"/>
            <a:ext cx="5365432" cy="6554153"/>
            <a:chOff x="0" y="0"/>
            <a:chExt cx="7153910" cy="87388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53910" cy="8738870"/>
            </a:xfrm>
            <a:custGeom>
              <a:avLst/>
              <a:gdLst/>
              <a:ahLst/>
              <a:cxnLst/>
              <a:rect r="r" b="b" t="t" l="l"/>
              <a:pathLst>
                <a:path h="8738870" w="7153910">
                  <a:moveTo>
                    <a:pt x="0" y="0"/>
                  </a:moveTo>
                  <a:lnTo>
                    <a:pt x="7153910" y="0"/>
                  </a:lnTo>
                  <a:lnTo>
                    <a:pt x="7153910" y="8738870"/>
                  </a:lnTo>
                  <a:lnTo>
                    <a:pt x="0" y="87388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8229600" y="2264664"/>
            <a:ext cx="475488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416564" y="2163604"/>
            <a:ext cx="2987992" cy="6554153"/>
            <a:chOff x="0" y="0"/>
            <a:chExt cx="3983990" cy="87388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83990" cy="8738870"/>
            </a:xfrm>
            <a:custGeom>
              <a:avLst/>
              <a:gdLst/>
              <a:ahLst/>
              <a:cxnLst/>
              <a:rect r="r" b="b" t="t" l="l"/>
              <a:pathLst>
                <a:path h="8738870" w="3983990">
                  <a:moveTo>
                    <a:pt x="0" y="0"/>
                  </a:moveTo>
                  <a:lnTo>
                    <a:pt x="3983990" y="0"/>
                  </a:lnTo>
                  <a:lnTo>
                    <a:pt x="3983990" y="8738870"/>
                  </a:lnTo>
                  <a:lnTo>
                    <a:pt x="0" y="87388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4721840" y="2264664"/>
            <a:ext cx="237744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22" id="22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56816" y="3073241"/>
            <a:ext cx="1920240" cy="657511"/>
            <a:chOff x="0" y="0"/>
            <a:chExt cx="2560320" cy="8766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56816" y="3037522"/>
            <a:ext cx="1920240" cy="693230"/>
            <a:chOff x="0" y="0"/>
            <a:chExt cx="2560320" cy="9243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956816" y="3001804"/>
            <a:ext cx="1920240" cy="728948"/>
            <a:chOff x="0" y="0"/>
            <a:chExt cx="2560320" cy="9719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33" id="33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956816" y="4170521"/>
            <a:ext cx="1920240" cy="657511"/>
            <a:chOff x="0" y="0"/>
            <a:chExt cx="2560320" cy="87668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956816" y="4134803"/>
            <a:ext cx="1920240" cy="693230"/>
            <a:chOff x="0" y="0"/>
            <a:chExt cx="2560320" cy="9243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956816" y="4099084"/>
            <a:ext cx="1920240" cy="728948"/>
            <a:chOff x="0" y="0"/>
            <a:chExt cx="2560320" cy="9719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44" id="44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956816" y="5267801"/>
            <a:ext cx="1920240" cy="657511"/>
            <a:chOff x="0" y="0"/>
            <a:chExt cx="2560320" cy="8766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956816" y="5232082"/>
            <a:ext cx="1920240" cy="693230"/>
            <a:chOff x="0" y="0"/>
            <a:chExt cx="2560320" cy="92430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956816" y="5196364"/>
            <a:ext cx="1920240" cy="728948"/>
            <a:chOff x="0" y="0"/>
            <a:chExt cx="2560320" cy="97193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55" id="55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0016" y="6365843"/>
            <a:ext cx="1920240" cy="657511"/>
            <a:chOff x="0" y="0"/>
            <a:chExt cx="2560320" cy="87668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700016" y="6330125"/>
            <a:ext cx="1920240" cy="693230"/>
            <a:chOff x="0" y="0"/>
            <a:chExt cx="2560320" cy="9243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700016" y="6294406"/>
            <a:ext cx="1920240" cy="728948"/>
            <a:chOff x="0" y="0"/>
            <a:chExt cx="2560320" cy="9719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66" id="6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956816" y="7462361"/>
            <a:ext cx="1920240" cy="657511"/>
            <a:chOff x="0" y="0"/>
            <a:chExt cx="2560320" cy="87668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956816" y="7426643"/>
            <a:ext cx="1920240" cy="693230"/>
            <a:chOff x="0" y="0"/>
            <a:chExt cx="2560320" cy="92430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956816" y="7390924"/>
            <a:ext cx="1920240" cy="728948"/>
            <a:chOff x="0" y="0"/>
            <a:chExt cx="2560320" cy="9719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77" id="77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700016" y="3073241"/>
            <a:ext cx="1920240" cy="657511"/>
            <a:chOff x="0" y="0"/>
            <a:chExt cx="2560320" cy="87668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700016" y="3037522"/>
            <a:ext cx="1920240" cy="693230"/>
            <a:chOff x="0" y="0"/>
            <a:chExt cx="2560320" cy="92430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4700016" y="3001804"/>
            <a:ext cx="1920240" cy="728948"/>
            <a:chOff x="0" y="0"/>
            <a:chExt cx="2560320" cy="97193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88" id="88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4700016" y="4170521"/>
            <a:ext cx="1920240" cy="657511"/>
            <a:chOff x="0" y="0"/>
            <a:chExt cx="2560320" cy="87668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4700016" y="4134803"/>
            <a:ext cx="1920240" cy="693230"/>
            <a:chOff x="0" y="0"/>
            <a:chExt cx="2560320" cy="92430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4700016" y="4099084"/>
            <a:ext cx="1920240" cy="728948"/>
            <a:chOff x="0" y="0"/>
            <a:chExt cx="2560320" cy="97193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99" id="99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4700016" y="5267801"/>
            <a:ext cx="1920240" cy="657511"/>
            <a:chOff x="0" y="0"/>
            <a:chExt cx="2560320" cy="87668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4700016" y="5232082"/>
            <a:ext cx="1920240" cy="693230"/>
            <a:chOff x="0" y="0"/>
            <a:chExt cx="2560320" cy="92430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4700016" y="5196364"/>
            <a:ext cx="1920240" cy="728948"/>
            <a:chOff x="0" y="0"/>
            <a:chExt cx="2560320" cy="97193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110" id="110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956816" y="6365843"/>
            <a:ext cx="1920240" cy="657511"/>
            <a:chOff x="0" y="0"/>
            <a:chExt cx="2560320" cy="87668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956816" y="6330125"/>
            <a:ext cx="1920240" cy="693230"/>
            <a:chOff x="0" y="0"/>
            <a:chExt cx="2560320" cy="92430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956816" y="6294406"/>
            <a:ext cx="1920240" cy="728948"/>
            <a:chOff x="0" y="0"/>
            <a:chExt cx="2560320" cy="97193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121" id="12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122" id="122"/>
          <p:cNvSpPr txBox="true"/>
          <p:nvPr/>
        </p:nvSpPr>
        <p:spPr>
          <a:xfrm rot="0">
            <a:off x="9052560" y="2918460"/>
            <a:ext cx="402336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9052560" y="3358896"/>
            <a:ext cx="402336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124" id="12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127" r="0" b="-2127"/>
              </a:stretch>
            </a:blipFill>
          </p:spPr>
        </p:sp>
      </p:grpSp>
      <p:sp>
        <p:nvSpPr>
          <p:cNvPr name="TextBox 126" id="126"/>
          <p:cNvSpPr txBox="true"/>
          <p:nvPr/>
        </p:nvSpPr>
        <p:spPr>
          <a:xfrm rot="0">
            <a:off x="9052560" y="4015740"/>
            <a:ext cx="402336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9052560" y="4456176"/>
            <a:ext cx="402336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129" id="12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130" id="130"/>
          <p:cNvSpPr txBox="true"/>
          <p:nvPr/>
        </p:nvSpPr>
        <p:spPr>
          <a:xfrm rot="0">
            <a:off x="9052560" y="5113020"/>
            <a:ext cx="402336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9052560" y="5553456"/>
            <a:ext cx="402336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132" id="13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133" id="13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134" id="134"/>
          <p:cNvSpPr txBox="true"/>
          <p:nvPr/>
        </p:nvSpPr>
        <p:spPr>
          <a:xfrm rot="0">
            <a:off x="9052560" y="6210300"/>
            <a:ext cx="402336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9052560" y="6650736"/>
            <a:ext cx="402336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137" id="13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138" id="138"/>
          <p:cNvSpPr txBox="true"/>
          <p:nvPr/>
        </p:nvSpPr>
        <p:spPr>
          <a:xfrm rot="0">
            <a:off x="9052560" y="7307580"/>
            <a:ext cx="402336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9052560" y="7748016"/>
            <a:ext cx="402336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4721840" y="4472940"/>
            <a:ext cx="256032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4721840" y="4913376"/>
            <a:ext cx="25603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142" id="14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143" id="14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144" id="144"/>
          <p:cNvSpPr txBox="true"/>
          <p:nvPr/>
        </p:nvSpPr>
        <p:spPr>
          <a:xfrm rot="0">
            <a:off x="14721840" y="6484620"/>
            <a:ext cx="256032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4721840" y="6925056"/>
            <a:ext cx="25603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146" id="146"/>
          <p:cNvSpPr/>
          <p:nvPr/>
        </p:nvSpPr>
        <p:spPr>
          <a:xfrm rot="58740">
            <a:off x="6803155" y="5265420"/>
            <a:ext cx="1115501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7" id="147"/>
          <p:cNvSpPr txBox="true"/>
          <p:nvPr/>
        </p:nvSpPr>
        <p:spPr>
          <a:xfrm rot="0">
            <a:off x="6675120" y="4511040"/>
            <a:ext cx="13716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148" id="148"/>
          <p:cNvSpPr/>
          <p:nvPr/>
        </p:nvSpPr>
        <p:spPr>
          <a:xfrm rot="58740">
            <a:off x="13295395" y="5265420"/>
            <a:ext cx="1115501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9" id="149"/>
          <p:cNvSpPr txBox="true"/>
          <p:nvPr/>
        </p:nvSpPr>
        <p:spPr>
          <a:xfrm rot="0">
            <a:off x="13167360" y="4511040"/>
            <a:ext cx="13716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grpSp>
        <p:nvGrpSpPr>
          <p:cNvPr name="Group 151" id="15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4444" r="0" b="-4445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5087600" y="5687568"/>
            <a:ext cx="329184" cy="329184"/>
            <a:chOff x="0" y="0"/>
            <a:chExt cx="438912" cy="438912"/>
          </a:xfrm>
        </p:grpSpPr>
        <p:sp>
          <p:nvSpPr>
            <p:cNvPr name="Freeform 163" id="163" descr="/tmp/un/ppt/media/image72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2627376"/>
            <a:ext cx="4572000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13" id="13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7" id="17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21" id="21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AutoShape 22" id="22"/>
          <p:cNvSpPr/>
          <p:nvPr/>
        </p:nvSpPr>
        <p:spPr>
          <a:xfrm rot="1980">
            <a:off x="890578" y="3949446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914400" y="4511040"/>
            <a:ext cx="4572000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59536" y="4169664"/>
            <a:ext cx="768096" cy="768096"/>
            <a:chOff x="0" y="0"/>
            <a:chExt cx="1024128" cy="1024128"/>
          </a:xfrm>
        </p:grpSpPr>
        <p:sp>
          <p:nvSpPr>
            <p:cNvPr name="Freeform 25" id="25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443200" y="4169664"/>
            <a:ext cx="768096" cy="768096"/>
            <a:chOff x="0" y="0"/>
            <a:chExt cx="1024128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127" r="0" b="-212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26864" y="4169664"/>
            <a:ext cx="768096" cy="768096"/>
            <a:chOff x="0" y="0"/>
            <a:chExt cx="1024128" cy="1024128"/>
          </a:xfrm>
        </p:grpSpPr>
        <p:sp>
          <p:nvSpPr>
            <p:cNvPr name="Freeform 29" id="29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210528" y="4169664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094192" y="4169664"/>
            <a:ext cx="768096" cy="768096"/>
            <a:chOff x="0" y="0"/>
            <a:chExt cx="1024128" cy="1024128"/>
          </a:xfrm>
        </p:grpSpPr>
        <p:sp>
          <p:nvSpPr>
            <p:cNvPr name="Freeform 33" id="33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 rot="1980">
            <a:off x="890578" y="5833110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914400" y="6394704"/>
            <a:ext cx="4572000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verificação e avisos de avistamento, correspondência e devolução.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AutoShape 40" id="40"/>
          <p:cNvSpPr/>
          <p:nvPr/>
        </p:nvSpPr>
        <p:spPr>
          <a:xfrm rot="1980">
            <a:off x="890578" y="7716774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914400" y="8278368"/>
            <a:ext cx="4572000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Ferramentas de apoio; IA usada como auxiliar de programação e de conteúdo.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528816" y="7938797"/>
            <a:ext cx="768096" cy="768096"/>
            <a:chOff x="0" y="0"/>
            <a:chExt cx="1024128" cy="1024128"/>
          </a:xfrm>
        </p:grpSpPr>
        <p:sp>
          <p:nvSpPr>
            <p:cNvPr name="Freeform 43" id="43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57411" y="7938797"/>
            <a:ext cx="768096" cy="768096"/>
            <a:chOff x="0" y="0"/>
            <a:chExt cx="1024128" cy="1024128"/>
          </a:xfrm>
        </p:grpSpPr>
        <p:sp>
          <p:nvSpPr>
            <p:cNvPr name="Freeform 45" id="45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455267" y="7938797"/>
            <a:ext cx="768096" cy="768096"/>
            <a:chOff x="0" y="0"/>
            <a:chExt cx="1024128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183862" y="7938797"/>
            <a:ext cx="768096" cy="768096"/>
            <a:chOff x="0" y="0"/>
            <a:chExt cx="1024128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912457" y="7938797"/>
            <a:ext cx="768096" cy="768096"/>
            <a:chOff x="0" y="0"/>
            <a:chExt cx="1024128" cy="1024128"/>
          </a:xfrm>
        </p:grpSpPr>
        <p:sp>
          <p:nvSpPr>
            <p:cNvPr name="Freeform 51" id="51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5809214" y="2359152"/>
            <a:ext cx="1080516" cy="768096"/>
            <a:chOff x="0" y="0"/>
            <a:chExt cx="1440688" cy="1024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406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49590" t="0" r="-49590" b="0"/>
              </a:stretch>
            </a:blipFill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9986007" y="7950227"/>
            <a:ext cx="508760" cy="745236"/>
          </a:xfrm>
          <a:custGeom>
            <a:avLst/>
            <a:gdLst/>
            <a:ahLst/>
            <a:cxnLst/>
            <a:rect r="r" b="b" t="t" l="l"/>
            <a:pathLst>
              <a:path h="745236" w="508760">
                <a:moveTo>
                  <a:pt x="0" y="0"/>
                </a:moveTo>
                <a:lnTo>
                  <a:pt x="508760" y="0"/>
                </a:lnTo>
                <a:lnTo>
                  <a:pt x="508760" y="745236"/>
                </a:lnTo>
                <a:lnTo>
                  <a:pt x="0" y="74523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1992" t="0" r="-1992" b="-6483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4400" y="2118360"/>
            <a:ext cx="45720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998464" y="2993136"/>
            <a:ext cx="18288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82128" y="2993136"/>
            <a:ext cx="18288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765792" y="2993136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49456" y="2993136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33120" y="2993136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14400" y="4002024"/>
            <a:ext cx="4572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029184" y="4876800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912848" y="4876800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796512" y="4876800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680176" y="4876800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5563840" y="4876800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14400" y="5885688"/>
            <a:ext cx="45720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998464" y="6760464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882128" y="6760464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14400" y="7769352"/>
            <a:ext cx="45720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998464" y="8644128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772400" y="8644128"/>
            <a:ext cx="1828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390888" y="8644128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1043782" y="8644128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808955" y="8644128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4459828" y="8644128"/>
            <a:ext cx="186537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6053328" y="4861560"/>
            <a:ext cx="1828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5345918" y="2993136"/>
            <a:ext cx="1828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6641053" y="7938797"/>
            <a:ext cx="768096" cy="768096"/>
            <a:chOff x="0" y="0"/>
            <a:chExt cx="1024128" cy="102412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16110701" y="8647739"/>
            <a:ext cx="186537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Copilot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857" r="0" b="-23485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Correspondência: sugere, não confirma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0–100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144000" y="2604135"/>
            <a:ext cx="822960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Índice heurístico de semelhança entre perdido e encontrado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0" y="3737610"/>
            <a:ext cx="804672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é probabilidade: os usuários confirmam ou descartam.</a:t>
            </a:r>
          </a:p>
        </p:txBody>
      </p:sp>
      <p:sp>
        <p:nvSpPr>
          <p:cNvPr name="AutoShape 27" id="27"/>
          <p:cNvSpPr/>
          <p:nvPr/>
        </p:nvSpPr>
        <p:spPr>
          <a:xfrm rot="1980">
            <a:off x="885815" y="5462588"/>
            <a:ext cx="165163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914400" y="5987415"/>
            <a:ext cx="51206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Atributos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6612636"/>
            <a:ext cx="512064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Espécie, sexo, porte, raça, pelagem e idade.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83680" y="5987415"/>
            <a:ext cx="51206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Distância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83680" y="6612636"/>
            <a:ext cx="512064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Haversine; sem GPS, compara cidade e bairro.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52960" y="5987415"/>
            <a:ext cx="51206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Limiares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52960" y="6612636"/>
            <a:ext cx="512064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55 pts na lista; 60 pts geram aviso (até 3).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" y="8631555"/>
            <a:ext cx="16459200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Pares incompatíveis são descartados. Pesos definidos de forma empírica, ainda sem calibração com casos reais.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13" id="13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0160" y="7806138"/>
            <a:ext cx="566928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8663940"/>
            <a:ext cx="640080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969447" y="6767065"/>
            <a:ext cx="2942863" cy="111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397115" y="2324576"/>
            <a:ext cx="3218593" cy="2249996"/>
            <a:chOff x="0" y="0"/>
            <a:chExt cx="4291457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407116" y="4475978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07116" y="4944075"/>
            <a:ext cx="3218659" cy="62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02464" y="2324576"/>
            <a:ext cx="3218593" cy="2249996"/>
            <a:chOff x="0" y="0"/>
            <a:chExt cx="4291457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812466" y="4475978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12466" y="4944075"/>
            <a:ext cx="3218659" cy="62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207804" y="2324576"/>
            <a:ext cx="3218593" cy="2249996"/>
            <a:chOff x="0" y="0"/>
            <a:chExt cx="4291457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4217806" y="4475978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17806" y="4944075"/>
            <a:ext cx="321865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397115" y="5849998"/>
            <a:ext cx="3218593" cy="2249996"/>
            <a:chOff x="0" y="0"/>
            <a:chExt cx="4291457" cy="299999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407116" y="8001400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07116" y="8469497"/>
            <a:ext cx="3218659" cy="62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802464" y="5849998"/>
            <a:ext cx="3218593" cy="2249996"/>
            <a:chOff x="0" y="0"/>
            <a:chExt cx="4291457" cy="2999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812466" y="8001400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812466" y="8469497"/>
            <a:ext cx="321865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4207804" y="5849998"/>
            <a:ext cx="3218593" cy="2249996"/>
            <a:chOff x="0" y="0"/>
            <a:chExt cx="4291457" cy="299999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4217806" y="8001400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217806" y="8469497"/>
            <a:ext cx="3218659" cy="62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5920" y="2783682"/>
            <a:ext cx="3163824" cy="6474618"/>
            <a:chOff x="0" y="0"/>
            <a:chExt cx="4218432" cy="8632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18432" cy="8632824"/>
            </a:xfrm>
            <a:custGeom>
              <a:avLst/>
              <a:gdLst/>
              <a:ahLst/>
              <a:cxnLst/>
              <a:rect r="r" b="b" t="t" l="l"/>
              <a:pathLst>
                <a:path h="8632824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8632824"/>
                  </a:lnTo>
                  <a:lnTo>
                    <a:pt x="0" y="8632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294" r="0" b="-429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77844" y="2183318"/>
            <a:ext cx="1299977" cy="36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099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Tela inicial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669280" y="2783682"/>
            <a:ext cx="3163824" cy="6474618"/>
            <a:chOff x="0" y="0"/>
            <a:chExt cx="4218432" cy="8632824"/>
          </a:xfrm>
        </p:grpSpPr>
        <p:sp>
          <p:nvSpPr>
            <p:cNvPr name="Freeform 15" id="15" descr="/tmp/un/ppt/media/image39.jpeg"/>
            <p:cNvSpPr/>
            <p:nvPr/>
          </p:nvSpPr>
          <p:spPr>
            <a:xfrm flipH="false" flipV="false" rot="0">
              <a:off x="0" y="0"/>
              <a:ext cx="4218432" cy="8632824"/>
            </a:xfrm>
            <a:custGeom>
              <a:avLst/>
              <a:gdLst/>
              <a:ahLst/>
              <a:cxnLst/>
              <a:rect r="r" b="b" t="t" l="l"/>
              <a:pathLst>
                <a:path h="8632824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8632824"/>
                  </a:lnTo>
                  <a:lnTo>
                    <a:pt x="0" y="8632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266" r="0" b="-426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77356" y="2183318"/>
            <a:ext cx="1947672" cy="36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099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94164" y="2783682"/>
            <a:ext cx="3162300" cy="6474618"/>
            <a:chOff x="0" y="0"/>
            <a:chExt cx="4216400" cy="8632824"/>
          </a:xfrm>
        </p:grpSpPr>
        <p:sp>
          <p:nvSpPr>
            <p:cNvPr name="Freeform 18" id="18" descr="/tmp/un/ppt/media/image40.jpeg"/>
            <p:cNvSpPr/>
            <p:nvPr/>
          </p:nvSpPr>
          <p:spPr>
            <a:xfrm flipH="false" flipV="false" rot="0">
              <a:off x="0" y="0"/>
              <a:ext cx="4216400" cy="8632824"/>
            </a:xfrm>
            <a:custGeom>
              <a:avLst/>
              <a:gdLst/>
              <a:ahLst/>
              <a:cxnLst/>
              <a:rect r="r" b="b" t="t" l="l"/>
              <a:pathLst>
                <a:path h="8632824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8632824"/>
                  </a:lnTo>
                  <a:lnTo>
                    <a:pt x="0" y="8632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240" r="0" b="-42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6000">
            <a:off x="13746931" y="2780930"/>
            <a:ext cx="3176111" cy="6474604"/>
            <a:chOff x="0" y="0"/>
            <a:chExt cx="4234815" cy="8632805"/>
          </a:xfrm>
        </p:grpSpPr>
        <p:sp>
          <p:nvSpPr>
            <p:cNvPr name="Freeform 20" id="20" descr="/tmp/un/ppt/media/image41.jpeg"/>
            <p:cNvSpPr/>
            <p:nvPr/>
          </p:nvSpPr>
          <p:spPr>
            <a:xfrm flipH="false" flipV="false" rot="0">
              <a:off x="0" y="0"/>
              <a:ext cx="4234815" cy="8632818"/>
            </a:xfrm>
            <a:custGeom>
              <a:avLst/>
              <a:gdLst/>
              <a:ahLst/>
              <a:cxnLst/>
              <a:rect r="r" b="b" t="t" l="l"/>
              <a:pathLst>
                <a:path h="8632818" w="4234815">
                  <a:moveTo>
                    <a:pt x="0" y="6768"/>
                  </a:moveTo>
                  <a:lnTo>
                    <a:pt x="4218432" y="0"/>
                  </a:lnTo>
                  <a:lnTo>
                    <a:pt x="4234815" y="8626049"/>
                  </a:lnTo>
                  <a:lnTo>
                    <a:pt x="16383" y="8632818"/>
                  </a:lnTo>
                  <a:lnTo>
                    <a:pt x="0" y="6768"/>
                  </a:lnTo>
                  <a:close/>
                </a:path>
              </a:pathLst>
            </a:custGeom>
            <a:blipFill>
              <a:blip r:embed="rId9"/>
              <a:stretch>
                <a:fillRect l="0" t="-4477" r="0" b="-447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50059" y="2180559"/>
            <a:ext cx="1850509" cy="36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099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77171" y="2180559"/>
            <a:ext cx="2715632" cy="36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099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15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8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36168" y="2336168"/>
            <a:ext cx="13615702" cy="6574822"/>
            <a:chOff x="0" y="0"/>
            <a:chExt cx="18154269" cy="87664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154269" cy="8766429"/>
            </a:xfrm>
            <a:custGeom>
              <a:avLst/>
              <a:gdLst/>
              <a:ahLst/>
              <a:cxnLst/>
              <a:rect r="r" b="b" t="t" l="l"/>
              <a:pathLst>
                <a:path h="8766429" w="18154269">
                  <a:moveTo>
                    <a:pt x="0" y="0"/>
                  </a:moveTo>
                  <a:lnTo>
                    <a:pt x="18154269" y="0"/>
                  </a:lnTo>
                  <a:lnTo>
                    <a:pt x="18154269" y="8766429"/>
                  </a:lnTo>
                  <a:lnTo>
                    <a:pt x="0" y="87664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15" id="15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377440" y="7086600"/>
            <a:ext cx="1353312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o aplicativo foi examinado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440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80238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Pelo autor, em set. e out. de 2026, no Redmi Note 13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834516"/>
            </a:xfrm>
            <a:custGeom>
              <a:avLst/>
              <a:gdLst/>
              <a:ahLst/>
              <a:cxnLst/>
              <a:rect r="r" b="b" t="t" l="l"/>
              <a:pathLst>
                <a:path h="18345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6"/>
                  </a:lnTo>
                  <a:lnTo>
                    <a:pt x="0" y="18345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761" t="0" r="-27176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73152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58368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83680" y="380238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8368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 4.5.4, em 14/10/2026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1834516"/>
            </a:xfrm>
            <a:custGeom>
              <a:avLst/>
              <a:gdLst/>
              <a:ahLst/>
              <a:cxnLst/>
              <a:rect r="r" b="b" t="t" l="l"/>
              <a:pathLst>
                <a:path h="18345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6"/>
                  </a:lnTo>
                  <a:lnTo>
                    <a:pt x="0" y="18345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761" t="0" r="-27176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23825"/>
              <a:ext cx="73152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25296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52960" y="380238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5296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SUS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Segurança: triagem com o MobSF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1980">
            <a:off x="890578" y="3277553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14400" y="3811905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4457700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em versões antigas do Android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3811905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83680" y="4457700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52960" y="3811905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52960" y="4457700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432 assinaturas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6075045"/>
            <a:ext cx="16459200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(MobSF 4.5.4, 14/10/2026): aponta itens para revisão, não vulnerabilidades confirmadas.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29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144000" y="2613660"/>
            <a:ext cx="82296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3794760"/>
            <a:ext cx="804672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23" id="23"/>
          <p:cNvSpPr/>
          <p:nvPr/>
        </p:nvSpPr>
        <p:spPr>
          <a:xfrm rot="1980">
            <a:off x="890578" y="5467350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91440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8368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68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5296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5296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8679180"/>
            <a:ext cx="16459200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30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2" r="0" b="-257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101816"/>
            <a:ext cx="4937760" cy="1835944"/>
            <a:chOff x="0" y="0"/>
            <a:chExt cx="6583680" cy="2447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2447925"/>
            </a:xfrm>
            <a:custGeom>
              <a:avLst/>
              <a:gdLst/>
              <a:ahLst/>
              <a:cxnLst/>
              <a:rect r="r" b="b" t="t" l="l"/>
              <a:pathLst>
                <a:path h="24479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47925"/>
                  </a:lnTo>
                  <a:lnTo>
                    <a:pt x="0" y="244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" r="0" b="-2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094672"/>
            <a:ext cx="4937760" cy="1843088"/>
            <a:chOff x="0" y="0"/>
            <a:chExt cx="6583680" cy="2457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2457450"/>
            </a:xfrm>
            <a:custGeom>
              <a:avLst/>
              <a:gdLst/>
              <a:ahLst/>
              <a:cxnLst/>
              <a:rect r="r" b="b" t="t" l="l"/>
              <a:pathLst>
                <a:path h="245745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5" r="0" b="-216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3087529"/>
            <a:ext cx="4937760" cy="1850231"/>
            <a:chOff x="0" y="0"/>
            <a:chExt cx="6583680" cy="2466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0" cy="2466976"/>
            </a:xfrm>
            <a:custGeom>
              <a:avLst/>
              <a:gdLst/>
              <a:ahLst/>
              <a:cxnLst/>
              <a:rect r="r" b="b" t="t" l="l"/>
              <a:pathLst>
                <a:path h="246697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66976"/>
                  </a:lnTo>
                  <a:lnTo>
                    <a:pt x="0" y="24669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0" r="0" b="-20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58368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" y="4876800"/>
            <a:ext cx="457200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SUS: grau A+ (a partir de 84,1)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6507480"/>
            <a:ext cx="475488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7071360"/>
            <a:ext cx="4572000" cy="143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7" id="17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" t="0" r="-29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583680" y="8039100"/>
            <a:ext cx="1078992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(2016). Amostra pequena e conclusão autorrelatada. APK distribuído pela landing page no GitHub Pages.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8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33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146304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4400" y="2118360"/>
            <a:ext cx="512064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063240"/>
            <a:ext cx="5120640" cy="608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Chat, cartaz com QR e devolução segura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 e testadas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2118360"/>
            <a:ext cx="512064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3063240"/>
            <a:ext cx="5120640" cy="608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</p:txBody>
      </p:sp>
      <p:sp>
        <p:nvSpPr>
          <p:cNvPr name="AutoShape 16" id="16"/>
          <p:cNvSpPr/>
          <p:nvPr/>
        </p:nvSpPr>
        <p:spPr>
          <a:xfrm rot="4680">
            <a:off x="2738447" y="5650230"/>
            <a:ext cx="698755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252960" y="2118360"/>
            <a:ext cx="512064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52960" y="3063240"/>
            <a:ext cx="5120640" cy="608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19" id="19"/>
          <p:cNvSpPr/>
          <p:nvPr/>
        </p:nvSpPr>
        <p:spPr>
          <a:xfrm rot="4680">
            <a:off x="8408670" y="5650230"/>
            <a:ext cx="698755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781802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74659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857" r="0" b="-2348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14400" y="2145030"/>
            <a:ext cx="7863840" cy="704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SUS: a “quick and dirty” usability scale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In: JORDAN, P. W. et al. (ed.). Usability evaluation in industry. London: Taylor &amp; Francis, 1996. p. 189–194.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GIL, A. C.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methods used to locate missing cats and locations where missing cats are found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8, n. 1, art. 5,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ISO.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product quality model. Geneva: ISO,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2026. Disponível em: github.com/MobSF. Acesso em: 14 out. 2026.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R. S.; MAXIM, B.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2600" y="2145030"/>
            <a:ext cx="7863840" cy="704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J.; LEWIS, J.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2. ed. Cambridge: Morgan Kaufmann, 2016.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SINNOTT, R. W.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Virtues of the Haversine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Sky and Telescope, v. 68, n. 2, p. 159, 1984.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SOMMERVILLE, I.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10. ed. São Paulo: Pearson, 2019.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F. C. M.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recomendação de rotas para buscar animais desaparecidos. In: ERES, 6., 2022. Porto Alegre: SBC, 2022. p. 199–208.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M. T.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Belo Horizonte: Edição do Autor,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E.; SLATER, M.; LORD, 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Frequency of lost dogs and cats in the United States and the methods used to locate them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2, n. 2, p. 301–315, 2012.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35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65420"/>
            <a:ext cx="1463040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629400"/>
            <a:ext cx="1463040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780020"/>
            <a:ext cx="1463040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496300"/>
            <a:ext cx="14630400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800" y="671512"/>
            <a:ext cx="146304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Baixe e teste o WeFIND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57565" y="124577"/>
            <a:ext cx="11398691" cy="10669181"/>
            <a:chOff x="0" y="0"/>
            <a:chExt cx="15198255" cy="142255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98217" cy="14225524"/>
            </a:xfrm>
            <a:custGeom>
              <a:avLst/>
              <a:gdLst/>
              <a:ahLst/>
              <a:cxnLst/>
              <a:rect r="r" b="b" t="t" l="l"/>
              <a:pathLst>
                <a:path h="14225524" w="15198217">
                  <a:moveTo>
                    <a:pt x="0" y="0"/>
                  </a:moveTo>
                  <a:lnTo>
                    <a:pt x="15198217" y="0"/>
                  </a:lnTo>
                  <a:lnTo>
                    <a:pt x="15198217" y="14225524"/>
                  </a:lnTo>
                  <a:lnTo>
                    <a:pt x="0" y="14225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2" r="0" b="-2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Modelo lógico do banco de dados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218694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profiles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258927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Contas ligadas ao Supabase Auth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337566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items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377799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item_photos e rewards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456438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sightings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496671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com local e foto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575310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conversations e messages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615543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694182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item_claims e return_meetups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734415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Tutela e encontro de devolução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813054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reports e user_ratings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853287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Denúncias e classificações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6038" r="0" b="-20603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12848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Devolução segura e confiança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27" id="2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880360" y="247840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0360" y="337566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Fotos, vacina ou marcas ocultas; quem acolheu analisa pelo chat.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33" id="3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315700" y="247840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Encontro em local público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15700" y="337566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Dia, hora e ponto no mapa; confirmar, remarcar ou cancelar.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39" id="3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880360" y="563308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Publicação anônima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80360" y="653034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Quem encontra pode publicar sem nome, para evitar julgamentos.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45" id="4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315700" y="563308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Classificação de membros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15700" y="653034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1 a 5 estrelas após 24 h sem mensagens; média no perfil.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2960" y="8540115"/>
            <a:ext cx="1659636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 endereço de quem acolheu nunca é liberado. 70% dos participantes aprovaram exigir comprovação antes da devolução.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6038" r="0" b="-20603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12848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Busca na rua: avistamento, pista e rota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27" id="2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880360" y="247840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 o pet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0360" y="337566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Quem viu marca no mapa se o animal está na rua ou em uma casa.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33" id="3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315700" y="247840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Pista quente, morna ou fria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15700" y="337566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Até 6 h é quente, até 48 h é morna; depois disso, fica sem rota.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39" id="3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880360" y="563308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Rota até uma área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80360" y="653034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Raio de ~150 m, deslocado 30 a 70 m; a pé, bike, carro ou ônibus.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45" id="4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315700" y="563308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Histórico no mapa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15700" y="653034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Círculos numerados (1 = mais recente), na cor da idade da pista.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2960" y="8540115"/>
            <a:ext cx="1659636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Rotas calculadas com OSRM e Transitous. Nunca até a casa do tutor, um animal acolhido ou um animal para adoção.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 testada com 20 pares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8/10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144000" y="2613660"/>
            <a:ext cx="82296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pares do mesmo animal foram sugeridos (limiar de 55)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3794760"/>
            <a:ext cx="804672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Mas 6 dos 10 pares de animais diferentes também foram.</a:t>
            </a:r>
          </a:p>
        </p:txBody>
      </p:sp>
      <p:sp>
        <p:nvSpPr>
          <p:cNvPr name="AutoShape 23" id="23"/>
          <p:cNvSpPr/>
          <p:nvPr/>
        </p:nvSpPr>
        <p:spPr>
          <a:xfrm rot="1980">
            <a:off x="890578" y="5467350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91440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55 pontos: lista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8 corretas entre 14 sugestões (57%).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8368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60 pontos: aviso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68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8 corretas entre 13 sugestões (62%).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5296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Por que errou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5296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Cores sinônimas, raça com hífen; idade e distância pesam pouco.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8679180"/>
            <a:ext cx="16459200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Teste em 16/10/2026 com 20 pares fictícios em Pelotas. A pontuação é uma sugestão; as pessoas confirmam.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32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qualificacao apresentacao tcc - wefind</dc:title>
</cp:coreProperties>
</file>