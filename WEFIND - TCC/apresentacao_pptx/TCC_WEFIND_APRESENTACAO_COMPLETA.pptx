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6.svg" ContentType="image/svg+xml"/>
  <Override PartName="/ppt/media/image28.svg" ContentType="image/svg+xml"/>
  <Override PartName="/ppt/media/image36.svg" ContentType="image/svg+xml"/>
  <Override PartName="/ppt/media/image38.svg" ContentType="image/svg+xml"/>
  <Override PartName="/ppt/media/image42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0" r:id="rId10"/>
    <p:sldId id="259" r:id="rId9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93" r:id="rId50"/>
    <p:sldId id="294" r:id="rId51"/>
    <p:sldId id="271" r:id="rId21"/>
    <p:sldId id="272" r:id="rId22"/>
    <p:sldId id="273" r:id="rId23"/>
    <p:sldId id="274" r:id="rId24"/>
    <p:sldId id="275" r:id="rId25"/>
    <p:sldId id="295" r:id="rId52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ooper BT Bold" charset="1" panose="0208080404030B020404"/>
      <p:regular r:id="rId43"/>
    </p:embeddedFont>
    <p:embeddedFont>
      <p:font typeface="Cooper BT Light" charset="1" panose="0208050304030B020404"/>
      <p:regular r:id="rId44"/>
    </p:embeddedFont>
    <p:embeddedFont>
      <p:font typeface="Cambria Bold" charset="1" panose="02040803050406030204"/>
      <p:regular r:id="rId45"/>
    </p:embeddedFont>
    <p:embeddedFont>
      <p:font typeface="Calibri (MS)" charset="1" panose="020F0502020204030204"/>
      <p:regular r:id="rId46"/>
    </p:embeddedFont>
    <p:embeddedFont>
      <p:font typeface="Calibri (MS) Bold" charset="1" panose="020F0702030404030204"/>
      <p:regular r:id="rId47"/>
    </p:embeddedFont>
    <p:embeddedFont>
      <p:font typeface="Calibri (MS) Italics" charset="1" panose="020F05020202040A0204"/>
      <p:regular r:id="rId48"/>
    </p:embeddedFont>
    <p:embeddedFont>
      <p:font typeface="Roboto Bold" charset="1" panose="02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  <Relationship Id="rId50" Type="http://schemas.openxmlformats.org/officeDocument/2006/relationships/slide" Target="slides/slide37.xml"/>
  <Relationship Id="rId51" Type="http://schemas.openxmlformats.org/officeDocument/2006/relationships/slide" Target="slides/slide38.xml"/>
  <Relationship Id="rId52" Type="http://schemas.openxmlformats.org/officeDocument/2006/relationships/slide" Target="slides/slide39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25.png"/><Relationship Id="rId10" Type="http://schemas.openxmlformats.org/officeDocument/2006/relationships/image" Target="../media/image26.svg"/><Relationship Id="rId11" Type="http://schemas.openxmlformats.org/officeDocument/2006/relationships/image" Target="../media/image27.png"/><Relationship Id="rId12" Type="http://schemas.openxmlformats.org/officeDocument/2006/relationships/image" Target="../media/image28.sv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Relationship Id="rId18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Relationship Id="rId11" Type="http://schemas.openxmlformats.org/officeDocument/2006/relationships/image" Target="../media/image38.sv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svg"/><Relationship Id="rId16" Type="http://schemas.openxmlformats.org/officeDocument/2006/relationships/image" Target="../media/image43.png"/><Relationship Id="rId17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45.png"/><Relationship Id="rId10" Type="http://schemas.openxmlformats.org/officeDocument/2006/relationships/image" Target="../media/image46.svg"/><Relationship Id="rId11" Type="http://schemas.openxmlformats.org/officeDocument/2006/relationships/image" Target="../media/image47.png"/><Relationship Id="rId12" Type="http://schemas.openxmlformats.org/officeDocument/2006/relationships/image" Target="../media/image48.svg"/><Relationship Id="rId13" Type="http://schemas.openxmlformats.org/officeDocument/2006/relationships/image" Target="../media/image49.png"/><Relationship Id="rId14" Type="http://schemas.openxmlformats.org/officeDocument/2006/relationships/image" Target="../media/image50.svg"/><Relationship Id="rId15" Type="http://schemas.openxmlformats.org/officeDocument/2006/relationships/image" Target="../media/image51.png"/><Relationship Id="rId16" Type="http://schemas.openxmlformats.org/officeDocument/2006/relationships/image" Target="../media/image52.svg"/><Relationship Id="rId17" Type="http://schemas.openxmlformats.org/officeDocument/2006/relationships/image" Target="../media/image53.png"/><Relationship Id="rId18" Type="http://schemas.openxmlformats.org/officeDocument/2006/relationships/image" Target="../media/image54.svg"/><Relationship Id="rId19" Type="http://schemas.openxmlformats.org/officeDocument/2006/relationships/image" Target="../media/image55.png"/><Relationship Id="rId20" Type="http://schemas.openxmlformats.org/officeDocument/2006/relationships/image" Target="../media/image56.svg"/><Relationship Id="rId21" Type="http://schemas.openxmlformats.org/officeDocument/2006/relationships/image" Target="../media/image57.png"/><Relationship Id="rId22" Type="http://schemas.openxmlformats.org/officeDocument/2006/relationships/image" Target="../media/image5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5.png"/><Relationship Id="rId10" Type="http://schemas.openxmlformats.org/officeDocument/2006/relationships/image" Target="../media/image36.svg"/><Relationship Id="rId11" Type="http://schemas.openxmlformats.org/officeDocument/2006/relationships/image" Target="../media/image37.png"/><Relationship Id="rId12" Type="http://schemas.openxmlformats.org/officeDocument/2006/relationships/image" Target="../media/image38.sv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svg"/><Relationship Id="rId17" Type="http://schemas.openxmlformats.org/officeDocument/2006/relationships/image" Target="../media/image30.png"/><Relationship Id="rId18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5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6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62.png"/><Relationship Id="rId10" Type="http://schemas.openxmlformats.org/officeDocument/2006/relationships/image" Target="../media/image78.png"/><Relationship Id="rId11" Type="http://schemas.openxmlformats.org/officeDocument/2006/relationships/image" Target="../media/image64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82.png"/><Relationship Id="rId20" Type="http://schemas.openxmlformats.org/officeDocument/2006/relationships/image" Target="../media/image76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Relationship Id="rId26" Type="http://schemas.openxmlformats.org/officeDocument/2006/relationships/image" Target="../media/image88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9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5.png"/><Relationship Id="rId10" Type="http://schemas.openxmlformats.org/officeDocument/2006/relationships/image" Target="../media/image36.svg"/><Relationship Id="rId11" Type="http://schemas.openxmlformats.org/officeDocument/2006/relationships/image" Target="../media/image37.png"/><Relationship Id="rId12" Type="http://schemas.openxmlformats.org/officeDocument/2006/relationships/image" Target="../media/image38.sv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svg"/><Relationship Id="rId17" Type="http://schemas.openxmlformats.org/officeDocument/2006/relationships/image" Target="../media/image30.png"/><Relationship Id="rId1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5.png"/><Relationship Id="rId10" Type="http://schemas.openxmlformats.org/officeDocument/2006/relationships/image" Target="../media/image36.svg"/><Relationship Id="rId11" Type="http://schemas.openxmlformats.org/officeDocument/2006/relationships/image" Target="../media/image37.png"/><Relationship Id="rId12" Type="http://schemas.openxmlformats.org/officeDocument/2006/relationships/image" Target="../media/image38.sv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svg"/><Relationship Id="rId17" Type="http://schemas.openxmlformats.org/officeDocument/2006/relationships/image" Target="../media/image30.png"/><Relationship Id="rId18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svg"/><Relationship Id="rId11" Type="http://schemas.openxmlformats.org/officeDocument/2006/relationships/image" Target="../media/image95.png"/><Relationship Id="rId12" Type="http://schemas.openxmlformats.org/officeDocument/2006/relationships/image" Target="../media/image96.svg"/><Relationship Id="rId13" Type="http://schemas.openxmlformats.org/officeDocument/2006/relationships/image" Target="../media/image97.png"/><Relationship Id="rId14" Type="http://schemas.openxmlformats.org/officeDocument/2006/relationships/image" Target="../media/image98.svg"/><Relationship Id="rId15" Type="http://schemas.openxmlformats.org/officeDocument/2006/relationships/image" Target="../media/image99.png"/><Relationship Id="rId16" Type="http://schemas.openxmlformats.org/officeDocument/2006/relationships/image" Target="../media/image100.svg"/><Relationship Id="rId17" Type="http://schemas.openxmlformats.org/officeDocument/2006/relationships/image" Target="../media/image101.png"/><Relationship Id="rId18" Type="http://schemas.openxmlformats.org/officeDocument/2006/relationships/image" Target="../media/image102.svg"/><Relationship Id="rId19" Type="http://schemas.openxmlformats.org/officeDocument/2006/relationships/image" Target="../media/image103.png"/><Relationship Id="rId20" Type="http://schemas.openxmlformats.org/officeDocument/2006/relationships/image" Target="../media/image104.svg"/><Relationship Id="rId21" Type="http://schemas.openxmlformats.org/officeDocument/2006/relationships/image" Target="../media/image105.png"/><Relationship Id="rId22" Type="http://schemas.openxmlformats.org/officeDocument/2006/relationships/image" Target="../media/image106.svg"/><Relationship Id="rId23" Type="http://schemas.openxmlformats.org/officeDocument/2006/relationships/image" Target="../media/image107.png"/><Relationship Id="rId24" Type="http://schemas.openxmlformats.org/officeDocument/2006/relationships/image" Target="../media/image108.svg"/><Relationship Id="rId25" Type="http://schemas.openxmlformats.org/officeDocument/2006/relationships/image" Target="../media/image109.png"/><Relationship Id="rId26" Type="http://schemas.openxmlformats.org/officeDocument/2006/relationships/image" Target="../media/image110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11.png"/><Relationship Id="rId9" Type="http://schemas.openxmlformats.org/officeDocument/2006/relationships/image" Target="../media/image112.jpeg"/><Relationship Id="rId10" Type="http://schemas.openxmlformats.org/officeDocument/2006/relationships/image" Target="../media/image113.jpeg"/><Relationship Id="rId11" Type="http://schemas.openxmlformats.org/officeDocument/2006/relationships/image" Target="../media/image1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hyperlink" Target="https://luishenriquetsi.github.io/wefind/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818383"/>
            <a:ext cx="15823606" cy="10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19424"/>
            <a:ext cx="13922893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97814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377561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74395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86984"/>
            <a:ext cx="13600671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92608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608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33856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3856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292608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92608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33856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33856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2926080" y="7248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92608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1338560" y="7248525"/>
            <a:ext cx="6035040" cy="57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33856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691515"/>
            </a:xfrm>
            <a:custGeom>
              <a:avLst/>
              <a:gdLst/>
              <a:ahLst/>
              <a:cxnLst/>
              <a:rect r="r" b="b" t="t" l="l"/>
              <a:pathLst>
                <a:path h="6915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5"/>
                  </a:lnTo>
                  <a:lnTo>
                    <a:pt x="0" y="691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959" r="0" b="-36195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68605"/>
            <a:ext cx="10972800" cy="554355"/>
            <a:chOff x="0" y="0"/>
            <a:chExt cx="146304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739140"/>
            </a:xfrm>
            <a:custGeom>
              <a:avLst/>
              <a:gdLst/>
              <a:ahLst/>
              <a:cxnLst/>
              <a:rect r="r" b="b" t="t" l="l"/>
              <a:pathLst>
                <a:path h="7391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415" r="0" b="-33541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2886"/>
            <a:ext cx="10972800" cy="590074"/>
            <a:chOff x="0" y="0"/>
            <a:chExt cx="14630400" cy="7867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786765"/>
            </a:xfrm>
            <a:custGeom>
              <a:avLst/>
              <a:gdLst/>
              <a:ahLst/>
              <a:cxnLst/>
              <a:rect r="r" b="b" t="t" l="l"/>
              <a:pathLst>
                <a:path h="7867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6765"/>
                  </a:lnTo>
                  <a:lnTo>
                    <a:pt x="0" y="786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085" r="0" b="-31208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197167"/>
            <a:ext cx="10972800" cy="625793"/>
            <a:chOff x="0" y="0"/>
            <a:chExt cx="14630400" cy="834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834390"/>
            </a:xfrm>
            <a:custGeom>
              <a:avLst/>
              <a:gdLst/>
              <a:ahLst/>
              <a:cxnLst/>
              <a:rect r="r" b="b" t="t" l="l"/>
              <a:pathLst>
                <a:path h="8343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34390"/>
                  </a:lnTo>
                  <a:lnTo>
                    <a:pt x="0" y="8343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1655" r="0" b="-2916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63040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95816" y="2618870"/>
            <a:ext cx="4556855" cy="1085660"/>
            <a:chOff x="0" y="0"/>
            <a:chExt cx="6075807" cy="14475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95816" y="2683164"/>
            <a:ext cx="4556855" cy="1021366"/>
            <a:chOff x="0" y="0"/>
            <a:chExt cx="6075807" cy="13618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95816" y="2747458"/>
            <a:ext cx="4556855" cy="957072"/>
            <a:chOff x="0" y="0"/>
            <a:chExt cx="6075807" cy="1276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95816" y="2811751"/>
            <a:ext cx="4556884" cy="892826"/>
            <a:chOff x="0" y="0"/>
            <a:chExt cx="6075845" cy="11904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95816" y="2554576"/>
            <a:ext cx="4556884" cy="828532"/>
            <a:chOff x="0" y="0"/>
            <a:chExt cx="6075845" cy="11047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46%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95816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lares brasileiros têm cachorro, e 19% têm gato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95816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Brasil · IBGE, 2020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842693" y="2618870"/>
            <a:ext cx="4556855" cy="1085660"/>
            <a:chOff x="0" y="0"/>
            <a:chExt cx="6075807" cy="144754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842693" y="2683164"/>
            <a:ext cx="4556855" cy="1021366"/>
            <a:chOff x="0" y="0"/>
            <a:chExt cx="6075807" cy="136182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42693" y="2747458"/>
            <a:ext cx="4556855" cy="957072"/>
            <a:chOff x="0" y="0"/>
            <a:chExt cx="6075807" cy="1276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842693" y="2811751"/>
            <a:ext cx="4556884" cy="892826"/>
            <a:chOff x="0" y="0"/>
            <a:chExt cx="6075845" cy="11904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42693" y="2554576"/>
            <a:ext cx="4556884" cy="828532"/>
            <a:chOff x="0" y="0"/>
            <a:chExt cx="6075845" cy="11047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6842693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tutores perderam um cão ou gato em cinco anos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42693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489580" y="2618870"/>
            <a:ext cx="4556855" cy="1085660"/>
            <a:chOff x="0" y="0"/>
            <a:chExt cx="6075807" cy="144754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489580" y="2683164"/>
            <a:ext cx="4556855" cy="1021366"/>
            <a:chOff x="0" y="0"/>
            <a:chExt cx="6075807" cy="13618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89580" y="2747458"/>
            <a:ext cx="4556855" cy="957072"/>
            <a:chOff x="0" y="0"/>
            <a:chExt cx="6075807" cy="1276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489580" y="2811751"/>
            <a:ext cx="4556884" cy="892826"/>
            <a:chOff x="0" y="0"/>
            <a:chExt cx="6075845" cy="119043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89580" y="2554576"/>
            <a:ext cx="4556884" cy="828532"/>
            <a:chOff x="0" y="0"/>
            <a:chExt cx="6075845" cy="110471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48%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2489580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participantes não usam coleira, plaquinha ou microchip no animal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489580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campo, 2026 (23 de 48)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98" id="98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2625814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625814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104" id="104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096139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096139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5836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83680" y="3783330"/>
            <a:ext cx="512064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25296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5296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5296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51" id="51"/>
          <p:cNvSpPr/>
          <p:nvPr/>
        </p:nvSpPr>
        <p:spPr>
          <a:xfrm rot="1980">
            <a:off x="881053" y="6555105"/>
            <a:ext cx="1652588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9144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7155180"/>
            <a:ext cx="694944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44000" y="7155180"/>
            <a:ext cx="80467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aplicada, exploratório-descritiva e quali-quantitativa: questionário, sistemas similares, teste da correspondência, análise estática e SUS.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1980">
            <a:off x="890588" y="4980622"/>
            <a:ext cx="1650683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14400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" y="4839653"/>
            <a:ext cx="320040" cy="320040"/>
            <a:chOff x="0" y="0"/>
            <a:chExt cx="426720" cy="426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5713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265713" y="4839653"/>
            <a:ext cx="320040" cy="320040"/>
            <a:chOff x="0" y="0"/>
            <a:chExt cx="426720" cy="426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265713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65713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17026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17026" y="4839653"/>
            <a:ext cx="320040" cy="320040"/>
            <a:chOff x="0" y="0"/>
            <a:chExt cx="426720" cy="426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617026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17026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 e modelar em UML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68339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968339" y="4839653"/>
            <a:ext cx="320040" cy="320040"/>
            <a:chOff x="0" y="0"/>
            <a:chExt cx="426720" cy="426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968339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68339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19652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319652" y="4839653"/>
            <a:ext cx="320040" cy="320040"/>
            <a:chOff x="0" y="0"/>
            <a:chExt cx="426720" cy="426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319652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19652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70974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670974" y="4839653"/>
            <a:ext cx="320040" cy="320040"/>
            <a:chOff x="0" y="0"/>
            <a:chExt cx="426720" cy="426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670974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Testar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70974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correspondência (20 pares)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022287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022287" y="4839653"/>
            <a:ext cx="320040" cy="320040"/>
            <a:chOff x="0" y="0"/>
            <a:chExt cx="426720" cy="426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5022287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022287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630400" y="204406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30400" y="286702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52 questões; consulta em out. de 2026</a:t>
            </a:r>
          </a:p>
        </p:txBody>
      </p:sp>
      <p:sp>
        <p:nvSpPr>
          <p:cNvPr name="AutoShape 35" id="35"/>
          <p:cNvSpPr/>
          <p:nvPr/>
        </p:nvSpPr>
        <p:spPr>
          <a:xfrm rot="5880">
            <a:off x="11849081" y="4172903"/>
            <a:ext cx="556268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30400" y="423862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30400" y="506158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53" id="53"/>
          <p:cNvSpPr/>
          <p:nvPr/>
        </p:nvSpPr>
        <p:spPr>
          <a:xfrm rot="5880">
            <a:off x="11849081" y="6367462"/>
            <a:ext cx="556268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84%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4630400" y="643318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queriam avisos de quem viu o animal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630400" y="725614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 dos 25 que já perderam um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4400" y="8444865"/>
            <a:ext cx="164592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Facebook; 72,9% moram em Pelotas. Os resultados descrevem apenas o grupo consultado.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38331" y="2413988"/>
            <a:ext cx="10191323" cy="6361994"/>
          </a:xfrm>
          <a:prstGeom prst="rect">
            <a:avLst/>
          </a:prstGeom>
        </p:spPr>
      </p:pic>
      <p:sp>
        <p:nvSpPr>
          <p:cNvPr name="TextBox 89" id="89"/>
          <p:cNvSpPr txBox="true"/>
          <p:nvPr/>
        </p:nvSpPr>
        <p:spPr>
          <a:xfrm rot="0">
            <a:off x="914400" y="2101215"/>
            <a:ext cx="10241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Dificuldades percebidas na divulgação (Q17 · 48 respostas · mais de uma opção)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6466" y="2460946"/>
            <a:ext cx="3582038" cy="5136518"/>
            <a:chOff x="0" y="0"/>
            <a:chExt cx="4776051" cy="68486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645920" y="2971800"/>
            <a:ext cx="2103120" cy="2103120"/>
            <a:chOff x="0" y="0"/>
            <a:chExt cx="2804160" cy="2804160"/>
          </a:xfrm>
        </p:grpSpPr>
        <p:sp>
          <p:nvSpPr>
            <p:cNvPr name="Freeform 36" id="36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9728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728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204146" y="2460946"/>
            <a:ext cx="3582038" cy="5136518"/>
            <a:chOff x="0" y="0"/>
            <a:chExt cx="4776051" cy="68486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943600" y="2971800"/>
            <a:ext cx="2103120" cy="2103120"/>
            <a:chOff x="0" y="0"/>
            <a:chExt cx="2804160" cy="2804160"/>
          </a:xfrm>
        </p:grpSpPr>
        <p:sp>
          <p:nvSpPr>
            <p:cNvPr name="Freeform 42" id="42" descr="pawboos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481" r="0" b="-6481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39496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9496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01826" y="2460946"/>
            <a:ext cx="3582038" cy="5136518"/>
            <a:chOff x="0" y="0"/>
            <a:chExt cx="4776051" cy="68486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241280" y="2971800"/>
            <a:ext cx="2103120" cy="2103120"/>
            <a:chOff x="0" y="0"/>
            <a:chExt cx="2804160" cy="2804160"/>
          </a:xfrm>
        </p:grpSpPr>
        <p:sp>
          <p:nvSpPr>
            <p:cNvPr name="Freeform 48" id="48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03" t="0" r="-403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69264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9264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799506" y="2460946"/>
            <a:ext cx="3582038" cy="5136518"/>
            <a:chOff x="0" y="0"/>
            <a:chExt cx="4776051" cy="68486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538960" y="2971800"/>
            <a:ext cx="2103120" cy="2103120"/>
            <a:chOff x="0" y="0"/>
            <a:chExt cx="2804160" cy="2804160"/>
          </a:xfrm>
        </p:grpSpPr>
        <p:sp>
          <p:nvSpPr>
            <p:cNvPr name="Freeform 54" id="54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99032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99032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8054340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Seleção intencional: três plataformas de animais perdidos e o Facebook, canal usado por 31 dos 48 participantes da pesquisa.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194560"/>
          <a:ext cx="16281400" cy="6755092"/>
        </p:xfrm>
        <a:graphic>
          <a:graphicData uri="http://schemas.openxmlformats.org/drawingml/2006/table">
            <a:tbl>
              <a:tblPr/>
              <a:tblGrid>
                <a:gridCol w="6693465"/>
                <a:gridCol w="1917587"/>
                <a:gridCol w="1917587"/>
                <a:gridCol w="1917587"/>
                <a:gridCol w="1917587"/>
                <a:gridCol w="1917587"/>
              </a:tblGrid>
              <a:tr h="6194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0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33172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3172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95528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5528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357884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57884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33172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33172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59" id="5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95528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95528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65" id="6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357884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7884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16128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6784848" y="5989320"/>
            <a:ext cx="4754880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240840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16128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678484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240840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598" r="0" b="-2045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21284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88036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(nenhum dos 48 participantes exibiria o endereço completo).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88036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31570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2960" y="8492490"/>
            <a:ext cx="1659636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47"/>
            <a:chOff x="0" y="0"/>
            <a:chExt cx="21945600" cy="5124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91"/>
            <a:chOff x="0" y="0"/>
            <a:chExt cx="21945600" cy="51342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54"/>
            </a:xfrm>
            <a:custGeom>
              <a:avLst/>
              <a:gdLst/>
              <a:ahLst/>
              <a:cxnLst/>
              <a:rect r="r" b="b" t="t" l="l"/>
              <a:pathLst>
                <a:path h="51342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54"/>
                  </a:lnTo>
                  <a:lnTo>
                    <a:pt x="0" y="513425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85" r="0" b="-332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5143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873119" y="2947606"/>
            <a:ext cx="1654177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12064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2064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2064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32688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2688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2688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53312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3312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3312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9961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961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70585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0585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11833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1833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862774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91209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209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2518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2838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60" y="43472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4667250"/>
            <a:ext cx="61722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960" y="7090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7410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245801" y="-106337"/>
            <a:ext cx="9304782" cy="10431399"/>
            <a:chOff x="0" y="0"/>
            <a:chExt cx="12406376" cy="139085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1" t="0" r="-4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76921" y="10773"/>
            <a:ext cx="10996679" cy="10292886"/>
            <a:chOff x="0" y="0"/>
            <a:chExt cx="14662239" cy="13723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62277" cy="13723874"/>
            </a:xfrm>
            <a:custGeom>
              <a:avLst/>
              <a:gdLst/>
              <a:ahLst/>
              <a:cxnLst/>
              <a:rect r="r" b="b" t="t" l="l"/>
              <a:pathLst>
                <a:path h="13723874" w="14662277">
                  <a:moveTo>
                    <a:pt x="0" y="0"/>
                  </a:moveTo>
                  <a:lnTo>
                    <a:pt x="14662277" y="0"/>
                  </a:lnTo>
                  <a:lnTo>
                    <a:pt x="14662277" y="13723874"/>
                  </a:lnTo>
                  <a:lnTo>
                    <a:pt x="0" y="13723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8" r="0" b="-4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15024" y="202873"/>
            <a:ext cx="10556891" cy="9881245"/>
            <a:chOff x="0" y="0"/>
            <a:chExt cx="14075854" cy="131749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75918" cy="13174980"/>
            </a:xfrm>
            <a:custGeom>
              <a:avLst/>
              <a:gdLst/>
              <a:ahLst/>
              <a:cxnLst/>
              <a:rect r="r" b="b" t="t" l="l"/>
              <a:pathLst>
                <a:path h="13174980" w="14075918">
                  <a:moveTo>
                    <a:pt x="0" y="0"/>
                  </a:moveTo>
                  <a:lnTo>
                    <a:pt x="14075918" y="0"/>
                  </a:lnTo>
                  <a:lnTo>
                    <a:pt x="14075918" y="13174980"/>
                  </a:lnTo>
                  <a:lnTo>
                    <a:pt x="0" y="1317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2" r="0" b="-2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Modelo lógico do banco de dados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Contas ligadas ao Supabase Auth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item_photos e rewards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sightings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com local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conversations e messages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item_claims e return_meetups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Tutela e encontro de devolução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e user_ratings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Denúncias e classificações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2012" y="2142172"/>
            <a:ext cx="5956935" cy="6597015"/>
            <a:chOff x="0" y="0"/>
            <a:chExt cx="7942580" cy="87960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42580" cy="8796020"/>
            </a:xfrm>
            <a:custGeom>
              <a:avLst/>
              <a:gdLst/>
              <a:ahLst/>
              <a:cxnLst/>
              <a:rect r="r" b="b" t="t" l="l"/>
              <a:pathLst>
                <a:path h="8796020" w="7942580">
                  <a:moveTo>
                    <a:pt x="0" y="0"/>
                  </a:moveTo>
                  <a:lnTo>
                    <a:pt x="7942580" y="0"/>
                  </a:lnTo>
                  <a:lnTo>
                    <a:pt x="794258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88720" y="2207514"/>
            <a:ext cx="530352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902893" y="2142172"/>
            <a:ext cx="5408295" cy="6597015"/>
            <a:chOff x="0" y="0"/>
            <a:chExt cx="7211060" cy="8796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11060" cy="8796020"/>
            </a:xfrm>
            <a:custGeom>
              <a:avLst/>
              <a:gdLst/>
              <a:ahLst/>
              <a:cxnLst/>
              <a:rect r="r" b="b" t="t" l="l"/>
              <a:pathLst>
                <a:path h="8796020" w="7211060">
                  <a:moveTo>
                    <a:pt x="0" y="0"/>
                  </a:moveTo>
                  <a:lnTo>
                    <a:pt x="7211060" y="0"/>
                  </a:lnTo>
                  <a:lnTo>
                    <a:pt x="721106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229600" y="2207514"/>
            <a:ext cx="475488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95132" y="2142172"/>
            <a:ext cx="3030855" cy="6597015"/>
            <a:chOff x="0" y="0"/>
            <a:chExt cx="4041140" cy="87960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41140" cy="8796020"/>
            </a:xfrm>
            <a:custGeom>
              <a:avLst/>
              <a:gdLst/>
              <a:ahLst/>
              <a:cxnLst/>
              <a:rect r="r" b="b" t="t" l="l"/>
              <a:pathLst>
                <a:path h="8796020" w="4041140">
                  <a:moveTo>
                    <a:pt x="0" y="0"/>
                  </a:moveTo>
                  <a:lnTo>
                    <a:pt x="4041140" y="0"/>
                  </a:lnTo>
                  <a:lnTo>
                    <a:pt x="404114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721840" y="2207514"/>
            <a:ext cx="237744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8" id="28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2966085"/>
            <a:ext cx="1920240" cy="764667"/>
            <a:chOff x="0" y="0"/>
            <a:chExt cx="2560320" cy="1019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56816" y="2930366"/>
            <a:ext cx="1920240" cy="800386"/>
            <a:chOff x="0" y="0"/>
            <a:chExt cx="2560320" cy="10671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56816" y="2894648"/>
            <a:ext cx="1920240" cy="836105"/>
            <a:chOff x="0" y="0"/>
            <a:chExt cx="2560320" cy="11148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45" id="45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956816" y="4063365"/>
            <a:ext cx="1920240" cy="764667"/>
            <a:chOff x="0" y="0"/>
            <a:chExt cx="2560320" cy="10195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956816" y="4027646"/>
            <a:ext cx="1920240" cy="800386"/>
            <a:chOff x="0" y="0"/>
            <a:chExt cx="2560320" cy="10671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56816" y="3991928"/>
            <a:ext cx="1920240" cy="836105"/>
            <a:chOff x="0" y="0"/>
            <a:chExt cx="2560320" cy="111480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62" id="62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5160645"/>
            <a:ext cx="1920240" cy="764667"/>
            <a:chOff x="0" y="0"/>
            <a:chExt cx="2560320" cy="10195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56816" y="5124926"/>
            <a:ext cx="1920240" cy="800386"/>
            <a:chOff x="0" y="0"/>
            <a:chExt cx="2560320" cy="106718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956816" y="5089208"/>
            <a:ext cx="1920240" cy="836105"/>
            <a:chOff x="0" y="0"/>
            <a:chExt cx="2560320" cy="1114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79" id="79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700016" y="6294406"/>
            <a:ext cx="1920240" cy="728948"/>
            <a:chOff x="0" y="0"/>
            <a:chExt cx="2560320" cy="9719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6258687"/>
            <a:ext cx="1920240" cy="764667"/>
            <a:chOff x="0" y="0"/>
            <a:chExt cx="2560320" cy="10195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700016" y="6222968"/>
            <a:ext cx="1920240" cy="800386"/>
            <a:chOff x="0" y="0"/>
            <a:chExt cx="2560320" cy="106718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700016" y="6187250"/>
            <a:ext cx="1920240" cy="836105"/>
            <a:chOff x="0" y="0"/>
            <a:chExt cx="2560320" cy="11148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96" id="9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956816" y="7390924"/>
            <a:ext cx="1920240" cy="728948"/>
            <a:chOff x="0" y="0"/>
            <a:chExt cx="2560320" cy="97193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956816" y="7355205"/>
            <a:ext cx="1920240" cy="764667"/>
            <a:chOff x="0" y="0"/>
            <a:chExt cx="2560320" cy="10195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956816" y="7319486"/>
            <a:ext cx="1920240" cy="800386"/>
            <a:chOff x="0" y="0"/>
            <a:chExt cx="2560320" cy="106718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956816" y="7283768"/>
            <a:ext cx="1920240" cy="836105"/>
            <a:chOff x="0" y="0"/>
            <a:chExt cx="2560320" cy="111480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113" id="113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700016" y="3001804"/>
            <a:ext cx="1920240" cy="728948"/>
            <a:chOff x="0" y="0"/>
            <a:chExt cx="2560320" cy="97193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4700016" y="2966085"/>
            <a:ext cx="1920240" cy="764667"/>
            <a:chOff x="0" y="0"/>
            <a:chExt cx="2560320" cy="10195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700016" y="2930366"/>
            <a:ext cx="1920240" cy="800386"/>
            <a:chOff x="0" y="0"/>
            <a:chExt cx="2560320" cy="106718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700016" y="2894648"/>
            <a:ext cx="1920240" cy="836105"/>
            <a:chOff x="0" y="0"/>
            <a:chExt cx="2560320" cy="111480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130" id="130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4700016" y="4063365"/>
            <a:ext cx="1920240" cy="764667"/>
            <a:chOff x="0" y="0"/>
            <a:chExt cx="2560320" cy="101955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4700016" y="4027646"/>
            <a:ext cx="1920240" cy="800386"/>
            <a:chOff x="0" y="0"/>
            <a:chExt cx="2560320" cy="106718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4700016" y="3991928"/>
            <a:ext cx="1920240" cy="836105"/>
            <a:chOff x="0" y="0"/>
            <a:chExt cx="2560320" cy="111480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147" id="147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4700016" y="5160645"/>
            <a:ext cx="1920240" cy="764667"/>
            <a:chOff x="0" y="0"/>
            <a:chExt cx="2560320" cy="101955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4700016" y="5124926"/>
            <a:ext cx="1920240" cy="800386"/>
            <a:chOff x="0" y="0"/>
            <a:chExt cx="2560320" cy="106718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4700016" y="5089208"/>
            <a:ext cx="1920240" cy="836105"/>
            <a:chOff x="0" y="0"/>
            <a:chExt cx="2560320" cy="111480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164" id="164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956816" y="6294406"/>
            <a:ext cx="1920240" cy="728948"/>
            <a:chOff x="0" y="0"/>
            <a:chExt cx="2560320" cy="971931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956816" y="6258687"/>
            <a:ext cx="1920240" cy="764667"/>
            <a:chOff x="0" y="0"/>
            <a:chExt cx="2560320" cy="10195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956816" y="6222968"/>
            <a:ext cx="1920240" cy="800386"/>
            <a:chOff x="0" y="0"/>
            <a:chExt cx="2560320" cy="1067181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956816" y="6187250"/>
            <a:ext cx="1920240" cy="836105"/>
            <a:chOff x="0" y="0"/>
            <a:chExt cx="2560320" cy="111480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81" id="18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82" id="182"/>
          <p:cNvSpPr txBox="true"/>
          <p:nvPr/>
        </p:nvSpPr>
        <p:spPr>
          <a:xfrm rot="0">
            <a:off x="9052560" y="277558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9052560" y="324459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127" r="0" b="-2127"/>
              </a:stretch>
            </a:blipFill>
          </p:spPr>
        </p:sp>
      </p:grpSp>
      <p:sp>
        <p:nvSpPr>
          <p:cNvPr name="TextBox 186" id="186"/>
          <p:cNvSpPr txBox="true"/>
          <p:nvPr/>
        </p:nvSpPr>
        <p:spPr>
          <a:xfrm rot="0">
            <a:off x="9052560" y="387286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9052560" y="434187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89" id="18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90" id="190"/>
          <p:cNvSpPr txBox="true"/>
          <p:nvPr/>
        </p:nvSpPr>
        <p:spPr>
          <a:xfrm rot="0">
            <a:off x="9052560" y="497014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052560" y="543915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93" id="19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194" id="194"/>
          <p:cNvSpPr txBox="true"/>
          <p:nvPr/>
        </p:nvSpPr>
        <p:spPr>
          <a:xfrm rot="0">
            <a:off x="9052560" y="606742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9052560" y="653643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97" id="19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198" id="198"/>
          <p:cNvSpPr txBox="true"/>
          <p:nvPr/>
        </p:nvSpPr>
        <p:spPr>
          <a:xfrm rot="0">
            <a:off x="9052560" y="716470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9052560" y="763371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14721840" y="4330065"/>
            <a:ext cx="256032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14721840" y="4799076"/>
            <a:ext cx="25603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202" id="202"/>
          <p:cNvGrpSpPr/>
          <p:nvPr/>
        </p:nvGrpSpPr>
        <p:grpSpPr>
          <a:xfrm rot="0">
            <a:off x="14721840" y="5989320"/>
            <a:ext cx="731520" cy="731520"/>
            <a:chOff x="0" y="0"/>
            <a:chExt cx="975360" cy="975360"/>
          </a:xfrm>
        </p:grpSpPr>
        <p:sp>
          <p:nvSpPr>
            <p:cNvPr name="Freeform 203" id="20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204" id="204"/>
          <p:cNvSpPr txBox="true"/>
          <p:nvPr/>
        </p:nvSpPr>
        <p:spPr>
          <a:xfrm rot="0">
            <a:off x="14721840" y="6764655"/>
            <a:ext cx="256032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14721840" y="7231380"/>
            <a:ext cx="25603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206" id="206"/>
          <p:cNvSpPr/>
          <p:nvPr/>
        </p:nvSpPr>
        <p:spPr>
          <a:xfrm rot="55800">
            <a:off x="6774351" y="5236845"/>
            <a:ext cx="1173118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7" id="207"/>
          <p:cNvSpPr txBox="true"/>
          <p:nvPr/>
        </p:nvSpPr>
        <p:spPr>
          <a:xfrm rot="0">
            <a:off x="6675120" y="4396740"/>
            <a:ext cx="13716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208" id="208"/>
          <p:cNvSpPr/>
          <p:nvPr/>
        </p:nvSpPr>
        <p:spPr>
          <a:xfrm rot="55800">
            <a:off x="13266591" y="5236845"/>
            <a:ext cx="1173118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9" id="209"/>
          <p:cNvSpPr txBox="true"/>
          <p:nvPr/>
        </p:nvSpPr>
        <p:spPr>
          <a:xfrm rot="0">
            <a:off x="13167360" y="4396740"/>
            <a:ext cx="13716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211" id="2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4721840" y="3474720"/>
            <a:ext cx="731520" cy="731520"/>
            <a:chOff x="0" y="0"/>
            <a:chExt cx="975360" cy="975360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444" r="0" b="-4445"/>
              </a:stretch>
            </a:blip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5087600" y="5824728"/>
            <a:ext cx="329184" cy="329184"/>
            <a:chOff x="0" y="0"/>
            <a:chExt cx="438912" cy="438912"/>
          </a:xfrm>
        </p:grpSpPr>
        <p:sp>
          <p:nvSpPr>
            <p:cNvPr name="Freeform 229" id="229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2513076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1980">
            <a:off x="876290" y="3935158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4396740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127" r="0" b="-212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AutoShape 40" id="40"/>
          <p:cNvSpPr/>
          <p:nvPr/>
        </p:nvSpPr>
        <p:spPr>
          <a:xfrm rot="1980">
            <a:off x="876290" y="581882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6280404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verificação e avisos de avistamento, correspondência e devolução.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AutoShape 46" id="46"/>
          <p:cNvSpPr/>
          <p:nvPr/>
        </p:nvSpPr>
        <p:spPr>
          <a:xfrm rot="1980">
            <a:off x="876290" y="7702486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914400" y="8164068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Copilot no código; ChatGPT na busca exploratória e na identidade visual, com revisão do autor.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528816" y="7938802"/>
            <a:ext cx="768096" cy="768096"/>
            <a:chOff x="0" y="0"/>
            <a:chExt cx="1024128" cy="1024128"/>
          </a:xfrm>
        </p:grpSpPr>
        <p:sp>
          <p:nvSpPr>
            <p:cNvPr name="Freeform 49" id="49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57413" y="793880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455270" y="7938802"/>
            <a:ext cx="768096" cy="768096"/>
            <a:chOff x="0" y="0"/>
            <a:chExt cx="1024128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183857" y="7938802"/>
            <a:ext cx="768096" cy="768096"/>
            <a:chOff x="0" y="0"/>
            <a:chExt cx="1024128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912454" y="7938802"/>
            <a:ext cx="768096" cy="768096"/>
            <a:chOff x="0" y="0"/>
            <a:chExt cx="1024128" cy="1024128"/>
          </a:xfrm>
        </p:grpSpPr>
        <p:sp>
          <p:nvSpPr>
            <p:cNvPr name="Freeform 57" id="5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9590" t="0" r="-4959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986010" y="7950232"/>
            <a:ext cx="508730" cy="745236"/>
            <a:chOff x="0" y="0"/>
            <a:chExt cx="678307" cy="9936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8307" cy="993648"/>
            </a:xfrm>
            <a:custGeom>
              <a:avLst/>
              <a:gdLst/>
              <a:ahLst/>
              <a:cxnLst/>
              <a:rect r="r" b="b" t="t" l="l"/>
              <a:pathLst>
                <a:path h="993648" w="678307">
                  <a:moveTo>
                    <a:pt x="0" y="0"/>
                  </a:moveTo>
                  <a:lnTo>
                    <a:pt x="678307" y="0"/>
                  </a:lnTo>
                  <a:lnTo>
                    <a:pt x="678307" y="993648"/>
                  </a:lnTo>
                  <a:lnTo>
                    <a:pt x="0" y="99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1197" r="0" b="-1198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14400" y="2061210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998464" y="3098292"/>
            <a:ext cx="1828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882128" y="3098292"/>
            <a:ext cx="1828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765792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649456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533120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3944874"/>
            <a:ext cx="4572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029184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12848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796512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680176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563840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4400" y="5828538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998464" y="6865620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882128" y="6865620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14400" y="7712202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998464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772400" y="8749284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390888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043780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808953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459826" y="8749284"/>
            <a:ext cx="18653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053328" y="4966716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345918" y="3098292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6641051" y="7938802"/>
            <a:ext cx="768096" cy="768096"/>
            <a:chOff x="0" y="0"/>
            <a:chExt cx="1024128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16110699" y="8752894"/>
            <a:ext cx="18653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3977639"/>
            <a:ext cx="48463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5349240"/>
            <a:ext cx="48463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" y="6720840"/>
            <a:ext cx="484632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7269480"/>
            <a:ext cx="484632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pts: entra na lista. 60 pts: gera aviso (até 3).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853630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Soma limitada a 0–100; pesos definidos de forma empírica, ainda sem calibração com casos reais (Quadro 4 do TCC).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59" name="Indice 0-100"/>
          <p:cNvSpPr txBox="1"/>
          <p:nvPr/>
        </p:nvSpPr>
        <p:spPr>
          <a:xfrm>
            <a:off x="914400" y="2148840"/>
            <a:ext cx="493776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B1734A"/>
                </a:solidFill>
                <a:latin typeface="Cambria Bold"/>
              </a:rPr>
              <a:t>0–100</a:t>
            </a:r>
          </a:p>
        </p:txBody>
      </p:sp>
      <p:graphicFrame>
        <p:nvGraphicFramePr>
          <p:cNvPr id="60" name="Tabela pesos correspondencia"/>
          <p:cNvGraphicFramePr>
            <a:graphicFrameLocks noGrp="1"/>
          </p:cNvGraphicFramePr>
          <p:nvPr/>
        </p:nvGraphicFramePr>
        <p:xfrm>
          <a:off x="6172200" y="2240280"/>
          <a:ext cx="11201400" cy="592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657600"/>
                <a:gridCol w="2926080"/>
                <a:gridCol w="2468880"/>
              </a:tblGrid>
              <a:tr h="65836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anchor="ctr" marL="109728" marR="109728" marT="36576" marB="36576">
                    <a:solidFill>
                      <a:srgbClr val="2E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 anchor="ctr" marL="109728" marR="109728" marT="36576" marB="36576">
                    <a:solidFill>
                      <a:srgbClr val="2E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Parcial ou não informado</a:t>
                      </a:r>
                    </a:p>
                  </a:txBody>
                  <a:tcPr anchor="ctr" marL="109728" marR="109728" marT="36576" marB="36576">
                    <a:solidFill>
                      <a:srgbClr val="2E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Diferente</a:t>
                      </a:r>
                    </a:p>
                  </a:txBody>
                  <a:tcPr anchor="ctr" marL="109728" marR="109728" marT="36576" marB="36576">
                    <a:solidFill>
                      <a:srgbClr val="2E5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Espécie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descarta o par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Sexo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descarta o par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Porte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+15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+6 diferente · +5 ausente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descarta (pequeno × grande)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Raça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+25 · +18 se uma contém a outra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+8 ambos SRD · +4 SRD × raça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−20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Pelagem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+20 (2+ cores) · +12 (1 cor)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+4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−25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−15 (filhote × idoso)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Distância (GPS)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+15 até 1,2 km · +10 até 3,5 · +5 até 8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+2 de 8 a 20 km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−15 acima de 20 km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E5634"/>
                          </a:solidFill>
                          <a:latin typeface="Calibri"/>
                        </a:rPr>
                        <a:t>Sem GPS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+12 mesmo bairro · +5 mesma cidade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1F"/>
                          </a:solidFill>
                          <a:latin typeface="Calibri"/>
                        </a:rPr>
                        <a:t>0 sem dados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B1734A"/>
                          </a:solidFill>
                          <a:latin typeface="Calibri"/>
                        </a:rPr>
                        <a:t>−20 cidades diferentes</a:t>
                      </a:r>
                    </a:p>
                  </a:txBody>
                  <a:tcPr anchor="ctr" marL="109728" marR="109728" marT="36576" marB="36576"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 na rua: avistamento, pista e rota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 o pet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viu marca no mapa se o animal está na rua ou em uma casa.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Pista quente, morna ou fria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Até 6 h é quente, até 48 h é morna; depois disso, fica sem rota.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 até uma área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Raio de ~150 m, deslocado 30 a 70 m; a pé, bike, carro ou ônibus.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Histórico no mapa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Círculos numerados (1 = mais recente), na cor da idade da pista.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Rotas calculadas com OSRM e Transitous. Nunca até a casa do tutor, um animal acolhido ou um animal para adoção.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Devolução segura e confiança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Fotos, vacina ou marcas ocultas; quem acolheu analisa pelo chat.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Encontro em local público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Dia, hora e ponto no mapa; confirmar, remarcar ou cancelar.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Publicação anônima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encontra pode publicar sem nome, para evitar julgamentos.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Classificação de membros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1 a 5 estrelas após 24 h sem mensagens; média no perfil.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 endereço de quem acolheu nunca é liberado. Todos os 48 participantes pediriam prova de tutela antes de devolver um animal.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7" id="1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97481" y="7691838"/>
            <a:ext cx="38918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8587740"/>
            <a:ext cx="64008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037132" y="6928799"/>
            <a:ext cx="2612546" cy="9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89362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397115" y="3811172"/>
            <a:ext cx="10479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7115" y="4306472"/>
            <a:ext cx="87344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339844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347597" y="3811172"/>
            <a:ext cx="13271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47597" y="4306472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389409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397115" y="6527673"/>
            <a:ext cx="14097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97115" y="7018925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#15803D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270371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4" y="0"/>
                </a:lnTo>
                <a:lnTo>
                  <a:pt x="1752304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278076" y="6523625"/>
            <a:ext cx="9221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78076" y="7018925"/>
            <a:ext cx="92215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#DB2777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329890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347597" y="6527673"/>
            <a:ext cx="9536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47597" y="7018925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#D64545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97115" y="1988496"/>
            <a:ext cx="375643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a. Principais cores do aplicativo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97115" y="4707941"/>
            <a:ext cx="36433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b. Tipos de Publicação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7389409" y="7999171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7397115" y="9236069"/>
            <a:ext cx="7048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97115" y="9731369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#D97706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97115" y="7420394"/>
            <a:ext cx="4083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c. Avisos e elementos da interface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339891" y="8003229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9347597" y="9240126"/>
            <a:ext cx="18059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Texto Principal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47597" y="9735426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#0F172A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1290373" y="8007286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1298079" y="9244174"/>
            <a:ext cx="8484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98079" y="9739474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#F6F8F6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3240855" y="8011335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0"/>
                </a:lnTo>
                <a:lnTo>
                  <a:pt x="0" y="122961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3248561" y="9248232"/>
            <a:ext cx="12239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Superfície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48561" y="9743532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#FFFFFF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2783681"/>
            <a:ext cx="3163824" cy="6474619"/>
            <a:chOff x="0" y="0"/>
            <a:chExt cx="4218432" cy="8632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94" r="0" b="-429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669280" y="2783681"/>
            <a:ext cx="3163824" cy="6474619"/>
            <a:chOff x="0" y="0"/>
            <a:chExt cx="4218432" cy="86328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294" r="0" b="-429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94164" y="2783681"/>
            <a:ext cx="3162300" cy="6474619"/>
            <a:chOff x="0" y="0"/>
            <a:chExt cx="4216400" cy="8632825"/>
          </a:xfrm>
        </p:grpSpPr>
        <p:sp>
          <p:nvSpPr>
            <p:cNvPr name="Freeform 20" id="20" descr="/tmp/un/ppt/media/image40.jpeg"/>
            <p:cNvSpPr/>
            <p:nvPr/>
          </p:nvSpPr>
          <p:spPr>
            <a:xfrm flipH="false" flipV="false" rot="0">
              <a:off x="0" y="0"/>
              <a:ext cx="4216400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240" r="0" b="-42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6000">
            <a:off x="13746928" y="2780929"/>
            <a:ext cx="3176111" cy="6474619"/>
            <a:chOff x="0" y="0"/>
            <a:chExt cx="4234815" cy="86328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4815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34815">
                  <a:moveTo>
                    <a:pt x="0" y="6731"/>
                  </a:moveTo>
                  <a:lnTo>
                    <a:pt x="4218432" y="0"/>
                  </a:lnTo>
                  <a:lnTo>
                    <a:pt x="4234815" y="8626094"/>
                  </a:lnTo>
                  <a:lnTo>
                    <a:pt x="16383" y="8632825"/>
                  </a:lnTo>
                  <a:lnTo>
                    <a:pt x="0" y="6731"/>
                  </a:lnTo>
                  <a:close/>
                </a:path>
              </a:pathLst>
            </a:custGeom>
            <a:blipFill>
              <a:blip r:embed="rId11"/>
              <a:stretch>
                <a:fillRect l="0" t="-4505" r="0" b="-450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577846" y="2088071"/>
            <a:ext cx="129998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77356" y="2088071"/>
            <a:ext cx="194767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50055" y="2085308"/>
            <a:ext cx="1850507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77176" y="2085308"/>
            <a:ext cx="2715635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17118" y="2317118"/>
            <a:ext cx="13653802" cy="6612922"/>
            <a:chOff x="0" y="0"/>
            <a:chExt cx="18205069" cy="88172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05069" cy="8817229"/>
            </a:xfrm>
            <a:custGeom>
              <a:avLst/>
              <a:gdLst/>
              <a:ahLst/>
              <a:cxnLst/>
              <a:rect r="r" b="b" t="t" l="l"/>
              <a:pathLst>
                <a:path h="8817229" w="18205069">
                  <a:moveTo>
                    <a:pt x="0" y="0"/>
                  </a:moveTo>
                  <a:lnTo>
                    <a:pt x="18205069" y="0"/>
                  </a:lnTo>
                  <a:lnTo>
                    <a:pt x="18205069" y="8817229"/>
                  </a:lnTo>
                  <a:lnTo>
                    <a:pt x="0" y="8817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9" id="1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77440" y="6972300"/>
            <a:ext cx="1353312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foi examinado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em set. e out. de 2026, no Redmi Note 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12064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2064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2064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45 b" id="68"/>
          <p:cNvGrpSpPr/>
          <p:nvPr/>
        </p:nvGrpSpPr>
        <p:grpSpPr>
          <a:xfrm rot="0">
            <a:off x="12938759" y="2095976"/>
            <a:ext cx="548640" cy="1561624"/>
            <a:chOff x="0" y="0"/>
            <a:chExt cx="731520" cy="2082165"/>
          </a:xfrm>
        </p:grpSpPr>
        <p:sp>
          <p:nvSpPr>
            <p:cNvPr name="Freeform 46 b" id="69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 b" id="70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3268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8 b" id="65"/>
          <p:cNvSpPr txBox="true"/>
          <p:nvPr/>
        </p:nvSpPr>
        <p:spPr>
          <a:xfrm rot="0">
            <a:off x="13533119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2688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49 b" id="66"/>
          <p:cNvSpPr txBox="true"/>
          <p:nvPr/>
        </p:nvSpPr>
        <p:spPr>
          <a:xfrm rot="0">
            <a:off x="13533119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2688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50 b" id="67"/>
          <p:cNvSpPr txBox="true"/>
          <p:nvPr/>
        </p:nvSpPr>
        <p:spPr>
          <a:xfrm rot="0">
            <a:off x="13533119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20 pares fictícios, em 16/10/2026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32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33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5"/>
            </a:xfrm>
            <a:custGeom>
              <a:avLst/>
              <a:gdLst/>
              <a:ahLst/>
              <a:cxnLst/>
              <a:rect r="r" b="b" t="t" l="l"/>
              <a:pathLst>
                <a:path h="246697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5"/>
                  </a:lnTo>
                  <a:lnTo>
                    <a:pt x="0" y="2466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3" r="0" b="-196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080385"/>
            <a:ext cx="4937760" cy="1857375"/>
            <a:chOff x="0" y="0"/>
            <a:chExt cx="6583680" cy="247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4" r="0" b="-17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073241"/>
            <a:ext cx="4937760" cy="1864519"/>
            <a:chOff x="0" y="0"/>
            <a:chExt cx="6583680" cy="2486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2486025"/>
            </a:xfrm>
            <a:custGeom>
              <a:avLst/>
              <a:gdLst/>
              <a:ahLst/>
              <a:cxnLst/>
              <a:rect r="r" b="b" t="t" l="l"/>
              <a:pathLst>
                <a:path h="24860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86025"/>
                  </a:lnTo>
                  <a:lnTo>
                    <a:pt x="0" y="24860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01" r="0" b="-1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4800600"/>
            <a:ext cx="457200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469380"/>
            <a:ext cx="47548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995160"/>
            <a:ext cx="4572000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21" id="2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" t="0" r="-29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83680" y="7943850"/>
            <a:ext cx="10789920" cy="13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 testada com 20 pares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8/10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pares do mesmo animal foram sugeridos (limiar de 55)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Mas 6 dos 10 pares de animais diferentes também foram.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55 pontos: lista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14 sugestões (57%).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60 pontos: aviso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13 sugestões (62%).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Por que errou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Cores sinônimas, raça com hífen; idade e distância pesam pouco.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em 16/10/2026 com 20 pares fictícios em Pelotas. A pontuação é uma sugestão; as pessoas confirmam.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36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14630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e testadas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368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SUS feito em set./2026: funções novas sem teste com usuários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logados ainda depende da interface</a:t>
            </a:r>
          </a:p>
        </p:txBody>
      </p:sp>
      <p:sp>
        <p:nvSpPr>
          <p:cNvPr name="AutoShape 20" id="20"/>
          <p:cNvSpPr/>
          <p:nvPr/>
        </p:nvSpPr>
        <p:spPr>
          <a:xfrm rot="5400000">
            <a:off x="2728922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25296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5296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23" id="23"/>
          <p:cNvSpPr/>
          <p:nvPr/>
        </p:nvSpPr>
        <p:spPr>
          <a:xfrm rot="5400000">
            <a:off x="8399145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IBGE.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38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46370"/>
            <a:ext cx="1463040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515100"/>
            <a:ext cx="14630400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646670"/>
            <a:ext cx="146304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401050"/>
            <a:ext cx="146304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0" y="1745905"/>
            <a:ext cx="9554460" cy="36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9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0" y="4556284"/>
            <a:ext cx="9554460" cy="36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9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Regras de negócio: a publicação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31" name="Regra Nova publicação"/>
          <p:cNvSpPr/>
          <p:nvPr/>
        </p:nvSpPr>
        <p:spPr>
          <a:xfrm>
            <a:off x="914400" y="40690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Nova publicação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local marcado no mapa; número da casa é removido</a:t>
            </a:r>
          </a:p>
        </p:txBody>
      </p:sp>
      <p:sp>
        <p:nvSpPr>
          <p:cNvPr id="32" name="Regra Qual o tipo?"/>
          <p:cNvSpPr/>
          <p:nvPr/>
        </p:nvSpPr>
        <p:spPr>
          <a:xfrm>
            <a:off x="3703320" y="40690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Qual o tipo?</a:t>
            </a:r>
          </a:p>
        </p:txBody>
      </p:sp>
      <p:sp>
        <p:nvSpPr>
          <p:cNvPr id="33" name="Regra Perdido"/>
          <p:cNvSpPr/>
          <p:nvPr/>
        </p:nvSpPr>
        <p:spPr>
          <a:xfrm>
            <a:off x="649224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Perdido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público vê bairro e rua; no mapa, grade de ~1 km; recompensa opcional</a:t>
            </a:r>
          </a:p>
        </p:txBody>
      </p:sp>
      <p:sp>
        <p:nvSpPr>
          <p:cNvPr id="34" name="Regra Encontrado"/>
          <p:cNvSpPr/>
          <p:nvPr/>
        </p:nvSpPr>
        <p:spPr>
          <a:xfrm>
            <a:off x="6492240" y="40690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Encontrado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pode ser anônimo; tutela exigida por padrão</a:t>
            </a:r>
          </a:p>
        </p:txBody>
      </p:sp>
      <p:sp>
        <p:nvSpPr>
          <p:cNvPr id="35" name="Regra Para adoção"/>
          <p:cNvSpPr/>
          <p:nvPr/>
        </p:nvSpPr>
        <p:spPr>
          <a:xfrm>
            <a:off x="649224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Para adoção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até 50 animais por anúncio; fora do mapa; contato pelo chat</a:t>
            </a:r>
          </a:p>
        </p:txBody>
      </p:sp>
      <p:sp>
        <p:nvSpPr>
          <p:cNvPr id="36" name="Regra Animal solto na rua?"/>
          <p:cNvSpPr/>
          <p:nvPr/>
        </p:nvSpPr>
        <p:spPr>
          <a:xfrm>
            <a:off x="9281160" y="40690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Animal solto na rua?</a:t>
            </a:r>
          </a:p>
        </p:txBody>
      </p:sp>
      <p:sp>
        <p:nvSpPr>
          <p:cNvPr id="37" name="Regra Sim: na rua"/>
          <p:cNvSpPr/>
          <p:nvPr/>
        </p:nvSpPr>
        <p:spPr>
          <a:xfrm>
            <a:off x="12070080" y="40690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Sim: na rua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aparece no mapa; rua e altura visíveis; rota permitida</a:t>
            </a:r>
          </a:p>
        </p:txBody>
      </p:sp>
      <p:sp>
        <p:nvSpPr>
          <p:cNvPr id="38" name="Regra Não: acolhido"/>
          <p:cNvSpPr/>
          <p:nvPr/>
        </p:nvSpPr>
        <p:spPr>
          <a:xfrm>
            <a:off x="1207008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Não: acolhido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só o bairro (“Endereço protegido”); fora do mapa; sem rota</a:t>
            </a:r>
          </a:p>
        </p:txBody>
      </p:sp>
      <p:sp>
        <p:nvSpPr>
          <p:cNvPr id="39" name="Regra Correspondência"/>
          <p:cNvSpPr/>
          <p:nvPr/>
        </p:nvSpPr>
        <p:spPr>
          <a:xfrm>
            <a:off x="928116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6ECE4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B1734A"/>
                </a:solidFill>
                <a:latin typeface="Calibri"/>
              </a:rPr>
              <a:t>Correspondência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perdido × encontrado: 55 pts lista, 60 pts avisa (até 3)</a:t>
            </a:r>
          </a:p>
        </p:txBody>
      </p:sp>
      <p:sp>
        <p:nvSpPr>
          <p:cNvPr id="40" name="Regra 7 dias de busca?"/>
          <p:cNvSpPr/>
          <p:nvPr/>
        </p:nvSpPr>
        <p:spPr>
          <a:xfrm>
            <a:off x="14859000" y="58978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7 dias de busca?</a:t>
            </a:r>
          </a:p>
        </p:txBody>
      </p:sp>
      <p:sp>
        <p:nvSpPr>
          <p:cNvPr id="41" name="Regra Pode ir para adoção"/>
          <p:cNvSpPr/>
          <p:nvPr/>
        </p:nvSpPr>
        <p:spPr>
          <a:xfrm>
            <a:off x="1485900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2E5634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Pode ir para adoção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autor decide; vira também “Para adoção”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9000" y="47091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217920" y="3520440"/>
            <a:ext cx="1531620" cy="118872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17920" y="47091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17920" y="4709160"/>
            <a:ext cx="1531620" cy="118872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06840" y="47091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795760" y="47091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744200" y="4297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1" b="1">
                <a:solidFill>
                  <a:srgbClr val="5B6B5F"/>
                </a:solidFill>
                <a:latin typeface="Calibri"/>
              </a:rPr>
              <a:t>sim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538460" y="5349240"/>
            <a:ext cx="1531620" cy="118872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629900" y="539495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1">
                <a:solidFill>
                  <a:srgbClr val="5B6B5F"/>
                </a:solidFill>
                <a:latin typeface="Calibri"/>
              </a:rPr>
              <a:t>não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0684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006840" y="3520440"/>
            <a:ext cx="1531620" cy="118872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58468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116300" y="7178040"/>
            <a:ext cx="0" cy="548639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6189451" y="7223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1">
                <a:solidFill>
                  <a:srgbClr val="5B6B5F"/>
                </a:solidFill>
                <a:latin typeface="Calibri"/>
              </a:rPr>
              <a:t>sim</a:t>
            </a:r>
          </a:p>
        </p:txBody>
      </p:sp>
      <p:sp>
        <p:nvSpPr>
          <p:cNvPr id="56" name="Regra Ativa por 30 dias"/>
          <p:cNvSpPr/>
          <p:nvPr/>
        </p:nvSpPr>
        <p:spPr>
          <a:xfrm>
            <a:off x="91440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Ativa por 30 dias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do cadastro ou da renovação</a:t>
            </a:r>
          </a:p>
        </p:txBody>
      </p:sp>
      <p:sp>
        <p:nvSpPr>
          <p:cNvPr id="57" name="Regra Aviso 3 dias antes"/>
          <p:cNvSpPr/>
          <p:nvPr/>
        </p:nvSpPr>
        <p:spPr>
          <a:xfrm>
            <a:off x="370332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Aviso 3 dias antes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pede renovação</a:t>
            </a:r>
          </a:p>
        </p:txBody>
      </p:sp>
      <p:sp>
        <p:nvSpPr>
          <p:cNvPr id="58" name="Regra Renovou?"/>
          <p:cNvSpPr/>
          <p:nvPr/>
        </p:nvSpPr>
        <p:spPr>
          <a:xfrm>
            <a:off x="6492240" y="7726679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Renovou?</a:t>
            </a:r>
          </a:p>
        </p:txBody>
      </p:sp>
      <p:sp>
        <p:nvSpPr>
          <p:cNvPr id="59" name="Regra Oculta (carência)"/>
          <p:cNvSpPr/>
          <p:nvPr/>
        </p:nvSpPr>
        <p:spPr>
          <a:xfrm>
            <a:off x="928116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Oculta (carência)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fora do mural e do mapa por 30 dias</a:t>
            </a:r>
          </a:p>
        </p:txBody>
      </p:sp>
      <p:sp>
        <p:nvSpPr>
          <p:cNvPr id="60" name="Regra Removida"/>
          <p:cNvSpPr/>
          <p:nvPr/>
        </p:nvSpPr>
        <p:spPr>
          <a:xfrm>
            <a:off x="1207008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B1734A"/>
                </a:solidFill>
                <a:latin typeface="Calibri"/>
              </a:rPr>
              <a:t>Removida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publicação e fotos excluídas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429000" y="8366759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17920" y="8366759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006840" y="8366759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955279" y="795527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1" b="1">
                <a:solidFill>
                  <a:srgbClr val="5B6B5F"/>
                </a:solidFill>
                <a:latin typeface="Calibri"/>
              </a:rPr>
              <a:t>não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795760" y="8366759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4400" y="734263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0" b="1">
                <a:solidFill>
                  <a:srgbClr val="B1734A"/>
                </a:solidFill>
                <a:latin typeface="Calibri"/>
              </a:rPr>
              <a:t>Vigência (vale para todas as publicações)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90525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i="1" b="0">
                <a:solidFill>
                  <a:srgbClr val="5B6B5F"/>
                </a:solidFill>
                <a:latin typeface="Calibri"/>
              </a:rPr>
              <a:t>sim → volta a ficar ativa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909828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i="0" b="0">
                <a:solidFill>
                  <a:srgbClr val="5B6B5F"/>
                </a:solidFill>
                <a:latin typeface="Calibri"/>
              </a:rPr>
              <a:t/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Regras de negócio: avistamento e devolução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914400" y="185623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0" b="1">
                <a:solidFill>
                  <a:srgbClr val="B1734A"/>
                </a:solidFill>
                <a:latin typeface="Calibri"/>
              </a:rPr>
              <a:t>Avistamento e rota</a:t>
            </a:r>
          </a:p>
        </p:txBody>
      </p:sp>
      <p:sp>
        <p:nvSpPr>
          <p:cNvPr id="32" name="Regra Vi o pet"/>
          <p:cNvSpPr/>
          <p:nvPr/>
        </p:nvSpPr>
        <p:spPr>
          <a:xfrm>
            <a:off x="91440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Vi o pet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relato vinculado à publicação; a original não muda</a:t>
            </a:r>
          </a:p>
        </p:txBody>
      </p:sp>
      <p:sp>
        <p:nvSpPr>
          <p:cNvPr id="33" name="Regra Animal na rua?"/>
          <p:cNvSpPr/>
          <p:nvPr/>
        </p:nvSpPr>
        <p:spPr>
          <a:xfrm>
            <a:off x="3703320" y="22402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Animal na rua?</a:t>
            </a:r>
          </a:p>
        </p:txBody>
      </p:sp>
      <p:sp>
        <p:nvSpPr>
          <p:cNvPr id="34" name="Regra Não: casa ou quintal"/>
          <p:cNvSpPr/>
          <p:nvPr/>
        </p:nvSpPr>
        <p:spPr>
          <a:xfrm>
            <a:off x="3703320" y="40690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Não: casa ou quintal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ponto guardado com ~1 km; círculo de ~600 m; sem rota</a:t>
            </a:r>
          </a:p>
        </p:txBody>
      </p:sp>
      <p:sp>
        <p:nvSpPr>
          <p:cNvPr id="35" name="Regra Idade da pista"/>
          <p:cNvSpPr/>
          <p:nvPr/>
        </p:nvSpPr>
        <p:spPr>
          <a:xfrm>
            <a:off x="6492240" y="22402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Idade da pista</a:t>
            </a:r>
          </a:p>
        </p:txBody>
      </p:sp>
      <p:sp>
        <p:nvSpPr>
          <p:cNvPr id="36" name="Regra Até 48 h"/>
          <p:cNvSpPr/>
          <p:nvPr/>
        </p:nvSpPr>
        <p:spPr>
          <a:xfrm>
            <a:off x="928116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2E5634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Até 48 h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quente até 6 h, morna até 48 h: rota até área de ~150 m, deslocada 30–70 m</a:t>
            </a:r>
          </a:p>
        </p:txBody>
      </p:sp>
      <p:sp>
        <p:nvSpPr>
          <p:cNvPr id="37" name="Regra Mais de 48 h"/>
          <p:cNvSpPr/>
          <p:nvPr/>
        </p:nvSpPr>
        <p:spPr>
          <a:xfrm>
            <a:off x="1207008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Mais de 48 h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fica no histórico, sem rota</a:t>
            </a:r>
          </a:p>
        </p:txBody>
      </p:sp>
      <p:sp>
        <p:nvSpPr>
          <p:cNvPr id="38" name="Regra Mais de 7 dias"/>
          <p:cNvSpPr/>
          <p:nvPr/>
        </p:nvSpPr>
        <p:spPr>
          <a:xfrm>
            <a:off x="14859000" y="22402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B1734A"/>
                </a:solidFill>
                <a:latin typeface="Calibri"/>
              </a:rPr>
              <a:t>Mais de 7 dias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sai do mapa; coordenada não é exibida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2900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1792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66360" y="2468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1" b="1">
                <a:solidFill>
                  <a:srgbClr val="5B6B5F"/>
                </a:solidFill>
                <a:latin typeface="Calibri"/>
              </a:rPr>
              <a:t>sim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60620" y="3520440"/>
            <a:ext cx="0" cy="54864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33772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1">
                <a:solidFill>
                  <a:srgbClr val="5B6B5F"/>
                </a:solidFill>
                <a:latin typeface="Calibri"/>
              </a:rPr>
              <a:t>não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0684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79576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584680" y="28803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92240" y="4206240"/>
            <a:ext cx="8138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5B6B5F"/>
                </a:solidFill>
                <a:latin typeface="Calibri"/>
              </a:rPr>
              <a:t>A rota nunca vai até o local onde o animal sumiu (casa do tutor), até um animal acolhido ou até um animal para adoção.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51383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0" b="1">
                <a:solidFill>
                  <a:srgbClr val="B1734A"/>
                </a:solidFill>
                <a:latin typeface="Calibri"/>
              </a:rPr>
              <a:t>Devolução de um animal encontrado</a:t>
            </a:r>
          </a:p>
        </p:txBody>
      </p:sp>
      <p:sp>
        <p:nvSpPr>
          <p:cNvPr id="49" name="Regra Pedir devolução"/>
          <p:cNvSpPr/>
          <p:nvPr/>
        </p:nvSpPr>
        <p:spPr>
          <a:xfrm>
            <a:off x="91440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Pedir devolução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tutor envia relato e fotos (vacina, marcas, fotos antigas)</a:t>
            </a:r>
          </a:p>
        </p:txBody>
      </p:sp>
      <p:sp>
        <p:nvSpPr>
          <p:cNvPr id="50" name="Regra Autor aprova?"/>
          <p:cNvSpPr/>
          <p:nvPr/>
        </p:nvSpPr>
        <p:spPr>
          <a:xfrm>
            <a:off x="3703320" y="58978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Autor aprova?</a:t>
            </a:r>
          </a:p>
        </p:txBody>
      </p:sp>
      <p:sp>
        <p:nvSpPr>
          <p:cNvPr id="51" name="Regra Recusa"/>
          <p:cNvSpPr/>
          <p:nvPr/>
        </p:nvSpPr>
        <p:spPr>
          <a:xfrm>
            <a:off x="370332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B1734A"/>
                </a:solidFill>
                <a:latin typeface="Calibri"/>
              </a:rPr>
              <a:t>Recusa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com motivo registrado</a:t>
            </a:r>
          </a:p>
        </p:txBody>
      </p:sp>
      <p:sp>
        <p:nvSpPr>
          <p:cNvPr id="52" name="Regra Propõe encontro"/>
          <p:cNvSpPr/>
          <p:nvPr/>
        </p:nvSpPr>
        <p:spPr>
          <a:xfrm>
            <a:off x="649224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Propõe encontro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local público, dia, hora e ponto no mapa</a:t>
            </a:r>
          </a:p>
        </p:txBody>
      </p:sp>
      <p:sp>
        <p:nvSpPr>
          <p:cNvPr id="53" name="Regra Tutor responde?"/>
          <p:cNvSpPr/>
          <p:nvPr/>
        </p:nvSpPr>
        <p:spPr>
          <a:xfrm>
            <a:off x="9281160" y="5897880"/>
            <a:ext cx="2514600" cy="1280160"/>
          </a:xfrm>
          <a:prstGeom prst="diamond">
            <a:avLst/>
          </a:prstGeom>
          <a:solidFill>
            <a:srgbClr val="EEF3ED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500">
                <a:solidFill>
                  <a:srgbClr val="2E5634"/>
                </a:solidFill>
                <a:latin typeface="Calibri"/>
              </a:rPr>
              <a:t>Tutor responde?</a:t>
            </a:r>
          </a:p>
        </p:txBody>
      </p:sp>
      <p:sp>
        <p:nvSpPr>
          <p:cNvPr id="54" name="Regra Remarcar ou cancelar"/>
          <p:cNvSpPr/>
          <p:nvPr/>
        </p:nvSpPr>
        <p:spPr>
          <a:xfrm>
            <a:off x="9281160" y="7726679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Remarcar ou cancelar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nova proposta; a anterior fica no histórico</a:t>
            </a:r>
          </a:p>
        </p:txBody>
      </p:sp>
      <p:sp>
        <p:nvSpPr>
          <p:cNvPr id="55" name="Regra Encontro confirmado"/>
          <p:cNvSpPr/>
          <p:nvPr/>
        </p:nvSpPr>
        <p:spPr>
          <a:xfrm>
            <a:off x="1207008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2E5634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Encontro confirmado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fixado no chat → Reencontrado</a:t>
            </a:r>
          </a:p>
        </p:txBody>
      </p:sp>
      <p:sp>
        <p:nvSpPr>
          <p:cNvPr id="56" name="Regra Classificar membro"/>
          <p:cNvSpPr/>
          <p:nvPr/>
        </p:nvSpPr>
        <p:spPr>
          <a:xfrm>
            <a:off x="14859000" y="589788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2E5634"/>
                </a:solidFill>
                <a:latin typeface="Calibri"/>
              </a:rPr>
              <a:t>Classificar membro</a:t>
            </a:r>
          </a:p>
          <a:p>
            <a:pPr algn="ctr"/>
            <a:r>
              <a:rPr sz="1250">
                <a:solidFill>
                  <a:srgbClr val="1B2A1F"/>
                </a:solidFill>
                <a:latin typeface="Calibri"/>
              </a:rPr>
              <a:t>após 24 h sem mensagens; 1 a 5 estrelas; uma por membro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42900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21792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66360" y="6126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1" b="1">
                <a:solidFill>
                  <a:srgbClr val="5B6B5F"/>
                </a:solidFill>
                <a:latin typeface="Calibri"/>
              </a:rPr>
              <a:t>sim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960620" y="7178040"/>
            <a:ext cx="0" cy="548639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33772" y="7223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1">
                <a:solidFill>
                  <a:srgbClr val="5B6B5F"/>
                </a:solidFill>
                <a:latin typeface="Calibri"/>
              </a:rPr>
              <a:t>não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0684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79576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744200" y="6126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1" b="1">
                <a:solidFill>
                  <a:srgbClr val="5B6B5F"/>
                </a:solidFill>
                <a:latin typeface="Calibri"/>
              </a:rPr>
              <a:t>confirma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538460" y="7178040"/>
            <a:ext cx="0" cy="548639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611612" y="7223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1">
                <a:solidFill>
                  <a:srgbClr val="5B6B5F"/>
                </a:solidFill>
                <a:latin typeface="Calibri"/>
              </a:rPr>
              <a:t>outro horário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4584680" y="6537960"/>
            <a:ext cx="274320" cy="0"/>
          </a:xfrm>
          <a:prstGeom prst="line">
            <a:avLst/>
          </a:prstGeom>
          <a:ln w="22225">
            <a:solidFill>
              <a:srgbClr val="5B6B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7749540" y="7178040"/>
            <a:ext cx="1531620" cy="1188719"/>
          </a:xfrm>
          <a:prstGeom prst="line">
            <a:avLst/>
          </a:prstGeom>
          <a:ln w="22225">
            <a:solidFill>
              <a:srgbClr val="5B6B5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2070080" y="7818119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5B6B5F"/>
                </a:solidFill>
                <a:latin typeface="Calibri"/>
              </a:rPr>
              <a:t>O endereço de quem acolheu nunca é liberado: só o autor e o administrador veem o local exato.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Fluxo geral do WeFIND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31" name="Etapa Abrir o WeFIND"/>
          <p:cNvSpPr/>
          <p:nvPr/>
        </p:nvSpPr>
        <p:spPr>
          <a:xfrm>
            <a:off x="914400" y="219456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Abrir o WeFIND</a:t>
            </a:r>
          </a:p>
        </p:txBody>
      </p:sp>
      <p:sp>
        <p:nvSpPr>
          <p:cNvPr id="32" name="Etapa Visitante"/>
          <p:cNvSpPr/>
          <p:nvPr/>
        </p:nvSpPr>
        <p:spPr>
          <a:xfrm>
            <a:off x="914400" y="40690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Visitante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mural, mapa e detalhes, sem conta</a:t>
            </a:r>
          </a:p>
        </p:txBody>
      </p:sp>
      <p:sp>
        <p:nvSpPr>
          <p:cNvPr id="33" name="Etapa Cadastro ou login"/>
          <p:cNvSpPr/>
          <p:nvPr/>
        </p:nvSpPr>
        <p:spPr>
          <a:xfrm>
            <a:off x="914400" y="594360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Cadastro ou login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código pelo WhatsApp · Google</a:t>
            </a:r>
          </a:p>
        </p:txBody>
      </p:sp>
      <p:sp>
        <p:nvSpPr>
          <p:cNvPr id="34" name="Etapa Regra automática"/>
          <p:cNvSpPr/>
          <p:nvPr/>
        </p:nvSpPr>
        <p:spPr>
          <a:xfrm>
            <a:off x="914400" y="78181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EEF3ED"/>
          </a:solidFill>
          <a:ln w="19050">
            <a:solidFill>
              <a:srgbClr val="2E56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Regra automática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publicação ativa 30 dias → aviso 3 dias antes → carência de 30 → remoção</a:t>
            </a:r>
          </a:p>
        </p:txBody>
      </p:sp>
      <p:sp>
        <p:nvSpPr>
          <p:cNvPr id="35" name="Etapa Meus pets"/>
          <p:cNvSpPr/>
          <p:nvPr/>
        </p:nvSpPr>
        <p:spPr>
          <a:xfrm>
            <a:off x="4343400" y="219456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Meus pets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carteirinha · “Meu pet fugiu”</a:t>
            </a:r>
          </a:p>
        </p:txBody>
      </p:sp>
      <p:sp>
        <p:nvSpPr>
          <p:cNvPr id="36" name="Etapa Mural e mapa"/>
          <p:cNvSpPr/>
          <p:nvPr/>
        </p:nvSpPr>
        <p:spPr>
          <a:xfrm>
            <a:off x="4343400" y="40690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2E5634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Mural e mapa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casos mais próximos primeiro · filtros</a:t>
            </a:r>
          </a:p>
        </p:txBody>
      </p:sp>
      <p:sp>
        <p:nvSpPr>
          <p:cNvPr id="37" name="Etapa Denunciar"/>
          <p:cNvSpPr/>
          <p:nvPr/>
        </p:nvSpPr>
        <p:spPr>
          <a:xfrm>
            <a:off x="4343400" y="594360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Denunciar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publicação ou conteúdo suspeito</a:t>
            </a:r>
          </a:p>
        </p:txBody>
      </p:sp>
      <p:sp>
        <p:nvSpPr>
          <p:cNvPr id="38" name="Etapa Administrador"/>
          <p:cNvSpPr/>
          <p:nvPr/>
        </p:nvSpPr>
        <p:spPr>
          <a:xfrm>
            <a:off x="4343400" y="78181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Administrador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analisa e modera</a:t>
            </a:r>
          </a:p>
        </p:txBody>
      </p:sp>
      <p:sp>
        <p:nvSpPr>
          <p:cNvPr id="39" name="Etapa Publicar animal"/>
          <p:cNvSpPr/>
          <p:nvPr/>
        </p:nvSpPr>
        <p:spPr>
          <a:xfrm>
            <a:off x="7772400" y="219456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Publicar animal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perdido, encontrado ou adoção · local sem número</a:t>
            </a:r>
          </a:p>
        </p:txBody>
      </p:sp>
      <p:sp>
        <p:nvSpPr>
          <p:cNvPr id="40" name="Etapa Detalhes da publicação"/>
          <p:cNvSpPr/>
          <p:nvPr/>
        </p:nvSpPr>
        <p:spPr>
          <a:xfrm>
            <a:off x="7772400" y="40690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Detalhes da publicação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fotos, características, local aproximado</a:t>
            </a:r>
          </a:p>
        </p:txBody>
      </p:sp>
      <p:sp>
        <p:nvSpPr>
          <p:cNvPr id="41" name="Etapa Chat privado"/>
          <p:cNvSpPr/>
          <p:nvPr/>
        </p:nvSpPr>
        <p:spPr>
          <a:xfrm>
            <a:off x="7772400" y="594360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Chat privado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sem expor o telefone</a:t>
            </a:r>
          </a:p>
        </p:txBody>
      </p:sp>
      <p:sp>
        <p:nvSpPr>
          <p:cNvPr id="42" name="Etapa Correspondência"/>
          <p:cNvSpPr/>
          <p:nvPr/>
        </p:nvSpPr>
        <p:spPr>
          <a:xfrm>
            <a:off x="11201400" y="219456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6ECE4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B1734A"/>
                </a:solidFill>
                <a:latin typeface="Calibri"/>
              </a:rPr>
              <a:t>Correspondência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compara perdido × encontrado · 55 lista, 60 avisa</a:t>
            </a:r>
          </a:p>
        </p:txBody>
      </p:sp>
      <p:sp>
        <p:nvSpPr>
          <p:cNvPr id="43" name="Etapa Vi o pet"/>
          <p:cNvSpPr/>
          <p:nvPr/>
        </p:nvSpPr>
        <p:spPr>
          <a:xfrm>
            <a:off x="11201400" y="40690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Vi o pet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avistamento no mapa: rua ou casa</a:t>
            </a:r>
          </a:p>
        </p:txBody>
      </p:sp>
      <p:sp>
        <p:nvSpPr>
          <p:cNvPr id="44" name="Etapa Comprovação de tutela"/>
          <p:cNvSpPr/>
          <p:nvPr/>
        </p:nvSpPr>
        <p:spPr>
          <a:xfrm>
            <a:off x="11201400" y="594360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Comprovação de tutela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se o animal foi encontrado · relato e fotos</a:t>
            </a:r>
          </a:p>
        </p:txBody>
      </p:sp>
      <p:sp>
        <p:nvSpPr>
          <p:cNvPr id="45" name="Etapa Notificações"/>
          <p:cNvSpPr/>
          <p:nvPr/>
        </p:nvSpPr>
        <p:spPr>
          <a:xfrm>
            <a:off x="14630400" y="219456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6ECE4"/>
          </a:solidFill>
          <a:ln w="19050">
            <a:solidFill>
              <a:srgbClr val="B1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B1734A"/>
                </a:solidFill>
                <a:latin typeface="Calibri"/>
              </a:rPr>
              <a:t>Notificações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app, push e WhatsApp</a:t>
            </a:r>
          </a:p>
        </p:txBody>
      </p:sp>
      <p:sp>
        <p:nvSpPr>
          <p:cNvPr id="46" name="Etapa Pista e rota"/>
          <p:cNvSpPr/>
          <p:nvPr/>
        </p:nvSpPr>
        <p:spPr>
          <a:xfrm>
            <a:off x="14630400" y="40690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Pista e rota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até 48 h · área de ~150 m</a:t>
            </a:r>
          </a:p>
        </p:txBody>
      </p:sp>
      <p:sp>
        <p:nvSpPr>
          <p:cNvPr id="47" name="Etapa Encontro em local público"/>
          <p:cNvSpPr/>
          <p:nvPr/>
        </p:nvSpPr>
        <p:spPr>
          <a:xfrm>
            <a:off x="14630400" y="594360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Encontro em local público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após aprovação · encerra como Reencontrado</a:t>
            </a:r>
          </a:p>
        </p:txBody>
      </p:sp>
      <p:sp>
        <p:nvSpPr>
          <p:cNvPr id="48" name="Etapa Classificar membro"/>
          <p:cNvSpPr/>
          <p:nvPr/>
        </p:nvSpPr>
        <p:spPr>
          <a:xfrm>
            <a:off x="14630400" y="781812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2E5634"/>
                </a:solidFill>
                <a:latin typeface="Calibri"/>
              </a:rPr>
              <a:t>Classificar membro</a:t>
            </a:r>
          </a:p>
          <a:p>
            <a:pPr algn="ctr"/>
            <a:r>
              <a:rPr sz="1300">
                <a:solidFill>
                  <a:srgbClr val="1B2A1F"/>
                </a:solidFill>
                <a:latin typeface="Calibri"/>
              </a:rPr>
              <a:t>1 a 5 estrelas após 24 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77440" y="3429000"/>
            <a:ext cx="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377440" y="5303520"/>
            <a:ext cx="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450592" y="5413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5B6B5F"/>
                </a:solidFill>
                <a:latin typeface="Calibri"/>
              </a:rPr>
              <a:t>quer publicar ou conversar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840480" y="468630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840480" y="5120640"/>
            <a:ext cx="502920" cy="100584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69480" y="281178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269480" y="3200400"/>
            <a:ext cx="502920" cy="10972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69480" y="468630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698480" y="281178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127480" y="281178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98480" y="468630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127480" y="468630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35440" y="5303520"/>
            <a:ext cx="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269480" y="5120640"/>
            <a:ext cx="502920" cy="100584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806440" y="7178040"/>
            <a:ext cx="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98480" y="656082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127480" y="6560820"/>
            <a:ext cx="502920" cy="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093440" y="7178040"/>
            <a:ext cx="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898880" y="3429000"/>
            <a:ext cx="960120" cy="640080"/>
          </a:xfrm>
          <a:prstGeom prst="line">
            <a:avLst/>
          </a:prstGeom>
          <a:ln w="22225">
            <a:solidFill>
              <a:srgbClr val="5B6B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