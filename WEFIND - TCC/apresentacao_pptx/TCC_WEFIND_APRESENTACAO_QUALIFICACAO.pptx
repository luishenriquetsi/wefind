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01.svg" ContentType="image/svg+xml"/>
  <Override PartName="/ppt/media/image103.svg" ContentType="image/svg+xml"/>
  <Override PartName="/ppt/media/image105.svg" ContentType="image/svg+xml"/>
  <Override PartName="/ppt/media/image14.svg" ContentType="image/svg+xml"/>
  <Override PartName="/ppt/media/image17.svg" ContentType="image/svg+xml"/>
  <Override PartName="/ppt/media/image22.svg" ContentType="image/svg+xml"/>
  <Override PartName="/ppt/media/image24.svg" ContentType="image/svg+xml"/>
  <Override PartName="/ppt/media/image32.svg" ContentType="image/svg+xml"/>
  <Override PartName="/ppt/media/image34.svg" ContentType="image/svg+xml"/>
  <Override PartName="/ppt/media/image38.svg" ContentType="image/svg+xml"/>
  <Override PartName="/ppt/media/image42.svg" ContentType="image/svg+xml"/>
  <Override PartName="/ppt/media/image44.svg" ContentType="image/svg+xml"/>
  <Override PartName="/ppt/media/image46.svg" ContentType="image/svg+xml"/>
  <Override PartName="/ppt/media/image48.svg" ContentType="image/svg+xml"/>
  <Override PartName="/ppt/media/image50.svg" ContentType="image/svg+xml"/>
  <Override PartName="/ppt/media/image52.svg" ContentType="image/svg+xml"/>
  <Override PartName="/ppt/media/image54.svg" ContentType="image/svg+xml"/>
  <Override PartName="/ppt/media/image89.svg" ContentType="image/svg+xml"/>
  <Override PartName="/ppt/media/image91.svg" ContentType="image/svg+xml"/>
  <Override PartName="/ppt/media/image93.svg" ContentType="image/svg+xml"/>
  <Override PartName="/ppt/media/image95.svg" ContentType="image/svg+xml"/>
  <Override PartName="/ppt/media/image97.svg" ContentType="image/svg+xml"/>
  <Override PartName="/ppt/media/image99.svg" ContentType="image/svg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92" r:id="rId49"/>
    <p:sldId id="293" r:id="rId50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</p:sldIdLst>
  <p:sldSz cx="18288000" cy="10287000"/>
  <p:notesSz cx="6858000" cy="9144000"/>
  <p:embeddedFontLst>
    <p:embeddedFont>
      <p:font typeface="Cooper BT Bold" charset="1" panose="0208080404030B020404"/>
      <p:regular r:id="rId42"/>
    </p:embeddedFont>
    <p:embeddedFont>
      <p:font typeface="Cooper BT Light" charset="1" panose="0208050304030B020404"/>
      <p:regular r:id="rId43"/>
    </p:embeddedFont>
    <p:embeddedFont>
      <p:font typeface="Cambria Bold" charset="1" panose="02040803050406030204"/>
      <p:regular r:id="rId44"/>
    </p:embeddedFont>
    <p:embeddedFont>
      <p:font typeface="Calibri (MS)" charset="1" panose="020F0502020204030204"/>
      <p:regular r:id="rId45"/>
    </p:embeddedFont>
    <p:embeddedFont>
      <p:font typeface="Calibri (MS) Bold" charset="1" panose="020F0702030404030204"/>
      <p:regular r:id="rId46"/>
    </p:embeddedFont>
    <p:embeddedFont>
      <p:font typeface="Calibri (MS) Italics" charset="1" panose="020F05020202040A0204"/>
      <p:regular r:id="rId47"/>
    </p:embeddedFont>
    <p:embeddedFont>
      <p:font typeface="Roboto Bold" charset="1" panose="02000000000000000000"/>
      <p:regular r:id="rId48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esProps" Target="presProps.xml"/><Relationship Id="rId3" Type="http://schemas.openxmlformats.org/officeDocument/2006/relationships/viewProps" Target="viewProps.xml"/><Relationship Id="rId4" Type="http://schemas.openxmlformats.org/officeDocument/2006/relationships/theme" Target="theme/theme1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0.xml"/><Relationship Id="rId26" Type="http://schemas.openxmlformats.org/officeDocument/2006/relationships/slide" Target="slides/slide21.xml"/><Relationship Id="rId27" Type="http://schemas.openxmlformats.org/officeDocument/2006/relationships/slide" Target="slides/slide22.xml"/><Relationship Id="rId28" Type="http://schemas.openxmlformats.org/officeDocument/2006/relationships/slide" Target="slides/slide23.xml"/><Relationship Id="rId29" Type="http://schemas.openxmlformats.org/officeDocument/2006/relationships/slide" Target="slides/slide26.xml"/><Relationship Id="rId30" Type="http://schemas.openxmlformats.org/officeDocument/2006/relationships/slide" Target="slides/slide27.xml"/><Relationship Id="rId31" Type="http://schemas.openxmlformats.org/officeDocument/2006/relationships/slide" Target="slides/slide28.xml"/><Relationship Id="rId32" Type="http://schemas.openxmlformats.org/officeDocument/2006/relationships/slide" Target="slides/slide29.xml"/><Relationship Id="rId33" Type="http://schemas.openxmlformats.org/officeDocument/2006/relationships/slide" Target="slides/slide30.xml"/><Relationship Id="rId34" Type="http://schemas.openxmlformats.org/officeDocument/2006/relationships/slide" Target="slides/slide31.xml"/><Relationship Id="rId35" Type="http://schemas.openxmlformats.org/officeDocument/2006/relationships/slide" Target="slides/slide32.xml"/><Relationship Id="rId36" Type="http://schemas.openxmlformats.org/officeDocument/2006/relationships/slide" Target="slides/slide33.xml"/><Relationship Id="rId37" Type="http://schemas.openxmlformats.org/officeDocument/2006/relationships/slide" Target="slides/slide34.xml"/><Relationship Id="rId38" Type="http://schemas.openxmlformats.org/officeDocument/2006/relationships/slide" Target="slides/slide35.xml"/><Relationship Id="rId39" Type="http://schemas.openxmlformats.org/officeDocument/2006/relationships/slide" Target="slides/slide36.xml"/><Relationship Id="rId40" Type="http://schemas.openxmlformats.org/officeDocument/2006/relationships/slide" Target="slides/slide37.xml"/><Relationship Id="rId41" Type="http://schemas.openxmlformats.org/officeDocument/2006/relationships/slide" Target="slides/slide38.xml"/><Relationship Id="rId42" Type="http://schemas.openxmlformats.org/officeDocument/2006/relationships/font" Target="fonts/font42.fntdata"/><Relationship Id="rId43" Type="http://schemas.openxmlformats.org/officeDocument/2006/relationships/font" Target="fonts/font43.fntdata"/><Relationship Id="rId44" Type="http://schemas.openxmlformats.org/officeDocument/2006/relationships/font" Target="fonts/font44.fntdata"/><Relationship Id="rId45" Type="http://schemas.openxmlformats.org/officeDocument/2006/relationships/font" Target="fonts/font45.fntdata"/><Relationship Id="rId46" Type="http://schemas.openxmlformats.org/officeDocument/2006/relationships/font" Target="fonts/font46.fntdata"/><Relationship Id="rId47" Type="http://schemas.openxmlformats.org/officeDocument/2006/relationships/font" Target="fonts/font47.fntdata"/><Relationship Id="rId48" Type="http://schemas.openxmlformats.org/officeDocument/2006/relationships/font" Target="fonts/font48.fntdata"/><Relationship Id="rId49" Type="http://schemas.openxmlformats.org/officeDocument/2006/relationships/slide" Target="slides/slide24.xml"/><Relationship Id="rId50" Type="http://schemas.openxmlformats.org/officeDocument/2006/relationships/slide" Target="slides/slide2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4.jpeg"/><Relationship Id="rId4" Type="http://schemas.openxmlformats.org/officeDocument/2006/relationships/image" Target="../media/image5.jpeg"/><Relationship Id="rId5" Type="http://schemas.openxmlformats.org/officeDocument/2006/relationships/image" Target="../media/image6.jpeg"/><Relationship Id="rId6" Type="http://schemas.openxmlformats.org/officeDocument/2006/relationships/image" Target="../media/image7.jpeg"/><Relationship Id="rId7" Type="http://schemas.openxmlformats.org/officeDocument/2006/relationships/image" Target="../media/image8.jpeg"/><Relationship Id="rId8" Type="http://schemas.openxmlformats.org/officeDocument/2006/relationships/image" Target="../media/image9.jpeg"/><Relationship Id="rId9" Type="http://schemas.openxmlformats.org/officeDocument/2006/relationships/image" Target="../media/image10.jpe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eg"/><Relationship Id="rId3" Type="http://schemas.openxmlformats.org/officeDocument/2006/relationships/image" Target="../media/image5.jpeg"/><Relationship Id="rId4" Type="http://schemas.openxmlformats.org/officeDocument/2006/relationships/image" Target="../media/image6.jpeg"/><Relationship Id="rId5" Type="http://schemas.openxmlformats.org/officeDocument/2006/relationships/image" Target="../media/image7.jpeg"/><Relationship Id="rId6" Type="http://schemas.openxmlformats.org/officeDocument/2006/relationships/image" Target="../media/image8.jpeg"/><Relationship Id="rId7" Type="http://schemas.openxmlformats.org/officeDocument/2006/relationships/image" Target="../media/image9.jpeg"/><Relationship Id="rId8" Type="http://schemas.openxmlformats.org/officeDocument/2006/relationships/image" Target="../media/image10.jpe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eg"/><Relationship Id="rId3" Type="http://schemas.openxmlformats.org/officeDocument/2006/relationships/image" Target="../media/image5.jpeg"/><Relationship Id="rId4" Type="http://schemas.openxmlformats.org/officeDocument/2006/relationships/image" Target="../media/image6.jpeg"/><Relationship Id="rId5" Type="http://schemas.openxmlformats.org/officeDocument/2006/relationships/image" Target="../media/image7.jpeg"/><Relationship Id="rId6" Type="http://schemas.openxmlformats.org/officeDocument/2006/relationships/image" Target="../media/image8.jpeg"/><Relationship Id="rId7" Type="http://schemas.openxmlformats.org/officeDocument/2006/relationships/image" Target="../media/image9.jpeg"/><Relationship Id="rId8" Type="http://schemas.openxmlformats.org/officeDocument/2006/relationships/image" Target="../media/image10.jpe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eg"/><Relationship Id="rId3" Type="http://schemas.openxmlformats.org/officeDocument/2006/relationships/image" Target="../media/image5.jpeg"/><Relationship Id="rId4" Type="http://schemas.openxmlformats.org/officeDocument/2006/relationships/image" Target="../media/image6.jpeg"/><Relationship Id="rId5" Type="http://schemas.openxmlformats.org/officeDocument/2006/relationships/image" Target="../media/image7.jpeg"/><Relationship Id="rId6" Type="http://schemas.openxmlformats.org/officeDocument/2006/relationships/image" Target="../media/image8.jpeg"/><Relationship Id="rId7" Type="http://schemas.openxmlformats.org/officeDocument/2006/relationships/image" Target="../media/image9.jpeg"/><Relationship Id="rId8" Type="http://schemas.openxmlformats.org/officeDocument/2006/relationships/image" Target="../media/image10.jpe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eg"/><Relationship Id="rId3" Type="http://schemas.openxmlformats.org/officeDocument/2006/relationships/image" Target="../media/image5.jpeg"/><Relationship Id="rId4" Type="http://schemas.openxmlformats.org/officeDocument/2006/relationships/image" Target="../media/image6.jpeg"/><Relationship Id="rId5" Type="http://schemas.openxmlformats.org/officeDocument/2006/relationships/image" Target="../media/image7.jpeg"/><Relationship Id="rId6" Type="http://schemas.openxmlformats.org/officeDocument/2006/relationships/image" Target="../media/image8.jpeg"/><Relationship Id="rId7" Type="http://schemas.openxmlformats.org/officeDocument/2006/relationships/image" Target="../media/image9.jpeg"/><Relationship Id="rId8" Type="http://schemas.openxmlformats.org/officeDocument/2006/relationships/image" Target="../media/image10.jpeg"/><Relationship Id="rId9" Type="http://schemas.openxmlformats.org/officeDocument/2006/relationships/image" Target="../media/image1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4.jpeg"/><Relationship Id="rId4" Type="http://schemas.openxmlformats.org/officeDocument/2006/relationships/image" Target="../media/image5.jpeg"/><Relationship Id="rId5" Type="http://schemas.openxmlformats.org/officeDocument/2006/relationships/image" Target="../media/image6.jpeg"/><Relationship Id="rId6" Type="http://schemas.openxmlformats.org/officeDocument/2006/relationships/image" Target="../media/image7.jpeg"/><Relationship Id="rId7" Type="http://schemas.openxmlformats.org/officeDocument/2006/relationships/image" Target="../media/image8.jpeg"/><Relationship Id="rId8" Type="http://schemas.openxmlformats.org/officeDocument/2006/relationships/image" Target="../media/image9.jpeg"/><Relationship Id="rId9" Type="http://schemas.openxmlformats.org/officeDocument/2006/relationships/image" Target="../media/image10.jpeg"/><Relationship Id="rId10" Type="http://schemas.openxmlformats.org/officeDocument/2006/relationships/image" Target="../media/image1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4.jpeg"/><Relationship Id="rId4" Type="http://schemas.openxmlformats.org/officeDocument/2006/relationships/image" Target="../media/image5.jpeg"/><Relationship Id="rId5" Type="http://schemas.openxmlformats.org/officeDocument/2006/relationships/image" Target="../media/image6.jpeg"/><Relationship Id="rId6" Type="http://schemas.openxmlformats.org/officeDocument/2006/relationships/image" Target="../media/image7.jpeg"/><Relationship Id="rId7" Type="http://schemas.openxmlformats.org/officeDocument/2006/relationships/image" Target="../media/image8.jpeg"/><Relationship Id="rId8" Type="http://schemas.openxmlformats.org/officeDocument/2006/relationships/image" Target="../media/image9.jpeg"/><Relationship Id="rId9" Type="http://schemas.openxmlformats.org/officeDocument/2006/relationships/image" Target="../media/image10.jpeg"/><Relationship Id="rId10" Type="http://schemas.openxmlformats.org/officeDocument/2006/relationships/image" Target="../media/image13.png"/><Relationship Id="rId11" Type="http://schemas.openxmlformats.org/officeDocument/2006/relationships/image" Target="../media/image14.svg"/><Relationship Id="rId12" Type="http://schemas.openxmlformats.org/officeDocument/2006/relationships/image" Target="../media/image15.png"/><Relationship Id="rId13" Type="http://schemas.openxmlformats.org/officeDocument/2006/relationships/image" Target="../media/image16.png"/><Relationship Id="rId14" Type="http://schemas.openxmlformats.org/officeDocument/2006/relationships/image" Target="../media/image17.svg"/><Relationship Id="rId15" Type="http://schemas.openxmlformats.org/officeDocument/2006/relationships/image" Target="../media/image18.png"/><Relationship Id="rId16" Type="http://schemas.openxmlformats.org/officeDocument/2006/relationships/image" Target="../media/image19.png"/><Relationship Id="rId17" Type="http://schemas.openxmlformats.org/officeDocument/2006/relationships/image" Target="../media/image2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eg"/><Relationship Id="rId3" Type="http://schemas.openxmlformats.org/officeDocument/2006/relationships/image" Target="../media/image5.jpeg"/><Relationship Id="rId4" Type="http://schemas.openxmlformats.org/officeDocument/2006/relationships/image" Target="../media/image6.jpeg"/><Relationship Id="rId5" Type="http://schemas.openxmlformats.org/officeDocument/2006/relationships/image" Target="../media/image7.jpeg"/><Relationship Id="rId6" Type="http://schemas.openxmlformats.org/officeDocument/2006/relationships/image" Target="../media/image8.jpeg"/><Relationship Id="rId7" Type="http://schemas.openxmlformats.org/officeDocument/2006/relationships/image" Target="../media/image9.jpeg"/><Relationship Id="rId8" Type="http://schemas.openxmlformats.org/officeDocument/2006/relationships/image" Target="../media/image10.jpe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4.jpeg"/><Relationship Id="rId4" Type="http://schemas.openxmlformats.org/officeDocument/2006/relationships/image" Target="../media/image5.jpeg"/><Relationship Id="rId5" Type="http://schemas.openxmlformats.org/officeDocument/2006/relationships/image" Target="../media/image6.jpeg"/><Relationship Id="rId6" Type="http://schemas.openxmlformats.org/officeDocument/2006/relationships/image" Target="../media/image7.jpeg"/><Relationship Id="rId7" Type="http://schemas.openxmlformats.org/officeDocument/2006/relationships/image" Target="../media/image8.jpeg"/><Relationship Id="rId8" Type="http://schemas.openxmlformats.org/officeDocument/2006/relationships/image" Target="../media/image9.jpeg"/><Relationship Id="rId9" Type="http://schemas.openxmlformats.org/officeDocument/2006/relationships/image" Target="../media/image10.jpeg"/><Relationship Id="rId10" Type="http://schemas.openxmlformats.org/officeDocument/2006/relationships/image" Target="../media/image21.png"/><Relationship Id="rId11" Type="http://schemas.openxmlformats.org/officeDocument/2006/relationships/image" Target="../media/image22.svg"/><Relationship Id="rId12" Type="http://schemas.openxmlformats.org/officeDocument/2006/relationships/image" Target="../media/image23.png"/><Relationship Id="rId13" Type="http://schemas.openxmlformats.org/officeDocument/2006/relationships/image" Target="../media/image24.svg"/><Relationship Id="rId14" Type="http://schemas.openxmlformats.org/officeDocument/2006/relationships/image" Target="../media/image25.png"/><Relationship Id="rId15" Type="http://schemas.openxmlformats.org/officeDocument/2006/relationships/image" Target="../media/image26.png"/><Relationship Id="rId16" Type="http://schemas.openxmlformats.org/officeDocument/2006/relationships/image" Target="../media/image27.png"/><Relationship Id="rId17" Type="http://schemas.openxmlformats.org/officeDocument/2006/relationships/image" Target="../media/image28.png"/><Relationship Id="rId18" Type="http://schemas.openxmlformats.org/officeDocument/2006/relationships/image" Target="../media/image29.png"/><Relationship Id="rId19" Type="http://schemas.openxmlformats.org/officeDocument/2006/relationships/image" Target="../media/image3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eg"/><Relationship Id="rId3" Type="http://schemas.openxmlformats.org/officeDocument/2006/relationships/image" Target="../media/image5.jpeg"/><Relationship Id="rId4" Type="http://schemas.openxmlformats.org/officeDocument/2006/relationships/image" Target="../media/image6.jpeg"/><Relationship Id="rId5" Type="http://schemas.openxmlformats.org/officeDocument/2006/relationships/image" Target="../media/image7.jpeg"/><Relationship Id="rId6" Type="http://schemas.openxmlformats.org/officeDocument/2006/relationships/image" Target="../media/image8.jpeg"/><Relationship Id="rId7" Type="http://schemas.openxmlformats.org/officeDocument/2006/relationships/image" Target="../media/image9.jpeg"/><Relationship Id="rId8" Type="http://schemas.openxmlformats.org/officeDocument/2006/relationships/image" Target="../media/image10.jpeg"/><Relationship Id="rId9" Type="http://schemas.openxmlformats.org/officeDocument/2006/relationships/image" Target="../media/image31.png"/><Relationship Id="rId10" Type="http://schemas.openxmlformats.org/officeDocument/2006/relationships/image" Target="../media/image32.svg"/><Relationship Id="rId11" Type="http://schemas.openxmlformats.org/officeDocument/2006/relationships/image" Target="../media/image33.png"/><Relationship Id="rId12" Type="http://schemas.openxmlformats.org/officeDocument/2006/relationships/image" Target="../media/image34.svg"/><Relationship Id="rId13" Type="http://schemas.openxmlformats.org/officeDocument/2006/relationships/image" Target="../media/image35.png"/><Relationship Id="rId14" Type="http://schemas.openxmlformats.org/officeDocument/2006/relationships/image" Target="../media/image36.png"/><Relationship Id="rId15" Type="http://schemas.openxmlformats.org/officeDocument/2006/relationships/image" Target="../media/image37.png"/><Relationship Id="rId16" Type="http://schemas.openxmlformats.org/officeDocument/2006/relationships/image" Target="../media/image38.svg"/><Relationship Id="rId17" Type="http://schemas.openxmlformats.org/officeDocument/2006/relationships/image" Target="../media/image39.png"/><Relationship Id="rId18" Type="http://schemas.openxmlformats.org/officeDocument/2006/relationships/image" Target="../media/image40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4.jpeg"/><Relationship Id="rId4" Type="http://schemas.openxmlformats.org/officeDocument/2006/relationships/image" Target="../media/image5.jpeg"/><Relationship Id="rId5" Type="http://schemas.openxmlformats.org/officeDocument/2006/relationships/image" Target="../media/image6.jpeg"/><Relationship Id="rId6" Type="http://schemas.openxmlformats.org/officeDocument/2006/relationships/image" Target="../media/image7.jpeg"/><Relationship Id="rId7" Type="http://schemas.openxmlformats.org/officeDocument/2006/relationships/image" Target="../media/image8.jpeg"/><Relationship Id="rId8" Type="http://schemas.openxmlformats.org/officeDocument/2006/relationships/image" Target="../media/image9.jpeg"/><Relationship Id="rId9" Type="http://schemas.openxmlformats.org/officeDocument/2006/relationships/image" Target="../media/image10.jpeg"/><Relationship Id="rId10" Type="http://schemas.openxmlformats.org/officeDocument/2006/relationships/image" Target="../media/image41.png"/><Relationship Id="rId11" Type="http://schemas.openxmlformats.org/officeDocument/2006/relationships/image" Target="../media/image42.svg"/><Relationship Id="rId12" Type="http://schemas.openxmlformats.org/officeDocument/2006/relationships/image" Target="../media/image43.png"/><Relationship Id="rId13" Type="http://schemas.openxmlformats.org/officeDocument/2006/relationships/image" Target="../media/image44.svg"/><Relationship Id="rId14" Type="http://schemas.openxmlformats.org/officeDocument/2006/relationships/image" Target="../media/image45.png"/><Relationship Id="rId15" Type="http://schemas.openxmlformats.org/officeDocument/2006/relationships/image" Target="../media/image46.svg"/><Relationship Id="rId16" Type="http://schemas.openxmlformats.org/officeDocument/2006/relationships/image" Target="../media/image47.png"/><Relationship Id="rId17" Type="http://schemas.openxmlformats.org/officeDocument/2006/relationships/image" Target="../media/image48.svg"/><Relationship Id="rId18" Type="http://schemas.openxmlformats.org/officeDocument/2006/relationships/image" Target="../media/image49.png"/><Relationship Id="rId19" Type="http://schemas.openxmlformats.org/officeDocument/2006/relationships/image" Target="../media/image50.svg"/><Relationship Id="rId20" Type="http://schemas.openxmlformats.org/officeDocument/2006/relationships/image" Target="../media/image51.png"/><Relationship Id="rId21" Type="http://schemas.openxmlformats.org/officeDocument/2006/relationships/image" Target="../media/image52.svg"/><Relationship Id="rId22" Type="http://schemas.openxmlformats.org/officeDocument/2006/relationships/image" Target="../media/image53.png"/><Relationship Id="rId23" Type="http://schemas.openxmlformats.org/officeDocument/2006/relationships/image" Target="../media/image54.sv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4.jpeg"/><Relationship Id="rId4" Type="http://schemas.openxmlformats.org/officeDocument/2006/relationships/image" Target="../media/image5.jpeg"/><Relationship Id="rId5" Type="http://schemas.openxmlformats.org/officeDocument/2006/relationships/image" Target="../media/image6.jpeg"/><Relationship Id="rId6" Type="http://schemas.openxmlformats.org/officeDocument/2006/relationships/image" Target="../media/image7.jpeg"/><Relationship Id="rId7" Type="http://schemas.openxmlformats.org/officeDocument/2006/relationships/image" Target="../media/image8.jpeg"/><Relationship Id="rId8" Type="http://schemas.openxmlformats.org/officeDocument/2006/relationships/image" Target="../media/image9.jpeg"/><Relationship Id="rId9" Type="http://schemas.openxmlformats.org/officeDocument/2006/relationships/image" Target="../media/image10.jpeg"/><Relationship Id="rId10" Type="http://schemas.openxmlformats.org/officeDocument/2006/relationships/image" Target="../media/image31.png"/><Relationship Id="rId11" Type="http://schemas.openxmlformats.org/officeDocument/2006/relationships/image" Target="../media/image32.svg"/><Relationship Id="rId12" Type="http://schemas.openxmlformats.org/officeDocument/2006/relationships/image" Target="../media/image33.png"/><Relationship Id="rId13" Type="http://schemas.openxmlformats.org/officeDocument/2006/relationships/image" Target="../media/image34.svg"/><Relationship Id="rId14" Type="http://schemas.openxmlformats.org/officeDocument/2006/relationships/image" Target="../media/image35.png"/><Relationship Id="rId15" Type="http://schemas.openxmlformats.org/officeDocument/2006/relationships/image" Target="../media/image36.png"/><Relationship Id="rId16" Type="http://schemas.openxmlformats.org/officeDocument/2006/relationships/image" Target="../media/image37.png"/><Relationship Id="rId17" Type="http://schemas.openxmlformats.org/officeDocument/2006/relationships/image" Target="../media/image38.svg"/><Relationship Id="rId18" Type="http://schemas.openxmlformats.org/officeDocument/2006/relationships/image" Target="../media/image26.png"/><Relationship Id="rId19" Type="http://schemas.openxmlformats.org/officeDocument/2006/relationships/image" Target="../media/image29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eg"/><Relationship Id="rId3" Type="http://schemas.openxmlformats.org/officeDocument/2006/relationships/image" Target="../media/image5.jpeg"/><Relationship Id="rId4" Type="http://schemas.openxmlformats.org/officeDocument/2006/relationships/image" Target="../media/image6.jpeg"/><Relationship Id="rId5" Type="http://schemas.openxmlformats.org/officeDocument/2006/relationships/image" Target="../media/image7.jpeg"/><Relationship Id="rId6" Type="http://schemas.openxmlformats.org/officeDocument/2006/relationships/image" Target="../media/image8.jpeg"/><Relationship Id="rId7" Type="http://schemas.openxmlformats.org/officeDocument/2006/relationships/image" Target="../media/image9.jpeg"/><Relationship Id="rId8" Type="http://schemas.openxmlformats.org/officeDocument/2006/relationships/image" Target="../media/image10.jpeg"/><Relationship Id="rId9" Type="http://schemas.openxmlformats.org/officeDocument/2006/relationships/image" Target="../media/image5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4.jpeg"/><Relationship Id="rId4" Type="http://schemas.openxmlformats.org/officeDocument/2006/relationships/image" Target="../media/image5.jpeg"/><Relationship Id="rId5" Type="http://schemas.openxmlformats.org/officeDocument/2006/relationships/image" Target="../media/image6.jpeg"/><Relationship Id="rId6" Type="http://schemas.openxmlformats.org/officeDocument/2006/relationships/image" Target="../media/image7.jpeg"/><Relationship Id="rId7" Type="http://schemas.openxmlformats.org/officeDocument/2006/relationships/image" Target="../media/image8.jpeg"/><Relationship Id="rId8" Type="http://schemas.openxmlformats.org/officeDocument/2006/relationships/image" Target="../media/image9.jpeg"/><Relationship Id="rId9" Type="http://schemas.openxmlformats.org/officeDocument/2006/relationships/image" Target="../media/image10.jpeg"/><Relationship Id="rId10" Type="http://schemas.openxmlformats.org/officeDocument/2006/relationships/image" Target="../media/image56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4.jpeg"/><Relationship Id="rId4" Type="http://schemas.openxmlformats.org/officeDocument/2006/relationships/image" Target="../media/image5.jpeg"/><Relationship Id="rId5" Type="http://schemas.openxmlformats.org/officeDocument/2006/relationships/image" Target="../media/image6.jpeg"/><Relationship Id="rId6" Type="http://schemas.openxmlformats.org/officeDocument/2006/relationships/image" Target="../media/image7.jpeg"/><Relationship Id="rId7" Type="http://schemas.openxmlformats.org/officeDocument/2006/relationships/image" Target="../media/image8.jpeg"/><Relationship Id="rId8" Type="http://schemas.openxmlformats.org/officeDocument/2006/relationships/image" Target="../media/image9.jpeg"/><Relationship Id="rId9" Type="http://schemas.openxmlformats.org/officeDocument/2006/relationships/image" Target="../media/image10.jpeg"/><Relationship Id="rId10" Type="http://schemas.openxmlformats.org/officeDocument/2006/relationships/image" Target="../media/image57.png"/><Relationship Id="rId11" Type="http://schemas.openxmlformats.org/officeDocument/2006/relationships/image" Target="../media/image58.png"/><Relationship Id="rId12" Type="http://schemas.openxmlformats.org/officeDocument/2006/relationships/image" Target="../media/image59.png"/><Relationship Id="rId13" Type="http://schemas.openxmlformats.org/officeDocument/2006/relationships/image" Target="../media/image60.png"/><Relationship Id="rId14" Type="http://schemas.openxmlformats.org/officeDocument/2006/relationships/image" Target="../media/image61.png"/><Relationship Id="rId15" Type="http://schemas.openxmlformats.org/officeDocument/2006/relationships/image" Target="../media/image62.png"/><Relationship Id="rId16" Type="http://schemas.openxmlformats.org/officeDocument/2006/relationships/image" Target="../media/image63.png"/><Relationship Id="rId17" Type="http://schemas.openxmlformats.org/officeDocument/2006/relationships/image" Target="../media/image64.png"/><Relationship Id="rId18" Type="http://schemas.openxmlformats.org/officeDocument/2006/relationships/image" Target="../media/image65.png"/><Relationship Id="rId19" Type="http://schemas.openxmlformats.org/officeDocument/2006/relationships/image" Target="../media/image66.png"/><Relationship Id="rId20" Type="http://schemas.openxmlformats.org/officeDocument/2006/relationships/image" Target="../media/image67.png"/><Relationship Id="rId21" Type="http://schemas.openxmlformats.org/officeDocument/2006/relationships/image" Target="../media/image68.png"/><Relationship Id="rId22" Type="http://schemas.openxmlformats.org/officeDocument/2006/relationships/image" Target="../media/image69.png"/><Relationship Id="rId23" Type="http://schemas.openxmlformats.org/officeDocument/2006/relationships/image" Target="../media/image70.png"/><Relationship Id="rId24" Type="http://schemas.openxmlformats.org/officeDocument/2006/relationships/image" Target="../media/image71.png"/><Relationship Id="rId25" Type="http://schemas.openxmlformats.org/officeDocument/2006/relationships/image" Target="../media/image7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4.jpeg"/><Relationship Id="rId4" Type="http://schemas.openxmlformats.org/officeDocument/2006/relationships/image" Target="../media/image5.jpeg"/><Relationship Id="rId5" Type="http://schemas.openxmlformats.org/officeDocument/2006/relationships/image" Target="../media/image6.jpeg"/><Relationship Id="rId6" Type="http://schemas.openxmlformats.org/officeDocument/2006/relationships/image" Target="../media/image7.jpeg"/><Relationship Id="rId7" Type="http://schemas.openxmlformats.org/officeDocument/2006/relationships/image" Target="../media/image8.jpeg"/><Relationship Id="rId8" Type="http://schemas.openxmlformats.org/officeDocument/2006/relationships/image" Target="../media/image9.jpeg"/><Relationship Id="rId9" Type="http://schemas.openxmlformats.org/officeDocument/2006/relationships/image" Target="../media/image10.jpeg"/><Relationship Id="rId10" Type="http://schemas.openxmlformats.org/officeDocument/2006/relationships/image" Target="../media/image57.png"/><Relationship Id="rId11" Type="http://schemas.openxmlformats.org/officeDocument/2006/relationships/image" Target="../media/image73.png"/><Relationship Id="rId12" Type="http://schemas.openxmlformats.org/officeDocument/2006/relationships/image" Target="../media/image59.png"/><Relationship Id="rId13" Type="http://schemas.openxmlformats.org/officeDocument/2006/relationships/image" Target="../media/image74.png"/><Relationship Id="rId14" Type="http://schemas.openxmlformats.org/officeDocument/2006/relationships/image" Target="../media/image75.png"/><Relationship Id="rId15" Type="http://schemas.openxmlformats.org/officeDocument/2006/relationships/image" Target="../media/image76.png"/><Relationship Id="rId16" Type="http://schemas.openxmlformats.org/officeDocument/2006/relationships/image" Target="../media/image67.png"/><Relationship Id="rId17" Type="http://schemas.openxmlformats.org/officeDocument/2006/relationships/image" Target="../media/image68.png"/><Relationship Id="rId18" Type="http://schemas.openxmlformats.org/officeDocument/2006/relationships/image" Target="../media/image69.png"/><Relationship Id="rId19" Type="http://schemas.openxmlformats.org/officeDocument/2006/relationships/image" Target="../media/image70.png"/><Relationship Id="rId20" Type="http://schemas.openxmlformats.org/officeDocument/2006/relationships/image" Target="../media/image77.png"/><Relationship Id="rId21" Type="http://schemas.openxmlformats.org/officeDocument/2006/relationships/image" Target="../media/image71.png"/><Relationship Id="rId22" Type="http://schemas.openxmlformats.org/officeDocument/2006/relationships/image" Target="../media/image78.png"/><Relationship Id="rId23" Type="http://schemas.openxmlformats.org/officeDocument/2006/relationships/image" Target="../media/image79.png"/><Relationship Id="rId24" Type="http://schemas.openxmlformats.org/officeDocument/2006/relationships/image" Target="../media/image80.png"/><Relationship Id="rId25" Type="http://schemas.openxmlformats.org/officeDocument/2006/relationships/image" Target="../media/image81.png"/><Relationship Id="rId26" Type="http://schemas.openxmlformats.org/officeDocument/2006/relationships/image" Target="../media/image82.png"/><Relationship Id="rId27" Type="http://schemas.openxmlformats.org/officeDocument/2006/relationships/image" Target="../media/image83.png"/><Relationship Id="rId28" Type="http://schemas.openxmlformats.org/officeDocument/2006/relationships/image" Target="../media/image84.png"/><Relationship Id="rId29" Type="http://schemas.openxmlformats.org/officeDocument/2006/relationships/image" Target="../media/image85.png"/><Relationship Id="rId30" Type="http://schemas.openxmlformats.org/officeDocument/2006/relationships/image" Target="../media/image86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eg"/><Relationship Id="rId3" Type="http://schemas.openxmlformats.org/officeDocument/2006/relationships/image" Target="../media/image5.jpeg"/><Relationship Id="rId4" Type="http://schemas.openxmlformats.org/officeDocument/2006/relationships/image" Target="../media/image6.jpeg"/><Relationship Id="rId5" Type="http://schemas.openxmlformats.org/officeDocument/2006/relationships/image" Target="../media/image7.jpeg"/><Relationship Id="rId6" Type="http://schemas.openxmlformats.org/officeDocument/2006/relationships/image" Target="../media/image8.jpeg"/><Relationship Id="rId7" Type="http://schemas.openxmlformats.org/officeDocument/2006/relationships/image" Target="../media/image9.jpeg"/><Relationship Id="rId8" Type="http://schemas.openxmlformats.org/officeDocument/2006/relationships/image" Target="../media/image10.jpeg"/><Relationship Id="rId9" Type="http://schemas.openxmlformats.org/officeDocument/2006/relationships/image" Target="../media/image87.png"/><Relationship Id="rId10" Type="http://schemas.openxmlformats.org/officeDocument/2006/relationships/image" Target="../media/image88.png"/><Relationship Id="rId11" Type="http://schemas.openxmlformats.org/officeDocument/2006/relationships/image" Target="../media/image89.svg"/><Relationship Id="rId12" Type="http://schemas.openxmlformats.org/officeDocument/2006/relationships/image" Target="../media/image90.png"/><Relationship Id="rId13" Type="http://schemas.openxmlformats.org/officeDocument/2006/relationships/image" Target="../media/image91.svg"/><Relationship Id="rId14" Type="http://schemas.openxmlformats.org/officeDocument/2006/relationships/image" Target="../media/image92.png"/><Relationship Id="rId15" Type="http://schemas.openxmlformats.org/officeDocument/2006/relationships/image" Target="../media/image93.svg"/><Relationship Id="rId16" Type="http://schemas.openxmlformats.org/officeDocument/2006/relationships/image" Target="../media/image94.png"/><Relationship Id="rId17" Type="http://schemas.openxmlformats.org/officeDocument/2006/relationships/image" Target="../media/image95.svg"/><Relationship Id="rId18" Type="http://schemas.openxmlformats.org/officeDocument/2006/relationships/image" Target="../media/image96.png"/><Relationship Id="rId19" Type="http://schemas.openxmlformats.org/officeDocument/2006/relationships/image" Target="../media/image97.svg"/><Relationship Id="rId20" Type="http://schemas.openxmlformats.org/officeDocument/2006/relationships/image" Target="../media/image98.png"/><Relationship Id="rId21" Type="http://schemas.openxmlformats.org/officeDocument/2006/relationships/image" Target="../media/image99.svg"/><Relationship Id="rId22" Type="http://schemas.openxmlformats.org/officeDocument/2006/relationships/image" Target="../media/image100.png"/><Relationship Id="rId23" Type="http://schemas.openxmlformats.org/officeDocument/2006/relationships/image" Target="../media/image101.svg"/><Relationship Id="rId24" Type="http://schemas.openxmlformats.org/officeDocument/2006/relationships/image" Target="../media/image102.png"/><Relationship Id="rId25" Type="http://schemas.openxmlformats.org/officeDocument/2006/relationships/image" Target="../media/image103.svg"/><Relationship Id="rId26" Type="http://schemas.openxmlformats.org/officeDocument/2006/relationships/image" Target="../media/image104.png"/><Relationship Id="rId27" Type="http://schemas.openxmlformats.org/officeDocument/2006/relationships/image" Target="../media/image105.sv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eg"/><Relationship Id="rId3" Type="http://schemas.openxmlformats.org/officeDocument/2006/relationships/image" Target="../media/image5.jpeg"/><Relationship Id="rId4" Type="http://schemas.openxmlformats.org/officeDocument/2006/relationships/image" Target="../media/image6.jpeg"/><Relationship Id="rId5" Type="http://schemas.openxmlformats.org/officeDocument/2006/relationships/image" Target="../media/image7.jpeg"/><Relationship Id="rId6" Type="http://schemas.openxmlformats.org/officeDocument/2006/relationships/image" Target="../media/image8.jpeg"/><Relationship Id="rId7" Type="http://schemas.openxmlformats.org/officeDocument/2006/relationships/image" Target="../media/image9.jpeg"/><Relationship Id="rId8" Type="http://schemas.openxmlformats.org/officeDocument/2006/relationships/image" Target="../media/image10.jpe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eg"/><Relationship Id="rId3" Type="http://schemas.openxmlformats.org/officeDocument/2006/relationships/image" Target="../media/image5.jpeg"/><Relationship Id="rId4" Type="http://schemas.openxmlformats.org/officeDocument/2006/relationships/image" Target="../media/image6.jpeg"/><Relationship Id="rId5" Type="http://schemas.openxmlformats.org/officeDocument/2006/relationships/image" Target="../media/image7.jpeg"/><Relationship Id="rId6" Type="http://schemas.openxmlformats.org/officeDocument/2006/relationships/image" Target="../media/image8.jpeg"/><Relationship Id="rId7" Type="http://schemas.openxmlformats.org/officeDocument/2006/relationships/image" Target="../media/image9.jpeg"/><Relationship Id="rId8" Type="http://schemas.openxmlformats.org/officeDocument/2006/relationships/image" Target="../media/image10.jpe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eg"/><Relationship Id="rId3" Type="http://schemas.openxmlformats.org/officeDocument/2006/relationships/image" Target="../media/image5.jpeg"/><Relationship Id="rId4" Type="http://schemas.openxmlformats.org/officeDocument/2006/relationships/image" Target="../media/image6.jpeg"/><Relationship Id="rId5" Type="http://schemas.openxmlformats.org/officeDocument/2006/relationships/image" Target="../media/image7.jpeg"/><Relationship Id="rId6" Type="http://schemas.openxmlformats.org/officeDocument/2006/relationships/image" Target="../media/image8.jpeg"/><Relationship Id="rId7" Type="http://schemas.openxmlformats.org/officeDocument/2006/relationships/image" Target="../media/image9.jpeg"/><Relationship Id="rId8" Type="http://schemas.openxmlformats.org/officeDocument/2006/relationships/image" Target="../media/image10.jpe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eg"/><Relationship Id="rId3" Type="http://schemas.openxmlformats.org/officeDocument/2006/relationships/image" Target="../media/image5.jpeg"/><Relationship Id="rId4" Type="http://schemas.openxmlformats.org/officeDocument/2006/relationships/image" Target="../media/image6.jpeg"/><Relationship Id="rId5" Type="http://schemas.openxmlformats.org/officeDocument/2006/relationships/image" Target="../media/image7.jpeg"/><Relationship Id="rId6" Type="http://schemas.openxmlformats.org/officeDocument/2006/relationships/image" Target="../media/image8.jpeg"/><Relationship Id="rId7" Type="http://schemas.openxmlformats.org/officeDocument/2006/relationships/image" Target="../media/image9.jpeg"/><Relationship Id="rId8" Type="http://schemas.openxmlformats.org/officeDocument/2006/relationships/image" Target="../media/image10.jpe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eg"/><Relationship Id="rId3" Type="http://schemas.openxmlformats.org/officeDocument/2006/relationships/image" Target="../media/image5.jpeg"/><Relationship Id="rId4" Type="http://schemas.openxmlformats.org/officeDocument/2006/relationships/image" Target="../media/image6.jpeg"/><Relationship Id="rId5" Type="http://schemas.openxmlformats.org/officeDocument/2006/relationships/image" Target="../media/image7.jpeg"/><Relationship Id="rId6" Type="http://schemas.openxmlformats.org/officeDocument/2006/relationships/image" Target="../media/image8.jpeg"/><Relationship Id="rId7" Type="http://schemas.openxmlformats.org/officeDocument/2006/relationships/image" Target="../media/image9.jpeg"/><Relationship Id="rId8" Type="http://schemas.openxmlformats.org/officeDocument/2006/relationships/image" Target="../media/image10.jpeg"/><Relationship Id="rId9" Type="http://schemas.openxmlformats.org/officeDocument/2006/relationships/image" Target="../media/image106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eg"/><Relationship Id="rId3" Type="http://schemas.openxmlformats.org/officeDocument/2006/relationships/image" Target="../media/image5.jpeg"/><Relationship Id="rId4" Type="http://schemas.openxmlformats.org/officeDocument/2006/relationships/image" Target="../media/image6.jpeg"/><Relationship Id="rId5" Type="http://schemas.openxmlformats.org/officeDocument/2006/relationships/image" Target="../media/image7.jpeg"/><Relationship Id="rId6" Type="http://schemas.openxmlformats.org/officeDocument/2006/relationships/image" Target="../media/image8.jpeg"/><Relationship Id="rId7" Type="http://schemas.openxmlformats.org/officeDocument/2006/relationships/image" Target="../media/image9.jpeg"/><Relationship Id="rId8" Type="http://schemas.openxmlformats.org/officeDocument/2006/relationships/image" Target="../media/image10.jpe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4.jpeg"/><Relationship Id="rId4" Type="http://schemas.openxmlformats.org/officeDocument/2006/relationships/image" Target="../media/image5.jpeg"/><Relationship Id="rId5" Type="http://schemas.openxmlformats.org/officeDocument/2006/relationships/image" Target="../media/image6.jpeg"/><Relationship Id="rId6" Type="http://schemas.openxmlformats.org/officeDocument/2006/relationships/image" Target="../media/image7.jpeg"/><Relationship Id="rId7" Type="http://schemas.openxmlformats.org/officeDocument/2006/relationships/image" Target="../media/image8.jpeg"/><Relationship Id="rId8" Type="http://schemas.openxmlformats.org/officeDocument/2006/relationships/image" Target="../media/image9.jpeg"/><Relationship Id="rId9" Type="http://schemas.openxmlformats.org/officeDocument/2006/relationships/image" Target="../media/image10.jpe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7.png"/><Relationship Id="rId3" Type="http://schemas.openxmlformats.org/officeDocument/2006/relationships/hyperlink" Target="https://luishenriquetsi.github.io/wefind/" TargetMode="Externa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eg"/><Relationship Id="rId3" Type="http://schemas.openxmlformats.org/officeDocument/2006/relationships/image" Target="../media/image5.jpeg"/><Relationship Id="rId4" Type="http://schemas.openxmlformats.org/officeDocument/2006/relationships/image" Target="../media/image6.jpeg"/><Relationship Id="rId5" Type="http://schemas.openxmlformats.org/officeDocument/2006/relationships/image" Target="../media/image7.jpeg"/><Relationship Id="rId6" Type="http://schemas.openxmlformats.org/officeDocument/2006/relationships/image" Target="../media/image8.jpeg"/><Relationship Id="rId7" Type="http://schemas.openxmlformats.org/officeDocument/2006/relationships/image" Target="../media/image9.jpeg"/><Relationship Id="rId8" Type="http://schemas.openxmlformats.org/officeDocument/2006/relationships/image" Target="../media/image10.jpe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4.jpeg"/><Relationship Id="rId4" Type="http://schemas.openxmlformats.org/officeDocument/2006/relationships/image" Target="../media/image5.jpeg"/><Relationship Id="rId5" Type="http://schemas.openxmlformats.org/officeDocument/2006/relationships/image" Target="../media/image6.jpeg"/><Relationship Id="rId6" Type="http://schemas.openxmlformats.org/officeDocument/2006/relationships/image" Target="../media/image7.jpeg"/><Relationship Id="rId7" Type="http://schemas.openxmlformats.org/officeDocument/2006/relationships/image" Target="../media/image8.jpeg"/><Relationship Id="rId8" Type="http://schemas.openxmlformats.org/officeDocument/2006/relationships/image" Target="../media/image9.jpeg"/><Relationship Id="rId9" Type="http://schemas.openxmlformats.org/officeDocument/2006/relationships/image" Target="../media/image10.jpe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4.jpeg"/><Relationship Id="rId4" Type="http://schemas.openxmlformats.org/officeDocument/2006/relationships/image" Target="../media/image5.jpeg"/><Relationship Id="rId5" Type="http://schemas.openxmlformats.org/officeDocument/2006/relationships/image" Target="../media/image6.jpeg"/><Relationship Id="rId6" Type="http://schemas.openxmlformats.org/officeDocument/2006/relationships/image" Target="../media/image7.jpeg"/><Relationship Id="rId7" Type="http://schemas.openxmlformats.org/officeDocument/2006/relationships/image" Target="../media/image8.jpeg"/><Relationship Id="rId8" Type="http://schemas.openxmlformats.org/officeDocument/2006/relationships/image" Target="../media/image9.jpeg"/><Relationship Id="rId9" Type="http://schemas.openxmlformats.org/officeDocument/2006/relationships/image" Target="../media/image10.jpeg"/><Relationship Id="rId10" Type="http://schemas.openxmlformats.org/officeDocument/2006/relationships/image" Target="../media/image31.png"/><Relationship Id="rId11" Type="http://schemas.openxmlformats.org/officeDocument/2006/relationships/image" Target="../media/image32.svg"/><Relationship Id="rId12" Type="http://schemas.openxmlformats.org/officeDocument/2006/relationships/image" Target="../media/image33.png"/><Relationship Id="rId13" Type="http://schemas.openxmlformats.org/officeDocument/2006/relationships/image" Target="../media/image34.svg"/><Relationship Id="rId14" Type="http://schemas.openxmlformats.org/officeDocument/2006/relationships/image" Target="../media/image35.png"/><Relationship Id="rId15" Type="http://schemas.openxmlformats.org/officeDocument/2006/relationships/image" Target="../media/image36.png"/><Relationship Id="rId16" Type="http://schemas.openxmlformats.org/officeDocument/2006/relationships/image" Target="../media/image37.png"/><Relationship Id="rId17" Type="http://schemas.openxmlformats.org/officeDocument/2006/relationships/image" Target="../media/image38.svg"/><Relationship Id="rId18" Type="http://schemas.openxmlformats.org/officeDocument/2006/relationships/image" Target="../media/image26.png"/><Relationship Id="rId19" Type="http://schemas.openxmlformats.org/officeDocument/2006/relationships/image" Target="../media/image29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4.jpeg"/><Relationship Id="rId4" Type="http://schemas.openxmlformats.org/officeDocument/2006/relationships/image" Target="../media/image5.jpeg"/><Relationship Id="rId5" Type="http://schemas.openxmlformats.org/officeDocument/2006/relationships/image" Target="../media/image6.jpeg"/><Relationship Id="rId6" Type="http://schemas.openxmlformats.org/officeDocument/2006/relationships/image" Target="../media/image7.jpeg"/><Relationship Id="rId7" Type="http://schemas.openxmlformats.org/officeDocument/2006/relationships/image" Target="../media/image8.jpeg"/><Relationship Id="rId8" Type="http://schemas.openxmlformats.org/officeDocument/2006/relationships/image" Target="../media/image9.jpeg"/><Relationship Id="rId9" Type="http://schemas.openxmlformats.org/officeDocument/2006/relationships/image" Target="../media/image10.jpeg"/><Relationship Id="rId10" Type="http://schemas.openxmlformats.org/officeDocument/2006/relationships/image" Target="../media/image31.png"/><Relationship Id="rId11" Type="http://schemas.openxmlformats.org/officeDocument/2006/relationships/image" Target="../media/image32.svg"/><Relationship Id="rId12" Type="http://schemas.openxmlformats.org/officeDocument/2006/relationships/image" Target="../media/image33.png"/><Relationship Id="rId13" Type="http://schemas.openxmlformats.org/officeDocument/2006/relationships/image" Target="../media/image34.svg"/><Relationship Id="rId14" Type="http://schemas.openxmlformats.org/officeDocument/2006/relationships/image" Target="../media/image35.png"/><Relationship Id="rId15" Type="http://schemas.openxmlformats.org/officeDocument/2006/relationships/image" Target="../media/image36.png"/><Relationship Id="rId16" Type="http://schemas.openxmlformats.org/officeDocument/2006/relationships/image" Target="../media/image37.png"/><Relationship Id="rId17" Type="http://schemas.openxmlformats.org/officeDocument/2006/relationships/image" Target="../media/image38.svg"/><Relationship Id="rId18" Type="http://schemas.openxmlformats.org/officeDocument/2006/relationships/image" Target="../media/image26.png"/><Relationship Id="rId19" Type="http://schemas.openxmlformats.org/officeDocument/2006/relationships/image" Target="../media/image29.png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453561" y="147123"/>
            <a:ext cx="1557242" cy="1470184"/>
            <a:chOff x="0" y="0"/>
            <a:chExt cx="2076323" cy="1960245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076323" cy="1960245"/>
            </a:xfrm>
            <a:custGeom>
              <a:avLst/>
              <a:gdLst/>
              <a:ahLst/>
              <a:cxnLst/>
              <a:rect r="r" b="b" t="t" l="l"/>
              <a:pathLst>
                <a:path h="1960245" w="2076323">
                  <a:moveTo>
                    <a:pt x="0" y="0"/>
                  </a:moveTo>
                  <a:lnTo>
                    <a:pt x="2076323" y="0"/>
                  </a:lnTo>
                  <a:lnTo>
                    <a:pt x="2076323" y="1960245"/>
                  </a:lnTo>
                  <a:lnTo>
                    <a:pt x="0" y="196024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0" r="0" b="0"/>
              </a:stretch>
            </a:blipFill>
          </p:spPr>
        </p:sp>
      </p:grpSp>
      <p:grpSp>
        <p:nvGrpSpPr>
          <p:cNvPr name="Group 4" id="4"/>
          <p:cNvGrpSpPr/>
          <p:nvPr/>
        </p:nvGrpSpPr>
        <p:grpSpPr>
          <a:xfrm rot="0">
            <a:off x="15906750" y="362026"/>
            <a:ext cx="2184273" cy="1333309"/>
            <a:chOff x="0" y="0"/>
            <a:chExt cx="2912364" cy="1777746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912364" cy="1777746"/>
            </a:xfrm>
            <a:custGeom>
              <a:avLst/>
              <a:gdLst/>
              <a:ahLst/>
              <a:cxnLst/>
              <a:rect r="r" b="b" t="t" l="l"/>
              <a:pathLst>
                <a:path h="1777746" w="2912364">
                  <a:moveTo>
                    <a:pt x="0" y="0"/>
                  </a:moveTo>
                  <a:lnTo>
                    <a:pt x="2912364" y="0"/>
                  </a:lnTo>
                  <a:lnTo>
                    <a:pt x="2912364" y="1777746"/>
                  </a:lnTo>
                  <a:lnTo>
                    <a:pt x="0" y="177774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-2" r="0" b="-2"/>
              </a:stretch>
            </a:blipFill>
          </p:spPr>
        </p:sp>
      </p:grpSp>
      <p:sp>
        <p:nvSpPr>
          <p:cNvPr name="TextBox 6" id="6"/>
          <p:cNvSpPr txBox="true"/>
          <p:nvPr/>
        </p:nvSpPr>
        <p:spPr>
          <a:xfrm rot="0">
            <a:off x="1232202" y="4846958"/>
            <a:ext cx="15823606" cy="117789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599"/>
              </a:lnSpc>
            </a:pPr>
            <a:r>
              <a:rPr lang="en-US" sz="3999" b="true">
                <a:solidFill>
                  <a:srgbClr val="1B2A1F"/>
                </a:solidFill>
                <a:latin typeface="Cooper BT Bold"/>
                <a:ea typeface="Cooper BT Bold"/>
                <a:cs typeface="Cooper BT Bold"/>
                <a:sym typeface="Cooper BT Bold"/>
              </a:rPr>
              <a:t>WeFIND: Aplicativo móvel para divulgação de animais perdidos, encontrados e para adoção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2010832" y="409899"/>
            <a:ext cx="13922893" cy="41681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88"/>
              </a:lnSpc>
            </a:pPr>
            <a:r>
              <a:rPr lang="en-US" sz="2100">
                <a:solidFill>
                  <a:srgbClr val="1B2A1F"/>
                </a:solidFill>
                <a:latin typeface="Cooper BT Light"/>
                <a:ea typeface="Cooper BT Light"/>
                <a:cs typeface="Cooper BT Light"/>
                <a:sym typeface="Cooper BT Light"/>
              </a:rPr>
              <a:t>INSTITUTO FEDERAL DE EDUCAÇÃO, CIÊNCIA E TECNOLOGIA SUL-RIO-GRANDENSE - CAMPUS PELOTAS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2693880" y="7930515"/>
            <a:ext cx="13525500" cy="72263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218"/>
              </a:lnSpc>
            </a:pPr>
            <a:r>
              <a:rPr lang="en-US" sz="2298">
                <a:solidFill>
                  <a:srgbClr val="1B2A1F"/>
                </a:solidFill>
                <a:latin typeface="Cooper BT Light"/>
                <a:ea typeface="Cooper BT Light"/>
                <a:cs typeface="Cooper BT Light"/>
                <a:sym typeface="Cooper BT Light"/>
              </a:rPr>
              <a:t>Aluno: Luis Henrique Fonseca Victoria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2381250" y="8329936"/>
            <a:ext cx="13525500" cy="72263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218"/>
              </a:lnSpc>
            </a:pPr>
            <a:r>
              <a:rPr lang="en-US" sz="2298">
                <a:solidFill>
                  <a:srgbClr val="1B2A1F"/>
                </a:solidFill>
                <a:latin typeface="Cooper BT Light"/>
                <a:ea typeface="Cooper BT Light"/>
                <a:cs typeface="Cooper BT Light"/>
                <a:sym typeface="Cooper BT Light"/>
              </a:rPr>
              <a:t>Orientadora: Prof.ª Me. Marla Cristina da Silva Sopeña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2391851" y="8696325"/>
            <a:ext cx="13525500" cy="72263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218"/>
              </a:lnSpc>
            </a:pPr>
            <a:r>
              <a:rPr lang="en-US" sz="2298">
                <a:solidFill>
                  <a:srgbClr val="1B2A1F"/>
                </a:solidFill>
                <a:latin typeface="Cooper BT Light"/>
                <a:ea typeface="Cooper BT Light"/>
                <a:cs typeface="Cooper BT Light"/>
                <a:sym typeface="Cooper BT Light"/>
              </a:rPr>
              <a:t>Coorientadora: Prof.ª Dra. Adriane Pires Rodrigues Ramires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2354266" y="777459"/>
            <a:ext cx="13600671" cy="41681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88"/>
              </a:lnSpc>
            </a:pPr>
            <a:r>
              <a:rPr lang="en-US" sz="2100">
                <a:solidFill>
                  <a:srgbClr val="1B2A1F"/>
                </a:solidFill>
                <a:latin typeface="Cooper BT Light"/>
                <a:ea typeface="Cooper BT Light"/>
                <a:cs typeface="Cooper BT Light"/>
                <a:sym typeface="Cooper BT Light"/>
              </a:rPr>
              <a:t>CURSO SUPERIOR DE TECNOLOGIA EM SISTEMAS PARA INTERNET | 2026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914400" y="914400"/>
            <a:ext cx="16459200" cy="1097280"/>
            <a:chOff x="0" y="0"/>
            <a:chExt cx="21945600" cy="146304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1945600" cy="1463040"/>
            </a:xfrm>
            <a:custGeom>
              <a:avLst/>
              <a:gdLst/>
              <a:ahLst/>
              <a:cxnLst/>
              <a:rect r="r" b="b" t="t" l="l"/>
              <a:pathLst>
                <a:path h="146304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463040"/>
                  </a:lnTo>
                  <a:lnTo>
                    <a:pt x="0" y="14630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242072" r="0" b="-242072"/>
              </a:stretch>
            </a:blipFill>
          </p:spPr>
        </p:sp>
      </p:grpSp>
      <p:grpSp>
        <p:nvGrpSpPr>
          <p:cNvPr name="Group 4" id="4"/>
          <p:cNvGrpSpPr/>
          <p:nvPr/>
        </p:nvGrpSpPr>
        <p:grpSpPr>
          <a:xfrm rot="0">
            <a:off x="914400" y="907256"/>
            <a:ext cx="16459200" cy="1104424"/>
            <a:chOff x="0" y="0"/>
            <a:chExt cx="21945600" cy="1472565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1945600" cy="1472565"/>
            </a:xfrm>
            <a:custGeom>
              <a:avLst/>
              <a:gdLst/>
              <a:ahLst/>
              <a:cxnLst/>
              <a:rect r="r" b="b" t="t" l="l"/>
              <a:pathLst>
                <a:path h="1472565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472565"/>
                  </a:lnTo>
                  <a:lnTo>
                    <a:pt x="0" y="1472565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40182" r="0" b="-240183"/>
              </a:stretch>
            </a:blipFill>
          </p:spPr>
        </p:sp>
      </p:grpSp>
      <p:grpSp>
        <p:nvGrpSpPr>
          <p:cNvPr name="Group 6" id="6"/>
          <p:cNvGrpSpPr/>
          <p:nvPr/>
        </p:nvGrpSpPr>
        <p:grpSpPr>
          <a:xfrm rot="0">
            <a:off x="914400" y="900112"/>
            <a:ext cx="16459200" cy="1111568"/>
            <a:chOff x="0" y="0"/>
            <a:chExt cx="21945600" cy="148209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1945600" cy="1482090"/>
            </a:xfrm>
            <a:custGeom>
              <a:avLst/>
              <a:gdLst/>
              <a:ahLst/>
              <a:cxnLst/>
              <a:rect r="r" b="b" t="t" l="l"/>
              <a:pathLst>
                <a:path h="148209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482090"/>
                  </a:lnTo>
                  <a:lnTo>
                    <a:pt x="0" y="148209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38317" r="0" b="-238318"/>
              </a:stretch>
            </a:blipFill>
          </p:spPr>
        </p:sp>
      </p:grpSp>
      <p:grpSp>
        <p:nvGrpSpPr>
          <p:cNvPr name="Group 8" id="8"/>
          <p:cNvGrpSpPr/>
          <p:nvPr/>
        </p:nvGrpSpPr>
        <p:grpSpPr>
          <a:xfrm rot="0">
            <a:off x="914400" y="892969"/>
            <a:ext cx="16459200" cy="1118711"/>
            <a:chOff x="0" y="0"/>
            <a:chExt cx="21945600" cy="1491615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1945600" cy="1491615"/>
            </a:xfrm>
            <a:custGeom>
              <a:avLst/>
              <a:gdLst/>
              <a:ahLst/>
              <a:cxnLst/>
              <a:rect r="r" b="b" t="t" l="l"/>
              <a:pathLst>
                <a:path h="1491615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491615"/>
                  </a:lnTo>
                  <a:lnTo>
                    <a:pt x="0" y="1491615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236476" r="0" b="-236477"/>
              </a:stretch>
            </a:blipFill>
          </p:spPr>
        </p:sp>
      </p:grpSp>
      <p:grpSp>
        <p:nvGrpSpPr>
          <p:cNvPr name="Group 10" id="10"/>
          <p:cNvGrpSpPr/>
          <p:nvPr/>
        </p:nvGrpSpPr>
        <p:grpSpPr>
          <a:xfrm rot="0">
            <a:off x="914400" y="885825"/>
            <a:ext cx="16459200" cy="1125855"/>
            <a:chOff x="0" y="0"/>
            <a:chExt cx="21945600" cy="150114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21945600" cy="1501140"/>
            </a:xfrm>
            <a:custGeom>
              <a:avLst/>
              <a:gdLst/>
              <a:ahLst/>
              <a:cxnLst/>
              <a:rect r="r" b="b" t="t" l="l"/>
              <a:pathLst>
                <a:path h="150114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501140"/>
                  </a:lnTo>
                  <a:lnTo>
                    <a:pt x="0" y="1501140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l="0" t="-234659" r="0" b="-234659"/>
              </a:stretch>
            </a:blipFill>
          </p:spPr>
        </p:sp>
      </p:grpSp>
      <p:grpSp>
        <p:nvGrpSpPr>
          <p:cNvPr name="Group 12" id="12"/>
          <p:cNvGrpSpPr/>
          <p:nvPr/>
        </p:nvGrpSpPr>
        <p:grpSpPr>
          <a:xfrm rot="0">
            <a:off x="914400" y="878681"/>
            <a:ext cx="16459200" cy="1132999"/>
            <a:chOff x="0" y="0"/>
            <a:chExt cx="21945600" cy="1510665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21945600" cy="1510665"/>
            </a:xfrm>
            <a:custGeom>
              <a:avLst/>
              <a:gdLst/>
              <a:ahLst/>
              <a:cxnLst/>
              <a:rect r="r" b="b" t="t" l="l"/>
              <a:pathLst>
                <a:path h="1510665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510665"/>
                  </a:lnTo>
                  <a:lnTo>
                    <a:pt x="0" y="1510665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0" t="-232864" r="0" b="-232865"/>
              </a:stretch>
            </a:blipFill>
          </p:spPr>
        </p:sp>
      </p:grpSp>
      <p:grpSp>
        <p:nvGrpSpPr>
          <p:cNvPr name="Group 14" id="14"/>
          <p:cNvGrpSpPr/>
          <p:nvPr/>
        </p:nvGrpSpPr>
        <p:grpSpPr>
          <a:xfrm rot="0">
            <a:off x="914400" y="871538"/>
            <a:ext cx="16459200" cy="1140142"/>
            <a:chOff x="0" y="0"/>
            <a:chExt cx="21945600" cy="152019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21945600" cy="1520190"/>
            </a:xfrm>
            <a:custGeom>
              <a:avLst/>
              <a:gdLst/>
              <a:ahLst/>
              <a:cxnLst/>
              <a:rect r="r" b="b" t="t" l="l"/>
              <a:pathLst>
                <a:path h="152019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520190"/>
                  </a:lnTo>
                  <a:lnTo>
                    <a:pt x="0" y="1520190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0" t="-231091" r="0" b="-231092"/>
              </a:stretch>
            </a:blipFill>
          </p:spPr>
        </p:sp>
      </p:grpSp>
      <p:grpSp>
        <p:nvGrpSpPr>
          <p:cNvPr name="Group 16" id="16"/>
          <p:cNvGrpSpPr/>
          <p:nvPr/>
        </p:nvGrpSpPr>
        <p:grpSpPr>
          <a:xfrm rot="0">
            <a:off x="1028700" y="-878420"/>
            <a:ext cx="16459200" cy="3814241"/>
            <a:chOff x="0" y="0"/>
            <a:chExt cx="21945600" cy="5085654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21945600" cy="5085652"/>
            </a:xfrm>
            <a:custGeom>
              <a:avLst/>
              <a:gdLst/>
              <a:ahLst/>
              <a:cxnLst/>
              <a:rect r="r" b="b" t="t" l="l"/>
              <a:pathLst>
                <a:path h="5085652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5085652"/>
                  </a:lnTo>
                  <a:lnTo>
                    <a:pt x="0" y="5085652"/>
                  </a:lnTo>
                  <a:close/>
                </a:path>
              </a:pathLst>
            </a:custGeom>
            <a:blipFill>
              <a:blip r:embed="rId9">
                <a:alphaModFix amt="0"/>
              </a:blip>
              <a:stretch>
                <a:fillRect l="0" t="-69042" r="0" b="878"/>
              </a:stretch>
            </a:blipFill>
          </p:spPr>
        </p:sp>
        <p:sp>
          <p:nvSpPr>
            <p:cNvPr name="TextBox 18" id="18"/>
            <p:cNvSpPr txBox="true"/>
            <p:nvPr/>
          </p:nvSpPr>
          <p:spPr>
            <a:xfrm>
              <a:off x="0" y="-9525"/>
              <a:ext cx="21945600" cy="509517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6239"/>
                </a:lnSpc>
              </a:pPr>
              <a:r>
                <a:rPr lang="en-US" sz="5198" b="true">
                  <a:solidFill>
                    <a:srgbClr val="2E5634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Roteiro de Apresentação</a:t>
              </a:r>
            </a:p>
          </p:txBody>
        </p:sp>
      </p:grpSp>
      <p:grpSp>
        <p:nvGrpSpPr>
          <p:cNvPr name="Group 19" id="19"/>
          <p:cNvGrpSpPr/>
          <p:nvPr/>
        </p:nvGrpSpPr>
        <p:grpSpPr>
          <a:xfrm rot="0">
            <a:off x="914400" y="2560320"/>
            <a:ext cx="1828800" cy="1463040"/>
            <a:chOff x="0" y="0"/>
            <a:chExt cx="2438400" cy="1950720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2438400" cy="1950720"/>
            </a:xfrm>
            <a:custGeom>
              <a:avLst/>
              <a:gdLst/>
              <a:ahLst/>
              <a:cxnLst/>
              <a:rect r="r" b="b" t="t" l="l"/>
              <a:pathLst>
                <a:path h="1950720" w="2438400">
                  <a:moveTo>
                    <a:pt x="0" y="0"/>
                  </a:moveTo>
                  <a:lnTo>
                    <a:pt x="2438400" y="0"/>
                  </a:lnTo>
                  <a:lnTo>
                    <a:pt x="2438400" y="1950720"/>
                  </a:lnTo>
                  <a:lnTo>
                    <a:pt x="0" y="195072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52714" t="0" r="-52714" b="0"/>
              </a:stretch>
            </a:blipFill>
          </p:spPr>
        </p:sp>
      </p:grpSp>
      <p:grpSp>
        <p:nvGrpSpPr>
          <p:cNvPr name="Group 21" id="21"/>
          <p:cNvGrpSpPr/>
          <p:nvPr/>
        </p:nvGrpSpPr>
        <p:grpSpPr>
          <a:xfrm rot="0">
            <a:off x="914400" y="2553176"/>
            <a:ext cx="1828800" cy="1470184"/>
            <a:chOff x="0" y="0"/>
            <a:chExt cx="2438400" cy="1960245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2438400" cy="1960245"/>
            </a:xfrm>
            <a:custGeom>
              <a:avLst/>
              <a:gdLst/>
              <a:ahLst/>
              <a:cxnLst/>
              <a:rect r="r" b="b" t="t" l="l"/>
              <a:pathLst>
                <a:path h="1960245" w="2438400">
                  <a:moveTo>
                    <a:pt x="0" y="0"/>
                  </a:moveTo>
                  <a:lnTo>
                    <a:pt x="2438400" y="0"/>
                  </a:lnTo>
                  <a:lnTo>
                    <a:pt x="2438400" y="1960245"/>
                  </a:lnTo>
                  <a:lnTo>
                    <a:pt x="0" y="1960245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53215" t="0" r="-53216" b="0"/>
              </a:stretch>
            </a:blipFill>
          </p:spPr>
        </p:sp>
      </p:grpSp>
      <p:grpSp>
        <p:nvGrpSpPr>
          <p:cNvPr name="Group 23" id="23"/>
          <p:cNvGrpSpPr/>
          <p:nvPr/>
        </p:nvGrpSpPr>
        <p:grpSpPr>
          <a:xfrm rot="0">
            <a:off x="914400" y="2546033"/>
            <a:ext cx="1828800" cy="1477327"/>
            <a:chOff x="0" y="0"/>
            <a:chExt cx="2438400" cy="1969770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2438400" cy="1969770"/>
            </a:xfrm>
            <a:custGeom>
              <a:avLst/>
              <a:gdLst/>
              <a:ahLst/>
              <a:cxnLst/>
              <a:rect r="r" b="b" t="t" l="l"/>
              <a:pathLst>
                <a:path h="1969770" w="2438400">
                  <a:moveTo>
                    <a:pt x="0" y="0"/>
                  </a:moveTo>
                  <a:lnTo>
                    <a:pt x="2438400" y="0"/>
                  </a:lnTo>
                  <a:lnTo>
                    <a:pt x="2438400" y="1969770"/>
                  </a:lnTo>
                  <a:lnTo>
                    <a:pt x="0" y="196977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53717" t="0" r="-53717" b="0"/>
              </a:stretch>
            </a:blipFill>
          </p:spPr>
        </p:sp>
      </p:grpSp>
      <p:grpSp>
        <p:nvGrpSpPr>
          <p:cNvPr name="Group 25" id="25"/>
          <p:cNvGrpSpPr/>
          <p:nvPr/>
        </p:nvGrpSpPr>
        <p:grpSpPr>
          <a:xfrm rot="0">
            <a:off x="914400" y="2538889"/>
            <a:ext cx="1828800" cy="1484471"/>
            <a:chOff x="0" y="0"/>
            <a:chExt cx="2438400" cy="1979295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2438400" cy="1979295"/>
            </a:xfrm>
            <a:custGeom>
              <a:avLst/>
              <a:gdLst/>
              <a:ahLst/>
              <a:cxnLst/>
              <a:rect r="r" b="b" t="t" l="l"/>
              <a:pathLst>
                <a:path h="1979295" w="2438400">
                  <a:moveTo>
                    <a:pt x="0" y="0"/>
                  </a:moveTo>
                  <a:lnTo>
                    <a:pt x="2438400" y="0"/>
                  </a:lnTo>
                  <a:lnTo>
                    <a:pt x="2438400" y="1979295"/>
                  </a:lnTo>
                  <a:lnTo>
                    <a:pt x="0" y="1979295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-54218" t="0" r="-54218" b="0"/>
              </a:stretch>
            </a:blipFill>
          </p:spPr>
        </p:sp>
      </p:grpSp>
      <p:grpSp>
        <p:nvGrpSpPr>
          <p:cNvPr name="Group 27" id="27"/>
          <p:cNvGrpSpPr/>
          <p:nvPr/>
        </p:nvGrpSpPr>
        <p:grpSpPr>
          <a:xfrm rot="0">
            <a:off x="914400" y="2531745"/>
            <a:ext cx="1828800" cy="1491615"/>
            <a:chOff x="0" y="0"/>
            <a:chExt cx="2438400" cy="1988820"/>
          </a:xfrm>
        </p:grpSpPr>
        <p:sp>
          <p:nvSpPr>
            <p:cNvPr name="Freeform 28" id="28"/>
            <p:cNvSpPr/>
            <p:nvPr/>
          </p:nvSpPr>
          <p:spPr>
            <a:xfrm flipH="false" flipV="false" rot="0">
              <a:off x="0" y="0"/>
              <a:ext cx="2438400" cy="1988820"/>
            </a:xfrm>
            <a:custGeom>
              <a:avLst/>
              <a:gdLst/>
              <a:ahLst/>
              <a:cxnLst/>
              <a:rect r="r" b="b" t="t" l="l"/>
              <a:pathLst>
                <a:path h="1988820" w="2438400">
                  <a:moveTo>
                    <a:pt x="0" y="0"/>
                  </a:moveTo>
                  <a:lnTo>
                    <a:pt x="2438400" y="0"/>
                  </a:lnTo>
                  <a:lnTo>
                    <a:pt x="2438400" y="1988820"/>
                  </a:lnTo>
                  <a:lnTo>
                    <a:pt x="0" y="1988820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l="-54720" t="0" r="-54720" b="0"/>
              </a:stretch>
            </a:blipFill>
          </p:spPr>
        </p:sp>
      </p:grpSp>
      <p:grpSp>
        <p:nvGrpSpPr>
          <p:cNvPr name="Group 29" id="29"/>
          <p:cNvGrpSpPr/>
          <p:nvPr/>
        </p:nvGrpSpPr>
        <p:grpSpPr>
          <a:xfrm rot="0">
            <a:off x="914400" y="2524601"/>
            <a:ext cx="1828800" cy="1498759"/>
            <a:chOff x="0" y="0"/>
            <a:chExt cx="2438400" cy="1998345"/>
          </a:xfrm>
        </p:grpSpPr>
        <p:sp>
          <p:nvSpPr>
            <p:cNvPr name="Freeform 30" id="30"/>
            <p:cNvSpPr/>
            <p:nvPr/>
          </p:nvSpPr>
          <p:spPr>
            <a:xfrm flipH="false" flipV="false" rot="0">
              <a:off x="0" y="0"/>
              <a:ext cx="2438400" cy="1998345"/>
            </a:xfrm>
            <a:custGeom>
              <a:avLst/>
              <a:gdLst/>
              <a:ahLst/>
              <a:cxnLst/>
              <a:rect r="r" b="b" t="t" l="l"/>
              <a:pathLst>
                <a:path h="1998345" w="2438400">
                  <a:moveTo>
                    <a:pt x="0" y="0"/>
                  </a:moveTo>
                  <a:lnTo>
                    <a:pt x="2438400" y="0"/>
                  </a:lnTo>
                  <a:lnTo>
                    <a:pt x="2438400" y="1998345"/>
                  </a:lnTo>
                  <a:lnTo>
                    <a:pt x="0" y="1998345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-55221" t="0" r="-55221" b="0"/>
              </a:stretch>
            </a:blipFill>
          </p:spPr>
        </p:sp>
      </p:grpSp>
      <p:grpSp>
        <p:nvGrpSpPr>
          <p:cNvPr name="Group 31" id="31"/>
          <p:cNvGrpSpPr/>
          <p:nvPr/>
        </p:nvGrpSpPr>
        <p:grpSpPr>
          <a:xfrm rot="0">
            <a:off x="914400" y="2517458"/>
            <a:ext cx="1828800" cy="1505902"/>
            <a:chOff x="0" y="0"/>
            <a:chExt cx="2438400" cy="2007870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0" y="0"/>
              <a:ext cx="2438400" cy="2007870"/>
            </a:xfrm>
            <a:custGeom>
              <a:avLst/>
              <a:gdLst/>
              <a:ahLst/>
              <a:cxnLst/>
              <a:rect r="r" b="b" t="t" l="l"/>
              <a:pathLst>
                <a:path h="2007870" w="2438400">
                  <a:moveTo>
                    <a:pt x="0" y="0"/>
                  </a:moveTo>
                  <a:lnTo>
                    <a:pt x="2438400" y="0"/>
                  </a:lnTo>
                  <a:lnTo>
                    <a:pt x="2438400" y="2007870"/>
                  </a:lnTo>
                  <a:lnTo>
                    <a:pt x="0" y="2007870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-55723" t="0" r="-55723" b="0"/>
              </a:stretch>
            </a:blipFill>
          </p:spPr>
        </p:sp>
      </p:grpSp>
      <p:grpSp>
        <p:nvGrpSpPr>
          <p:cNvPr name="Group 33" id="33"/>
          <p:cNvGrpSpPr/>
          <p:nvPr/>
        </p:nvGrpSpPr>
        <p:grpSpPr>
          <a:xfrm rot="0">
            <a:off x="914400" y="2510314"/>
            <a:ext cx="1828800" cy="1513046"/>
            <a:chOff x="0" y="0"/>
            <a:chExt cx="2438400" cy="2017395"/>
          </a:xfrm>
        </p:grpSpPr>
        <p:sp>
          <p:nvSpPr>
            <p:cNvPr name="Freeform 34" id="34"/>
            <p:cNvSpPr/>
            <p:nvPr/>
          </p:nvSpPr>
          <p:spPr>
            <a:xfrm flipH="false" flipV="false" rot="0">
              <a:off x="0" y="0"/>
              <a:ext cx="2438400" cy="2017394"/>
            </a:xfrm>
            <a:custGeom>
              <a:avLst/>
              <a:gdLst/>
              <a:ahLst/>
              <a:cxnLst/>
              <a:rect r="r" b="b" t="t" l="l"/>
              <a:pathLst>
                <a:path h="2017394" w="2438400">
                  <a:moveTo>
                    <a:pt x="0" y="0"/>
                  </a:moveTo>
                  <a:lnTo>
                    <a:pt x="2438400" y="0"/>
                  </a:lnTo>
                  <a:lnTo>
                    <a:pt x="2438400" y="2017394"/>
                  </a:lnTo>
                  <a:lnTo>
                    <a:pt x="0" y="2017394"/>
                  </a:lnTo>
                  <a:close/>
                </a:path>
              </a:pathLst>
            </a:custGeom>
            <a:blipFill>
              <a:blip r:embed="rId9">
                <a:alphaModFix amt="0"/>
              </a:blip>
              <a:stretch>
                <a:fillRect l="-56151" t="0" r="-56151" b="0"/>
              </a:stretch>
            </a:blipFill>
          </p:spPr>
        </p:sp>
        <p:sp>
          <p:nvSpPr>
            <p:cNvPr name="TextBox 35" id="35"/>
            <p:cNvSpPr txBox="true"/>
            <p:nvPr/>
          </p:nvSpPr>
          <p:spPr>
            <a:xfrm>
              <a:off x="0" y="-9525"/>
              <a:ext cx="2438400" cy="202692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6720"/>
                </a:lnSpc>
              </a:pPr>
              <a:r>
                <a:rPr lang="en-US" sz="5600" b="true">
                  <a:solidFill>
                    <a:srgbClr val="B1734A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01</a:t>
              </a:r>
            </a:p>
          </p:txBody>
        </p:sp>
      </p:grpSp>
      <p:sp>
        <p:nvSpPr>
          <p:cNvPr name="TextBox 36" id="36"/>
          <p:cNvSpPr txBox="true"/>
          <p:nvPr/>
        </p:nvSpPr>
        <p:spPr>
          <a:xfrm rot="0">
            <a:off x="2926080" y="2667000"/>
            <a:ext cx="6035040" cy="7162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079"/>
              </a:lnSpc>
            </a:pPr>
            <a:r>
              <a:rPr lang="en-US" sz="3399" b="true">
                <a:solidFill>
                  <a:srgbClr val="2E5634"/>
                </a:solidFill>
                <a:latin typeface="Cambria Bold"/>
                <a:ea typeface="Cambria Bold"/>
                <a:cs typeface="Cambria Bold"/>
                <a:sym typeface="Cambria Bold"/>
              </a:rPr>
              <a:t>Introdução</a:t>
            </a:r>
          </a:p>
        </p:txBody>
      </p:sp>
      <p:sp>
        <p:nvSpPr>
          <p:cNvPr name="TextBox 37" id="37"/>
          <p:cNvSpPr txBox="true"/>
          <p:nvPr/>
        </p:nvSpPr>
        <p:spPr>
          <a:xfrm rot="0">
            <a:off x="2926080" y="3115056"/>
            <a:ext cx="4981164" cy="76225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78"/>
              </a:lnSpc>
            </a:pPr>
            <a:r>
              <a:rPr lang="en-US" sz="2400">
                <a:solidFill>
                  <a:srgbClr val="5B6B5F"/>
                </a:solidFill>
                <a:latin typeface="Calibri (MS)"/>
                <a:ea typeface="Calibri (MS)"/>
                <a:cs typeface="Calibri (MS)"/>
                <a:sym typeface="Calibri (MS)"/>
              </a:rPr>
              <a:t>Motivação, problema e objetivos</a:t>
            </a:r>
          </a:p>
        </p:txBody>
      </p:sp>
      <p:grpSp>
        <p:nvGrpSpPr>
          <p:cNvPr name="Group 38" id="38"/>
          <p:cNvGrpSpPr/>
          <p:nvPr/>
        </p:nvGrpSpPr>
        <p:grpSpPr>
          <a:xfrm rot="0">
            <a:off x="9326880" y="2560320"/>
            <a:ext cx="1828800" cy="1463040"/>
            <a:chOff x="0" y="0"/>
            <a:chExt cx="2438400" cy="1950720"/>
          </a:xfrm>
        </p:grpSpPr>
        <p:sp>
          <p:nvSpPr>
            <p:cNvPr name="Freeform 39" id="39"/>
            <p:cNvSpPr/>
            <p:nvPr/>
          </p:nvSpPr>
          <p:spPr>
            <a:xfrm flipH="false" flipV="false" rot="0">
              <a:off x="0" y="0"/>
              <a:ext cx="2438400" cy="1950720"/>
            </a:xfrm>
            <a:custGeom>
              <a:avLst/>
              <a:gdLst/>
              <a:ahLst/>
              <a:cxnLst/>
              <a:rect r="r" b="b" t="t" l="l"/>
              <a:pathLst>
                <a:path h="1950720" w="2438400">
                  <a:moveTo>
                    <a:pt x="0" y="0"/>
                  </a:moveTo>
                  <a:lnTo>
                    <a:pt x="2438400" y="0"/>
                  </a:lnTo>
                  <a:lnTo>
                    <a:pt x="2438400" y="1950720"/>
                  </a:lnTo>
                  <a:lnTo>
                    <a:pt x="0" y="195072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52714" t="0" r="-52714" b="0"/>
              </a:stretch>
            </a:blipFill>
          </p:spPr>
        </p:sp>
      </p:grpSp>
      <p:grpSp>
        <p:nvGrpSpPr>
          <p:cNvPr name="Group 40" id="40"/>
          <p:cNvGrpSpPr/>
          <p:nvPr/>
        </p:nvGrpSpPr>
        <p:grpSpPr>
          <a:xfrm rot="0">
            <a:off x="9326880" y="2553176"/>
            <a:ext cx="1828800" cy="1470184"/>
            <a:chOff x="0" y="0"/>
            <a:chExt cx="2438400" cy="1960245"/>
          </a:xfrm>
        </p:grpSpPr>
        <p:sp>
          <p:nvSpPr>
            <p:cNvPr name="Freeform 41" id="41"/>
            <p:cNvSpPr/>
            <p:nvPr/>
          </p:nvSpPr>
          <p:spPr>
            <a:xfrm flipH="false" flipV="false" rot="0">
              <a:off x="0" y="0"/>
              <a:ext cx="2438400" cy="1960245"/>
            </a:xfrm>
            <a:custGeom>
              <a:avLst/>
              <a:gdLst/>
              <a:ahLst/>
              <a:cxnLst/>
              <a:rect r="r" b="b" t="t" l="l"/>
              <a:pathLst>
                <a:path h="1960245" w="2438400">
                  <a:moveTo>
                    <a:pt x="0" y="0"/>
                  </a:moveTo>
                  <a:lnTo>
                    <a:pt x="2438400" y="0"/>
                  </a:lnTo>
                  <a:lnTo>
                    <a:pt x="2438400" y="1960245"/>
                  </a:lnTo>
                  <a:lnTo>
                    <a:pt x="0" y="1960245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53215" t="0" r="-53216" b="0"/>
              </a:stretch>
            </a:blipFill>
          </p:spPr>
        </p:sp>
      </p:grpSp>
      <p:grpSp>
        <p:nvGrpSpPr>
          <p:cNvPr name="Group 42" id="42"/>
          <p:cNvGrpSpPr/>
          <p:nvPr/>
        </p:nvGrpSpPr>
        <p:grpSpPr>
          <a:xfrm rot="0">
            <a:off x="9326880" y="2546033"/>
            <a:ext cx="1828800" cy="1477327"/>
            <a:chOff x="0" y="0"/>
            <a:chExt cx="2438400" cy="1969770"/>
          </a:xfrm>
        </p:grpSpPr>
        <p:sp>
          <p:nvSpPr>
            <p:cNvPr name="Freeform 43" id="43"/>
            <p:cNvSpPr/>
            <p:nvPr/>
          </p:nvSpPr>
          <p:spPr>
            <a:xfrm flipH="false" flipV="false" rot="0">
              <a:off x="0" y="0"/>
              <a:ext cx="2438400" cy="1969770"/>
            </a:xfrm>
            <a:custGeom>
              <a:avLst/>
              <a:gdLst/>
              <a:ahLst/>
              <a:cxnLst/>
              <a:rect r="r" b="b" t="t" l="l"/>
              <a:pathLst>
                <a:path h="1969770" w="2438400">
                  <a:moveTo>
                    <a:pt x="0" y="0"/>
                  </a:moveTo>
                  <a:lnTo>
                    <a:pt x="2438400" y="0"/>
                  </a:lnTo>
                  <a:lnTo>
                    <a:pt x="2438400" y="1969770"/>
                  </a:lnTo>
                  <a:lnTo>
                    <a:pt x="0" y="196977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53717" t="0" r="-53717" b="0"/>
              </a:stretch>
            </a:blipFill>
          </p:spPr>
        </p:sp>
      </p:grpSp>
      <p:grpSp>
        <p:nvGrpSpPr>
          <p:cNvPr name="Group 44" id="44"/>
          <p:cNvGrpSpPr/>
          <p:nvPr/>
        </p:nvGrpSpPr>
        <p:grpSpPr>
          <a:xfrm rot="0">
            <a:off x="9326880" y="2538889"/>
            <a:ext cx="1828800" cy="1484471"/>
            <a:chOff x="0" y="0"/>
            <a:chExt cx="2438400" cy="1979295"/>
          </a:xfrm>
        </p:grpSpPr>
        <p:sp>
          <p:nvSpPr>
            <p:cNvPr name="Freeform 45" id="45"/>
            <p:cNvSpPr/>
            <p:nvPr/>
          </p:nvSpPr>
          <p:spPr>
            <a:xfrm flipH="false" flipV="false" rot="0">
              <a:off x="0" y="0"/>
              <a:ext cx="2438400" cy="1979295"/>
            </a:xfrm>
            <a:custGeom>
              <a:avLst/>
              <a:gdLst/>
              <a:ahLst/>
              <a:cxnLst/>
              <a:rect r="r" b="b" t="t" l="l"/>
              <a:pathLst>
                <a:path h="1979295" w="2438400">
                  <a:moveTo>
                    <a:pt x="0" y="0"/>
                  </a:moveTo>
                  <a:lnTo>
                    <a:pt x="2438400" y="0"/>
                  </a:lnTo>
                  <a:lnTo>
                    <a:pt x="2438400" y="1979295"/>
                  </a:lnTo>
                  <a:lnTo>
                    <a:pt x="0" y="1979295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-54218" t="0" r="-54218" b="0"/>
              </a:stretch>
            </a:blipFill>
          </p:spPr>
        </p:sp>
      </p:grpSp>
      <p:grpSp>
        <p:nvGrpSpPr>
          <p:cNvPr name="Group 46" id="46"/>
          <p:cNvGrpSpPr/>
          <p:nvPr/>
        </p:nvGrpSpPr>
        <p:grpSpPr>
          <a:xfrm rot="0">
            <a:off x="9326880" y="2531745"/>
            <a:ext cx="1828800" cy="1491615"/>
            <a:chOff x="0" y="0"/>
            <a:chExt cx="2438400" cy="1988820"/>
          </a:xfrm>
        </p:grpSpPr>
        <p:sp>
          <p:nvSpPr>
            <p:cNvPr name="Freeform 47" id="47"/>
            <p:cNvSpPr/>
            <p:nvPr/>
          </p:nvSpPr>
          <p:spPr>
            <a:xfrm flipH="false" flipV="false" rot="0">
              <a:off x="0" y="0"/>
              <a:ext cx="2438400" cy="1988820"/>
            </a:xfrm>
            <a:custGeom>
              <a:avLst/>
              <a:gdLst/>
              <a:ahLst/>
              <a:cxnLst/>
              <a:rect r="r" b="b" t="t" l="l"/>
              <a:pathLst>
                <a:path h="1988820" w="2438400">
                  <a:moveTo>
                    <a:pt x="0" y="0"/>
                  </a:moveTo>
                  <a:lnTo>
                    <a:pt x="2438400" y="0"/>
                  </a:lnTo>
                  <a:lnTo>
                    <a:pt x="2438400" y="1988820"/>
                  </a:lnTo>
                  <a:lnTo>
                    <a:pt x="0" y="1988820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l="-54720" t="0" r="-54720" b="0"/>
              </a:stretch>
            </a:blipFill>
          </p:spPr>
        </p:sp>
      </p:grpSp>
      <p:grpSp>
        <p:nvGrpSpPr>
          <p:cNvPr name="Group 48" id="48"/>
          <p:cNvGrpSpPr/>
          <p:nvPr/>
        </p:nvGrpSpPr>
        <p:grpSpPr>
          <a:xfrm rot="0">
            <a:off x="9326880" y="2524601"/>
            <a:ext cx="1828800" cy="1498759"/>
            <a:chOff x="0" y="0"/>
            <a:chExt cx="2438400" cy="1998345"/>
          </a:xfrm>
        </p:grpSpPr>
        <p:sp>
          <p:nvSpPr>
            <p:cNvPr name="Freeform 49" id="49"/>
            <p:cNvSpPr/>
            <p:nvPr/>
          </p:nvSpPr>
          <p:spPr>
            <a:xfrm flipH="false" flipV="false" rot="0">
              <a:off x="0" y="0"/>
              <a:ext cx="2438400" cy="1998345"/>
            </a:xfrm>
            <a:custGeom>
              <a:avLst/>
              <a:gdLst/>
              <a:ahLst/>
              <a:cxnLst/>
              <a:rect r="r" b="b" t="t" l="l"/>
              <a:pathLst>
                <a:path h="1998345" w="2438400">
                  <a:moveTo>
                    <a:pt x="0" y="0"/>
                  </a:moveTo>
                  <a:lnTo>
                    <a:pt x="2438400" y="0"/>
                  </a:lnTo>
                  <a:lnTo>
                    <a:pt x="2438400" y="1998345"/>
                  </a:lnTo>
                  <a:lnTo>
                    <a:pt x="0" y="1998345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-55221" t="0" r="-55221" b="0"/>
              </a:stretch>
            </a:blipFill>
          </p:spPr>
        </p:sp>
      </p:grpSp>
      <p:grpSp>
        <p:nvGrpSpPr>
          <p:cNvPr name="Group 50" id="50"/>
          <p:cNvGrpSpPr/>
          <p:nvPr/>
        </p:nvGrpSpPr>
        <p:grpSpPr>
          <a:xfrm rot="0">
            <a:off x="9326880" y="2517458"/>
            <a:ext cx="1828800" cy="1505902"/>
            <a:chOff x="0" y="0"/>
            <a:chExt cx="2438400" cy="2007870"/>
          </a:xfrm>
        </p:grpSpPr>
        <p:sp>
          <p:nvSpPr>
            <p:cNvPr name="Freeform 51" id="51"/>
            <p:cNvSpPr/>
            <p:nvPr/>
          </p:nvSpPr>
          <p:spPr>
            <a:xfrm flipH="false" flipV="false" rot="0">
              <a:off x="0" y="0"/>
              <a:ext cx="2438400" cy="2007870"/>
            </a:xfrm>
            <a:custGeom>
              <a:avLst/>
              <a:gdLst/>
              <a:ahLst/>
              <a:cxnLst/>
              <a:rect r="r" b="b" t="t" l="l"/>
              <a:pathLst>
                <a:path h="2007870" w="2438400">
                  <a:moveTo>
                    <a:pt x="0" y="0"/>
                  </a:moveTo>
                  <a:lnTo>
                    <a:pt x="2438400" y="0"/>
                  </a:lnTo>
                  <a:lnTo>
                    <a:pt x="2438400" y="2007870"/>
                  </a:lnTo>
                  <a:lnTo>
                    <a:pt x="0" y="2007870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-55723" t="0" r="-55723" b="0"/>
              </a:stretch>
            </a:blipFill>
          </p:spPr>
        </p:sp>
      </p:grpSp>
      <p:grpSp>
        <p:nvGrpSpPr>
          <p:cNvPr name="Group 52" id="52"/>
          <p:cNvGrpSpPr/>
          <p:nvPr/>
        </p:nvGrpSpPr>
        <p:grpSpPr>
          <a:xfrm rot="0">
            <a:off x="9326880" y="2510314"/>
            <a:ext cx="1828800" cy="1513046"/>
            <a:chOff x="0" y="0"/>
            <a:chExt cx="2438400" cy="2017395"/>
          </a:xfrm>
        </p:grpSpPr>
        <p:sp>
          <p:nvSpPr>
            <p:cNvPr name="Freeform 53" id="53"/>
            <p:cNvSpPr/>
            <p:nvPr/>
          </p:nvSpPr>
          <p:spPr>
            <a:xfrm flipH="false" flipV="false" rot="0">
              <a:off x="0" y="0"/>
              <a:ext cx="2438400" cy="2017394"/>
            </a:xfrm>
            <a:custGeom>
              <a:avLst/>
              <a:gdLst/>
              <a:ahLst/>
              <a:cxnLst/>
              <a:rect r="r" b="b" t="t" l="l"/>
              <a:pathLst>
                <a:path h="2017394" w="2438400">
                  <a:moveTo>
                    <a:pt x="0" y="0"/>
                  </a:moveTo>
                  <a:lnTo>
                    <a:pt x="2438400" y="0"/>
                  </a:lnTo>
                  <a:lnTo>
                    <a:pt x="2438400" y="2017394"/>
                  </a:lnTo>
                  <a:lnTo>
                    <a:pt x="0" y="2017394"/>
                  </a:lnTo>
                  <a:close/>
                </a:path>
              </a:pathLst>
            </a:custGeom>
            <a:blipFill>
              <a:blip r:embed="rId9">
                <a:alphaModFix amt="0"/>
              </a:blip>
              <a:stretch>
                <a:fillRect l="-56151" t="0" r="-56151" b="0"/>
              </a:stretch>
            </a:blipFill>
          </p:spPr>
        </p:sp>
        <p:sp>
          <p:nvSpPr>
            <p:cNvPr name="TextBox 54" id="54"/>
            <p:cNvSpPr txBox="true"/>
            <p:nvPr/>
          </p:nvSpPr>
          <p:spPr>
            <a:xfrm>
              <a:off x="0" y="-9525"/>
              <a:ext cx="2438400" cy="202692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6720"/>
                </a:lnSpc>
              </a:pPr>
              <a:r>
                <a:rPr lang="en-US" sz="5600" b="true">
                  <a:solidFill>
                    <a:srgbClr val="B1734A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02</a:t>
              </a:r>
            </a:p>
          </p:txBody>
        </p:sp>
      </p:grpSp>
      <p:sp>
        <p:nvSpPr>
          <p:cNvPr name="TextBox 55" id="55"/>
          <p:cNvSpPr txBox="true"/>
          <p:nvPr/>
        </p:nvSpPr>
        <p:spPr>
          <a:xfrm rot="0">
            <a:off x="11338560" y="2667000"/>
            <a:ext cx="6035040" cy="52384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079"/>
              </a:lnSpc>
            </a:pPr>
            <a:r>
              <a:rPr lang="en-US" sz="3399" b="true">
                <a:solidFill>
                  <a:srgbClr val="2E5634"/>
                </a:solidFill>
                <a:latin typeface="Cambria Bold"/>
                <a:ea typeface="Cambria Bold"/>
                <a:cs typeface="Cambria Bold"/>
                <a:sym typeface="Cambria Bold"/>
              </a:rPr>
              <a:t>Método e p</a:t>
            </a:r>
            <a:r>
              <a:rPr lang="en-US" sz="3399" b="true">
                <a:solidFill>
                  <a:srgbClr val="2E5634"/>
                </a:solidFill>
                <a:latin typeface="Cambria Bold"/>
                <a:ea typeface="Cambria Bold"/>
                <a:cs typeface="Cambria Bold"/>
                <a:sym typeface="Cambria Bold"/>
              </a:rPr>
              <a:t>esquisa</a:t>
            </a:r>
          </a:p>
        </p:txBody>
      </p:sp>
      <p:sp>
        <p:nvSpPr>
          <p:cNvPr name="TextBox 56" id="56"/>
          <p:cNvSpPr txBox="true"/>
          <p:nvPr/>
        </p:nvSpPr>
        <p:spPr>
          <a:xfrm rot="0">
            <a:off x="11338560" y="3115056"/>
            <a:ext cx="6035040" cy="40030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78"/>
              </a:lnSpc>
            </a:pPr>
            <a:r>
              <a:rPr lang="en-US" sz="2400">
                <a:solidFill>
                  <a:srgbClr val="5B6B5F"/>
                </a:solidFill>
                <a:latin typeface="Calibri (MS)"/>
                <a:ea typeface="Calibri (MS)"/>
                <a:cs typeface="Calibri (MS)"/>
                <a:sym typeface="Calibri (MS)"/>
              </a:rPr>
              <a:t>Metodologia, pesquisa de campo e similares</a:t>
            </a:r>
            <a:r>
              <a:rPr lang="en-US" sz="2400">
                <a:solidFill>
                  <a:srgbClr val="5B6B5F"/>
                </a:solidFill>
                <a:latin typeface="Calibri (MS)"/>
                <a:ea typeface="Calibri (MS)"/>
                <a:cs typeface="Calibri (MS)"/>
                <a:sym typeface="Calibri (MS)"/>
              </a:rPr>
              <a:t/>
            </a:r>
          </a:p>
        </p:txBody>
      </p:sp>
      <p:grpSp>
        <p:nvGrpSpPr>
          <p:cNvPr name="Group 57" id="57"/>
          <p:cNvGrpSpPr/>
          <p:nvPr/>
        </p:nvGrpSpPr>
        <p:grpSpPr>
          <a:xfrm rot="0">
            <a:off x="914400" y="4846320"/>
            <a:ext cx="1828800" cy="1463040"/>
            <a:chOff x="0" y="0"/>
            <a:chExt cx="2438400" cy="1950720"/>
          </a:xfrm>
        </p:grpSpPr>
        <p:sp>
          <p:nvSpPr>
            <p:cNvPr name="Freeform 58" id="58"/>
            <p:cNvSpPr/>
            <p:nvPr/>
          </p:nvSpPr>
          <p:spPr>
            <a:xfrm flipH="false" flipV="false" rot="0">
              <a:off x="0" y="0"/>
              <a:ext cx="2438400" cy="1950720"/>
            </a:xfrm>
            <a:custGeom>
              <a:avLst/>
              <a:gdLst/>
              <a:ahLst/>
              <a:cxnLst/>
              <a:rect r="r" b="b" t="t" l="l"/>
              <a:pathLst>
                <a:path h="1950720" w="2438400">
                  <a:moveTo>
                    <a:pt x="0" y="0"/>
                  </a:moveTo>
                  <a:lnTo>
                    <a:pt x="2438400" y="0"/>
                  </a:lnTo>
                  <a:lnTo>
                    <a:pt x="2438400" y="1950720"/>
                  </a:lnTo>
                  <a:lnTo>
                    <a:pt x="0" y="195072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52714" t="0" r="-52714" b="0"/>
              </a:stretch>
            </a:blipFill>
          </p:spPr>
        </p:sp>
      </p:grpSp>
      <p:grpSp>
        <p:nvGrpSpPr>
          <p:cNvPr name="Group 59" id="59"/>
          <p:cNvGrpSpPr/>
          <p:nvPr/>
        </p:nvGrpSpPr>
        <p:grpSpPr>
          <a:xfrm rot="0">
            <a:off x="914400" y="4839176"/>
            <a:ext cx="1828800" cy="1470184"/>
            <a:chOff x="0" y="0"/>
            <a:chExt cx="2438400" cy="1960245"/>
          </a:xfrm>
        </p:grpSpPr>
        <p:sp>
          <p:nvSpPr>
            <p:cNvPr name="Freeform 60" id="60"/>
            <p:cNvSpPr/>
            <p:nvPr/>
          </p:nvSpPr>
          <p:spPr>
            <a:xfrm flipH="false" flipV="false" rot="0">
              <a:off x="0" y="0"/>
              <a:ext cx="2438400" cy="1960245"/>
            </a:xfrm>
            <a:custGeom>
              <a:avLst/>
              <a:gdLst/>
              <a:ahLst/>
              <a:cxnLst/>
              <a:rect r="r" b="b" t="t" l="l"/>
              <a:pathLst>
                <a:path h="1960245" w="2438400">
                  <a:moveTo>
                    <a:pt x="0" y="0"/>
                  </a:moveTo>
                  <a:lnTo>
                    <a:pt x="2438400" y="0"/>
                  </a:lnTo>
                  <a:lnTo>
                    <a:pt x="2438400" y="1960245"/>
                  </a:lnTo>
                  <a:lnTo>
                    <a:pt x="0" y="1960245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53215" t="0" r="-53216" b="0"/>
              </a:stretch>
            </a:blipFill>
          </p:spPr>
        </p:sp>
      </p:grpSp>
      <p:grpSp>
        <p:nvGrpSpPr>
          <p:cNvPr name="Group 61" id="61"/>
          <p:cNvGrpSpPr/>
          <p:nvPr/>
        </p:nvGrpSpPr>
        <p:grpSpPr>
          <a:xfrm rot="0">
            <a:off x="914400" y="4832032"/>
            <a:ext cx="1828800" cy="1477327"/>
            <a:chOff x="0" y="0"/>
            <a:chExt cx="2438400" cy="1969770"/>
          </a:xfrm>
        </p:grpSpPr>
        <p:sp>
          <p:nvSpPr>
            <p:cNvPr name="Freeform 62" id="62"/>
            <p:cNvSpPr/>
            <p:nvPr/>
          </p:nvSpPr>
          <p:spPr>
            <a:xfrm flipH="false" flipV="false" rot="0">
              <a:off x="0" y="0"/>
              <a:ext cx="2438400" cy="1969770"/>
            </a:xfrm>
            <a:custGeom>
              <a:avLst/>
              <a:gdLst/>
              <a:ahLst/>
              <a:cxnLst/>
              <a:rect r="r" b="b" t="t" l="l"/>
              <a:pathLst>
                <a:path h="1969770" w="2438400">
                  <a:moveTo>
                    <a:pt x="0" y="0"/>
                  </a:moveTo>
                  <a:lnTo>
                    <a:pt x="2438400" y="0"/>
                  </a:lnTo>
                  <a:lnTo>
                    <a:pt x="2438400" y="1969770"/>
                  </a:lnTo>
                  <a:lnTo>
                    <a:pt x="0" y="196977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53717" t="0" r="-53717" b="0"/>
              </a:stretch>
            </a:blipFill>
          </p:spPr>
        </p:sp>
      </p:grpSp>
      <p:grpSp>
        <p:nvGrpSpPr>
          <p:cNvPr name="Group 63" id="63"/>
          <p:cNvGrpSpPr/>
          <p:nvPr/>
        </p:nvGrpSpPr>
        <p:grpSpPr>
          <a:xfrm rot="0">
            <a:off x="914400" y="4824889"/>
            <a:ext cx="1828800" cy="1484471"/>
            <a:chOff x="0" y="0"/>
            <a:chExt cx="2438400" cy="1979295"/>
          </a:xfrm>
        </p:grpSpPr>
        <p:sp>
          <p:nvSpPr>
            <p:cNvPr name="Freeform 64" id="64"/>
            <p:cNvSpPr/>
            <p:nvPr/>
          </p:nvSpPr>
          <p:spPr>
            <a:xfrm flipH="false" flipV="false" rot="0">
              <a:off x="0" y="0"/>
              <a:ext cx="2438400" cy="1979295"/>
            </a:xfrm>
            <a:custGeom>
              <a:avLst/>
              <a:gdLst/>
              <a:ahLst/>
              <a:cxnLst/>
              <a:rect r="r" b="b" t="t" l="l"/>
              <a:pathLst>
                <a:path h="1979295" w="2438400">
                  <a:moveTo>
                    <a:pt x="0" y="0"/>
                  </a:moveTo>
                  <a:lnTo>
                    <a:pt x="2438400" y="0"/>
                  </a:lnTo>
                  <a:lnTo>
                    <a:pt x="2438400" y="1979295"/>
                  </a:lnTo>
                  <a:lnTo>
                    <a:pt x="0" y="1979295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-54218" t="0" r="-54218" b="0"/>
              </a:stretch>
            </a:blipFill>
          </p:spPr>
        </p:sp>
      </p:grpSp>
      <p:grpSp>
        <p:nvGrpSpPr>
          <p:cNvPr name="Group 65" id="65"/>
          <p:cNvGrpSpPr/>
          <p:nvPr/>
        </p:nvGrpSpPr>
        <p:grpSpPr>
          <a:xfrm rot="0">
            <a:off x="914400" y="4817745"/>
            <a:ext cx="1828800" cy="1491615"/>
            <a:chOff x="0" y="0"/>
            <a:chExt cx="2438400" cy="1988820"/>
          </a:xfrm>
        </p:grpSpPr>
        <p:sp>
          <p:nvSpPr>
            <p:cNvPr name="Freeform 66" id="66"/>
            <p:cNvSpPr/>
            <p:nvPr/>
          </p:nvSpPr>
          <p:spPr>
            <a:xfrm flipH="false" flipV="false" rot="0">
              <a:off x="0" y="0"/>
              <a:ext cx="2438400" cy="1988820"/>
            </a:xfrm>
            <a:custGeom>
              <a:avLst/>
              <a:gdLst/>
              <a:ahLst/>
              <a:cxnLst/>
              <a:rect r="r" b="b" t="t" l="l"/>
              <a:pathLst>
                <a:path h="1988820" w="2438400">
                  <a:moveTo>
                    <a:pt x="0" y="0"/>
                  </a:moveTo>
                  <a:lnTo>
                    <a:pt x="2438400" y="0"/>
                  </a:lnTo>
                  <a:lnTo>
                    <a:pt x="2438400" y="1988820"/>
                  </a:lnTo>
                  <a:lnTo>
                    <a:pt x="0" y="1988820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l="-54720" t="0" r="-54720" b="0"/>
              </a:stretch>
            </a:blipFill>
          </p:spPr>
        </p:sp>
      </p:grpSp>
      <p:grpSp>
        <p:nvGrpSpPr>
          <p:cNvPr name="Group 67" id="67"/>
          <p:cNvGrpSpPr/>
          <p:nvPr/>
        </p:nvGrpSpPr>
        <p:grpSpPr>
          <a:xfrm rot="0">
            <a:off x="914400" y="4810601"/>
            <a:ext cx="1828800" cy="1498759"/>
            <a:chOff x="0" y="0"/>
            <a:chExt cx="2438400" cy="1998345"/>
          </a:xfrm>
        </p:grpSpPr>
        <p:sp>
          <p:nvSpPr>
            <p:cNvPr name="Freeform 68" id="68"/>
            <p:cNvSpPr/>
            <p:nvPr/>
          </p:nvSpPr>
          <p:spPr>
            <a:xfrm flipH="false" flipV="false" rot="0">
              <a:off x="0" y="0"/>
              <a:ext cx="2438400" cy="1998345"/>
            </a:xfrm>
            <a:custGeom>
              <a:avLst/>
              <a:gdLst/>
              <a:ahLst/>
              <a:cxnLst/>
              <a:rect r="r" b="b" t="t" l="l"/>
              <a:pathLst>
                <a:path h="1998345" w="2438400">
                  <a:moveTo>
                    <a:pt x="0" y="0"/>
                  </a:moveTo>
                  <a:lnTo>
                    <a:pt x="2438400" y="0"/>
                  </a:lnTo>
                  <a:lnTo>
                    <a:pt x="2438400" y="1998345"/>
                  </a:lnTo>
                  <a:lnTo>
                    <a:pt x="0" y="1998345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-55221" t="0" r="-55221" b="0"/>
              </a:stretch>
            </a:blipFill>
          </p:spPr>
        </p:sp>
      </p:grpSp>
      <p:grpSp>
        <p:nvGrpSpPr>
          <p:cNvPr name="Group 69" id="69"/>
          <p:cNvGrpSpPr/>
          <p:nvPr/>
        </p:nvGrpSpPr>
        <p:grpSpPr>
          <a:xfrm rot="0">
            <a:off x="914400" y="4803458"/>
            <a:ext cx="1828800" cy="1505902"/>
            <a:chOff x="0" y="0"/>
            <a:chExt cx="2438400" cy="2007870"/>
          </a:xfrm>
        </p:grpSpPr>
        <p:sp>
          <p:nvSpPr>
            <p:cNvPr name="Freeform 70" id="70"/>
            <p:cNvSpPr/>
            <p:nvPr/>
          </p:nvSpPr>
          <p:spPr>
            <a:xfrm flipH="false" flipV="false" rot="0">
              <a:off x="0" y="0"/>
              <a:ext cx="2438400" cy="2007870"/>
            </a:xfrm>
            <a:custGeom>
              <a:avLst/>
              <a:gdLst/>
              <a:ahLst/>
              <a:cxnLst/>
              <a:rect r="r" b="b" t="t" l="l"/>
              <a:pathLst>
                <a:path h="2007870" w="2438400">
                  <a:moveTo>
                    <a:pt x="0" y="0"/>
                  </a:moveTo>
                  <a:lnTo>
                    <a:pt x="2438400" y="0"/>
                  </a:lnTo>
                  <a:lnTo>
                    <a:pt x="2438400" y="2007870"/>
                  </a:lnTo>
                  <a:lnTo>
                    <a:pt x="0" y="2007870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-55723" t="0" r="-55723" b="0"/>
              </a:stretch>
            </a:blipFill>
          </p:spPr>
        </p:sp>
      </p:grpSp>
      <p:grpSp>
        <p:nvGrpSpPr>
          <p:cNvPr name="Group 71" id="71"/>
          <p:cNvGrpSpPr/>
          <p:nvPr/>
        </p:nvGrpSpPr>
        <p:grpSpPr>
          <a:xfrm rot="0">
            <a:off x="914400" y="4796314"/>
            <a:ext cx="1828800" cy="1513046"/>
            <a:chOff x="0" y="0"/>
            <a:chExt cx="2438400" cy="2017395"/>
          </a:xfrm>
        </p:grpSpPr>
        <p:sp>
          <p:nvSpPr>
            <p:cNvPr name="Freeform 72" id="72"/>
            <p:cNvSpPr/>
            <p:nvPr/>
          </p:nvSpPr>
          <p:spPr>
            <a:xfrm flipH="false" flipV="false" rot="0">
              <a:off x="0" y="0"/>
              <a:ext cx="2438400" cy="2017394"/>
            </a:xfrm>
            <a:custGeom>
              <a:avLst/>
              <a:gdLst/>
              <a:ahLst/>
              <a:cxnLst/>
              <a:rect r="r" b="b" t="t" l="l"/>
              <a:pathLst>
                <a:path h="2017394" w="2438400">
                  <a:moveTo>
                    <a:pt x="0" y="0"/>
                  </a:moveTo>
                  <a:lnTo>
                    <a:pt x="2438400" y="0"/>
                  </a:lnTo>
                  <a:lnTo>
                    <a:pt x="2438400" y="2017394"/>
                  </a:lnTo>
                  <a:lnTo>
                    <a:pt x="0" y="2017394"/>
                  </a:lnTo>
                  <a:close/>
                </a:path>
              </a:pathLst>
            </a:custGeom>
            <a:blipFill>
              <a:blip r:embed="rId9">
                <a:alphaModFix amt="0"/>
              </a:blip>
              <a:stretch>
                <a:fillRect l="-56151" t="0" r="-56151" b="0"/>
              </a:stretch>
            </a:blipFill>
          </p:spPr>
        </p:sp>
        <p:sp>
          <p:nvSpPr>
            <p:cNvPr name="TextBox 73" id="73"/>
            <p:cNvSpPr txBox="true"/>
            <p:nvPr/>
          </p:nvSpPr>
          <p:spPr>
            <a:xfrm>
              <a:off x="0" y="-9525"/>
              <a:ext cx="2438400" cy="202692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6720"/>
                </a:lnSpc>
              </a:pPr>
              <a:r>
                <a:rPr lang="en-US" sz="5600" b="true">
                  <a:solidFill>
                    <a:srgbClr val="B1734A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03</a:t>
              </a:r>
            </a:p>
          </p:txBody>
        </p:sp>
      </p:grpSp>
      <p:sp>
        <p:nvSpPr>
          <p:cNvPr name="TextBox 74" id="74"/>
          <p:cNvSpPr txBox="true"/>
          <p:nvPr/>
        </p:nvSpPr>
        <p:spPr>
          <a:xfrm rot="0">
            <a:off x="2926080" y="4953000"/>
            <a:ext cx="6035040" cy="7162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079"/>
              </a:lnSpc>
            </a:pPr>
            <a:r>
              <a:rPr lang="en-US" sz="3399" b="true">
                <a:solidFill>
                  <a:srgbClr val="2E5634"/>
                </a:solidFill>
                <a:latin typeface="Cambria Bold"/>
                <a:ea typeface="Cambria Bold"/>
                <a:cs typeface="Cambria Bold"/>
                <a:sym typeface="Cambria Bold"/>
              </a:rPr>
              <a:t>Requisitos e modelagem</a:t>
            </a:r>
          </a:p>
        </p:txBody>
      </p:sp>
      <p:sp>
        <p:nvSpPr>
          <p:cNvPr name="TextBox 75" id="75"/>
          <p:cNvSpPr txBox="true"/>
          <p:nvPr/>
        </p:nvSpPr>
        <p:spPr>
          <a:xfrm rot="0">
            <a:off x="2926080" y="5401056"/>
            <a:ext cx="6035040" cy="40030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78"/>
              </a:lnSpc>
            </a:pPr>
            <a:r>
              <a:rPr lang="en-US" sz="2400">
                <a:solidFill>
                  <a:srgbClr val="5B6B5F"/>
                </a:solidFill>
                <a:latin typeface="Calibri (MS)"/>
                <a:ea typeface="Calibri (MS)"/>
                <a:cs typeface="Calibri (MS)"/>
                <a:sym typeface="Calibri (MS)"/>
              </a:rPr>
              <a:t>Requisitos, regras de negócio e UML</a:t>
            </a:r>
          </a:p>
        </p:txBody>
      </p:sp>
      <p:grpSp>
        <p:nvGrpSpPr>
          <p:cNvPr name="Group 76" id="76"/>
          <p:cNvGrpSpPr/>
          <p:nvPr/>
        </p:nvGrpSpPr>
        <p:grpSpPr>
          <a:xfrm rot="0">
            <a:off x="9326880" y="4846320"/>
            <a:ext cx="1828800" cy="1463040"/>
            <a:chOff x="0" y="0"/>
            <a:chExt cx="2438400" cy="1950720"/>
          </a:xfrm>
        </p:grpSpPr>
        <p:sp>
          <p:nvSpPr>
            <p:cNvPr name="Freeform 77" id="77"/>
            <p:cNvSpPr/>
            <p:nvPr/>
          </p:nvSpPr>
          <p:spPr>
            <a:xfrm flipH="false" flipV="false" rot="0">
              <a:off x="0" y="0"/>
              <a:ext cx="2438400" cy="1950720"/>
            </a:xfrm>
            <a:custGeom>
              <a:avLst/>
              <a:gdLst/>
              <a:ahLst/>
              <a:cxnLst/>
              <a:rect r="r" b="b" t="t" l="l"/>
              <a:pathLst>
                <a:path h="1950720" w="2438400">
                  <a:moveTo>
                    <a:pt x="0" y="0"/>
                  </a:moveTo>
                  <a:lnTo>
                    <a:pt x="2438400" y="0"/>
                  </a:lnTo>
                  <a:lnTo>
                    <a:pt x="2438400" y="1950720"/>
                  </a:lnTo>
                  <a:lnTo>
                    <a:pt x="0" y="195072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52714" t="0" r="-52714" b="0"/>
              </a:stretch>
            </a:blipFill>
          </p:spPr>
        </p:sp>
      </p:grpSp>
      <p:grpSp>
        <p:nvGrpSpPr>
          <p:cNvPr name="Group 78" id="78"/>
          <p:cNvGrpSpPr/>
          <p:nvPr/>
        </p:nvGrpSpPr>
        <p:grpSpPr>
          <a:xfrm rot="0">
            <a:off x="9326880" y="4839176"/>
            <a:ext cx="1828800" cy="1470184"/>
            <a:chOff x="0" y="0"/>
            <a:chExt cx="2438400" cy="1960245"/>
          </a:xfrm>
        </p:grpSpPr>
        <p:sp>
          <p:nvSpPr>
            <p:cNvPr name="Freeform 79" id="79"/>
            <p:cNvSpPr/>
            <p:nvPr/>
          </p:nvSpPr>
          <p:spPr>
            <a:xfrm flipH="false" flipV="false" rot="0">
              <a:off x="0" y="0"/>
              <a:ext cx="2438400" cy="1960245"/>
            </a:xfrm>
            <a:custGeom>
              <a:avLst/>
              <a:gdLst/>
              <a:ahLst/>
              <a:cxnLst/>
              <a:rect r="r" b="b" t="t" l="l"/>
              <a:pathLst>
                <a:path h="1960245" w="2438400">
                  <a:moveTo>
                    <a:pt x="0" y="0"/>
                  </a:moveTo>
                  <a:lnTo>
                    <a:pt x="2438400" y="0"/>
                  </a:lnTo>
                  <a:lnTo>
                    <a:pt x="2438400" y="1960245"/>
                  </a:lnTo>
                  <a:lnTo>
                    <a:pt x="0" y="1960245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53215" t="0" r="-53216" b="0"/>
              </a:stretch>
            </a:blipFill>
          </p:spPr>
        </p:sp>
      </p:grpSp>
      <p:grpSp>
        <p:nvGrpSpPr>
          <p:cNvPr name="Group 80" id="80"/>
          <p:cNvGrpSpPr/>
          <p:nvPr/>
        </p:nvGrpSpPr>
        <p:grpSpPr>
          <a:xfrm rot="0">
            <a:off x="9326880" y="4832032"/>
            <a:ext cx="1828800" cy="1477327"/>
            <a:chOff x="0" y="0"/>
            <a:chExt cx="2438400" cy="1969770"/>
          </a:xfrm>
        </p:grpSpPr>
        <p:sp>
          <p:nvSpPr>
            <p:cNvPr name="Freeform 81" id="81"/>
            <p:cNvSpPr/>
            <p:nvPr/>
          </p:nvSpPr>
          <p:spPr>
            <a:xfrm flipH="false" flipV="false" rot="0">
              <a:off x="0" y="0"/>
              <a:ext cx="2438400" cy="1969770"/>
            </a:xfrm>
            <a:custGeom>
              <a:avLst/>
              <a:gdLst/>
              <a:ahLst/>
              <a:cxnLst/>
              <a:rect r="r" b="b" t="t" l="l"/>
              <a:pathLst>
                <a:path h="1969770" w="2438400">
                  <a:moveTo>
                    <a:pt x="0" y="0"/>
                  </a:moveTo>
                  <a:lnTo>
                    <a:pt x="2438400" y="0"/>
                  </a:lnTo>
                  <a:lnTo>
                    <a:pt x="2438400" y="1969770"/>
                  </a:lnTo>
                  <a:lnTo>
                    <a:pt x="0" y="196977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53717" t="0" r="-53717" b="0"/>
              </a:stretch>
            </a:blipFill>
          </p:spPr>
        </p:sp>
      </p:grpSp>
      <p:grpSp>
        <p:nvGrpSpPr>
          <p:cNvPr name="Group 82" id="82"/>
          <p:cNvGrpSpPr/>
          <p:nvPr/>
        </p:nvGrpSpPr>
        <p:grpSpPr>
          <a:xfrm rot="0">
            <a:off x="9326880" y="4824889"/>
            <a:ext cx="1828800" cy="1484471"/>
            <a:chOff x="0" y="0"/>
            <a:chExt cx="2438400" cy="1979295"/>
          </a:xfrm>
        </p:grpSpPr>
        <p:sp>
          <p:nvSpPr>
            <p:cNvPr name="Freeform 83" id="83"/>
            <p:cNvSpPr/>
            <p:nvPr/>
          </p:nvSpPr>
          <p:spPr>
            <a:xfrm flipH="false" flipV="false" rot="0">
              <a:off x="0" y="0"/>
              <a:ext cx="2438400" cy="1979295"/>
            </a:xfrm>
            <a:custGeom>
              <a:avLst/>
              <a:gdLst/>
              <a:ahLst/>
              <a:cxnLst/>
              <a:rect r="r" b="b" t="t" l="l"/>
              <a:pathLst>
                <a:path h="1979295" w="2438400">
                  <a:moveTo>
                    <a:pt x="0" y="0"/>
                  </a:moveTo>
                  <a:lnTo>
                    <a:pt x="2438400" y="0"/>
                  </a:lnTo>
                  <a:lnTo>
                    <a:pt x="2438400" y="1979295"/>
                  </a:lnTo>
                  <a:lnTo>
                    <a:pt x="0" y="1979295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-54218" t="0" r="-54218" b="0"/>
              </a:stretch>
            </a:blipFill>
          </p:spPr>
        </p:sp>
      </p:grpSp>
      <p:grpSp>
        <p:nvGrpSpPr>
          <p:cNvPr name="Group 84" id="84"/>
          <p:cNvGrpSpPr/>
          <p:nvPr/>
        </p:nvGrpSpPr>
        <p:grpSpPr>
          <a:xfrm rot="0">
            <a:off x="9326880" y="4817745"/>
            <a:ext cx="1828800" cy="1491615"/>
            <a:chOff x="0" y="0"/>
            <a:chExt cx="2438400" cy="1988820"/>
          </a:xfrm>
        </p:grpSpPr>
        <p:sp>
          <p:nvSpPr>
            <p:cNvPr name="Freeform 85" id="85"/>
            <p:cNvSpPr/>
            <p:nvPr/>
          </p:nvSpPr>
          <p:spPr>
            <a:xfrm flipH="false" flipV="false" rot="0">
              <a:off x="0" y="0"/>
              <a:ext cx="2438400" cy="1988820"/>
            </a:xfrm>
            <a:custGeom>
              <a:avLst/>
              <a:gdLst/>
              <a:ahLst/>
              <a:cxnLst/>
              <a:rect r="r" b="b" t="t" l="l"/>
              <a:pathLst>
                <a:path h="1988820" w="2438400">
                  <a:moveTo>
                    <a:pt x="0" y="0"/>
                  </a:moveTo>
                  <a:lnTo>
                    <a:pt x="2438400" y="0"/>
                  </a:lnTo>
                  <a:lnTo>
                    <a:pt x="2438400" y="1988820"/>
                  </a:lnTo>
                  <a:lnTo>
                    <a:pt x="0" y="1988820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l="-54720" t="0" r="-54720" b="0"/>
              </a:stretch>
            </a:blipFill>
          </p:spPr>
        </p:sp>
      </p:grpSp>
      <p:grpSp>
        <p:nvGrpSpPr>
          <p:cNvPr name="Group 86" id="86"/>
          <p:cNvGrpSpPr/>
          <p:nvPr/>
        </p:nvGrpSpPr>
        <p:grpSpPr>
          <a:xfrm rot="0">
            <a:off x="9326880" y="4810601"/>
            <a:ext cx="1828800" cy="1498759"/>
            <a:chOff x="0" y="0"/>
            <a:chExt cx="2438400" cy="1998345"/>
          </a:xfrm>
        </p:grpSpPr>
        <p:sp>
          <p:nvSpPr>
            <p:cNvPr name="Freeform 87" id="87"/>
            <p:cNvSpPr/>
            <p:nvPr/>
          </p:nvSpPr>
          <p:spPr>
            <a:xfrm flipH="false" flipV="false" rot="0">
              <a:off x="0" y="0"/>
              <a:ext cx="2438400" cy="1998345"/>
            </a:xfrm>
            <a:custGeom>
              <a:avLst/>
              <a:gdLst/>
              <a:ahLst/>
              <a:cxnLst/>
              <a:rect r="r" b="b" t="t" l="l"/>
              <a:pathLst>
                <a:path h="1998345" w="2438400">
                  <a:moveTo>
                    <a:pt x="0" y="0"/>
                  </a:moveTo>
                  <a:lnTo>
                    <a:pt x="2438400" y="0"/>
                  </a:lnTo>
                  <a:lnTo>
                    <a:pt x="2438400" y="1998345"/>
                  </a:lnTo>
                  <a:lnTo>
                    <a:pt x="0" y="1998345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-55221" t="0" r="-55221" b="0"/>
              </a:stretch>
            </a:blipFill>
          </p:spPr>
        </p:sp>
      </p:grpSp>
      <p:grpSp>
        <p:nvGrpSpPr>
          <p:cNvPr name="Group 88" id="88"/>
          <p:cNvGrpSpPr/>
          <p:nvPr/>
        </p:nvGrpSpPr>
        <p:grpSpPr>
          <a:xfrm rot="0">
            <a:off x="9326880" y="4803458"/>
            <a:ext cx="1828800" cy="1505902"/>
            <a:chOff x="0" y="0"/>
            <a:chExt cx="2438400" cy="2007870"/>
          </a:xfrm>
        </p:grpSpPr>
        <p:sp>
          <p:nvSpPr>
            <p:cNvPr name="Freeform 89" id="89"/>
            <p:cNvSpPr/>
            <p:nvPr/>
          </p:nvSpPr>
          <p:spPr>
            <a:xfrm flipH="false" flipV="false" rot="0">
              <a:off x="0" y="0"/>
              <a:ext cx="2438400" cy="2007870"/>
            </a:xfrm>
            <a:custGeom>
              <a:avLst/>
              <a:gdLst/>
              <a:ahLst/>
              <a:cxnLst/>
              <a:rect r="r" b="b" t="t" l="l"/>
              <a:pathLst>
                <a:path h="2007870" w="2438400">
                  <a:moveTo>
                    <a:pt x="0" y="0"/>
                  </a:moveTo>
                  <a:lnTo>
                    <a:pt x="2438400" y="0"/>
                  </a:lnTo>
                  <a:lnTo>
                    <a:pt x="2438400" y="2007870"/>
                  </a:lnTo>
                  <a:lnTo>
                    <a:pt x="0" y="2007870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-55723" t="0" r="-55723" b="0"/>
              </a:stretch>
            </a:blipFill>
          </p:spPr>
        </p:sp>
      </p:grpSp>
      <p:grpSp>
        <p:nvGrpSpPr>
          <p:cNvPr name="Group 90" id="90"/>
          <p:cNvGrpSpPr/>
          <p:nvPr/>
        </p:nvGrpSpPr>
        <p:grpSpPr>
          <a:xfrm rot="0">
            <a:off x="9326880" y="4796314"/>
            <a:ext cx="1828800" cy="1513046"/>
            <a:chOff x="0" y="0"/>
            <a:chExt cx="2438400" cy="2017395"/>
          </a:xfrm>
        </p:grpSpPr>
        <p:sp>
          <p:nvSpPr>
            <p:cNvPr name="Freeform 91" id="91"/>
            <p:cNvSpPr/>
            <p:nvPr/>
          </p:nvSpPr>
          <p:spPr>
            <a:xfrm flipH="false" flipV="false" rot="0">
              <a:off x="0" y="0"/>
              <a:ext cx="2438400" cy="2017394"/>
            </a:xfrm>
            <a:custGeom>
              <a:avLst/>
              <a:gdLst/>
              <a:ahLst/>
              <a:cxnLst/>
              <a:rect r="r" b="b" t="t" l="l"/>
              <a:pathLst>
                <a:path h="2017394" w="2438400">
                  <a:moveTo>
                    <a:pt x="0" y="0"/>
                  </a:moveTo>
                  <a:lnTo>
                    <a:pt x="2438400" y="0"/>
                  </a:lnTo>
                  <a:lnTo>
                    <a:pt x="2438400" y="2017394"/>
                  </a:lnTo>
                  <a:lnTo>
                    <a:pt x="0" y="2017394"/>
                  </a:lnTo>
                  <a:close/>
                </a:path>
              </a:pathLst>
            </a:custGeom>
            <a:blipFill>
              <a:blip r:embed="rId9">
                <a:alphaModFix amt="0"/>
              </a:blip>
              <a:stretch>
                <a:fillRect l="-56151" t="0" r="-56151" b="0"/>
              </a:stretch>
            </a:blipFill>
          </p:spPr>
        </p:sp>
        <p:sp>
          <p:nvSpPr>
            <p:cNvPr name="TextBox 92" id="92"/>
            <p:cNvSpPr txBox="true"/>
            <p:nvPr/>
          </p:nvSpPr>
          <p:spPr>
            <a:xfrm>
              <a:off x="0" y="-9525"/>
              <a:ext cx="2438400" cy="202692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6720"/>
                </a:lnSpc>
              </a:pPr>
              <a:r>
                <a:rPr lang="en-US" sz="5600" b="true">
                  <a:solidFill>
                    <a:srgbClr val="B1734A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04</a:t>
              </a:r>
            </a:p>
          </p:txBody>
        </p:sp>
      </p:grpSp>
      <p:sp>
        <p:nvSpPr>
          <p:cNvPr name="TextBox 93" id="93"/>
          <p:cNvSpPr txBox="true"/>
          <p:nvPr/>
        </p:nvSpPr>
        <p:spPr>
          <a:xfrm rot="0">
            <a:off x="11338560" y="4953000"/>
            <a:ext cx="6035040" cy="7162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079"/>
              </a:lnSpc>
            </a:pPr>
            <a:r>
              <a:rPr lang="en-US" sz="3399" b="true">
                <a:solidFill>
                  <a:srgbClr val="2E5634"/>
                </a:solidFill>
                <a:latin typeface="Cambria Bold"/>
                <a:ea typeface="Cambria Bold"/>
                <a:cs typeface="Cambria Bold"/>
                <a:sym typeface="Cambria Bold"/>
              </a:rPr>
              <a:t>Solução desenvolvida</a:t>
            </a:r>
          </a:p>
        </p:txBody>
      </p:sp>
      <p:sp>
        <p:nvSpPr>
          <p:cNvPr name="TextBox 94" id="94"/>
          <p:cNvSpPr txBox="true"/>
          <p:nvPr/>
        </p:nvSpPr>
        <p:spPr>
          <a:xfrm rot="0">
            <a:off x="11338560" y="5401056"/>
            <a:ext cx="6035040" cy="40030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78"/>
              </a:lnSpc>
            </a:pPr>
            <a:r>
              <a:rPr lang="en-US" sz="2400">
                <a:solidFill>
                  <a:srgbClr val="5B6B5F"/>
                </a:solidFill>
                <a:latin typeface="Calibri (MS)"/>
                <a:ea typeface="Calibri (MS)"/>
                <a:cs typeface="Calibri (MS)"/>
                <a:sym typeface="Calibri (MS)"/>
              </a:rPr>
              <a:t>Arquitetura, design e demonstração em vídeo</a:t>
            </a:r>
          </a:p>
        </p:txBody>
      </p:sp>
      <p:grpSp>
        <p:nvGrpSpPr>
          <p:cNvPr name="Group 95" id="95"/>
          <p:cNvGrpSpPr/>
          <p:nvPr/>
        </p:nvGrpSpPr>
        <p:grpSpPr>
          <a:xfrm rot="0">
            <a:off x="914400" y="7132320"/>
            <a:ext cx="1828800" cy="1463040"/>
            <a:chOff x="0" y="0"/>
            <a:chExt cx="2438400" cy="1950720"/>
          </a:xfrm>
        </p:grpSpPr>
        <p:sp>
          <p:nvSpPr>
            <p:cNvPr name="Freeform 96" id="96"/>
            <p:cNvSpPr/>
            <p:nvPr/>
          </p:nvSpPr>
          <p:spPr>
            <a:xfrm flipH="false" flipV="false" rot="0">
              <a:off x="0" y="0"/>
              <a:ext cx="2438400" cy="1950720"/>
            </a:xfrm>
            <a:custGeom>
              <a:avLst/>
              <a:gdLst/>
              <a:ahLst/>
              <a:cxnLst/>
              <a:rect r="r" b="b" t="t" l="l"/>
              <a:pathLst>
                <a:path h="1950720" w="2438400">
                  <a:moveTo>
                    <a:pt x="0" y="0"/>
                  </a:moveTo>
                  <a:lnTo>
                    <a:pt x="2438400" y="0"/>
                  </a:lnTo>
                  <a:lnTo>
                    <a:pt x="2438400" y="1950720"/>
                  </a:lnTo>
                  <a:lnTo>
                    <a:pt x="0" y="195072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52714" t="0" r="-52714" b="0"/>
              </a:stretch>
            </a:blipFill>
          </p:spPr>
        </p:sp>
      </p:grpSp>
      <p:grpSp>
        <p:nvGrpSpPr>
          <p:cNvPr name="Group 97" id="97"/>
          <p:cNvGrpSpPr/>
          <p:nvPr/>
        </p:nvGrpSpPr>
        <p:grpSpPr>
          <a:xfrm rot="0">
            <a:off x="914400" y="7125176"/>
            <a:ext cx="1828800" cy="1470184"/>
            <a:chOff x="0" y="0"/>
            <a:chExt cx="2438400" cy="1960245"/>
          </a:xfrm>
        </p:grpSpPr>
        <p:sp>
          <p:nvSpPr>
            <p:cNvPr name="Freeform 98" id="98"/>
            <p:cNvSpPr/>
            <p:nvPr/>
          </p:nvSpPr>
          <p:spPr>
            <a:xfrm flipH="false" flipV="false" rot="0">
              <a:off x="0" y="0"/>
              <a:ext cx="2438400" cy="1960245"/>
            </a:xfrm>
            <a:custGeom>
              <a:avLst/>
              <a:gdLst/>
              <a:ahLst/>
              <a:cxnLst/>
              <a:rect r="r" b="b" t="t" l="l"/>
              <a:pathLst>
                <a:path h="1960245" w="2438400">
                  <a:moveTo>
                    <a:pt x="0" y="0"/>
                  </a:moveTo>
                  <a:lnTo>
                    <a:pt x="2438400" y="0"/>
                  </a:lnTo>
                  <a:lnTo>
                    <a:pt x="2438400" y="1960245"/>
                  </a:lnTo>
                  <a:lnTo>
                    <a:pt x="0" y="1960245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53215" t="0" r="-53216" b="0"/>
              </a:stretch>
            </a:blipFill>
          </p:spPr>
        </p:sp>
      </p:grpSp>
      <p:grpSp>
        <p:nvGrpSpPr>
          <p:cNvPr name="Group 99" id="99"/>
          <p:cNvGrpSpPr/>
          <p:nvPr/>
        </p:nvGrpSpPr>
        <p:grpSpPr>
          <a:xfrm rot="0">
            <a:off x="914400" y="7118032"/>
            <a:ext cx="1828800" cy="1477327"/>
            <a:chOff x="0" y="0"/>
            <a:chExt cx="2438400" cy="1969770"/>
          </a:xfrm>
        </p:grpSpPr>
        <p:sp>
          <p:nvSpPr>
            <p:cNvPr name="Freeform 100" id="100"/>
            <p:cNvSpPr/>
            <p:nvPr/>
          </p:nvSpPr>
          <p:spPr>
            <a:xfrm flipH="false" flipV="false" rot="0">
              <a:off x="0" y="0"/>
              <a:ext cx="2438400" cy="1969770"/>
            </a:xfrm>
            <a:custGeom>
              <a:avLst/>
              <a:gdLst/>
              <a:ahLst/>
              <a:cxnLst/>
              <a:rect r="r" b="b" t="t" l="l"/>
              <a:pathLst>
                <a:path h="1969770" w="2438400">
                  <a:moveTo>
                    <a:pt x="0" y="0"/>
                  </a:moveTo>
                  <a:lnTo>
                    <a:pt x="2438400" y="0"/>
                  </a:lnTo>
                  <a:lnTo>
                    <a:pt x="2438400" y="1969770"/>
                  </a:lnTo>
                  <a:lnTo>
                    <a:pt x="0" y="196977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53717" t="0" r="-53717" b="0"/>
              </a:stretch>
            </a:blipFill>
          </p:spPr>
        </p:sp>
      </p:grpSp>
      <p:grpSp>
        <p:nvGrpSpPr>
          <p:cNvPr name="Group 101" id="101"/>
          <p:cNvGrpSpPr/>
          <p:nvPr/>
        </p:nvGrpSpPr>
        <p:grpSpPr>
          <a:xfrm rot="0">
            <a:off x="914400" y="7110889"/>
            <a:ext cx="1828800" cy="1484471"/>
            <a:chOff x="0" y="0"/>
            <a:chExt cx="2438400" cy="1979295"/>
          </a:xfrm>
        </p:grpSpPr>
        <p:sp>
          <p:nvSpPr>
            <p:cNvPr name="Freeform 102" id="102"/>
            <p:cNvSpPr/>
            <p:nvPr/>
          </p:nvSpPr>
          <p:spPr>
            <a:xfrm flipH="false" flipV="false" rot="0">
              <a:off x="0" y="0"/>
              <a:ext cx="2438400" cy="1979295"/>
            </a:xfrm>
            <a:custGeom>
              <a:avLst/>
              <a:gdLst/>
              <a:ahLst/>
              <a:cxnLst/>
              <a:rect r="r" b="b" t="t" l="l"/>
              <a:pathLst>
                <a:path h="1979295" w="2438400">
                  <a:moveTo>
                    <a:pt x="0" y="0"/>
                  </a:moveTo>
                  <a:lnTo>
                    <a:pt x="2438400" y="0"/>
                  </a:lnTo>
                  <a:lnTo>
                    <a:pt x="2438400" y="1979295"/>
                  </a:lnTo>
                  <a:lnTo>
                    <a:pt x="0" y="1979295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-54218" t="0" r="-54218" b="0"/>
              </a:stretch>
            </a:blipFill>
          </p:spPr>
        </p:sp>
      </p:grpSp>
      <p:grpSp>
        <p:nvGrpSpPr>
          <p:cNvPr name="Group 103" id="103"/>
          <p:cNvGrpSpPr/>
          <p:nvPr/>
        </p:nvGrpSpPr>
        <p:grpSpPr>
          <a:xfrm rot="0">
            <a:off x="914400" y="7103745"/>
            <a:ext cx="1828800" cy="1491615"/>
            <a:chOff x="0" y="0"/>
            <a:chExt cx="2438400" cy="1988820"/>
          </a:xfrm>
        </p:grpSpPr>
        <p:sp>
          <p:nvSpPr>
            <p:cNvPr name="Freeform 104" id="104"/>
            <p:cNvSpPr/>
            <p:nvPr/>
          </p:nvSpPr>
          <p:spPr>
            <a:xfrm flipH="false" flipV="false" rot="0">
              <a:off x="0" y="0"/>
              <a:ext cx="2438400" cy="1988820"/>
            </a:xfrm>
            <a:custGeom>
              <a:avLst/>
              <a:gdLst/>
              <a:ahLst/>
              <a:cxnLst/>
              <a:rect r="r" b="b" t="t" l="l"/>
              <a:pathLst>
                <a:path h="1988820" w="2438400">
                  <a:moveTo>
                    <a:pt x="0" y="0"/>
                  </a:moveTo>
                  <a:lnTo>
                    <a:pt x="2438400" y="0"/>
                  </a:lnTo>
                  <a:lnTo>
                    <a:pt x="2438400" y="1988820"/>
                  </a:lnTo>
                  <a:lnTo>
                    <a:pt x="0" y="1988820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l="-54720" t="0" r="-54720" b="0"/>
              </a:stretch>
            </a:blipFill>
          </p:spPr>
        </p:sp>
      </p:grpSp>
      <p:grpSp>
        <p:nvGrpSpPr>
          <p:cNvPr name="Group 105" id="105"/>
          <p:cNvGrpSpPr/>
          <p:nvPr/>
        </p:nvGrpSpPr>
        <p:grpSpPr>
          <a:xfrm rot="0">
            <a:off x="914400" y="7096601"/>
            <a:ext cx="1828800" cy="1498759"/>
            <a:chOff x="0" y="0"/>
            <a:chExt cx="2438400" cy="1998345"/>
          </a:xfrm>
        </p:grpSpPr>
        <p:sp>
          <p:nvSpPr>
            <p:cNvPr name="Freeform 106" id="106"/>
            <p:cNvSpPr/>
            <p:nvPr/>
          </p:nvSpPr>
          <p:spPr>
            <a:xfrm flipH="false" flipV="false" rot="0">
              <a:off x="0" y="0"/>
              <a:ext cx="2438400" cy="1998345"/>
            </a:xfrm>
            <a:custGeom>
              <a:avLst/>
              <a:gdLst/>
              <a:ahLst/>
              <a:cxnLst/>
              <a:rect r="r" b="b" t="t" l="l"/>
              <a:pathLst>
                <a:path h="1998345" w="2438400">
                  <a:moveTo>
                    <a:pt x="0" y="0"/>
                  </a:moveTo>
                  <a:lnTo>
                    <a:pt x="2438400" y="0"/>
                  </a:lnTo>
                  <a:lnTo>
                    <a:pt x="2438400" y="1998345"/>
                  </a:lnTo>
                  <a:lnTo>
                    <a:pt x="0" y="1998345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-55221" t="0" r="-55221" b="0"/>
              </a:stretch>
            </a:blipFill>
          </p:spPr>
        </p:sp>
      </p:grpSp>
      <p:grpSp>
        <p:nvGrpSpPr>
          <p:cNvPr name="Group 107" id="107"/>
          <p:cNvGrpSpPr/>
          <p:nvPr/>
        </p:nvGrpSpPr>
        <p:grpSpPr>
          <a:xfrm rot="0">
            <a:off x="914400" y="7089457"/>
            <a:ext cx="1828800" cy="1505902"/>
            <a:chOff x="0" y="0"/>
            <a:chExt cx="2438400" cy="2007870"/>
          </a:xfrm>
        </p:grpSpPr>
        <p:sp>
          <p:nvSpPr>
            <p:cNvPr name="Freeform 108" id="108"/>
            <p:cNvSpPr/>
            <p:nvPr/>
          </p:nvSpPr>
          <p:spPr>
            <a:xfrm flipH="false" flipV="false" rot="0">
              <a:off x="0" y="0"/>
              <a:ext cx="2438400" cy="2007870"/>
            </a:xfrm>
            <a:custGeom>
              <a:avLst/>
              <a:gdLst/>
              <a:ahLst/>
              <a:cxnLst/>
              <a:rect r="r" b="b" t="t" l="l"/>
              <a:pathLst>
                <a:path h="2007870" w="2438400">
                  <a:moveTo>
                    <a:pt x="0" y="0"/>
                  </a:moveTo>
                  <a:lnTo>
                    <a:pt x="2438400" y="0"/>
                  </a:lnTo>
                  <a:lnTo>
                    <a:pt x="2438400" y="2007870"/>
                  </a:lnTo>
                  <a:lnTo>
                    <a:pt x="0" y="2007870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-55723" t="0" r="-55723" b="0"/>
              </a:stretch>
            </a:blipFill>
          </p:spPr>
        </p:sp>
      </p:grpSp>
      <p:grpSp>
        <p:nvGrpSpPr>
          <p:cNvPr name="Group 109" id="109"/>
          <p:cNvGrpSpPr/>
          <p:nvPr/>
        </p:nvGrpSpPr>
        <p:grpSpPr>
          <a:xfrm rot="0">
            <a:off x="914400" y="7082314"/>
            <a:ext cx="1828800" cy="1513046"/>
            <a:chOff x="0" y="0"/>
            <a:chExt cx="2438400" cy="2017395"/>
          </a:xfrm>
        </p:grpSpPr>
        <p:sp>
          <p:nvSpPr>
            <p:cNvPr name="Freeform 110" id="110"/>
            <p:cNvSpPr/>
            <p:nvPr/>
          </p:nvSpPr>
          <p:spPr>
            <a:xfrm flipH="false" flipV="false" rot="0">
              <a:off x="0" y="0"/>
              <a:ext cx="2438400" cy="2017394"/>
            </a:xfrm>
            <a:custGeom>
              <a:avLst/>
              <a:gdLst/>
              <a:ahLst/>
              <a:cxnLst/>
              <a:rect r="r" b="b" t="t" l="l"/>
              <a:pathLst>
                <a:path h="2017394" w="2438400">
                  <a:moveTo>
                    <a:pt x="0" y="0"/>
                  </a:moveTo>
                  <a:lnTo>
                    <a:pt x="2438400" y="0"/>
                  </a:lnTo>
                  <a:lnTo>
                    <a:pt x="2438400" y="2017394"/>
                  </a:lnTo>
                  <a:lnTo>
                    <a:pt x="0" y="2017394"/>
                  </a:lnTo>
                  <a:close/>
                </a:path>
              </a:pathLst>
            </a:custGeom>
            <a:blipFill>
              <a:blip r:embed="rId9">
                <a:alphaModFix amt="0"/>
              </a:blip>
              <a:stretch>
                <a:fillRect l="-56151" t="0" r="-56151" b="0"/>
              </a:stretch>
            </a:blipFill>
          </p:spPr>
        </p:sp>
        <p:sp>
          <p:nvSpPr>
            <p:cNvPr name="TextBox 111" id="111"/>
            <p:cNvSpPr txBox="true"/>
            <p:nvPr/>
          </p:nvSpPr>
          <p:spPr>
            <a:xfrm>
              <a:off x="0" y="-9525"/>
              <a:ext cx="2438400" cy="202692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6720"/>
                </a:lnSpc>
              </a:pPr>
              <a:r>
                <a:rPr lang="en-US" sz="5600" b="true">
                  <a:solidFill>
                    <a:srgbClr val="B1734A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05</a:t>
              </a:r>
            </a:p>
          </p:txBody>
        </p:sp>
      </p:grpSp>
      <p:sp>
        <p:nvSpPr>
          <p:cNvPr name="TextBox 112" id="112"/>
          <p:cNvSpPr txBox="true"/>
          <p:nvPr/>
        </p:nvSpPr>
        <p:spPr>
          <a:xfrm rot="0">
            <a:off x="2926080" y="7239000"/>
            <a:ext cx="6035040" cy="52384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079"/>
              </a:lnSpc>
            </a:pPr>
            <a:r>
              <a:rPr lang="en-US" sz="3399" b="true">
                <a:solidFill>
                  <a:srgbClr val="2E5634"/>
                </a:solidFill>
                <a:latin typeface="Cambria Bold"/>
                <a:ea typeface="Cambria Bold"/>
                <a:cs typeface="Cambria Bold"/>
                <a:sym typeface="Cambria Bold"/>
              </a:rPr>
              <a:t>Próximas etapas</a:t>
            </a:r>
            <a:r>
              <a:rPr lang="en-US" sz="3399" b="true">
                <a:solidFill>
                  <a:srgbClr val="2E5634"/>
                </a:solidFill>
                <a:latin typeface="Cambria Bold"/>
                <a:ea typeface="Cambria Bold"/>
                <a:cs typeface="Cambria Bold"/>
                <a:sym typeface="Cambria Bold"/>
              </a:rPr>
              <a:t/>
            </a:r>
          </a:p>
        </p:txBody>
      </p:sp>
      <p:sp>
        <p:nvSpPr>
          <p:cNvPr name="TextBox 113" id="113"/>
          <p:cNvSpPr txBox="true"/>
          <p:nvPr/>
        </p:nvSpPr>
        <p:spPr>
          <a:xfrm rot="0">
            <a:off x="2926080" y="7687056"/>
            <a:ext cx="6035040" cy="40030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78"/>
              </a:lnSpc>
            </a:pPr>
            <a:r>
              <a:rPr lang="en-US" sz="2400">
                <a:solidFill>
                  <a:srgbClr val="5B6B5F"/>
                </a:solidFill>
                <a:latin typeface="Calibri (MS)"/>
                <a:ea typeface="Calibri (MS)"/>
                <a:cs typeface="Calibri (MS)"/>
                <a:sym typeface="Calibri (MS)"/>
              </a:rPr>
              <a:t>Testes que ainda serão realizados</a:t>
            </a:r>
          </a:p>
        </p:txBody>
      </p:sp>
      <p:grpSp>
        <p:nvGrpSpPr>
          <p:cNvPr name="Group 114" id="114"/>
          <p:cNvGrpSpPr/>
          <p:nvPr/>
        </p:nvGrpSpPr>
        <p:grpSpPr>
          <a:xfrm rot="0">
            <a:off x="9326880" y="7132320"/>
            <a:ext cx="1828800" cy="1463040"/>
            <a:chOff x="0" y="0"/>
            <a:chExt cx="2438400" cy="1950720"/>
          </a:xfrm>
        </p:grpSpPr>
        <p:sp>
          <p:nvSpPr>
            <p:cNvPr name="Freeform 115" id="115"/>
            <p:cNvSpPr/>
            <p:nvPr/>
          </p:nvSpPr>
          <p:spPr>
            <a:xfrm flipH="false" flipV="false" rot="0">
              <a:off x="0" y="0"/>
              <a:ext cx="2438400" cy="1950720"/>
            </a:xfrm>
            <a:custGeom>
              <a:avLst/>
              <a:gdLst/>
              <a:ahLst/>
              <a:cxnLst/>
              <a:rect r="r" b="b" t="t" l="l"/>
              <a:pathLst>
                <a:path h="1950720" w="2438400">
                  <a:moveTo>
                    <a:pt x="0" y="0"/>
                  </a:moveTo>
                  <a:lnTo>
                    <a:pt x="2438400" y="0"/>
                  </a:lnTo>
                  <a:lnTo>
                    <a:pt x="2438400" y="1950720"/>
                  </a:lnTo>
                  <a:lnTo>
                    <a:pt x="0" y="195072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52714" t="0" r="-52714" b="0"/>
              </a:stretch>
            </a:blipFill>
          </p:spPr>
        </p:sp>
      </p:grpSp>
      <p:grpSp>
        <p:nvGrpSpPr>
          <p:cNvPr name="Group 116" id="116"/>
          <p:cNvGrpSpPr/>
          <p:nvPr/>
        </p:nvGrpSpPr>
        <p:grpSpPr>
          <a:xfrm rot="0">
            <a:off x="9326880" y="7125176"/>
            <a:ext cx="1828800" cy="1470184"/>
            <a:chOff x="0" y="0"/>
            <a:chExt cx="2438400" cy="1960245"/>
          </a:xfrm>
        </p:grpSpPr>
        <p:sp>
          <p:nvSpPr>
            <p:cNvPr name="Freeform 117" id="117"/>
            <p:cNvSpPr/>
            <p:nvPr/>
          </p:nvSpPr>
          <p:spPr>
            <a:xfrm flipH="false" flipV="false" rot="0">
              <a:off x="0" y="0"/>
              <a:ext cx="2438400" cy="1960245"/>
            </a:xfrm>
            <a:custGeom>
              <a:avLst/>
              <a:gdLst/>
              <a:ahLst/>
              <a:cxnLst/>
              <a:rect r="r" b="b" t="t" l="l"/>
              <a:pathLst>
                <a:path h="1960245" w="2438400">
                  <a:moveTo>
                    <a:pt x="0" y="0"/>
                  </a:moveTo>
                  <a:lnTo>
                    <a:pt x="2438400" y="0"/>
                  </a:lnTo>
                  <a:lnTo>
                    <a:pt x="2438400" y="1960245"/>
                  </a:lnTo>
                  <a:lnTo>
                    <a:pt x="0" y="1960245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53215" t="0" r="-53216" b="0"/>
              </a:stretch>
            </a:blipFill>
          </p:spPr>
        </p:sp>
      </p:grpSp>
      <p:grpSp>
        <p:nvGrpSpPr>
          <p:cNvPr name="Group 118" id="118"/>
          <p:cNvGrpSpPr/>
          <p:nvPr/>
        </p:nvGrpSpPr>
        <p:grpSpPr>
          <a:xfrm rot="0">
            <a:off x="9326880" y="7118032"/>
            <a:ext cx="1828800" cy="1477327"/>
            <a:chOff x="0" y="0"/>
            <a:chExt cx="2438400" cy="1969770"/>
          </a:xfrm>
        </p:grpSpPr>
        <p:sp>
          <p:nvSpPr>
            <p:cNvPr name="Freeform 119" id="119"/>
            <p:cNvSpPr/>
            <p:nvPr/>
          </p:nvSpPr>
          <p:spPr>
            <a:xfrm flipH="false" flipV="false" rot="0">
              <a:off x="0" y="0"/>
              <a:ext cx="2438400" cy="1969770"/>
            </a:xfrm>
            <a:custGeom>
              <a:avLst/>
              <a:gdLst/>
              <a:ahLst/>
              <a:cxnLst/>
              <a:rect r="r" b="b" t="t" l="l"/>
              <a:pathLst>
                <a:path h="1969770" w="2438400">
                  <a:moveTo>
                    <a:pt x="0" y="0"/>
                  </a:moveTo>
                  <a:lnTo>
                    <a:pt x="2438400" y="0"/>
                  </a:lnTo>
                  <a:lnTo>
                    <a:pt x="2438400" y="1969770"/>
                  </a:lnTo>
                  <a:lnTo>
                    <a:pt x="0" y="196977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53717" t="0" r="-53717" b="0"/>
              </a:stretch>
            </a:blipFill>
          </p:spPr>
        </p:sp>
      </p:grpSp>
      <p:grpSp>
        <p:nvGrpSpPr>
          <p:cNvPr name="Group 120" id="120"/>
          <p:cNvGrpSpPr/>
          <p:nvPr/>
        </p:nvGrpSpPr>
        <p:grpSpPr>
          <a:xfrm rot="0">
            <a:off x="9326880" y="7110889"/>
            <a:ext cx="1828800" cy="1484471"/>
            <a:chOff x="0" y="0"/>
            <a:chExt cx="2438400" cy="1979295"/>
          </a:xfrm>
        </p:grpSpPr>
        <p:sp>
          <p:nvSpPr>
            <p:cNvPr name="Freeform 121" id="121"/>
            <p:cNvSpPr/>
            <p:nvPr/>
          </p:nvSpPr>
          <p:spPr>
            <a:xfrm flipH="false" flipV="false" rot="0">
              <a:off x="0" y="0"/>
              <a:ext cx="2438400" cy="1979295"/>
            </a:xfrm>
            <a:custGeom>
              <a:avLst/>
              <a:gdLst/>
              <a:ahLst/>
              <a:cxnLst/>
              <a:rect r="r" b="b" t="t" l="l"/>
              <a:pathLst>
                <a:path h="1979295" w="2438400">
                  <a:moveTo>
                    <a:pt x="0" y="0"/>
                  </a:moveTo>
                  <a:lnTo>
                    <a:pt x="2438400" y="0"/>
                  </a:lnTo>
                  <a:lnTo>
                    <a:pt x="2438400" y="1979295"/>
                  </a:lnTo>
                  <a:lnTo>
                    <a:pt x="0" y="1979295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-54218" t="0" r="-54218" b="0"/>
              </a:stretch>
            </a:blipFill>
          </p:spPr>
        </p:sp>
      </p:grpSp>
      <p:grpSp>
        <p:nvGrpSpPr>
          <p:cNvPr name="Group 122" id="122"/>
          <p:cNvGrpSpPr/>
          <p:nvPr/>
        </p:nvGrpSpPr>
        <p:grpSpPr>
          <a:xfrm rot="0">
            <a:off x="9326880" y="7103745"/>
            <a:ext cx="1828800" cy="1491615"/>
            <a:chOff x="0" y="0"/>
            <a:chExt cx="2438400" cy="1988820"/>
          </a:xfrm>
        </p:grpSpPr>
        <p:sp>
          <p:nvSpPr>
            <p:cNvPr name="Freeform 123" id="123"/>
            <p:cNvSpPr/>
            <p:nvPr/>
          </p:nvSpPr>
          <p:spPr>
            <a:xfrm flipH="false" flipV="false" rot="0">
              <a:off x="0" y="0"/>
              <a:ext cx="2438400" cy="1988820"/>
            </a:xfrm>
            <a:custGeom>
              <a:avLst/>
              <a:gdLst/>
              <a:ahLst/>
              <a:cxnLst/>
              <a:rect r="r" b="b" t="t" l="l"/>
              <a:pathLst>
                <a:path h="1988820" w="2438400">
                  <a:moveTo>
                    <a:pt x="0" y="0"/>
                  </a:moveTo>
                  <a:lnTo>
                    <a:pt x="2438400" y="0"/>
                  </a:lnTo>
                  <a:lnTo>
                    <a:pt x="2438400" y="1988820"/>
                  </a:lnTo>
                  <a:lnTo>
                    <a:pt x="0" y="1988820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l="-54720" t="0" r="-54720" b="0"/>
              </a:stretch>
            </a:blipFill>
          </p:spPr>
        </p:sp>
      </p:grpSp>
      <p:grpSp>
        <p:nvGrpSpPr>
          <p:cNvPr name="Group 124" id="124"/>
          <p:cNvGrpSpPr/>
          <p:nvPr/>
        </p:nvGrpSpPr>
        <p:grpSpPr>
          <a:xfrm rot="0">
            <a:off x="9326880" y="7096601"/>
            <a:ext cx="1828800" cy="1498759"/>
            <a:chOff x="0" y="0"/>
            <a:chExt cx="2438400" cy="1998345"/>
          </a:xfrm>
        </p:grpSpPr>
        <p:sp>
          <p:nvSpPr>
            <p:cNvPr name="Freeform 125" id="125"/>
            <p:cNvSpPr/>
            <p:nvPr/>
          </p:nvSpPr>
          <p:spPr>
            <a:xfrm flipH="false" flipV="false" rot="0">
              <a:off x="0" y="0"/>
              <a:ext cx="2438400" cy="1998345"/>
            </a:xfrm>
            <a:custGeom>
              <a:avLst/>
              <a:gdLst/>
              <a:ahLst/>
              <a:cxnLst/>
              <a:rect r="r" b="b" t="t" l="l"/>
              <a:pathLst>
                <a:path h="1998345" w="2438400">
                  <a:moveTo>
                    <a:pt x="0" y="0"/>
                  </a:moveTo>
                  <a:lnTo>
                    <a:pt x="2438400" y="0"/>
                  </a:lnTo>
                  <a:lnTo>
                    <a:pt x="2438400" y="1998345"/>
                  </a:lnTo>
                  <a:lnTo>
                    <a:pt x="0" y="1998345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-55221" t="0" r="-55221" b="0"/>
              </a:stretch>
            </a:blipFill>
          </p:spPr>
        </p:sp>
      </p:grpSp>
      <p:grpSp>
        <p:nvGrpSpPr>
          <p:cNvPr name="Group 126" id="126"/>
          <p:cNvGrpSpPr/>
          <p:nvPr/>
        </p:nvGrpSpPr>
        <p:grpSpPr>
          <a:xfrm rot="0">
            <a:off x="9326880" y="7089457"/>
            <a:ext cx="1828800" cy="1505902"/>
            <a:chOff x="0" y="0"/>
            <a:chExt cx="2438400" cy="2007870"/>
          </a:xfrm>
        </p:grpSpPr>
        <p:sp>
          <p:nvSpPr>
            <p:cNvPr name="Freeform 127" id="127"/>
            <p:cNvSpPr/>
            <p:nvPr/>
          </p:nvSpPr>
          <p:spPr>
            <a:xfrm flipH="false" flipV="false" rot="0">
              <a:off x="0" y="0"/>
              <a:ext cx="2438400" cy="2007870"/>
            </a:xfrm>
            <a:custGeom>
              <a:avLst/>
              <a:gdLst/>
              <a:ahLst/>
              <a:cxnLst/>
              <a:rect r="r" b="b" t="t" l="l"/>
              <a:pathLst>
                <a:path h="2007870" w="2438400">
                  <a:moveTo>
                    <a:pt x="0" y="0"/>
                  </a:moveTo>
                  <a:lnTo>
                    <a:pt x="2438400" y="0"/>
                  </a:lnTo>
                  <a:lnTo>
                    <a:pt x="2438400" y="2007870"/>
                  </a:lnTo>
                  <a:lnTo>
                    <a:pt x="0" y="2007870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-55723" t="0" r="-55723" b="0"/>
              </a:stretch>
            </a:blipFill>
          </p:spPr>
        </p:sp>
      </p:grpSp>
      <p:grpSp>
        <p:nvGrpSpPr>
          <p:cNvPr name="Group 128" id="128"/>
          <p:cNvGrpSpPr/>
          <p:nvPr/>
        </p:nvGrpSpPr>
        <p:grpSpPr>
          <a:xfrm rot="0">
            <a:off x="9326880" y="7082314"/>
            <a:ext cx="1828800" cy="1513046"/>
            <a:chOff x="0" y="0"/>
            <a:chExt cx="2438400" cy="2017395"/>
          </a:xfrm>
        </p:grpSpPr>
        <p:sp>
          <p:nvSpPr>
            <p:cNvPr name="Freeform 129" id="129"/>
            <p:cNvSpPr/>
            <p:nvPr/>
          </p:nvSpPr>
          <p:spPr>
            <a:xfrm flipH="false" flipV="false" rot="0">
              <a:off x="0" y="0"/>
              <a:ext cx="2438400" cy="2017394"/>
            </a:xfrm>
            <a:custGeom>
              <a:avLst/>
              <a:gdLst/>
              <a:ahLst/>
              <a:cxnLst/>
              <a:rect r="r" b="b" t="t" l="l"/>
              <a:pathLst>
                <a:path h="2017394" w="2438400">
                  <a:moveTo>
                    <a:pt x="0" y="0"/>
                  </a:moveTo>
                  <a:lnTo>
                    <a:pt x="2438400" y="0"/>
                  </a:lnTo>
                  <a:lnTo>
                    <a:pt x="2438400" y="2017394"/>
                  </a:lnTo>
                  <a:lnTo>
                    <a:pt x="0" y="2017394"/>
                  </a:lnTo>
                  <a:close/>
                </a:path>
              </a:pathLst>
            </a:custGeom>
            <a:blipFill>
              <a:blip r:embed="rId9">
                <a:alphaModFix amt="0"/>
              </a:blip>
              <a:stretch>
                <a:fillRect l="-56151" t="0" r="-56151" b="0"/>
              </a:stretch>
            </a:blipFill>
          </p:spPr>
        </p:sp>
        <p:sp>
          <p:nvSpPr>
            <p:cNvPr name="TextBox 130" id="130"/>
            <p:cNvSpPr txBox="true"/>
            <p:nvPr/>
          </p:nvSpPr>
          <p:spPr>
            <a:xfrm>
              <a:off x="0" y="-9525"/>
              <a:ext cx="2438400" cy="202692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6720"/>
                </a:lnSpc>
              </a:pPr>
              <a:r>
                <a:rPr lang="en-US" sz="5600" b="true">
                  <a:solidFill>
                    <a:srgbClr val="B1734A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06</a:t>
              </a:r>
            </a:p>
          </p:txBody>
        </p:sp>
      </p:grpSp>
      <p:sp>
        <p:nvSpPr>
          <p:cNvPr name="TextBox 131" id="131"/>
          <p:cNvSpPr txBox="true"/>
          <p:nvPr/>
        </p:nvSpPr>
        <p:spPr>
          <a:xfrm rot="0">
            <a:off x="11338560" y="7239000"/>
            <a:ext cx="6035040" cy="52384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079"/>
              </a:lnSpc>
            </a:pPr>
            <a:r>
              <a:rPr lang="en-US" sz="3399" b="true">
                <a:solidFill>
                  <a:srgbClr val="2E5634"/>
                </a:solidFill>
                <a:latin typeface="Cambria Bold"/>
                <a:ea typeface="Cambria Bold"/>
                <a:cs typeface="Cambria Bold"/>
                <a:sym typeface="Cambria Bold"/>
              </a:rPr>
              <a:t>Considerações finais</a:t>
            </a:r>
          </a:p>
        </p:txBody>
      </p:sp>
      <p:sp>
        <p:nvSpPr>
          <p:cNvPr name="TextBox 132" id="132"/>
          <p:cNvSpPr txBox="true"/>
          <p:nvPr/>
        </p:nvSpPr>
        <p:spPr>
          <a:xfrm rot="0">
            <a:off x="11338560" y="7687056"/>
            <a:ext cx="6035040" cy="40030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78"/>
              </a:lnSpc>
            </a:pPr>
            <a:r>
              <a:rPr lang="en-US" sz="2400">
                <a:solidFill>
                  <a:srgbClr val="5B6B5F"/>
                </a:solidFill>
                <a:latin typeface="Calibri (MS)"/>
                <a:ea typeface="Calibri (MS)"/>
                <a:cs typeface="Calibri (MS)"/>
                <a:sym typeface="Calibri (MS)"/>
              </a:rPr>
              <a:t>Entregas, limites e próximos passos</a:t>
            </a:r>
          </a:p>
        </p:txBody>
      </p:sp>
      <p:grpSp>
        <p:nvGrpSpPr>
          <p:cNvPr name="Group 133" id="133"/>
          <p:cNvGrpSpPr/>
          <p:nvPr/>
        </p:nvGrpSpPr>
        <p:grpSpPr>
          <a:xfrm rot="0">
            <a:off x="822960" y="9572625"/>
            <a:ext cx="8229600" cy="440055"/>
            <a:chOff x="0" y="0"/>
            <a:chExt cx="10972800" cy="586740"/>
          </a:xfrm>
        </p:grpSpPr>
        <p:sp>
          <p:nvSpPr>
            <p:cNvPr name="Freeform 134" id="134"/>
            <p:cNvSpPr/>
            <p:nvPr/>
          </p:nvSpPr>
          <p:spPr>
            <a:xfrm flipH="false" flipV="false" rot="0">
              <a:off x="0" y="0"/>
              <a:ext cx="10972800" cy="586740"/>
            </a:xfrm>
            <a:custGeom>
              <a:avLst/>
              <a:gdLst/>
              <a:ahLst/>
              <a:cxnLst/>
              <a:rect r="r" b="b" t="t" l="l"/>
              <a:pathLst>
                <a:path h="5867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586740"/>
                  </a:lnTo>
                  <a:lnTo>
                    <a:pt x="0" y="5867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314142" r="0" b="-314140"/>
              </a:stretch>
            </a:blipFill>
          </p:spPr>
        </p:sp>
      </p:grpSp>
      <p:grpSp>
        <p:nvGrpSpPr>
          <p:cNvPr name="Group 135" id="135"/>
          <p:cNvGrpSpPr/>
          <p:nvPr/>
        </p:nvGrpSpPr>
        <p:grpSpPr>
          <a:xfrm rot="0">
            <a:off x="822960" y="9544050"/>
            <a:ext cx="8229600" cy="468630"/>
            <a:chOff x="0" y="0"/>
            <a:chExt cx="10972800" cy="624840"/>
          </a:xfrm>
        </p:grpSpPr>
        <p:sp>
          <p:nvSpPr>
            <p:cNvPr name="Freeform 136" id="136"/>
            <p:cNvSpPr/>
            <p:nvPr/>
          </p:nvSpPr>
          <p:spPr>
            <a:xfrm flipH="false" flipV="false" rot="0">
              <a:off x="0" y="0"/>
              <a:ext cx="10972800" cy="624840"/>
            </a:xfrm>
            <a:custGeom>
              <a:avLst/>
              <a:gdLst/>
              <a:ahLst/>
              <a:cxnLst/>
              <a:rect r="r" b="b" t="t" l="l"/>
              <a:pathLst>
                <a:path h="6248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624840"/>
                  </a:lnTo>
                  <a:lnTo>
                    <a:pt x="0" y="6248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91939" r="0" b="-291936"/>
              </a:stretch>
            </a:blipFill>
          </p:spPr>
        </p:sp>
      </p:grpSp>
      <p:grpSp>
        <p:nvGrpSpPr>
          <p:cNvPr name="Group 137" id="137"/>
          <p:cNvGrpSpPr/>
          <p:nvPr/>
        </p:nvGrpSpPr>
        <p:grpSpPr>
          <a:xfrm rot="0">
            <a:off x="822960" y="9515475"/>
            <a:ext cx="8229600" cy="497205"/>
            <a:chOff x="0" y="0"/>
            <a:chExt cx="10972800" cy="662940"/>
          </a:xfrm>
        </p:grpSpPr>
        <p:sp>
          <p:nvSpPr>
            <p:cNvPr name="Freeform 138" id="138"/>
            <p:cNvSpPr/>
            <p:nvPr/>
          </p:nvSpPr>
          <p:spPr>
            <a:xfrm flipH="false" flipV="false" rot="0">
              <a:off x="0" y="0"/>
              <a:ext cx="10972800" cy="662940"/>
            </a:xfrm>
            <a:custGeom>
              <a:avLst/>
              <a:gdLst/>
              <a:ahLst/>
              <a:cxnLst/>
              <a:rect r="r" b="b" t="t" l="l"/>
              <a:pathLst>
                <a:path h="6629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662940"/>
                  </a:lnTo>
                  <a:lnTo>
                    <a:pt x="0" y="66294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72287" r="0" b="-272285"/>
              </a:stretch>
            </a:blipFill>
          </p:spPr>
        </p:sp>
      </p:grpSp>
      <p:grpSp>
        <p:nvGrpSpPr>
          <p:cNvPr name="Group 139" id="139"/>
          <p:cNvGrpSpPr/>
          <p:nvPr/>
        </p:nvGrpSpPr>
        <p:grpSpPr>
          <a:xfrm rot="0">
            <a:off x="822960" y="9486900"/>
            <a:ext cx="8229600" cy="525780"/>
            <a:chOff x="0" y="0"/>
            <a:chExt cx="10972800" cy="701040"/>
          </a:xfrm>
        </p:grpSpPr>
        <p:sp>
          <p:nvSpPr>
            <p:cNvPr name="Freeform 140" id="140"/>
            <p:cNvSpPr/>
            <p:nvPr/>
          </p:nvSpPr>
          <p:spPr>
            <a:xfrm flipH="false" flipV="false" rot="0">
              <a:off x="0" y="0"/>
              <a:ext cx="10972800" cy="701040"/>
            </a:xfrm>
            <a:custGeom>
              <a:avLst/>
              <a:gdLst/>
              <a:ahLst/>
              <a:cxnLst/>
              <a:rect r="r" b="b" t="t" l="l"/>
              <a:pathLst>
                <a:path h="7010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701040"/>
                  </a:lnTo>
                  <a:lnTo>
                    <a:pt x="0" y="701040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254771" r="0" b="-254769"/>
              </a:stretch>
            </a:blipFill>
          </p:spPr>
        </p:sp>
      </p:grpSp>
      <p:grpSp>
        <p:nvGrpSpPr>
          <p:cNvPr name="Group 141" id="141"/>
          <p:cNvGrpSpPr/>
          <p:nvPr/>
        </p:nvGrpSpPr>
        <p:grpSpPr>
          <a:xfrm rot="0">
            <a:off x="822960" y="9458325"/>
            <a:ext cx="8229600" cy="554355"/>
            <a:chOff x="0" y="0"/>
            <a:chExt cx="10972800" cy="739140"/>
          </a:xfrm>
        </p:grpSpPr>
        <p:sp>
          <p:nvSpPr>
            <p:cNvPr name="Freeform 142" id="142"/>
            <p:cNvSpPr/>
            <p:nvPr/>
          </p:nvSpPr>
          <p:spPr>
            <a:xfrm flipH="false" flipV="false" rot="0">
              <a:off x="0" y="0"/>
              <a:ext cx="10972800" cy="739140"/>
            </a:xfrm>
            <a:custGeom>
              <a:avLst/>
              <a:gdLst/>
              <a:ahLst/>
              <a:cxnLst/>
              <a:rect r="r" b="b" t="t" l="l"/>
              <a:pathLst>
                <a:path h="7391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739140"/>
                  </a:lnTo>
                  <a:lnTo>
                    <a:pt x="0" y="739140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l="0" t="-239061" r="0" b="-239060"/>
              </a:stretch>
            </a:blipFill>
          </p:spPr>
        </p:sp>
      </p:grpSp>
      <p:grpSp>
        <p:nvGrpSpPr>
          <p:cNvPr name="Group 143" id="143"/>
          <p:cNvGrpSpPr/>
          <p:nvPr/>
        </p:nvGrpSpPr>
        <p:grpSpPr>
          <a:xfrm rot="0">
            <a:off x="822960" y="9429750"/>
            <a:ext cx="8229600" cy="582930"/>
            <a:chOff x="0" y="0"/>
            <a:chExt cx="10972800" cy="777240"/>
          </a:xfrm>
        </p:grpSpPr>
        <p:sp>
          <p:nvSpPr>
            <p:cNvPr name="Freeform 144" id="144"/>
            <p:cNvSpPr/>
            <p:nvPr/>
          </p:nvSpPr>
          <p:spPr>
            <a:xfrm flipH="false" flipV="false" rot="0">
              <a:off x="0" y="0"/>
              <a:ext cx="10972800" cy="777240"/>
            </a:xfrm>
            <a:custGeom>
              <a:avLst/>
              <a:gdLst/>
              <a:ahLst/>
              <a:cxnLst/>
              <a:rect r="r" b="b" t="t" l="l"/>
              <a:pathLst>
                <a:path h="7772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777240"/>
                  </a:lnTo>
                  <a:lnTo>
                    <a:pt x="0" y="777240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0" t="-224892" r="0" b="-224890"/>
              </a:stretch>
            </a:blipFill>
          </p:spPr>
        </p:sp>
      </p:grpSp>
      <p:grpSp>
        <p:nvGrpSpPr>
          <p:cNvPr name="Group 145" id="145"/>
          <p:cNvGrpSpPr/>
          <p:nvPr/>
        </p:nvGrpSpPr>
        <p:grpSpPr>
          <a:xfrm rot="0">
            <a:off x="822960" y="9401175"/>
            <a:ext cx="8229600" cy="611505"/>
            <a:chOff x="0" y="0"/>
            <a:chExt cx="10972800" cy="815340"/>
          </a:xfrm>
        </p:grpSpPr>
        <p:sp>
          <p:nvSpPr>
            <p:cNvPr name="Freeform 146" id="146"/>
            <p:cNvSpPr/>
            <p:nvPr/>
          </p:nvSpPr>
          <p:spPr>
            <a:xfrm flipH="false" flipV="false" rot="0">
              <a:off x="0" y="0"/>
              <a:ext cx="10972800" cy="815340"/>
            </a:xfrm>
            <a:custGeom>
              <a:avLst/>
              <a:gdLst/>
              <a:ahLst/>
              <a:cxnLst/>
              <a:rect r="r" b="b" t="t" l="l"/>
              <a:pathLst>
                <a:path h="8153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815340"/>
                  </a:lnTo>
                  <a:lnTo>
                    <a:pt x="0" y="815340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0" t="-212046" r="0" b="-212045"/>
              </a:stretch>
            </a:blipFill>
          </p:spPr>
        </p:sp>
      </p:grpSp>
      <p:grpSp>
        <p:nvGrpSpPr>
          <p:cNvPr name="Group 147" id="147"/>
          <p:cNvGrpSpPr/>
          <p:nvPr/>
        </p:nvGrpSpPr>
        <p:grpSpPr>
          <a:xfrm rot="0">
            <a:off x="822960" y="9372600"/>
            <a:ext cx="8229600" cy="640080"/>
            <a:chOff x="0" y="0"/>
            <a:chExt cx="10972800" cy="853440"/>
          </a:xfrm>
        </p:grpSpPr>
        <p:sp>
          <p:nvSpPr>
            <p:cNvPr name="Freeform 148" id="148"/>
            <p:cNvSpPr/>
            <p:nvPr/>
          </p:nvSpPr>
          <p:spPr>
            <a:xfrm flipH="false" flipV="false" rot="0">
              <a:off x="0" y="0"/>
              <a:ext cx="10972800" cy="853440"/>
            </a:xfrm>
            <a:custGeom>
              <a:avLst/>
              <a:gdLst/>
              <a:ahLst/>
              <a:cxnLst/>
              <a:rect r="r" b="b" t="t" l="l"/>
              <a:pathLst>
                <a:path h="8534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853440"/>
                  </a:lnTo>
                  <a:lnTo>
                    <a:pt x="0" y="853440"/>
                  </a:lnTo>
                  <a:close/>
                </a:path>
              </a:pathLst>
            </a:custGeom>
            <a:blipFill>
              <a:blip r:embed="rId9">
                <a:alphaModFix amt="0"/>
              </a:blip>
              <a:stretch>
                <a:fillRect l="0" t="-200521" r="0" b="-200521"/>
              </a:stretch>
            </a:blipFill>
          </p:spPr>
        </p:sp>
        <p:sp>
          <p:nvSpPr>
            <p:cNvPr name="TextBox 149" id="149"/>
            <p:cNvSpPr txBox="true"/>
            <p:nvPr/>
          </p:nvSpPr>
          <p:spPr>
            <a:xfrm>
              <a:off x="0" y="-38100"/>
              <a:ext cx="10972800" cy="8915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6B728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WeFIND  |  TCC  |  IFSul Campus Pelotas</a:t>
              </a:r>
            </a:p>
          </p:txBody>
        </p:sp>
      </p:grpSp>
      <p:sp>
        <p:nvSpPr>
          <p:cNvPr name="TextBox 150" id="150"/>
          <p:cNvSpPr txBox="true"/>
          <p:nvPr/>
        </p:nvSpPr>
        <p:spPr>
          <a:xfrm rot="0">
            <a:off x="16459200" y="9471660"/>
            <a:ext cx="914400" cy="4953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400"/>
              </a:lnSpc>
            </a:pPr>
            <a:r>
              <a:rPr lang="en-US" sz="2000">
                <a:solidFill>
                  <a:srgbClr val="5B6B5F"/>
                </a:solidFill>
                <a:latin typeface="Calibri (MS)"/>
                <a:ea typeface="Calibri (MS)"/>
                <a:cs typeface="Calibri (MS)"/>
                <a:sym typeface="Calibri (MS)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>
  <p:cSld>
    <p:bg>
      <p:bgPr>
        <a:solidFill>
          <a:srgbClr val="2E56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463040" y="2274570"/>
            <a:ext cx="9144000" cy="78574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38"/>
              </a:lnSpc>
            </a:pPr>
            <a:r>
              <a:rPr lang="en-US" b="true" sz="2199" spc="599">
                <a:solidFill>
                  <a:srgbClr val="E3B58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A SEGUIR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1463040" y="2960370"/>
            <a:ext cx="6400800" cy="24571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00"/>
              </a:lnSpc>
            </a:pPr>
            <a:r>
              <a:rPr lang="en-US" sz="15000" b="true">
                <a:solidFill>
                  <a:srgbClr val="E3B58F"/>
                </a:solidFill>
                <a:latin typeface="Cambria Bold"/>
                <a:ea typeface="Cambria Bold"/>
                <a:cs typeface="Cambria Bold"/>
                <a:sym typeface="Cambria Bold"/>
              </a:rPr>
              <a:t>01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463040" y="5463540"/>
            <a:ext cx="15544800" cy="121430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920"/>
              </a:lnSpc>
            </a:pPr>
            <a:r>
              <a:rPr lang="en-US" sz="6600" b="true">
                <a:solidFill>
                  <a:srgbClr val="FFFFFF"/>
                </a:solidFill>
                <a:latin typeface="Cambria Bold"/>
                <a:ea typeface="Cambria Bold"/>
                <a:cs typeface="Cambria Bold"/>
                <a:sym typeface="Cambria Bold"/>
              </a:rPr>
              <a:t>Introdução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463040" y="6366510"/>
            <a:ext cx="15544800" cy="48600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7"/>
              </a:lnSpc>
            </a:pPr>
            <a:r>
              <a:rPr lang="en-US" sz="2799">
                <a:solidFill>
                  <a:srgbClr val="C9D8CB"/>
                </a:solidFill>
                <a:latin typeface="Calibri (MS)"/>
                <a:ea typeface="Calibri (MS)"/>
                <a:cs typeface="Calibri (MS)"/>
                <a:sym typeface="Calibri (MS)"/>
              </a:rPr>
              <a:t>Motivação, p</a:t>
            </a:r>
            <a:r>
              <a:rPr lang="en-US" sz="2799">
                <a:solidFill>
                  <a:srgbClr val="C9D8CB"/>
                </a:solidFill>
                <a:latin typeface="Calibri (MS)"/>
                <a:ea typeface="Calibri (MS)"/>
                <a:cs typeface="Calibri (MS)"/>
                <a:sym typeface="Calibri (MS)"/>
              </a:rPr>
              <a:t>roblema e objetivos</a:t>
            </a:r>
          </a:p>
        </p:txBody>
      </p:sp>
      <p:grpSp>
        <p:nvGrpSpPr>
          <p:cNvPr name="Group 6" id="6"/>
          <p:cNvGrpSpPr/>
          <p:nvPr/>
        </p:nvGrpSpPr>
        <p:grpSpPr>
          <a:xfrm rot="0">
            <a:off x="1463040" y="8869680"/>
            <a:ext cx="1645920" cy="91440"/>
            <a:chOff x="0" y="0"/>
            <a:chExt cx="2194560" cy="12192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194560" cy="121920"/>
            </a:xfrm>
            <a:custGeom>
              <a:avLst/>
              <a:gdLst/>
              <a:ahLst/>
              <a:cxnLst/>
              <a:rect r="r" b="b" t="t" l="l"/>
              <a:pathLst>
                <a:path h="121920" w="2194560">
                  <a:moveTo>
                    <a:pt x="0" y="60960"/>
                  </a:moveTo>
                  <a:cubicBezTo>
                    <a:pt x="0" y="27305"/>
                    <a:pt x="27305" y="0"/>
                    <a:pt x="60960" y="0"/>
                  </a:cubicBezTo>
                  <a:lnTo>
                    <a:pt x="2133600" y="0"/>
                  </a:lnTo>
                  <a:cubicBezTo>
                    <a:pt x="2167255" y="0"/>
                    <a:pt x="2194560" y="27305"/>
                    <a:pt x="2194560" y="60960"/>
                  </a:cubicBezTo>
                  <a:cubicBezTo>
                    <a:pt x="2194560" y="94615"/>
                    <a:pt x="2167255" y="121920"/>
                    <a:pt x="2133600" y="121920"/>
                  </a:cubicBezTo>
                  <a:lnTo>
                    <a:pt x="60960" y="121920"/>
                  </a:lnTo>
                  <a:cubicBezTo>
                    <a:pt x="27305" y="121920"/>
                    <a:pt x="0" y="94615"/>
                    <a:pt x="0" y="60960"/>
                  </a:cubicBezTo>
                  <a:close/>
                </a:path>
              </a:pathLst>
            </a:custGeom>
            <a:solidFill>
              <a:srgbClr val="E3B58F"/>
            </a:solidFill>
          </p:spPr>
        </p:sp>
      </p:grpSp>
      <p:sp>
        <p:nvSpPr>
          <p:cNvPr name="TextBox 8" id="8"/>
          <p:cNvSpPr txBox="true"/>
          <p:nvPr/>
        </p:nvSpPr>
        <p:spPr>
          <a:xfrm rot="0">
            <a:off x="1463040" y="8999220"/>
            <a:ext cx="1645920" cy="57145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19"/>
              </a:lnSpc>
            </a:pPr>
            <a:r>
              <a:rPr lang="en-US" sz="1599" b="true">
                <a:solidFill>
                  <a:srgbClr val="E3B58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01</a:t>
            </a:r>
          </a:p>
        </p:txBody>
      </p:sp>
      <p:grpSp>
        <p:nvGrpSpPr>
          <p:cNvPr name="Group 9" id="9"/>
          <p:cNvGrpSpPr/>
          <p:nvPr/>
        </p:nvGrpSpPr>
        <p:grpSpPr>
          <a:xfrm rot="0">
            <a:off x="3291840" y="8869680"/>
            <a:ext cx="1645920" cy="91440"/>
            <a:chOff x="0" y="0"/>
            <a:chExt cx="2194560" cy="121920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2194560" cy="121920"/>
            </a:xfrm>
            <a:custGeom>
              <a:avLst/>
              <a:gdLst/>
              <a:ahLst/>
              <a:cxnLst/>
              <a:rect r="r" b="b" t="t" l="l"/>
              <a:pathLst>
                <a:path h="121920" w="2194560">
                  <a:moveTo>
                    <a:pt x="0" y="60960"/>
                  </a:moveTo>
                  <a:cubicBezTo>
                    <a:pt x="0" y="27305"/>
                    <a:pt x="27305" y="0"/>
                    <a:pt x="60960" y="0"/>
                  </a:cubicBezTo>
                  <a:lnTo>
                    <a:pt x="2133600" y="0"/>
                  </a:lnTo>
                  <a:cubicBezTo>
                    <a:pt x="2167255" y="0"/>
                    <a:pt x="2194560" y="27305"/>
                    <a:pt x="2194560" y="60960"/>
                  </a:cubicBezTo>
                  <a:cubicBezTo>
                    <a:pt x="2194560" y="94615"/>
                    <a:pt x="2167255" y="121920"/>
                    <a:pt x="2133600" y="121920"/>
                  </a:cubicBezTo>
                  <a:lnTo>
                    <a:pt x="60960" y="121920"/>
                  </a:lnTo>
                  <a:cubicBezTo>
                    <a:pt x="27305" y="121920"/>
                    <a:pt x="0" y="94615"/>
                    <a:pt x="0" y="60960"/>
                  </a:cubicBezTo>
                  <a:close/>
                </a:path>
              </a:pathLst>
            </a:custGeom>
            <a:solidFill>
              <a:srgbClr val="5E8063"/>
            </a:solidFill>
          </p:spPr>
        </p:sp>
      </p:grpSp>
      <p:sp>
        <p:nvSpPr>
          <p:cNvPr name="TextBox 11" id="11"/>
          <p:cNvSpPr txBox="true"/>
          <p:nvPr/>
        </p:nvSpPr>
        <p:spPr>
          <a:xfrm rot="0">
            <a:off x="3291840" y="8999220"/>
            <a:ext cx="1645920" cy="57145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19"/>
              </a:lnSpc>
            </a:pPr>
            <a:r>
              <a:rPr lang="en-US" sz="1599" b="true">
                <a:solidFill>
                  <a:srgbClr val="5E8063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02</a:t>
            </a:r>
          </a:p>
        </p:txBody>
      </p:sp>
      <p:grpSp>
        <p:nvGrpSpPr>
          <p:cNvPr name="Group 12" id="12"/>
          <p:cNvGrpSpPr/>
          <p:nvPr/>
        </p:nvGrpSpPr>
        <p:grpSpPr>
          <a:xfrm rot="0">
            <a:off x="5120640" y="8869680"/>
            <a:ext cx="1645920" cy="91440"/>
            <a:chOff x="0" y="0"/>
            <a:chExt cx="2194560" cy="12192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2194560" cy="121920"/>
            </a:xfrm>
            <a:custGeom>
              <a:avLst/>
              <a:gdLst/>
              <a:ahLst/>
              <a:cxnLst/>
              <a:rect r="r" b="b" t="t" l="l"/>
              <a:pathLst>
                <a:path h="121920" w="2194560">
                  <a:moveTo>
                    <a:pt x="0" y="60960"/>
                  </a:moveTo>
                  <a:cubicBezTo>
                    <a:pt x="0" y="27305"/>
                    <a:pt x="27305" y="0"/>
                    <a:pt x="60960" y="0"/>
                  </a:cubicBezTo>
                  <a:lnTo>
                    <a:pt x="2133600" y="0"/>
                  </a:lnTo>
                  <a:cubicBezTo>
                    <a:pt x="2167255" y="0"/>
                    <a:pt x="2194560" y="27305"/>
                    <a:pt x="2194560" y="60960"/>
                  </a:cubicBezTo>
                  <a:cubicBezTo>
                    <a:pt x="2194560" y="94615"/>
                    <a:pt x="2167255" y="121920"/>
                    <a:pt x="2133600" y="121920"/>
                  </a:cubicBezTo>
                  <a:lnTo>
                    <a:pt x="60960" y="121920"/>
                  </a:lnTo>
                  <a:cubicBezTo>
                    <a:pt x="27305" y="121920"/>
                    <a:pt x="0" y="94615"/>
                    <a:pt x="0" y="60960"/>
                  </a:cubicBezTo>
                  <a:close/>
                </a:path>
              </a:pathLst>
            </a:custGeom>
            <a:solidFill>
              <a:srgbClr val="5E8063"/>
            </a:solidFill>
          </p:spPr>
        </p:sp>
      </p:grpSp>
      <p:sp>
        <p:nvSpPr>
          <p:cNvPr name="TextBox 14" id="14"/>
          <p:cNvSpPr txBox="true"/>
          <p:nvPr/>
        </p:nvSpPr>
        <p:spPr>
          <a:xfrm rot="0">
            <a:off x="5120640" y="8999220"/>
            <a:ext cx="1645920" cy="57145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19"/>
              </a:lnSpc>
            </a:pPr>
            <a:r>
              <a:rPr lang="en-US" sz="1599" b="true">
                <a:solidFill>
                  <a:srgbClr val="5E8063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03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6949440" y="8869680"/>
            <a:ext cx="1645920" cy="91440"/>
            <a:chOff x="0" y="0"/>
            <a:chExt cx="2194560" cy="12192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2194560" cy="121920"/>
            </a:xfrm>
            <a:custGeom>
              <a:avLst/>
              <a:gdLst/>
              <a:ahLst/>
              <a:cxnLst/>
              <a:rect r="r" b="b" t="t" l="l"/>
              <a:pathLst>
                <a:path h="121920" w="2194560">
                  <a:moveTo>
                    <a:pt x="0" y="60960"/>
                  </a:moveTo>
                  <a:cubicBezTo>
                    <a:pt x="0" y="27305"/>
                    <a:pt x="27305" y="0"/>
                    <a:pt x="60960" y="0"/>
                  </a:cubicBezTo>
                  <a:lnTo>
                    <a:pt x="2133600" y="0"/>
                  </a:lnTo>
                  <a:cubicBezTo>
                    <a:pt x="2167255" y="0"/>
                    <a:pt x="2194560" y="27305"/>
                    <a:pt x="2194560" y="60960"/>
                  </a:cubicBezTo>
                  <a:cubicBezTo>
                    <a:pt x="2194560" y="94615"/>
                    <a:pt x="2167255" y="121920"/>
                    <a:pt x="2133600" y="121920"/>
                  </a:cubicBezTo>
                  <a:lnTo>
                    <a:pt x="60960" y="121920"/>
                  </a:lnTo>
                  <a:cubicBezTo>
                    <a:pt x="27305" y="121920"/>
                    <a:pt x="0" y="94615"/>
                    <a:pt x="0" y="60960"/>
                  </a:cubicBezTo>
                  <a:close/>
                </a:path>
              </a:pathLst>
            </a:custGeom>
            <a:solidFill>
              <a:srgbClr val="5E8063"/>
            </a:solidFill>
          </p:spPr>
        </p:sp>
      </p:grpSp>
      <p:sp>
        <p:nvSpPr>
          <p:cNvPr name="TextBox 17" id="17"/>
          <p:cNvSpPr txBox="true"/>
          <p:nvPr/>
        </p:nvSpPr>
        <p:spPr>
          <a:xfrm rot="0">
            <a:off x="6949440" y="8999220"/>
            <a:ext cx="1645920" cy="57145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19"/>
              </a:lnSpc>
            </a:pPr>
            <a:r>
              <a:rPr lang="en-US" sz="1599" b="true">
                <a:solidFill>
                  <a:srgbClr val="5E8063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04</a:t>
            </a:r>
          </a:p>
        </p:txBody>
      </p:sp>
      <p:grpSp>
        <p:nvGrpSpPr>
          <p:cNvPr name="Group 18" id="18"/>
          <p:cNvGrpSpPr/>
          <p:nvPr/>
        </p:nvGrpSpPr>
        <p:grpSpPr>
          <a:xfrm rot="0">
            <a:off x="8778240" y="8869680"/>
            <a:ext cx="1645920" cy="91440"/>
            <a:chOff x="0" y="0"/>
            <a:chExt cx="2194560" cy="121920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2194560" cy="121920"/>
            </a:xfrm>
            <a:custGeom>
              <a:avLst/>
              <a:gdLst/>
              <a:ahLst/>
              <a:cxnLst/>
              <a:rect r="r" b="b" t="t" l="l"/>
              <a:pathLst>
                <a:path h="121920" w="2194560">
                  <a:moveTo>
                    <a:pt x="0" y="60960"/>
                  </a:moveTo>
                  <a:cubicBezTo>
                    <a:pt x="0" y="27305"/>
                    <a:pt x="27305" y="0"/>
                    <a:pt x="60960" y="0"/>
                  </a:cubicBezTo>
                  <a:lnTo>
                    <a:pt x="2133600" y="0"/>
                  </a:lnTo>
                  <a:cubicBezTo>
                    <a:pt x="2167255" y="0"/>
                    <a:pt x="2194560" y="27305"/>
                    <a:pt x="2194560" y="60960"/>
                  </a:cubicBezTo>
                  <a:cubicBezTo>
                    <a:pt x="2194560" y="94615"/>
                    <a:pt x="2167255" y="121920"/>
                    <a:pt x="2133600" y="121920"/>
                  </a:cubicBezTo>
                  <a:lnTo>
                    <a:pt x="60960" y="121920"/>
                  </a:lnTo>
                  <a:cubicBezTo>
                    <a:pt x="27305" y="121920"/>
                    <a:pt x="0" y="94615"/>
                    <a:pt x="0" y="60960"/>
                  </a:cubicBezTo>
                  <a:close/>
                </a:path>
              </a:pathLst>
            </a:custGeom>
            <a:solidFill>
              <a:srgbClr val="5E8063"/>
            </a:solidFill>
          </p:spPr>
        </p:sp>
      </p:grpSp>
      <p:sp>
        <p:nvSpPr>
          <p:cNvPr name="TextBox 20" id="20"/>
          <p:cNvSpPr txBox="true"/>
          <p:nvPr/>
        </p:nvSpPr>
        <p:spPr>
          <a:xfrm rot="0">
            <a:off x="8778240" y="8999220"/>
            <a:ext cx="1645920" cy="57145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19"/>
              </a:lnSpc>
            </a:pPr>
            <a:r>
              <a:rPr lang="en-US" sz="1599" b="true">
                <a:solidFill>
                  <a:srgbClr val="5E8063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05</a:t>
            </a:r>
          </a:p>
        </p:txBody>
      </p:sp>
      <p:grpSp>
        <p:nvGrpSpPr>
          <p:cNvPr name="Group 21" id="21"/>
          <p:cNvGrpSpPr/>
          <p:nvPr/>
        </p:nvGrpSpPr>
        <p:grpSpPr>
          <a:xfrm rot="0">
            <a:off x="10607040" y="8869680"/>
            <a:ext cx="1645920" cy="91440"/>
            <a:chOff x="0" y="0"/>
            <a:chExt cx="2194560" cy="121920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2194560" cy="121920"/>
            </a:xfrm>
            <a:custGeom>
              <a:avLst/>
              <a:gdLst/>
              <a:ahLst/>
              <a:cxnLst/>
              <a:rect r="r" b="b" t="t" l="l"/>
              <a:pathLst>
                <a:path h="121920" w="2194560">
                  <a:moveTo>
                    <a:pt x="0" y="60960"/>
                  </a:moveTo>
                  <a:cubicBezTo>
                    <a:pt x="0" y="27305"/>
                    <a:pt x="27305" y="0"/>
                    <a:pt x="60960" y="0"/>
                  </a:cubicBezTo>
                  <a:lnTo>
                    <a:pt x="2133600" y="0"/>
                  </a:lnTo>
                  <a:cubicBezTo>
                    <a:pt x="2167255" y="0"/>
                    <a:pt x="2194560" y="27305"/>
                    <a:pt x="2194560" y="60960"/>
                  </a:cubicBezTo>
                  <a:cubicBezTo>
                    <a:pt x="2194560" y="94615"/>
                    <a:pt x="2167255" y="121920"/>
                    <a:pt x="2133600" y="121920"/>
                  </a:cubicBezTo>
                  <a:lnTo>
                    <a:pt x="60960" y="121920"/>
                  </a:lnTo>
                  <a:cubicBezTo>
                    <a:pt x="27305" y="121920"/>
                    <a:pt x="0" y="94615"/>
                    <a:pt x="0" y="60960"/>
                  </a:cubicBezTo>
                  <a:close/>
                </a:path>
              </a:pathLst>
            </a:custGeom>
            <a:solidFill>
              <a:srgbClr val="5E8063"/>
            </a:solidFill>
          </p:spPr>
        </p:sp>
      </p:grpSp>
      <p:sp>
        <p:nvSpPr>
          <p:cNvPr name="TextBox 23" id="23"/>
          <p:cNvSpPr txBox="true"/>
          <p:nvPr/>
        </p:nvSpPr>
        <p:spPr>
          <a:xfrm rot="0">
            <a:off x="10607040" y="8999220"/>
            <a:ext cx="1645920" cy="57145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19"/>
              </a:lnSpc>
            </a:pPr>
            <a:r>
              <a:rPr lang="en-US" sz="1599" b="true">
                <a:solidFill>
                  <a:srgbClr val="5E8063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06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16459200" y="9471660"/>
            <a:ext cx="914400" cy="4953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400"/>
              </a:lnSpc>
            </a:pPr>
            <a:r>
              <a:rPr lang="en-US" sz="2000">
                <a:solidFill>
                  <a:srgbClr val="C9D8CB"/>
                </a:solidFill>
                <a:latin typeface="Calibri (MS)"/>
                <a:ea typeface="Calibri (MS)"/>
                <a:cs typeface="Calibri (MS)"/>
                <a:sym typeface="Calibri (MS)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914400" y="245364"/>
            <a:ext cx="6858000" cy="6324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00"/>
              </a:lnSpc>
            </a:pPr>
            <a:r>
              <a:rPr lang="en-US" b="true" sz="2000" spc="400">
                <a:solidFill>
                  <a:srgbClr val="B1734A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01  INTRODUÇÃO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914400" y="914400"/>
            <a:ext cx="16459200" cy="1097280"/>
            <a:chOff x="0" y="0"/>
            <a:chExt cx="21945600" cy="146304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21945600" cy="1463040"/>
            </a:xfrm>
            <a:custGeom>
              <a:avLst/>
              <a:gdLst/>
              <a:ahLst/>
              <a:cxnLst/>
              <a:rect r="r" b="b" t="t" l="l"/>
              <a:pathLst>
                <a:path h="146304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463040"/>
                  </a:lnTo>
                  <a:lnTo>
                    <a:pt x="0" y="14630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242072" r="0" b="-242072"/>
              </a:stretch>
            </a:blipFill>
          </p:spPr>
        </p:sp>
      </p:grpSp>
      <p:grpSp>
        <p:nvGrpSpPr>
          <p:cNvPr name="Group 5" id="5"/>
          <p:cNvGrpSpPr/>
          <p:nvPr/>
        </p:nvGrpSpPr>
        <p:grpSpPr>
          <a:xfrm rot="0">
            <a:off x="914400" y="907256"/>
            <a:ext cx="16459200" cy="1104424"/>
            <a:chOff x="0" y="0"/>
            <a:chExt cx="21945600" cy="1472565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21945600" cy="1472565"/>
            </a:xfrm>
            <a:custGeom>
              <a:avLst/>
              <a:gdLst/>
              <a:ahLst/>
              <a:cxnLst/>
              <a:rect r="r" b="b" t="t" l="l"/>
              <a:pathLst>
                <a:path h="1472565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472565"/>
                  </a:lnTo>
                  <a:lnTo>
                    <a:pt x="0" y="1472565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40182" r="0" b="-240183"/>
              </a:stretch>
            </a:blipFill>
          </p:spPr>
        </p:sp>
      </p:grpSp>
      <p:grpSp>
        <p:nvGrpSpPr>
          <p:cNvPr name="Group 7" id="7"/>
          <p:cNvGrpSpPr/>
          <p:nvPr/>
        </p:nvGrpSpPr>
        <p:grpSpPr>
          <a:xfrm rot="0">
            <a:off x="914400" y="900112"/>
            <a:ext cx="16459200" cy="1111568"/>
            <a:chOff x="0" y="0"/>
            <a:chExt cx="21945600" cy="148209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21945600" cy="1482090"/>
            </a:xfrm>
            <a:custGeom>
              <a:avLst/>
              <a:gdLst/>
              <a:ahLst/>
              <a:cxnLst/>
              <a:rect r="r" b="b" t="t" l="l"/>
              <a:pathLst>
                <a:path h="148209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482090"/>
                  </a:lnTo>
                  <a:lnTo>
                    <a:pt x="0" y="148209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38317" r="0" b="-238318"/>
              </a:stretch>
            </a:blipFill>
          </p:spPr>
        </p:sp>
      </p:grpSp>
      <p:grpSp>
        <p:nvGrpSpPr>
          <p:cNvPr name="Group 9" id="9"/>
          <p:cNvGrpSpPr/>
          <p:nvPr/>
        </p:nvGrpSpPr>
        <p:grpSpPr>
          <a:xfrm rot="0">
            <a:off x="914400" y="892969"/>
            <a:ext cx="16459200" cy="1118711"/>
            <a:chOff x="0" y="0"/>
            <a:chExt cx="21945600" cy="1491615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21945600" cy="1491615"/>
            </a:xfrm>
            <a:custGeom>
              <a:avLst/>
              <a:gdLst/>
              <a:ahLst/>
              <a:cxnLst/>
              <a:rect r="r" b="b" t="t" l="l"/>
              <a:pathLst>
                <a:path h="1491615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491615"/>
                  </a:lnTo>
                  <a:lnTo>
                    <a:pt x="0" y="1491615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236476" r="0" b="-236477"/>
              </a:stretch>
            </a:blipFill>
          </p:spPr>
        </p:sp>
      </p:grpSp>
      <p:grpSp>
        <p:nvGrpSpPr>
          <p:cNvPr name="Group 11" id="11"/>
          <p:cNvGrpSpPr/>
          <p:nvPr/>
        </p:nvGrpSpPr>
        <p:grpSpPr>
          <a:xfrm rot="0">
            <a:off x="914400" y="885825"/>
            <a:ext cx="16459200" cy="1125855"/>
            <a:chOff x="0" y="0"/>
            <a:chExt cx="21945600" cy="150114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21945600" cy="1501140"/>
            </a:xfrm>
            <a:custGeom>
              <a:avLst/>
              <a:gdLst/>
              <a:ahLst/>
              <a:cxnLst/>
              <a:rect r="r" b="b" t="t" l="l"/>
              <a:pathLst>
                <a:path h="150114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501140"/>
                  </a:lnTo>
                  <a:lnTo>
                    <a:pt x="0" y="1501140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l="0" t="-234659" r="0" b="-234659"/>
              </a:stretch>
            </a:blipFill>
          </p:spPr>
        </p:sp>
      </p:grpSp>
      <p:grpSp>
        <p:nvGrpSpPr>
          <p:cNvPr name="Group 13" id="13"/>
          <p:cNvGrpSpPr/>
          <p:nvPr/>
        </p:nvGrpSpPr>
        <p:grpSpPr>
          <a:xfrm rot="0">
            <a:off x="914400" y="878681"/>
            <a:ext cx="16459200" cy="1132999"/>
            <a:chOff x="0" y="0"/>
            <a:chExt cx="21945600" cy="1510665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21945600" cy="1510665"/>
            </a:xfrm>
            <a:custGeom>
              <a:avLst/>
              <a:gdLst/>
              <a:ahLst/>
              <a:cxnLst/>
              <a:rect r="r" b="b" t="t" l="l"/>
              <a:pathLst>
                <a:path h="1510665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510665"/>
                  </a:lnTo>
                  <a:lnTo>
                    <a:pt x="0" y="1510665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0" t="-232864" r="0" b="-232865"/>
              </a:stretch>
            </a:blipFill>
          </p:spPr>
        </p:sp>
      </p:grpSp>
      <p:grpSp>
        <p:nvGrpSpPr>
          <p:cNvPr name="Group 15" id="15"/>
          <p:cNvGrpSpPr/>
          <p:nvPr/>
        </p:nvGrpSpPr>
        <p:grpSpPr>
          <a:xfrm rot="0">
            <a:off x="914400" y="871538"/>
            <a:ext cx="16459200" cy="1140142"/>
            <a:chOff x="0" y="0"/>
            <a:chExt cx="21945600" cy="152019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21945600" cy="1520190"/>
            </a:xfrm>
            <a:custGeom>
              <a:avLst/>
              <a:gdLst/>
              <a:ahLst/>
              <a:cxnLst/>
              <a:rect r="r" b="b" t="t" l="l"/>
              <a:pathLst>
                <a:path h="152019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520190"/>
                  </a:lnTo>
                  <a:lnTo>
                    <a:pt x="0" y="1520190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0" t="-231287" r="0" b="-231287"/>
              </a:stretch>
            </a:blip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9525"/>
              <a:ext cx="21945600" cy="15297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6239"/>
                </a:lnSpc>
              </a:pPr>
              <a:r>
                <a:rPr lang="en-US" sz="5198" b="true">
                  <a:solidFill>
                    <a:srgbClr val="2E5634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Uma busca real virou um objetivo claro</a:t>
              </a:r>
            </a:p>
          </p:txBody>
        </p:sp>
      </p:grpSp>
      <p:sp>
        <p:nvSpPr>
          <p:cNvPr name="TextBox 18" id="18"/>
          <p:cNvSpPr txBox="true"/>
          <p:nvPr/>
        </p:nvSpPr>
        <p:spPr>
          <a:xfrm rot="0">
            <a:off x="914400" y="4089559"/>
            <a:ext cx="1828800" cy="13468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9118"/>
              </a:lnSpc>
            </a:pPr>
            <a:r>
              <a:rPr lang="en-US" sz="7598" b="true">
                <a:solidFill>
                  <a:srgbClr val="B1734A"/>
                </a:solidFill>
                <a:latin typeface="Cambria Bold"/>
                <a:ea typeface="Cambria Bold"/>
                <a:cs typeface="Cambria Bold"/>
                <a:sym typeface="Cambria Bold"/>
              </a:rPr>
              <a:t>01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914400" y="5461159"/>
            <a:ext cx="5120640" cy="4953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840"/>
              </a:lnSpc>
            </a:pPr>
            <a:r>
              <a:rPr lang="en-US" sz="3200" b="true">
                <a:solidFill>
                  <a:srgbClr val="2E5634"/>
                </a:solidFill>
                <a:latin typeface="Cambria Bold"/>
                <a:ea typeface="Cambria Bold"/>
                <a:cs typeface="Cambria Bold"/>
                <a:sym typeface="Cambria Bold"/>
              </a:rPr>
              <a:t>Motivação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914400" y="5925979"/>
            <a:ext cx="4937760" cy="153362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98"/>
              </a:lnSpc>
            </a:pPr>
            <a:r>
              <a:rPr lang="en-US" sz="2499">
                <a:solidFill>
                  <a:srgbClr val="1B2A1F"/>
                </a:solidFill>
                <a:latin typeface="Calibri (MS)"/>
                <a:ea typeface="Calibri (MS)"/>
                <a:cs typeface="Calibri (MS)"/>
                <a:sym typeface="Calibri (MS)"/>
              </a:rPr>
              <a:t>Acompanhei de perto a busca de uma pessoa próxima pelo se</a:t>
            </a:r>
            <a:r>
              <a:rPr lang="en-US" sz="2499">
                <a:solidFill>
                  <a:srgbClr val="1B2A1F"/>
                </a:solidFill>
                <a:latin typeface="Calibri (MS)"/>
                <a:ea typeface="Calibri (MS)"/>
                <a:cs typeface="Calibri (MS)"/>
                <a:sym typeface="Calibri (MS)"/>
              </a:rPr>
              <a:t>u animal desaparecido, feita pelas redes sociais.</a:t>
            </a:r>
          </a:p>
        </p:txBody>
      </p:sp>
      <p:grpSp>
        <p:nvGrpSpPr>
          <p:cNvPr name="Group 21" id="21"/>
          <p:cNvGrpSpPr/>
          <p:nvPr/>
        </p:nvGrpSpPr>
        <p:grpSpPr>
          <a:xfrm rot="0">
            <a:off x="5943600" y="4247674"/>
            <a:ext cx="548640" cy="1097280"/>
            <a:chOff x="0" y="0"/>
            <a:chExt cx="731520" cy="1463040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731520" cy="1463040"/>
            </a:xfrm>
            <a:custGeom>
              <a:avLst/>
              <a:gdLst/>
              <a:ahLst/>
              <a:cxnLst/>
              <a:rect r="r" b="b" t="t" l="l"/>
              <a:pathLst>
                <a:path h="1463040" w="731520">
                  <a:moveTo>
                    <a:pt x="0" y="0"/>
                  </a:moveTo>
                  <a:lnTo>
                    <a:pt x="731520" y="0"/>
                  </a:lnTo>
                  <a:lnTo>
                    <a:pt x="731520" y="1463040"/>
                  </a:lnTo>
                  <a:lnTo>
                    <a:pt x="0" y="14630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206786" t="0" r="-206784" b="0"/>
              </a:stretch>
            </a:blipFill>
          </p:spPr>
        </p:sp>
      </p:grpSp>
      <p:grpSp>
        <p:nvGrpSpPr>
          <p:cNvPr name="Group 23" id="23"/>
          <p:cNvGrpSpPr/>
          <p:nvPr/>
        </p:nvGrpSpPr>
        <p:grpSpPr>
          <a:xfrm rot="0">
            <a:off x="5943600" y="4154805"/>
            <a:ext cx="548640" cy="1190149"/>
            <a:chOff x="0" y="0"/>
            <a:chExt cx="731520" cy="1586865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731520" cy="1586865"/>
            </a:xfrm>
            <a:custGeom>
              <a:avLst/>
              <a:gdLst/>
              <a:ahLst/>
              <a:cxnLst/>
              <a:rect r="r" b="b" t="t" l="l"/>
              <a:pathLst>
                <a:path h="1586865" w="731520">
                  <a:moveTo>
                    <a:pt x="0" y="0"/>
                  </a:moveTo>
                  <a:lnTo>
                    <a:pt x="731520" y="0"/>
                  </a:lnTo>
                  <a:lnTo>
                    <a:pt x="731520" y="1586865"/>
                  </a:lnTo>
                  <a:lnTo>
                    <a:pt x="0" y="1586865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228519" t="0" r="-228519" b="0"/>
              </a:stretch>
            </a:blipFill>
          </p:spPr>
        </p:sp>
      </p:grpSp>
      <p:grpSp>
        <p:nvGrpSpPr>
          <p:cNvPr name="Group 25" id="25"/>
          <p:cNvGrpSpPr/>
          <p:nvPr/>
        </p:nvGrpSpPr>
        <p:grpSpPr>
          <a:xfrm rot="0">
            <a:off x="5943600" y="4061936"/>
            <a:ext cx="548640" cy="1283018"/>
            <a:chOff x="0" y="0"/>
            <a:chExt cx="731520" cy="1710690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731520" cy="1710690"/>
            </a:xfrm>
            <a:custGeom>
              <a:avLst/>
              <a:gdLst/>
              <a:ahLst/>
              <a:cxnLst/>
              <a:rect r="r" b="b" t="t" l="l"/>
              <a:pathLst>
                <a:path h="1710690" w="731520">
                  <a:moveTo>
                    <a:pt x="0" y="0"/>
                  </a:moveTo>
                  <a:lnTo>
                    <a:pt x="731520" y="0"/>
                  </a:lnTo>
                  <a:lnTo>
                    <a:pt x="731520" y="1710690"/>
                  </a:lnTo>
                  <a:lnTo>
                    <a:pt x="0" y="171069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250251" t="0" r="-250251" b="0"/>
              </a:stretch>
            </a:blipFill>
          </p:spPr>
        </p:sp>
      </p:grpSp>
      <p:grpSp>
        <p:nvGrpSpPr>
          <p:cNvPr name="Group 27" id="27"/>
          <p:cNvGrpSpPr/>
          <p:nvPr/>
        </p:nvGrpSpPr>
        <p:grpSpPr>
          <a:xfrm rot="0">
            <a:off x="5943600" y="3969068"/>
            <a:ext cx="548640" cy="1375886"/>
            <a:chOff x="0" y="0"/>
            <a:chExt cx="731520" cy="1834515"/>
          </a:xfrm>
        </p:grpSpPr>
        <p:sp>
          <p:nvSpPr>
            <p:cNvPr name="Freeform 28" id="28"/>
            <p:cNvSpPr/>
            <p:nvPr/>
          </p:nvSpPr>
          <p:spPr>
            <a:xfrm flipH="false" flipV="false" rot="0">
              <a:off x="0" y="0"/>
              <a:ext cx="731520" cy="1834515"/>
            </a:xfrm>
            <a:custGeom>
              <a:avLst/>
              <a:gdLst/>
              <a:ahLst/>
              <a:cxnLst/>
              <a:rect r="r" b="b" t="t" l="l"/>
              <a:pathLst>
                <a:path h="1834515" w="731520">
                  <a:moveTo>
                    <a:pt x="0" y="0"/>
                  </a:moveTo>
                  <a:lnTo>
                    <a:pt x="731520" y="0"/>
                  </a:lnTo>
                  <a:lnTo>
                    <a:pt x="731520" y="1834515"/>
                  </a:lnTo>
                  <a:lnTo>
                    <a:pt x="0" y="1834515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-271984" t="0" r="-271986" b="0"/>
              </a:stretch>
            </a:blipFill>
          </p:spPr>
        </p:sp>
      </p:grpSp>
      <p:grpSp>
        <p:nvGrpSpPr>
          <p:cNvPr name="Group 29" id="29"/>
          <p:cNvGrpSpPr/>
          <p:nvPr/>
        </p:nvGrpSpPr>
        <p:grpSpPr>
          <a:xfrm rot="0">
            <a:off x="5943600" y="3876199"/>
            <a:ext cx="548640" cy="1468755"/>
            <a:chOff x="0" y="0"/>
            <a:chExt cx="731520" cy="1958340"/>
          </a:xfrm>
        </p:grpSpPr>
        <p:sp>
          <p:nvSpPr>
            <p:cNvPr name="Freeform 30" id="30"/>
            <p:cNvSpPr/>
            <p:nvPr/>
          </p:nvSpPr>
          <p:spPr>
            <a:xfrm flipH="false" flipV="false" rot="0">
              <a:off x="0" y="0"/>
              <a:ext cx="731520" cy="1958340"/>
            </a:xfrm>
            <a:custGeom>
              <a:avLst/>
              <a:gdLst/>
              <a:ahLst/>
              <a:cxnLst/>
              <a:rect r="r" b="b" t="t" l="l"/>
              <a:pathLst>
                <a:path h="1958340" w="731520">
                  <a:moveTo>
                    <a:pt x="0" y="0"/>
                  </a:moveTo>
                  <a:lnTo>
                    <a:pt x="731520" y="0"/>
                  </a:lnTo>
                  <a:lnTo>
                    <a:pt x="731520" y="1958340"/>
                  </a:lnTo>
                  <a:lnTo>
                    <a:pt x="0" y="1958340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l="-293718" t="0" r="-293718" b="0"/>
              </a:stretch>
            </a:blipFill>
          </p:spPr>
        </p:sp>
      </p:grpSp>
      <p:grpSp>
        <p:nvGrpSpPr>
          <p:cNvPr name="Group 31" id="31"/>
          <p:cNvGrpSpPr/>
          <p:nvPr/>
        </p:nvGrpSpPr>
        <p:grpSpPr>
          <a:xfrm rot="0">
            <a:off x="5943600" y="3783330"/>
            <a:ext cx="548640" cy="1561624"/>
            <a:chOff x="0" y="0"/>
            <a:chExt cx="731520" cy="2082165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0" y="0"/>
              <a:ext cx="731520" cy="2082165"/>
            </a:xfrm>
            <a:custGeom>
              <a:avLst/>
              <a:gdLst/>
              <a:ahLst/>
              <a:cxnLst/>
              <a:rect r="r" b="b" t="t" l="l"/>
              <a:pathLst>
                <a:path h="2082165" w="731520">
                  <a:moveTo>
                    <a:pt x="0" y="0"/>
                  </a:moveTo>
                  <a:lnTo>
                    <a:pt x="731520" y="0"/>
                  </a:lnTo>
                  <a:lnTo>
                    <a:pt x="731520" y="2082165"/>
                  </a:lnTo>
                  <a:lnTo>
                    <a:pt x="0" y="2082165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-315451" t="0" r="-315451" b="0"/>
              </a:stretch>
            </a:blipFill>
          </p:spPr>
        </p:sp>
      </p:grpSp>
      <p:grpSp>
        <p:nvGrpSpPr>
          <p:cNvPr name="Group 33" id="33"/>
          <p:cNvGrpSpPr/>
          <p:nvPr/>
        </p:nvGrpSpPr>
        <p:grpSpPr>
          <a:xfrm rot="0">
            <a:off x="5943600" y="3690461"/>
            <a:ext cx="548640" cy="1654492"/>
            <a:chOff x="0" y="0"/>
            <a:chExt cx="731520" cy="2205990"/>
          </a:xfrm>
        </p:grpSpPr>
        <p:sp>
          <p:nvSpPr>
            <p:cNvPr name="Freeform 34" id="34"/>
            <p:cNvSpPr/>
            <p:nvPr/>
          </p:nvSpPr>
          <p:spPr>
            <a:xfrm flipH="false" flipV="false" rot="0">
              <a:off x="0" y="0"/>
              <a:ext cx="731520" cy="2205990"/>
            </a:xfrm>
            <a:custGeom>
              <a:avLst/>
              <a:gdLst/>
              <a:ahLst/>
              <a:cxnLst/>
              <a:rect r="r" b="b" t="t" l="l"/>
              <a:pathLst>
                <a:path h="2205990" w="731520">
                  <a:moveTo>
                    <a:pt x="0" y="0"/>
                  </a:moveTo>
                  <a:lnTo>
                    <a:pt x="731520" y="0"/>
                  </a:lnTo>
                  <a:lnTo>
                    <a:pt x="731520" y="2205990"/>
                  </a:lnTo>
                  <a:lnTo>
                    <a:pt x="0" y="2205990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-336915" t="0" r="-336915" b="0"/>
              </a:stretch>
            </a:blipFill>
          </p:spPr>
        </p:sp>
        <p:sp>
          <p:nvSpPr>
            <p:cNvPr name="TextBox 35" id="35"/>
            <p:cNvSpPr txBox="true"/>
            <p:nvPr/>
          </p:nvSpPr>
          <p:spPr>
            <a:xfrm>
              <a:off x="0" y="-123825"/>
              <a:ext cx="731520" cy="23298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7200"/>
                </a:lnSpc>
              </a:pPr>
              <a:r>
                <a:rPr lang="en-US" sz="6000">
                  <a:solidFill>
                    <a:srgbClr val="A9B8A6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›</a:t>
              </a:r>
            </a:p>
          </p:txBody>
        </p:sp>
      </p:grpSp>
      <p:sp>
        <p:nvSpPr>
          <p:cNvPr name="TextBox 36" id="36"/>
          <p:cNvSpPr txBox="true"/>
          <p:nvPr/>
        </p:nvSpPr>
        <p:spPr>
          <a:xfrm rot="0">
            <a:off x="6583680" y="4089559"/>
            <a:ext cx="1828800" cy="116200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9118"/>
              </a:lnSpc>
            </a:pPr>
            <a:r>
              <a:rPr lang="en-US" sz="7598" b="true">
                <a:solidFill>
                  <a:srgbClr val="B1734A"/>
                </a:solidFill>
                <a:latin typeface="Cambria Bold"/>
                <a:ea typeface="Cambria Bold"/>
                <a:cs typeface="Cambria Bold"/>
                <a:sym typeface="Cambria Bold"/>
              </a:rPr>
              <a:t>02</a:t>
            </a:r>
          </a:p>
        </p:txBody>
      </p:sp>
      <p:sp>
        <p:nvSpPr>
          <p:cNvPr name="TextBox 37" id="37"/>
          <p:cNvSpPr txBox="true"/>
          <p:nvPr/>
        </p:nvSpPr>
        <p:spPr>
          <a:xfrm rot="0">
            <a:off x="6583680" y="5461159"/>
            <a:ext cx="5120640" cy="4953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840"/>
              </a:lnSpc>
            </a:pPr>
            <a:r>
              <a:rPr lang="en-US" sz="3200" b="true">
                <a:solidFill>
                  <a:srgbClr val="2E5634"/>
                </a:solidFill>
                <a:latin typeface="Cambria Bold"/>
                <a:ea typeface="Cambria Bold"/>
                <a:cs typeface="Cambria Bold"/>
                <a:sym typeface="Cambria Bold"/>
              </a:rPr>
              <a:t>O que observei</a:t>
            </a:r>
          </a:p>
        </p:txBody>
      </p:sp>
      <p:sp>
        <p:nvSpPr>
          <p:cNvPr name="TextBox 38" id="38"/>
          <p:cNvSpPr txBox="true"/>
          <p:nvPr/>
        </p:nvSpPr>
        <p:spPr>
          <a:xfrm rot="0">
            <a:off x="6583680" y="5925979"/>
            <a:ext cx="4937760" cy="190520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98"/>
              </a:lnSpc>
            </a:pPr>
            <a:r>
              <a:rPr lang="en-US" sz="2499">
                <a:solidFill>
                  <a:srgbClr val="1B2A1F"/>
                </a:solidFill>
                <a:latin typeface="Calibri (MS)"/>
                <a:ea typeface="Calibri (MS)"/>
                <a:cs typeface="Calibri (MS)"/>
                <a:sym typeface="Calibri (MS)"/>
              </a:rPr>
              <a:t>Montar o cartaz levava tempo, as p</a:t>
            </a:r>
            <a:r>
              <a:rPr lang="en-US" sz="2499">
                <a:solidFill>
                  <a:srgbClr val="1B2A1F"/>
                </a:solidFill>
                <a:latin typeface="Calibri (MS)"/>
                <a:ea typeface="Calibri (MS)"/>
                <a:cs typeface="Calibri (MS)"/>
                <a:sym typeface="Calibri (MS)"/>
              </a:rPr>
              <a:t>ublicações sumiam em poucas horas e, se faltava alguma informação, não dava para corrigir o que já estava sendo compartilhado.</a:t>
            </a:r>
          </a:p>
        </p:txBody>
      </p:sp>
      <p:grpSp>
        <p:nvGrpSpPr>
          <p:cNvPr name="Group 39" id="39"/>
          <p:cNvGrpSpPr/>
          <p:nvPr/>
        </p:nvGrpSpPr>
        <p:grpSpPr>
          <a:xfrm rot="0">
            <a:off x="11612880" y="4247674"/>
            <a:ext cx="548640" cy="1097280"/>
            <a:chOff x="0" y="0"/>
            <a:chExt cx="731520" cy="1463040"/>
          </a:xfrm>
        </p:grpSpPr>
        <p:sp>
          <p:nvSpPr>
            <p:cNvPr name="Freeform 40" id="40"/>
            <p:cNvSpPr/>
            <p:nvPr/>
          </p:nvSpPr>
          <p:spPr>
            <a:xfrm flipH="false" flipV="false" rot="0">
              <a:off x="0" y="0"/>
              <a:ext cx="731520" cy="1463040"/>
            </a:xfrm>
            <a:custGeom>
              <a:avLst/>
              <a:gdLst/>
              <a:ahLst/>
              <a:cxnLst/>
              <a:rect r="r" b="b" t="t" l="l"/>
              <a:pathLst>
                <a:path h="1463040" w="731520">
                  <a:moveTo>
                    <a:pt x="0" y="0"/>
                  </a:moveTo>
                  <a:lnTo>
                    <a:pt x="731520" y="0"/>
                  </a:lnTo>
                  <a:lnTo>
                    <a:pt x="731520" y="1463040"/>
                  </a:lnTo>
                  <a:lnTo>
                    <a:pt x="0" y="14630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206786" t="0" r="-206784" b="0"/>
              </a:stretch>
            </a:blipFill>
          </p:spPr>
        </p:sp>
      </p:grpSp>
      <p:grpSp>
        <p:nvGrpSpPr>
          <p:cNvPr name="Group 41" id="41"/>
          <p:cNvGrpSpPr/>
          <p:nvPr/>
        </p:nvGrpSpPr>
        <p:grpSpPr>
          <a:xfrm rot="0">
            <a:off x="11612880" y="4154805"/>
            <a:ext cx="548640" cy="1190149"/>
            <a:chOff x="0" y="0"/>
            <a:chExt cx="731520" cy="1586865"/>
          </a:xfrm>
        </p:grpSpPr>
        <p:sp>
          <p:nvSpPr>
            <p:cNvPr name="Freeform 42" id="42"/>
            <p:cNvSpPr/>
            <p:nvPr/>
          </p:nvSpPr>
          <p:spPr>
            <a:xfrm flipH="false" flipV="false" rot="0">
              <a:off x="0" y="0"/>
              <a:ext cx="731520" cy="1586865"/>
            </a:xfrm>
            <a:custGeom>
              <a:avLst/>
              <a:gdLst/>
              <a:ahLst/>
              <a:cxnLst/>
              <a:rect r="r" b="b" t="t" l="l"/>
              <a:pathLst>
                <a:path h="1586865" w="731520">
                  <a:moveTo>
                    <a:pt x="0" y="0"/>
                  </a:moveTo>
                  <a:lnTo>
                    <a:pt x="731520" y="0"/>
                  </a:lnTo>
                  <a:lnTo>
                    <a:pt x="731520" y="1586865"/>
                  </a:lnTo>
                  <a:lnTo>
                    <a:pt x="0" y="1586865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228519" t="0" r="-228519" b="0"/>
              </a:stretch>
            </a:blipFill>
          </p:spPr>
        </p:sp>
      </p:grpSp>
      <p:grpSp>
        <p:nvGrpSpPr>
          <p:cNvPr name="Group 43" id="43"/>
          <p:cNvGrpSpPr/>
          <p:nvPr/>
        </p:nvGrpSpPr>
        <p:grpSpPr>
          <a:xfrm rot="0">
            <a:off x="11612880" y="4061936"/>
            <a:ext cx="548640" cy="1283018"/>
            <a:chOff x="0" y="0"/>
            <a:chExt cx="731520" cy="1710690"/>
          </a:xfrm>
        </p:grpSpPr>
        <p:sp>
          <p:nvSpPr>
            <p:cNvPr name="Freeform 44" id="44"/>
            <p:cNvSpPr/>
            <p:nvPr/>
          </p:nvSpPr>
          <p:spPr>
            <a:xfrm flipH="false" flipV="false" rot="0">
              <a:off x="0" y="0"/>
              <a:ext cx="731520" cy="1710690"/>
            </a:xfrm>
            <a:custGeom>
              <a:avLst/>
              <a:gdLst/>
              <a:ahLst/>
              <a:cxnLst/>
              <a:rect r="r" b="b" t="t" l="l"/>
              <a:pathLst>
                <a:path h="1710690" w="731520">
                  <a:moveTo>
                    <a:pt x="0" y="0"/>
                  </a:moveTo>
                  <a:lnTo>
                    <a:pt x="731520" y="0"/>
                  </a:lnTo>
                  <a:lnTo>
                    <a:pt x="731520" y="1710690"/>
                  </a:lnTo>
                  <a:lnTo>
                    <a:pt x="0" y="171069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250251" t="0" r="-250251" b="0"/>
              </a:stretch>
            </a:blipFill>
          </p:spPr>
        </p:sp>
      </p:grpSp>
      <p:grpSp>
        <p:nvGrpSpPr>
          <p:cNvPr name="Group 45" id="45"/>
          <p:cNvGrpSpPr/>
          <p:nvPr/>
        </p:nvGrpSpPr>
        <p:grpSpPr>
          <a:xfrm rot="0">
            <a:off x="11612880" y="3969068"/>
            <a:ext cx="548640" cy="1375886"/>
            <a:chOff x="0" y="0"/>
            <a:chExt cx="731520" cy="1834515"/>
          </a:xfrm>
        </p:grpSpPr>
        <p:sp>
          <p:nvSpPr>
            <p:cNvPr name="Freeform 46" id="46"/>
            <p:cNvSpPr/>
            <p:nvPr/>
          </p:nvSpPr>
          <p:spPr>
            <a:xfrm flipH="false" flipV="false" rot="0">
              <a:off x="0" y="0"/>
              <a:ext cx="731520" cy="1834515"/>
            </a:xfrm>
            <a:custGeom>
              <a:avLst/>
              <a:gdLst/>
              <a:ahLst/>
              <a:cxnLst/>
              <a:rect r="r" b="b" t="t" l="l"/>
              <a:pathLst>
                <a:path h="1834515" w="731520">
                  <a:moveTo>
                    <a:pt x="0" y="0"/>
                  </a:moveTo>
                  <a:lnTo>
                    <a:pt x="731520" y="0"/>
                  </a:lnTo>
                  <a:lnTo>
                    <a:pt x="731520" y="1834515"/>
                  </a:lnTo>
                  <a:lnTo>
                    <a:pt x="0" y="1834515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-271984" t="0" r="-271986" b="0"/>
              </a:stretch>
            </a:blipFill>
          </p:spPr>
        </p:sp>
      </p:grpSp>
      <p:grpSp>
        <p:nvGrpSpPr>
          <p:cNvPr name="Group 47" id="47"/>
          <p:cNvGrpSpPr/>
          <p:nvPr/>
        </p:nvGrpSpPr>
        <p:grpSpPr>
          <a:xfrm rot="0">
            <a:off x="11612880" y="3876199"/>
            <a:ext cx="548640" cy="1468755"/>
            <a:chOff x="0" y="0"/>
            <a:chExt cx="731520" cy="1958340"/>
          </a:xfrm>
        </p:grpSpPr>
        <p:sp>
          <p:nvSpPr>
            <p:cNvPr name="Freeform 48" id="48"/>
            <p:cNvSpPr/>
            <p:nvPr/>
          </p:nvSpPr>
          <p:spPr>
            <a:xfrm flipH="false" flipV="false" rot="0">
              <a:off x="0" y="0"/>
              <a:ext cx="731520" cy="1958340"/>
            </a:xfrm>
            <a:custGeom>
              <a:avLst/>
              <a:gdLst/>
              <a:ahLst/>
              <a:cxnLst/>
              <a:rect r="r" b="b" t="t" l="l"/>
              <a:pathLst>
                <a:path h="1958340" w="731520">
                  <a:moveTo>
                    <a:pt x="0" y="0"/>
                  </a:moveTo>
                  <a:lnTo>
                    <a:pt x="731520" y="0"/>
                  </a:lnTo>
                  <a:lnTo>
                    <a:pt x="731520" y="1958340"/>
                  </a:lnTo>
                  <a:lnTo>
                    <a:pt x="0" y="1958340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l="-293718" t="0" r="-293718" b="0"/>
              </a:stretch>
            </a:blipFill>
          </p:spPr>
        </p:sp>
      </p:grpSp>
      <p:grpSp>
        <p:nvGrpSpPr>
          <p:cNvPr name="Group 49" id="49"/>
          <p:cNvGrpSpPr/>
          <p:nvPr/>
        </p:nvGrpSpPr>
        <p:grpSpPr>
          <a:xfrm rot="0">
            <a:off x="11612880" y="3783330"/>
            <a:ext cx="548640" cy="1561624"/>
            <a:chOff x="0" y="0"/>
            <a:chExt cx="731520" cy="2082165"/>
          </a:xfrm>
        </p:grpSpPr>
        <p:sp>
          <p:nvSpPr>
            <p:cNvPr name="Freeform 50" id="50"/>
            <p:cNvSpPr/>
            <p:nvPr/>
          </p:nvSpPr>
          <p:spPr>
            <a:xfrm flipH="false" flipV="false" rot="0">
              <a:off x="0" y="0"/>
              <a:ext cx="731520" cy="2082165"/>
            </a:xfrm>
            <a:custGeom>
              <a:avLst/>
              <a:gdLst/>
              <a:ahLst/>
              <a:cxnLst/>
              <a:rect r="r" b="b" t="t" l="l"/>
              <a:pathLst>
                <a:path h="2082165" w="731520">
                  <a:moveTo>
                    <a:pt x="0" y="0"/>
                  </a:moveTo>
                  <a:lnTo>
                    <a:pt x="731520" y="0"/>
                  </a:lnTo>
                  <a:lnTo>
                    <a:pt x="731520" y="2082165"/>
                  </a:lnTo>
                  <a:lnTo>
                    <a:pt x="0" y="2082165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-315451" t="0" r="-315451" b="0"/>
              </a:stretch>
            </a:blipFill>
          </p:spPr>
        </p:sp>
      </p:grpSp>
      <p:grpSp>
        <p:nvGrpSpPr>
          <p:cNvPr name="Group 51" id="51"/>
          <p:cNvGrpSpPr/>
          <p:nvPr/>
        </p:nvGrpSpPr>
        <p:grpSpPr>
          <a:xfrm rot="0">
            <a:off x="11612880" y="3690461"/>
            <a:ext cx="548640" cy="1654492"/>
            <a:chOff x="0" y="0"/>
            <a:chExt cx="731520" cy="2205990"/>
          </a:xfrm>
        </p:grpSpPr>
        <p:sp>
          <p:nvSpPr>
            <p:cNvPr name="Freeform 52" id="52"/>
            <p:cNvSpPr/>
            <p:nvPr/>
          </p:nvSpPr>
          <p:spPr>
            <a:xfrm flipH="false" flipV="false" rot="0">
              <a:off x="0" y="0"/>
              <a:ext cx="731520" cy="2205990"/>
            </a:xfrm>
            <a:custGeom>
              <a:avLst/>
              <a:gdLst/>
              <a:ahLst/>
              <a:cxnLst/>
              <a:rect r="r" b="b" t="t" l="l"/>
              <a:pathLst>
                <a:path h="2205990" w="731520">
                  <a:moveTo>
                    <a:pt x="0" y="0"/>
                  </a:moveTo>
                  <a:lnTo>
                    <a:pt x="731520" y="0"/>
                  </a:lnTo>
                  <a:lnTo>
                    <a:pt x="731520" y="2205990"/>
                  </a:lnTo>
                  <a:lnTo>
                    <a:pt x="0" y="2205990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-336915" t="0" r="-336915" b="0"/>
              </a:stretch>
            </a:blipFill>
          </p:spPr>
        </p:sp>
        <p:sp>
          <p:nvSpPr>
            <p:cNvPr name="TextBox 53" id="53"/>
            <p:cNvSpPr txBox="true"/>
            <p:nvPr/>
          </p:nvSpPr>
          <p:spPr>
            <a:xfrm>
              <a:off x="0" y="-123825"/>
              <a:ext cx="731520" cy="23298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7200"/>
                </a:lnSpc>
              </a:pPr>
              <a:r>
                <a:rPr lang="en-US" sz="6000">
                  <a:solidFill>
                    <a:srgbClr val="A9B8A6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›</a:t>
              </a:r>
            </a:p>
          </p:txBody>
        </p:sp>
      </p:grpSp>
      <p:sp>
        <p:nvSpPr>
          <p:cNvPr name="TextBox 54" id="54"/>
          <p:cNvSpPr txBox="true"/>
          <p:nvPr/>
        </p:nvSpPr>
        <p:spPr>
          <a:xfrm rot="0">
            <a:off x="12252960" y="4089559"/>
            <a:ext cx="1828800" cy="13468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9118"/>
              </a:lnSpc>
            </a:pPr>
            <a:r>
              <a:rPr lang="en-US" sz="7598" b="true">
                <a:solidFill>
                  <a:srgbClr val="B1734A"/>
                </a:solidFill>
                <a:latin typeface="Cambria Bold"/>
                <a:ea typeface="Cambria Bold"/>
                <a:cs typeface="Cambria Bold"/>
                <a:sym typeface="Cambria Bold"/>
              </a:rPr>
              <a:t>03</a:t>
            </a:r>
          </a:p>
        </p:txBody>
      </p:sp>
      <p:sp>
        <p:nvSpPr>
          <p:cNvPr name="TextBox 55" id="55"/>
          <p:cNvSpPr txBox="true"/>
          <p:nvPr/>
        </p:nvSpPr>
        <p:spPr>
          <a:xfrm rot="0">
            <a:off x="12252960" y="5461159"/>
            <a:ext cx="5120640" cy="4953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840"/>
              </a:lnSpc>
            </a:pPr>
            <a:r>
              <a:rPr lang="en-US" sz="3200" b="true">
                <a:solidFill>
                  <a:srgbClr val="2E5634"/>
                </a:solidFill>
                <a:latin typeface="Cambria Bold"/>
                <a:ea typeface="Cambria Bold"/>
                <a:cs typeface="Cambria Bold"/>
                <a:sym typeface="Cambria Bold"/>
              </a:rPr>
              <a:t>O que fal</a:t>
            </a:r>
            <a:r>
              <a:rPr lang="en-US" sz="3200" b="true">
                <a:solidFill>
                  <a:srgbClr val="2E5634"/>
                </a:solidFill>
                <a:latin typeface="Cambria Bold"/>
                <a:ea typeface="Cambria Bold"/>
                <a:cs typeface="Cambria Bold"/>
                <a:sym typeface="Cambria Bold"/>
              </a:rPr>
              <a:t>tava</a:t>
            </a:r>
          </a:p>
        </p:txBody>
      </p:sp>
      <p:sp>
        <p:nvSpPr>
          <p:cNvPr name="TextBox 56" id="56"/>
          <p:cNvSpPr txBox="true"/>
          <p:nvPr/>
        </p:nvSpPr>
        <p:spPr>
          <a:xfrm rot="0">
            <a:off x="12252960" y="5925979"/>
            <a:ext cx="4937760" cy="116215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98"/>
              </a:lnSpc>
            </a:pPr>
            <a:r>
              <a:rPr lang="en-US" sz="2499">
                <a:solidFill>
                  <a:srgbClr val="1B2A1F"/>
                </a:solidFill>
                <a:latin typeface="Calibri (MS)"/>
                <a:ea typeface="Calibri (MS)"/>
                <a:cs typeface="Calibri (MS)"/>
                <a:sym typeface="Calibri (MS)"/>
              </a:rPr>
              <a:t>U</a:t>
            </a:r>
            <a:r>
              <a:rPr lang="en-US" sz="2499">
                <a:solidFill>
                  <a:srgbClr val="1B2A1F"/>
                </a:solidFill>
                <a:latin typeface="Calibri (MS)"/>
                <a:ea typeface="Calibri (MS)"/>
                <a:cs typeface="Calibri (MS)"/>
                <a:sym typeface="Calibri (MS)"/>
              </a:rPr>
              <a:t>ma forma rápida de divulgar e manter a informação sempre atualizada.</a:t>
            </a:r>
          </a:p>
        </p:txBody>
      </p:sp>
      <p:sp>
        <p:nvSpPr>
          <p:cNvPr name="TextBox 57" id="57"/>
          <p:cNvSpPr txBox="true"/>
          <p:nvPr/>
        </p:nvSpPr>
        <p:spPr>
          <a:xfrm rot="0">
            <a:off x="16459200" y="9471660"/>
            <a:ext cx="914400" cy="3429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400"/>
              </a:lnSpc>
            </a:pPr>
            <a:r>
              <a:rPr lang="en-US" sz="2000">
                <a:solidFill>
                  <a:srgbClr val="5B6B5F"/>
                </a:solidFill>
                <a:latin typeface="Calibri (MS)"/>
                <a:ea typeface="Calibri (MS)"/>
                <a:cs typeface="Calibri (MS)"/>
                <a:sym typeface="Calibri (MS)"/>
              </a:rPr>
              <a:t>4</a:t>
            </a:r>
          </a:p>
        </p:txBody>
      </p:sp>
      <p:grpSp>
        <p:nvGrpSpPr>
          <p:cNvPr name="Group 58" id="58"/>
          <p:cNvGrpSpPr/>
          <p:nvPr/>
        </p:nvGrpSpPr>
        <p:grpSpPr>
          <a:xfrm rot="0">
            <a:off x="822960" y="9572625"/>
            <a:ext cx="8229600" cy="440055"/>
            <a:chOff x="0" y="0"/>
            <a:chExt cx="10972800" cy="586740"/>
          </a:xfrm>
        </p:grpSpPr>
        <p:sp>
          <p:nvSpPr>
            <p:cNvPr name="Freeform 59" id="59"/>
            <p:cNvSpPr/>
            <p:nvPr/>
          </p:nvSpPr>
          <p:spPr>
            <a:xfrm flipH="false" flipV="false" rot="0">
              <a:off x="0" y="0"/>
              <a:ext cx="10972800" cy="586740"/>
            </a:xfrm>
            <a:custGeom>
              <a:avLst/>
              <a:gdLst/>
              <a:ahLst/>
              <a:cxnLst/>
              <a:rect r="r" b="b" t="t" l="l"/>
              <a:pathLst>
                <a:path h="5867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586740"/>
                  </a:lnTo>
                  <a:lnTo>
                    <a:pt x="0" y="5867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314142" r="0" b="-314140"/>
              </a:stretch>
            </a:blipFill>
          </p:spPr>
        </p:sp>
      </p:grpSp>
      <p:grpSp>
        <p:nvGrpSpPr>
          <p:cNvPr name="Group 60" id="60"/>
          <p:cNvGrpSpPr/>
          <p:nvPr/>
        </p:nvGrpSpPr>
        <p:grpSpPr>
          <a:xfrm rot="0">
            <a:off x="822960" y="9544050"/>
            <a:ext cx="8229600" cy="468630"/>
            <a:chOff x="0" y="0"/>
            <a:chExt cx="10972800" cy="624840"/>
          </a:xfrm>
        </p:grpSpPr>
        <p:sp>
          <p:nvSpPr>
            <p:cNvPr name="Freeform 61" id="61"/>
            <p:cNvSpPr/>
            <p:nvPr/>
          </p:nvSpPr>
          <p:spPr>
            <a:xfrm flipH="false" flipV="false" rot="0">
              <a:off x="0" y="0"/>
              <a:ext cx="10972800" cy="624840"/>
            </a:xfrm>
            <a:custGeom>
              <a:avLst/>
              <a:gdLst/>
              <a:ahLst/>
              <a:cxnLst/>
              <a:rect r="r" b="b" t="t" l="l"/>
              <a:pathLst>
                <a:path h="6248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624840"/>
                  </a:lnTo>
                  <a:lnTo>
                    <a:pt x="0" y="6248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91939" r="0" b="-291936"/>
              </a:stretch>
            </a:blipFill>
          </p:spPr>
        </p:sp>
      </p:grpSp>
      <p:grpSp>
        <p:nvGrpSpPr>
          <p:cNvPr name="Group 62" id="62"/>
          <p:cNvGrpSpPr/>
          <p:nvPr/>
        </p:nvGrpSpPr>
        <p:grpSpPr>
          <a:xfrm rot="0">
            <a:off x="822960" y="9515475"/>
            <a:ext cx="8229600" cy="497205"/>
            <a:chOff x="0" y="0"/>
            <a:chExt cx="10972800" cy="662940"/>
          </a:xfrm>
        </p:grpSpPr>
        <p:sp>
          <p:nvSpPr>
            <p:cNvPr name="Freeform 63" id="63"/>
            <p:cNvSpPr/>
            <p:nvPr/>
          </p:nvSpPr>
          <p:spPr>
            <a:xfrm flipH="false" flipV="false" rot="0">
              <a:off x="0" y="0"/>
              <a:ext cx="10972800" cy="662940"/>
            </a:xfrm>
            <a:custGeom>
              <a:avLst/>
              <a:gdLst/>
              <a:ahLst/>
              <a:cxnLst/>
              <a:rect r="r" b="b" t="t" l="l"/>
              <a:pathLst>
                <a:path h="6629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662940"/>
                  </a:lnTo>
                  <a:lnTo>
                    <a:pt x="0" y="66294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72287" r="0" b="-272285"/>
              </a:stretch>
            </a:blipFill>
          </p:spPr>
        </p:sp>
      </p:grpSp>
      <p:grpSp>
        <p:nvGrpSpPr>
          <p:cNvPr name="Group 64" id="64"/>
          <p:cNvGrpSpPr/>
          <p:nvPr/>
        </p:nvGrpSpPr>
        <p:grpSpPr>
          <a:xfrm rot="0">
            <a:off x="822960" y="9486900"/>
            <a:ext cx="8229600" cy="525780"/>
            <a:chOff x="0" y="0"/>
            <a:chExt cx="10972800" cy="701040"/>
          </a:xfrm>
        </p:grpSpPr>
        <p:sp>
          <p:nvSpPr>
            <p:cNvPr name="Freeform 65" id="65"/>
            <p:cNvSpPr/>
            <p:nvPr/>
          </p:nvSpPr>
          <p:spPr>
            <a:xfrm flipH="false" flipV="false" rot="0">
              <a:off x="0" y="0"/>
              <a:ext cx="10972800" cy="701040"/>
            </a:xfrm>
            <a:custGeom>
              <a:avLst/>
              <a:gdLst/>
              <a:ahLst/>
              <a:cxnLst/>
              <a:rect r="r" b="b" t="t" l="l"/>
              <a:pathLst>
                <a:path h="7010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701040"/>
                  </a:lnTo>
                  <a:lnTo>
                    <a:pt x="0" y="701040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254771" r="0" b="-254769"/>
              </a:stretch>
            </a:blipFill>
          </p:spPr>
        </p:sp>
      </p:grpSp>
      <p:grpSp>
        <p:nvGrpSpPr>
          <p:cNvPr name="Group 66" id="66"/>
          <p:cNvGrpSpPr/>
          <p:nvPr/>
        </p:nvGrpSpPr>
        <p:grpSpPr>
          <a:xfrm rot="0">
            <a:off x="822960" y="9458325"/>
            <a:ext cx="8229600" cy="554355"/>
            <a:chOff x="0" y="0"/>
            <a:chExt cx="10972800" cy="739140"/>
          </a:xfrm>
        </p:grpSpPr>
        <p:sp>
          <p:nvSpPr>
            <p:cNvPr name="Freeform 67" id="67"/>
            <p:cNvSpPr/>
            <p:nvPr/>
          </p:nvSpPr>
          <p:spPr>
            <a:xfrm flipH="false" flipV="false" rot="0">
              <a:off x="0" y="0"/>
              <a:ext cx="10972800" cy="739140"/>
            </a:xfrm>
            <a:custGeom>
              <a:avLst/>
              <a:gdLst/>
              <a:ahLst/>
              <a:cxnLst/>
              <a:rect r="r" b="b" t="t" l="l"/>
              <a:pathLst>
                <a:path h="7391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739140"/>
                  </a:lnTo>
                  <a:lnTo>
                    <a:pt x="0" y="739140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l="0" t="-239061" r="0" b="-239060"/>
              </a:stretch>
            </a:blipFill>
          </p:spPr>
        </p:sp>
      </p:grpSp>
      <p:grpSp>
        <p:nvGrpSpPr>
          <p:cNvPr name="Group 68" id="68"/>
          <p:cNvGrpSpPr/>
          <p:nvPr/>
        </p:nvGrpSpPr>
        <p:grpSpPr>
          <a:xfrm rot="0">
            <a:off x="822960" y="9429750"/>
            <a:ext cx="8229600" cy="582930"/>
            <a:chOff x="0" y="0"/>
            <a:chExt cx="10972800" cy="777240"/>
          </a:xfrm>
        </p:grpSpPr>
        <p:sp>
          <p:nvSpPr>
            <p:cNvPr name="Freeform 69" id="69"/>
            <p:cNvSpPr/>
            <p:nvPr/>
          </p:nvSpPr>
          <p:spPr>
            <a:xfrm flipH="false" flipV="false" rot="0">
              <a:off x="0" y="0"/>
              <a:ext cx="10972800" cy="777240"/>
            </a:xfrm>
            <a:custGeom>
              <a:avLst/>
              <a:gdLst/>
              <a:ahLst/>
              <a:cxnLst/>
              <a:rect r="r" b="b" t="t" l="l"/>
              <a:pathLst>
                <a:path h="7772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777240"/>
                  </a:lnTo>
                  <a:lnTo>
                    <a:pt x="0" y="777240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0" t="-224892" r="0" b="-224890"/>
              </a:stretch>
            </a:blipFill>
          </p:spPr>
        </p:sp>
      </p:grpSp>
      <p:grpSp>
        <p:nvGrpSpPr>
          <p:cNvPr name="Group 70" id="70"/>
          <p:cNvGrpSpPr/>
          <p:nvPr/>
        </p:nvGrpSpPr>
        <p:grpSpPr>
          <a:xfrm rot="0">
            <a:off x="822960" y="9401175"/>
            <a:ext cx="8229600" cy="611505"/>
            <a:chOff x="0" y="0"/>
            <a:chExt cx="10972800" cy="815340"/>
          </a:xfrm>
        </p:grpSpPr>
        <p:sp>
          <p:nvSpPr>
            <p:cNvPr name="Freeform 71" id="71"/>
            <p:cNvSpPr/>
            <p:nvPr/>
          </p:nvSpPr>
          <p:spPr>
            <a:xfrm flipH="false" flipV="false" rot="0">
              <a:off x="0" y="0"/>
              <a:ext cx="10972800" cy="815340"/>
            </a:xfrm>
            <a:custGeom>
              <a:avLst/>
              <a:gdLst/>
              <a:ahLst/>
              <a:cxnLst/>
              <a:rect r="r" b="b" t="t" l="l"/>
              <a:pathLst>
                <a:path h="8153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815340"/>
                  </a:lnTo>
                  <a:lnTo>
                    <a:pt x="0" y="815340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0" t="-212228" r="0" b="-212228"/>
              </a:stretch>
            </a:blipFill>
          </p:spPr>
        </p:sp>
        <p:sp>
          <p:nvSpPr>
            <p:cNvPr name="TextBox 72" id="72"/>
            <p:cNvSpPr txBox="true"/>
            <p:nvPr/>
          </p:nvSpPr>
          <p:spPr>
            <a:xfrm>
              <a:off x="0" y="-38100"/>
              <a:ext cx="10972800" cy="8534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6B728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WeFIND  |  TCC  |  IFSul Campus Pelotas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914400" y="245364"/>
            <a:ext cx="6858000" cy="6324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00"/>
              </a:lnSpc>
            </a:pPr>
            <a:r>
              <a:rPr lang="en-US" b="true" sz="2000" spc="400">
                <a:solidFill>
                  <a:srgbClr val="B1734A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01  INTRODUÇÃO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914400" y="914400"/>
            <a:ext cx="16459200" cy="1097280"/>
            <a:chOff x="0" y="0"/>
            <a:chExt cx="21945600" cy="146304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21945600" cy="1463040"/>
            </a:xfrm>
            <a:custGeom>
              <a:avLst/>
              <a:gdLst/>
              <a:ahLst/>
              <a:cxnLst/>
              <a:rect r="r" b="b" t="t" l="l"/>
              <a:pathLst>
                <a:path h="146304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463040"/>
                  </a:lnTo>
                  <a:lnTo>
                    <a:pt x="0" y="14630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242072" r="0" b="-242072"/>
              </a:stretch>
            </a:blipFill>
          </p:spPr>
        </p:sp>
      </p:grpSp>
      <p:grpSp>
        <p:nvGrpSpPr>
          <p:cNvPr name="Group 5" id="5"/>
          <p:cNvGrpSpPr/>
          <p:nvPr/>
        </p:nvGrpSpPr>
        <p:grpSpPr>
          <a:xfrm rot="0">
            <a:off x="914400" y="907256"/>
            <a:ext cx="16459200" cy="1104424"/>
            <a:chOff x="0" y="0"/>
            <a:chExt cx="21945600" cy="1472565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21945600" cy="1472565"/>
            </a:xfrm>
            <a:custGeom>
              <a:avLst/>
              <a:gdLst/>
              <a:ahLst/>
              <a:cxnLst/>
              <a:rect r="r" b="b" t="t" l="l"/>
              <a:pathLst>
                <a:path h="1472565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472565"/>
                  </a:lnTo>
                  <a:lnTo>
                    <a:pt x="0" y="1472565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40182" r="0" b="-240183"/>
              </a:stretch>
            </a:blipFill>
          </p:spPr>
        </p:sp>
      </p:grpSp>
      <p:grpSp>
        <p:nvGrpSpPr>
          <p:cNvPr name="Group 7" id="7"/>
          <p:cNvGrpSpPr/>
          <p:nvPr/>
        </p:nvGrpSpPr>
        <p:grpSpPr>
          <a:xfrm rot="0">
            <a:off x="914400" y="900112"/>
            <a:ext cx="16459200" cy="1111568"/>
            <a:chOff x="0" y="0"/>
            <a:chExt cx="21945600" cy="148209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21945600" cy="1482090"/>
            </a:xfrm>
            <a:custGeom>
              <a:avLst/>
              <a:gdLst/>
              <a:ahLst/>
              <a:cxnLst/>
              <a:rect r="r" b="b" t="t" l="l"/>
              <a:pathLst>
                <a:path h="148209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482090"/>
                  </a:lnTo>
                  <a:lnTo>
                    <a:pt x="0" y="148209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38317" r="0" b="-238318"/>
              </a:stretch>
            </a:blipFill>
          </p:spPr>
        </p:sp>
      </p:grpSp>
      <p:grpSp>
        <p:nvGrpSpPr>
          <p:cNvPr name="Group 9" id="9"/>
          <p:cNvGrpSpPr/>
          <p:nvPr/>
        </p:nvGrpSpPr>
        <p:grpSpPr>
          <a:xfrm rot="0">
            <a:off x="914400" y="892969"/>
            <a:ext cx="16459200" cy="1118711"/>
            <a:chOff x="0" y="0"/>
            <a:chExt cx="21945600" cy="1491615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21945600" cy="1491615"/>
            </a:xfrm>
            <a:custGeom>
              <a:avLst/>
              <a:gdLst/>
              <a:ahLst/>
              <a:cxnLst/>
              <a:rect r="r" b="b" t="t" l="l"/>
              <a:pathLst>
                <a:path h="1491615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491615"/>
                  </a:lnTo>
                  <a:lnTo>
                    <a:pt x="0" y="1491615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236476" r="0" b="-236477"/>
              </a:stretch>
            </a:blipFill>
          </p:spPr>
        </p:sp>
      </p:grpSp>
      <p:grpSp>
        <p:nvGrpSpPr>
          <p:cNvPr name="Group 11" id="11"/>
          <p:cNvGrpSpPr/>
          <p:nvPr/>
        </p:nvGrpSpPr>
        <p:grpSpPr>
          <a:xfrm rot="0">
            <a:off x="914400" y="885825"/>
            <a:ext cx="16459200" cy="1125855"/>
            <a:chOff x="0" y="0"/>
            <a:chExt cx="21945600" cy="150114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21945600" cy="1501140"/>
            </a:xfrm>
            <a:custGeom>
              <a:avLst/>
              <a:gdLst/>
              <a:ahLst/>
              <a:cxnLst/>
              <a:rect r="r" b="b" t="t" l="l"/>
              <a:pathLst>
                <a:path h="150114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501140"/>
                  </a:lnTo>
                  <a:lnTo>
                    <a:pt x="0" y="1501140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l="0" t="-234659" r="0" b="-234659"/>
              </a:stretch>
            </a:blipFill>
          </p:spPr>
        </p:sp>
      </p:grpSp>
      <p:grpSp>
        <p:nvGrpSpPr>
          <p:cNvPr name="Group 13" id="13"/>
          <p:cNvGrpSpPr/>
          <p:nvPr/>
        </p:nvGrpSpPr>
        <p:grpSpPr>
          <a:xfrm rot="0">
            <a:off x="914400" y="878681"/>
            <a:ext cx="16459200" cy="1132999"/>
            <a:chOff x="0" y="0"/>
            <a:chExt cx="21945600" cy="1510665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21945600" cy="1510665"/>
            </a:xfrm>
            <a:custGeom>
              <a:avLst/>
              <a:gdLst/>
              <a:ahLst/>
              <a:cxnLst/>
              <a:rect r="r" b="b" t="t" l="l"/>
              <a:pathLst>
                <a:path h="1510665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510665"/>
                  </a:lnTo>
                  <a:lnTo>
                    <a:pt x="0" y="1510665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0" t="-232864" r="0" b="-232865"/>
              </a:stretch>
            </a:blipFill>
          </p:spPr>
        </p:sp>
      </p:grpSp>
      <p:grpSp>
        <p:nvGrpSpPr>
          <p:cNvPr name="Group 15" id="15"/>
          <p:cNvGrpSpPr/>
          <p:nvPr/>
        </p:nvGrpSpPr>
        <p:grpSpPr>
          <a:xfrm rot="0">
            <a:off x="914400" y="-444080"/>
            <a:ext cx="16459200" cy="3814241"/>
            <a:chOff x="0" y="0"/>
            <a:chExt cx="21945600" cy="5085654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21945600" cy="5085655"/>
            </a:xfrm>
            <a:custGeom>
              <a:avLst/>
              <a:gdLst/>
              <a:ahLst/>
              <a:cxnLst/>
              <a:rect r="r" b="b" t="t" l="l"/>
              <a:pathLst>
                <a:path h="5085655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5085655"/>
                  </a:lnTo>
                  <a:lnTo>
                    <a:pt x="0" y="5085655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0" t="-69135" r="0" b="972"/>
              </a:stretch>
            </a:blip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9525"/>
              <a:ext cx="21945600" cy="509517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6239"/>
                </a:lnSpc>
              </a:pPr>
              <a:r>
                <a:rPr lang="en-US" sz="5198" b="true">
                  <a:solidFill>
                    <a:srgbClr val="2E5634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Panorama</a:t>
              </a:r>
            </a:p>
          </p:txBody>
        </p:sp>
      </p:grpSp>
      <p:grpSp>
        <p:nvGrpSpPr>
          <p:cNvPr name="Group 18" id="18"/>
          <p:cNvGrpSpPr/>
          <p:nvPr/>
        </p:nvGrpSpPr>
        <p:grpSpPr>
          <a:xfrm rot="0">
            <a:off x="822960" y="9572625"/>
            <a:ext cx="8229600" cy="440055"/>
            <a:chOff x="0" y="0"/>
            <a:chExt cx="10972800" cy="586740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10972800" cy="586740"/>
            </a:xfrm>
            <a:custGeom>
              <a:avLst/>
              <a:gdLst/>
              <a:ahLst/>
              <a:cxnLst/>
              <a:rect r="r" b="b" t="t" l="l"/>
              <a:pathLst>
                <a:path h="5867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586740"/>
                  </a:lnTo>
                  <a:lnTo>
                    <a:pt x="0" y="5867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314142" r="0" b="-314140"/>
              </a:stretch>
            </a:blipFill>
          </p:spPr>
        </p:sp>
      </p:grpSp>
      <p:grpSp>
        <p:nvGrpSpPr>
          <p:cNvPr name="Group 20" id="20"/>
          <p:cNvGrpSpPr/>
          <p:nvPr/>
        </p:nvGrpSpPr>
        <p:grpSpPr>
          <a:xfrm rot="0">
            <a:off x="822960" y="9544050"/>
            <a:ext cx="8229600" cy="468630"/>
            <a:chOff x="0" y="0"/>
            <a:chExt cx="10972800" cy="624840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10972800" cy="624840"/>
            </a:xfrm>
            <a:custGeom>
              <a:avLst/>
              <a:gdLst/>
              <a:ahLst/>
              <a:cxnLst/>
              <a:rect r="r" b="b" t="t" l="l"/>
              <a:pathLst>
                <a:path h="6248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624840"/>
                  </a:lnTo>
                  <a:lnTo>
                    <a:pt x="0" y="6248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91939" r="0" b="-291936"/>
              </a:stretch>
            </a:blipFill>
          </p:spPr>
        </p:sp>
      </p:grpSp>
      <p:grpSp>
        <p:nvGrpSpPr>
          <p:cNvPr name="Group 22" id="22"/>
          <p:cNvGrpSpPr/>
          <p:nvPr/>
        </p:nvGrpSpPr>
        <p:grpSpPr>
          <a:xfrm rot="0">
            <a:off x="822960" y="9515475"/>
            <a:ext cx="8229600" cy="497205"/>
            <a:chOff x="0" y="0"/>
            <a:chExt cx="10972800" cy="662940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10972800" cy="662940"/>
            </a:xfrm>
            <a:custGeom>
              <a:avLst/>
              <a:gdLst/>
              <a:ahLst/>
              <a:cxnLst/>
              <a:rect r="r" b="b" t="t" l="l"/>
              <a:pathLst>
                <a:path h="6629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662940"/>
                  </a:lnTo>
                  <a:lnTo>
                    <a:pt x="0" y="66294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72287" r="0" b="-272285"/>
              </a:stretch>
            </a:blipFill>
          </p:spPr>
        </p:sp>
      </p:grpSp>
      <p:grpSp>
        <p:nvGrpSpPr>
          <p:cNvPr name="Group 24" id="24"/>
          <p:cNvGrpSpPr/>
          <p:nvPr/>
        </p:nvGrpSpPr>
        <p:grpSpPr>
          <a:xfrm rot="0">
            <a:off x="822960" y="9486900"/>
            <a:ext cx="8229600" cy="525780"/>
            <a:chOff x="0" y="0"/>
            <a:chExt cx="10972800" cy="701040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10972800" cy="701040"/>
            </a:xfrm>
            <a:custGeom>
              <a:avLst/>
              <a:gdLst/>
              <a:ahLst/>
              <a:cxnLst/>
              <a:rect r="r" b="b" t="t" l="l"/>
              <a:pathLst>
                <a:path h="7010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701040"/>
                  </a:lnTo>
                  <a:lnTo>
                    <a:pt x="0" y="701040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254771" r="0" b="-254769"/>
              </a:stretch>
            </a:blipFill>
          </p:spPr>
        </p:sp>
      </p:grpSp>
      <p:grpSp>
        <p:nvGrpSpPr>
          <p:cNvPr name="Group 26" id="26"/>
          <p:cNvGrpSpPr/>
          <p:nvPr/>
        </p:nvGrpSpPr>
        <p:grpSpPr>
          <a:xfrm rot="0">
            <a:off x="822960" y="9458325"/>
            <a:ext cx="8229600" cy="554355"/>
            <a:chOff x="0" y="0"/>
            <a:chExt cx="10972800" cy="739140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10972800" cy="739140"/>
            </a:xfrm>
            <a:custGeom>
              <a:avLst/>
              <a:gdLst/>
              <a:ahLst/>
              <a:cxnLst/>
              <a:rect r="r" b="b" t="t" l="l"/>
              <a:pathLst>
                <a:path h="7391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739140"/>
                  </a:lnTo>
                  <a:lnTo>
                    <a:pt x="0" y="739140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l="0" t="-239061" r="0" b="-239060"/>
              </a:stretch>
            </a:blipFill>
          </p:spPr>
        </p:sp>
      </p:grpSp>
      <p:grpSp>
        <p:nvGrpSpPr>
          <p:cNvPr name="Group 28" id="28"/>
          <p:cNvGrpSpPr/>
          <p:nvPr/>
        </p:nvGrpSpPr>
        <p:grpSpPr>
          <a:xfrm rot="0">
            <a:off x="822960" y="9429750"/>
            <a:ext cx="8229600" cy="582930"/>
            <a:chOff x="0" y="0"/>
            <a:chExt cx="10972800" cy="777240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10972800" cy="777240"/>
            </a:xfrm>
            <a:custGeom>
              <a:avLst/>
              <a:gdLst/>
              <a:ahLst/>
              <a:cxnLst/>
              <a:rect r="r" b="b" t="t" l="l"/>
              <a:pathLst>
                <a:path h="7772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777240"/>
                  </a:lnTo>
                  <a:lnTo>
                    <a:pt x="0" y="777240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0" t="-224892" r="0" b="-224890"/>
              </a:stretch>
            </a:blipFill>
          </p:spPr>
        </p:sp>
      </p:grpSp>
      <p:grpSp>
        <p:nvGrpSpPr>
          <p:cNvPr name="Group 30" id="30"/>
          <p:cNvGrpSpPr/>
          <p:nvPr/>
        </p:nvGrpSpPr>
        <p:grpSpPr>
          <a:xfrm rot="0">
            <a:off x="822960" y="9401175"/>
            <a:ext cx="8229600" cy="611505"/>
            <a:chOff x="0" y="0"/>
            <a:chExt cx="10972800" cy="815340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10972800" cy="815340"/>
            </a:xfrm>
            <a:custGeom>
              <a:avLst/>
              <a:gdLst/>
              <a:ahLst/>
              <a:cxnLst/>
              <a:rect r="r" b="b" t="t" l="l"/>
              <a:pathLst>
                <a:path h="8153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815340"/>
                  </a:lnTo>
                  <a:lnTo>
                    <a:pt x="0" y="815340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0" t="-212228" r="0" b="-212228"/>
              </a:stretch>
            </a:blipFill>
          </p:spPr>
        </p:sp>
        <p:sp>
          <p:nvSpPr>
            <p:cNvPr name="TextBox 32" id="32"/>
            <p:cNvSpPr txBox="true"/>
            <p:nvPr/>
          </p:nvSpPr>
          <p:spPr>
            <a:xfrm>
              <a:off x="0" y="-38100"/>
              <a:ext cx="10972800" cy="8534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6B728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WeFIND  |  TCC  |  IFSul Campus Pelotas</a:t>
              </a:r>
            </a:p>
          </p:txBody>
        </p:sp>
      </p:grpSp>
      <p:grpSp>
        <p:nvGrpSpPr>
          <p:cNvPr name="Group 33" id="33"/>
          <p:cNvGrpSpPr/>
          <p:nvPr/>
        </p:nvGrpSpPr>
        <p:grpSpPr>
          <a:xfrm rot="0">
            <a:off x="914400" y="2148840"/>
            <a:ext cx="7955280" cy="6720840"/>
            <a:chOff x="0" y="0"/>
            <a:chExt cx="10607040" cy="8961120"/>
          </a:xfrm>
        </p:grpSpPr>
        <p:sp>
          <p:nvSpPr>
            <p:cNvPr name="Freeform 34" id="34"/>
            <p:cNvSpPr/>
            <p:nvPr/>
          </p:nvSpPr>
          <p:spPr>
            <a:xfrm flipH="false" flipV="false" rot="0">
              <a:off x="0" y="0"/>
              <a:ext cx="10607039" cy="8961120"/>
            </a:xfrm>
            <a:custGeom>
              <a:avLst/>
              <a:gdLst/>
              <a:ahLst/>
              <a:cxnLst/>
              <a:rect r="r" b="b" t="t" l="l"/>
              <a:pathLst>
                <a:path h="8961120" w="10607039">
                  <a:moveTo>
                    <a:pt x="0" y="358394"/>
                  </a:moveTo>
                  <a:cubicBezTo>
                    <a:pt x="0" y="160528"/>
                    <a:pt x="160528" y="0"/>
                    <a:pt x="358394" y="0"/>
                  </a:cubicBezTo>
                  <a:lnTo>
                    <a:pt x="10248646" y="0"/>
                  </a:lnTo>
                  <a:cubicBezTo>
                    <a:pt x="10446639" y="0"/>
                    <a:pt x="10607039" y="160528"/>
                    <a:pt x="10607039" y="358394"/>
                  </a:cubicBezTo>
                  <a:lnTo>
                    <a:pt x="10607039" y="8602726"/>
                  </a:lnTo>
                  <a:cubicBezTo>
                    <a:pt x="10607039" y="8800719"/>
                    <a:pt x="10446512" y="8961120"/>
                    <a:pt x="10248646" y="8961120"/>
                  </a:cubicBezTo>
                  <a:lnTo>
                    <a:pt x="358394" y="8961120"/>
                  </a:lnTo>
                  <a:cubicBezTo>
                    <a:pt x="160528" y="8961120"/>
                    <a:pt x="0" y="8800592"/>
                    <a:pt x="0" y="8602726"/>
                  </a:cubicBezTo>
                  <a:close/>
                </a:path>
              </a:pathLst>
            </a:custGeom>
            <a:solidFill>
              <a:srgbClr val="EEF3ED"/>
            </a:solidFill>
          </p:spPr>
        </p:sp>
      </p:grpSp>
      <p:sp>
        <p:nvSpPr>
          <p:cNvPr name="TextBox 35" id="35"/>
          <p:cNvSpPr txBox="true"/>
          <p:nvPr/>
        </p:nvSpPr>
        <p:spPr>
          <a:xfrm rot="0">
            <a:off x="1371600" y="2440305"/>
            <a:ext cx="7040880" cy="2667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19"/>
              </a:lnSpc>
            </a:pPr>
            <a:r>
              <a:rPr lang="en-US" sz="1599" b="true">
                <a:solidFill>
                  <a:srgbClr val="2E5634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ESTUDOS</a:t>
            </a:r>
          </a:p>
        </p:txBody>
      </p:sp>
      <p:grpSp>
        <p:nvGrpSpPr>
          <p:cNvPr name="Group 36" id="36"/>
          <p:cNvGrpSpPr/>
          <p:nvPr/>
        </p:nvGrpSpPr>
        <p:grpSpPr>
          <a:xfrm rot="0">
            <a:off x="1371600" y="3108960"/>
            <a:ext cx="3200400" cy="2468880"/>
            <a:chOff x="0" y="0"/>
            <a:chExt cx="4267200" cy="3291840"/>
          </a:xfrm>
        </p:grpSpPr>
        <p:sp>
          <p:nvSpPr>
            <p:cNvPr name="Freeform 37" id="37"/>
            <p:cNvSpPr/>
            <p:nvPr/>
          </p:nvSpPr>
          <p:spPr>
            <a:xfrm flipH="false" flipV="false" rot="0">
              <a:off x="0" y="0"/>
              <a:ext cx="4267200" cy="3291840"/>
            </a:xfrm>
            <a:custGeom>
              <a:avLst/>
              <a:gdLst/>
              <a:ahLst/>
              <a:cxnLst/>
              <a:rect r="r" b="b" t="t" l="l"/>
              <a:pathLst>
                <a:path h="3291840" w="4267200">
                  <a:moveTo>
                    <a:pt x="0" y="0"/>
                  </a:moveTo>
                  <a:lnTo>
                    <a:pt x="4267200" y="0"/>
                  </a:lnTo>
                  <a:lnTo>
                    <a:pt x="4267200" y="3291840"/>
                  </a:lnTo>
                  <a:lnTo>
                    <a:pt x="0" y="3291840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-48977" t="0" r="-48977" b="0"/>
              </a:stretch>
            </a:blipFill>
          </p:spPr>
        </p:sp>
        <p:sp>
          <p:nvSpPr>
            <p:cNvPr name="TextBox 38" id="38"/>
            <p:cNvSpPr txBox="true"/>
            <p:nvPr/>
          </p:nvSpPr>
          <p:spPr>
            <a:xfrm>
              <a:off x="0" y="-9525"/>
              <a:ext cx="4267200" cy="330136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6480"/>
                </a:lnSpc>
              </a:pPr>
              <a:r>
                <a:rPr lang="en-US" sz="5400" b="true">
                  <a:solidFill>
                    <a:srgbClr val="2E5634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33,8 mi</a:t>
              </a:r>
            </a:p>
          </p:txBody>
        </p:sp>
      </p:grpSp>
      <p:grpSp>
        <p:nvGrpSpPr>
          <p:cNvPr name="Group 39" id="39"/>
          <p:cNvGrpSpPr/>
          <p:nvPr/>
        </p:nvGrpSpPr>
        <p:grpSpPr>
          <a:xfrm rot="0">
            <a:off x="4572000" y="3108960"/>
            <a:ext cx="3840480" cy="2468880"/>
            <a:chOff x="0" y="0"/>
            <a:chExt cx="5120640" cy="3291840"/>
          </a:xfrm>
        </p:grpSpPr>
        <p:sp>
          <p:nvSpPr>
            <p:cNvPr name="Freeform 40" id="40"/>
            <p:cNvSpPr/>
            <p:nvPr/>
          </p:nvSpPr>
          <p:spPr>
            <a:xfrm flipH="false" flipV="false" rot="0">
              <a:off x="0" y="0"/>
              <a:ext cx="5120639" cy="3291840"/>
            </a:xfrm>
            <a:custGeom>
              <a:avLst/>
              <a:gdLst/>
              <a:ahLst/>
              <a:cxnLst/>
              <a:rect r="r" b="b" t="t" l="l"/>
              <a:pathLst>
                <a:path h="3291840" w="5120639">
                  <a:moveTo>
                    <a:pt x="0" y="0"/>
                  </a:moveTo>
                  <a:lnTo>
                    <a:pt x="5120639" y="0"/>
                  </a:lnTo>
                  <a:lnTo>
                    <a:pt x="5120639" y="3291840"/>
                  </a:lnTo>
                  <a:lnTo>
                    <a:pt x="0" y="3291840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-32480" t="0" r="-32480" b="0"/>
              </a:stretch>
            </a:blipFill>
          </p:spPr>
        </p:sp>
        <p:sp>
          <p:nvSpPr>
            <p:cNvPr name="TextBox 41" id="41"/>
            <p:cNvSpPr txBox="true"/>
            <p:nvPr/>
          </p:nvSpPr>
          <p:spPr>
            <a:xfrm>
              <a:off x="0" y="-38100"/>
              <a:ext cx="5120640" cy="33299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400"/>
                </a:lnSpc>
              </a:pPr>
              <a:r>
                <a:rPr lang="en-US" sz="2000">
                  <a:solidFill>
                    <a:srgbClr val="1B2A1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de lares brasileiros têm cachorro, e 14,1 milhões têm gato</a:t>
              </a:r>
            </a:p>
            <a:p>
              <a:pPr algn="l">
                <a:lnSpc>
                  <a:spcPts val="1680"/>
                </a:lnSpc>
              </a:pPr>
              <a:r>
                <a:rPr lang="en-US" sz="1400">
                  <a:solidFill>
                    <a:srgbClr val="5B6B5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IBGE, 2020</a:t>
              </a:r>
            </a:p>
          </p:txBody>
        </p:sp>
      </p:grpSp>
      <p:sp>
        <p:nvSpPr>
          <p:cNvPr name="AutoShape 42" id="42"/>
          <p:cNvSpPr/>
          <p:nvPr/>
        </p:nvSpPr>
        <p:spPr>
          <a:xfrm rot="6180">
            <a:off x="1365247" y="5682806"/>
            <a:ext cx="7053596" cy="0"/>
          </a:xfrm>
          <a:prstGeom prst="line">
            <a:avLst/>
          </a:prstGeom>
          <a:ln cap="rnd" w="9525">
            <a:solidFill>
              <a:srgbClr val="C9D4C6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43" id="43"/>
          <p:cNvGrpSpPr/>
          <p:nvPr/>
        </p:nvGrpSpPr>
        <p:grpSpPr>
          <a:xfrm rot="0">
            <a:off x="1371600" y="5852160"/>
            <a:ext cx="3200400" cy="2468880"/>
            <a:chOff x="0" y="0"/>
            <a:chExt cx="4267200" cy="3291840"/>
          </a:xfrm>
        </p:grpSpPr>
        <p:sp>
          <p:nvSpPr>
            <p:cNvPr name="Freeform 44" id="44"/>
            <p:cNvSpPr/>
            <p:nvPr/>
          </p:nvSpPr>
          <p:spPr>
            <a:xfrm flipH="false" flipV="false" rot="0">
              <a:off x="0" y="0"/>
              <a:ext cx="4267200" cy="3291840"/>
            </a:xfrm>
            <a:custGeom>
              <a:avLst/>
              <a:gdLst/>
              <a:ahLst/>
              <a:cxnLst/>
              <a:rect r="r" b="b" t="t" l="l"/>
              <a:pathLst>
                <a:path h="3291840" w="4267200">
                  <a:moveTo>
                    <a:pt x="0" y="0"/>
                  </a:moveTo>
                  <a:lnTo>
                    <a:pt x="4267200" y="0"/>
                  </a:lnTo>
                  <a:lnTo>
                    <a:pt x="4267200" y="3291840"/>
                  </a:lnTo>
                  <a:lnTo>
                    <a:pt x="0" y="3291840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-48977" t="0" r="-48977" b="0"/>
              </a:stretch>
            </a:blipFill>
          </p:spPr>
        </p:sp>
        <p:sp>
          <p:nvSpPr>
            <p:cNvPr name="TextBox 45" id="45"/>
            <p:cNvSpPr txBox="true"/>
            <p:nvPr/>
          </p:nvSpPr>
          <p:spPr>
            <a:xfrm>
              <a:off x="0" y="-9525"/>
              <a:ext cx="4267200" cy="330136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6480"/>
                </a:lnSpc>
              </a:pPr>
              <a:r>
                <a:rPr lang="en-US" sz="5400" b="true">
                  <a:solidFill>
                    <a:srgbClr val="2E5634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15%</a:t>
              </a:r>
            </a:p>
          </p:txBody>
        </p:sp>
      </p:grpSp>
      <p:grpSp>
        <p:nvGrpSpPr>
          <p:cNvPr name="Group 46" id="46"/>
          <p:cNvGrpSpPr/>
          <p:nvPr/>
        </p:nvGrpSpPr>
        <p:grpSpPr>
          <a:xfrm rot="0">
            <a:off x="4572000" y="5852160"/>
            <a:ext cx="3840480" cy="2468880"/>
            <a:chOff x="0" y="0"/>
            <a:chExt cx="5120640" cy="3291840"/>
          </a:xfrm>
        </p:grpSpPr>
        <p:sp>
          <p:nvSpPr>
            <p:cNvPr name="Freeform 47" id="47"/>
            <p:cNvSpPr/>
            <p:nvPr/>
          </p:nvSpPr>
          <p:spPr>
            <a:xfrm flipH="false" flipV="false" rot="0">
              <a:off x="0" y="0"/>
              <a:ext cx="5120639" cy="3291840"/>
            </a:xfrm>
            <a:custGeom>
              <a:avLst/>
              <a:gdLst/>
              <a:ahLst/>
              <a:cxnLst/>
              <a:rect r="r" b="b" t="t" l="l"/>
              <a:pathLst>
                <a:path h="3291840" w="5120639">
                  <a:moveTo>
                    <a:pt x="0" y="0"/>
                  </a:moveTo>
                  <a:lnTo>
                    <a:pt x="5120639" y="0"/>
                  </a:lnTo>
                  <a:lnTo>
                    <a:pt x="5120639" y="3291840"/>
                  </a:lnTo>
                  <a:lnTo>
                    <a:pt x="0" y="3291840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-32480" t="0" r="-32480" b="0"/>
              </a:stretch>
            </a:blipFill>
          </p:spPr>
        </p:sp>
        <p:sp>
          <p:nvSpPr>
            <p:cNvPr name="TextBox 48" id="48"/>
            <p:cNvSpPr txBox="true"/>
            <p:nvPr/>
          </p:nvSpPr>
          <p:spPr>
            <a:xfrm>
              <a:off x="0" y="-38100"/>
              <a:ext cx="5120640" cy="33299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400"/>
                </a:lnSpc>
              </a:pPr>
              <a:r>
                <a:rPr lang="en-US" sz="2000">
                  <a:solidFill>
                    <a:srgbClr val="1B2A1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dos tutores já perderam um cão ou gato</a:t>
              </a:r>
            </a:p>
            <a:p>
              <a:pPr algn="l">
                <a:lnSpc>
                  <a:spcPts val="1680"/>
                </a:lnSpc>
              </a:pPr>
              <a:r>
                <a:rPr lang="en-US" sz="1400">
                  <a:solidFill>
                    <a:srgbClr val="5B6B5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EUA · Weiss et al., 2012</a:t>
              </a:r>
            </a:p>
          </p:txBody>
        </p:sp>
      </p:grpSp>
      <p:grpSp>
        <p:nvGrpSpPr>
          <p:cNvPr name="Group 49" id="49"/>
          <p:cNvGrpSpPr/>
          <p:nvPr/>
        </p:nvGrpSpPr>
        <p:grpSpPr>
          <a:xfrm rot="0">
            <a:off x="9418320" y="2148840"/>
            <a:ext cx="7955280" cy="6720840"/>
            <a:chOff x="0" y="0"/>
            <a:chExt cx="10607040" cy="8961120"/>
          </a:xfrm>
        </p:grpSpPr>
        <p:sp>
          <p:nvSpPr>
            <p:cNvPr name="Freeform 50" id="50"/>
            <p:cNvSpPr/>
            <p:nvPr/>
          </p:nvSpPr>
          <p:spPr>
            <a:xfrm flipH="false" flipV="false" rot="0">
              <a:off x="0" y="0"/>
              <a:ext cx="10607039" cy="8961120"/>
            </a:xfrm>
            <a:custGeom>
              <a:avLst/>
              <a:gdLst/>
              <a:ahLst/>
              <a:cxnLst/>
              <a:rect r="r" b="b" t="t" l="l"/>
              <a:pathLst>
                <a:path h="8961120" w="10607039">
                  <a:moveTo>
                    <a:pt x="0" y="358394"/>
                  </a:moveTo>
                  <a:cubicBezTo>
                    <a:pt x="0" y="160528"/>
                    <a:pt x="160528" y="0"/>
                    <a:pt x="358394" y="0"/>
                  </a:cubicBezTo>
                  <a:lnTo>
                    <a:pt x="10248646" y="0"/>
                  </a:lnTo>
                  <a:cubicBezTo>
                    <a:pt x="10446639" y="0"/>
                    <a:pt x="10607039" y="160528"/>
                    <a:pt x="10607039" y="358394"/>
                  </a:cubicBezTo>
                  <a:lnTo>
                    <a:pt x="10607039" y="8602726"/>
                  </a:lnTo>
                  <a:cubicBezTo>
                    <a:pt x="10607039" y="8800719"/>
                    <a:pt x="10446512" y="8961120"/>
                    <a:pt x="10248646" y="8961120"/>
                  </a:cubicBezTo>
                  <a:lnTo>
                    <a:pt x="358394" y="8961120"/>
                  </a:lnTo>
                  <a:cubicBezTo>
                    <a:pt x="160528" y="8961120"/>
                    <a:pt x="0" y="8800592"/>
                    <a:pt x="0" y="8602726"/>
                  </a:cubicBezTo>
                  <a:close/>
                </a:path>
              </a:pathLst>
            </a:custGeom>
            <a:solidFill>
              <a:srgbClr val="F8EFE8"/>
            </a:solidFill>
          </p:spPr>
        </p:sp>
      </p:grpSp>
      <p:sp>
        <p:nvSpPr>
          <p:cNvPr name="TextBox 51" id="51"/>
          <p:cNvSpPr txBox="true"/>
          <p:nvPr/>
        </p:nvSpPr>
        <p:spPr>
          <a:xfrm rot="0">
            <a:off x="9875520" y="2440305"/>
            <a:ext cx="7040880" cy="2667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19"/>
              </a:lnSpc>
            </a:pPr>
            <a:r>
              <a:rPr lang="en-US" sz="1599" b="true">
                <a:solidFill>
                  <a:srgbClr val="B1734A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PESQUISA DE CAMPO</a:t>
            </a:r>
          </a:p>
        </p:txBody>
      </p:sp>
      <p:grpSp>
        <p:nvGrpSpPr>
          <p:cNvPr name="Group 52" id="52"/>
          <p:cNvGrpSpPr/>
          <p:nvPr/>
        </p:nvGrpSpPr>
        <p:grpSpPr>
          <a:xfrm rot="0">
            <a:off x="9875520" y="3108960"/>
            <a:ext cx="3200400" cy="1554480"/>
            <a:chOff x="0" y="0"/>
            <a:chExt cx="4267200" cy="2072640"/>
          </a:xfrm>
        </p:grpSpPr>
        <p:sp>
          <p:nvSpPr>
            <p:cNvPr name="Freeform 53" id="53"/>
            <p:cNvSpPr/>
            <p:nvPr/>
          </p:nvSpPr>
          <p:spPr>
            <a:xfrm flipH="false" flipV="false" rot="0">
              <a:off x="0" y="0"/>
              <a:ext cx="4267200" cy="2072640"/>
            </a:xfrm>
            <a:custGeom>
              <a:avLst/>
              <a:gdLst/>
              <a:ahLst/>
              <a:cxnLst/>
              <a:rect r="r" b="b" t="t" l="l"/>
              <a:pathLst>
                <a:path h="2072640" w="4267200">
                  <a:moveTo>
                    <a:pt x="0" y="0"/>
                  </a:moveTo>
                  <a:lnTo>
                    <a:pt x="4267200" y="0"/>
                  </a:lnTo>
                  <a:lnTo>
                    <a:pt x="4267200" y="2072640"/>
                  </a:lnTo>
                  <a:lnTo>
                    <a:pt x="0" y="2072640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-12318" t="0" r="-12318" b="0"/>
              </a:stretch>
            </a:blipFill>
          </p:spPr>
        </p:sp>
        <p:sp>
          <p:nvSpPr>
            <p:cNvPr name="TextBox 54" id="54"/>
            <p:cNvSpPr txBox="true"/>
            <p:nvPr/>
          </p:nvSpPr>
          <p:spPr>
            <a:xfrm>
              <a:off x="0" y="-9525"/>
              <a:ext cx="4267200" cy="208216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6480"/>
                </a:lnSpc>
              </a:pPr>
              <a:r>
                <a:rPr lang="en-US" sz="5400" b="true">
                  <a:solidFill>
                    <a:srgbClr val="B1734A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48%</a:t>
              </a:r>
            </a:p>
          </p:txBody>
        </p:sp>
      </p:grpSp>
      <p:grpSp>
        <p:nvGrpSpPr>
          <p:cNvPr name="Group 55" id="55"/>
          <p:cNvGrpSpPr/>
          <p:nvPr/>
        </p:nvGrpSpPr>
        <p:grpSpPr>
          <a:xfrm rot="0">
            <a:off x="13075920" y="3108960"/>
            <a:ext cx="3840480" cy="1554480"/>
            <a:chOff x="0" y="0"/>
            <a:chExt cx="5120640" cy="2072640"/>
          </a:xfrm>
        </p:grpSpPr>
        <p:sp>
          <p:nvSpPr>
            <p:cNvPr name="Freeform 56" id="56"/>
            <p:cNvSpPr/>
            <p:nvPr/>
          </p:nvSpPr>
          <p:spPr>
            <a:xfrm flipH="false" flipV="false" rot="0">
              <a:off x="0" y="0"/>
              <a:ext cx="5120639" cy="2072640"/>
            </a:xfrm>
            <a:custGeom>
              <a:avLst/>
              <a:gdLst/>
              <a:ahLst/>
              <a:cxnLst/>
              <a:rect r="r" b="b" t="t" l="l"/>
              <a:pathLst>
                <a:path h="2072640" w="5120639">
                  <a:moveTo>
                    <a:pt x="0" y="0"/>
                  </a:moveTo>
                  <a:lnTo>
                    <a:pt x="5120639" y="0"/>
                  </a:lnTo>
                  <a:lnTo>
                    <a:pt x="5120639" y="2072640"/>
                  </a:lnTo>
                  <a:lnTo>
                    <a:pt x="0" y="2072640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-1932" t="0" r="-1932" b="0"/>
              </a:stretch>
            </a:blipFill>
          </p:spPr>
        </p:sp>
        <p:sp>
          <p:nvSpPr>
            <p:cNvPr name="TextBox 57" id="57"/>
            <p:cNvSpPr txBox="true"/>
            <p:nvPr/>
          </p:nvSpPr>
          <p:spPr>
            <a:xfrm>
              <a:off x="0" y="-38100"/>
              <a:ext cx="5120640" cy="21107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400"/>
                </a:lnSpc>
              </a:pPr>
              <a:r>
                <a:rPr lang="en-US" sz="2000">
                  <a:solidFill>
                    <a:srgbClr val="1B2A1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não usam coleira, plaquinha ou microchip no animal</a:t>
              </a:r>
            </a:p>
            <a:p>
              <a:pPr algn="l">
                <a:lnSpc>
                  <a:spcPts val="1680"/>
                </a:lnSpc>
              </a:pPr>
              <a:r>
                <a:rPr lang="en-US" sz="1400">
                  <a:solidFill>
                    <a:srgbClr val="5B6B5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Pesquisa de campo · 23 de 48</a:t>
              </a:r>
            </a:p>
          </p:txBody>
        </p:sp>
      </p:grpSp>
      <p:sp>
        <p:nvSpPr>
          <p:cNvPr name="AutoShape 58" id="58"/>
          <p:cNvSpPr/>
          <p:nvPr/>
        </p:nvSpPr>
        <p:spPr>
          <a:xfrm rot="6180">
            <a:off x="9869167" y="4768406"/>
            <a:ext cx="7053596" cy="0"/>
          </a:xfrm>
          <a:prstGeom prst="line">
            <a:avLst/>
          </a:prstGeom>
          <a:ln cap="rnd" w="9525">
            <a:solidFill>
              <a:srgbClr val="C9D4C6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59" id="59"/>
          <p:cNvGrpSpPr/>
          <p:nvPr/>
        </p:nvGrpSpPr>
        <p:grpSpPr>
          <a:xfrm rot="0">
            <a:off x="9875520" y="4937760"/>
            <a:ext cx="3200400" cy="1554480"/>
            <a:chOff x="0" y="0"/>
            <a:chExt cx="4267200" cy="2072640"/>
          </a:xfrm>
        </p:grpSpPr>
        <p:sp>
          <p:nvSpPr>
            <p:cNvPr name="Freeform 60" id="60"/>
            <p:cNvSpPr/>
            <p:nvPr/>
          </p:nvSpPr>
          <p:spPr>
            <a:xfrm flipH="false" flipV="false" rot="0">
              <a:off x="0" y="0"/>
              <a:ext cx="4267200" cy="2072640"/>
            </a:xfrm>
            <a:custGeom>
              <a:avLst/>
              <a:gdLst/>
              <a:ahLst/>
              <a:cxnLst/>
              <a:rect r="r" b="b" t="t" l="l"/>
              <a:pathLst>
                <a:path h="2072640" w="4267200">
                  <a:moveTo>
                    <a:pt x="0" y="0"/>
                  </a:moveTo>
                  <a:lnTo>
                    <a:pt x="4267200" y="0"/>
                  </a:lnTo>
                  <a:lnTo>
                    <a:pt x="4267200" y="2072640"/>
                  </a:lnTo>
                  <a:lnTo>
                    <a:pt x="0" y="2072640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-12318" t="0" r="-12318" b="0"/>
              </a:stretch>
            </a:blipFill>
          </p:spPr>
        </p:sp>
        <p:sp>
          <p:nvSpPr>
            <p:cNvPr name="TextBox 61" id="61"/>
            <p:cNvSpPr txBox="true"/>
            <p:nvPr/>
          </p:nvSpPr>
          <p:spPr>
            <a:xfrm>
              <a:off x="0" y="-9525"/>
              <a:ext cx="4267200" cy="208216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6480"/>
                </a:lnSpc>
              </a:pPr>
              <a:r>
                <a:rPr lang="en-US" sz="5400" b="true">
                  <a:solidFill>
                    <a:srgbClr val="B1734A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32%</a:t>
              </a:r>
            </a:p>
          </p:txBody>
        </p:sp>
      </p:grpSp>
      <p:grpSp>
        <p:nvGrpSpPr>
          <p:cNvPr name="Group 62" id="62"/>
          <p:cNvGrpSpPr/>
          <p:nvPr/>
        </p:nvGrpSpPr>
        <p:grpSpPr>
          <a:xfrm rot="0">
            <a:off x="13075920" y="4937760"/>
            <a:ext cx="3840480" cy="1554480"/>
            <a:chOff x="0" y="0"/>
            <a:chExt cx="5120640" cy="2072640"/>
          </a:xfrm>
        </p:grpSpPr>
        <p:sp>
          <p:nvSpPr>
            <p:cNvPr name="Freeform 63" id="63"/>
            <p:cNvSpPr/>
            <p:nvPr/>
          </p:nvSpPr>
          <p:spPr>
            <a:xfrm flipH="false" flipV="false" rot="0">
              <a:off x="0" y="0"/>
              <a:ext cx="5120639" cy="2072640"/>
            </a:xfrm>
            <a:custGeom>
              <a:avLst/>
              <a:gdLst/>
              <a:ahLst/>
              <a:cxnLst/>
              <a:rect r="r" b="b" t="t" l="l"/>
              <a:pathLst>
                <a:path h="2072640" w="5120639">
                  <a:moveTo>
                    <a:pt x="0" y="0"/>
                  </a:moveTo>
                  <a:lnTo>
                    <a:pt x="5120639" y="0"/>
                  </a:lnTo>
                  <a:lnTo>
                    <a:pt x="5120639" y="2072640"/>
                  </a:lnTo>
                  <a:lnTo>
                    <a:pt x="0" y="2072640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-1932" t="0" r="-1932" b="0"/>
              </a:stretch>
            </a:blipFill>
          </p:spPr>
        </p:sp>
        <p:sp>
          <p:nvSpPr>
            <p:cNvPr name="TextBox 64" id="64"/>
            <p:cNvSpPr txBox="true"/>
            <p:nvPr/>
          </p:nvSpPr>
          <p:spPr>
            <a:xfrm>
              <a:off x="0" y="-38100"/>
              <a:ext cx="5120640" cy="21107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400"/>
                </a:lnSpc>
              </a:pPr>
              <a:r>
                <a:rPr lang="en-US" sz="2000">
                  <a:solidFill>
                    <a:srgbClr val="1B2A1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de quem já perdeu um animal nunca o reencontrou</a:t>
              </a:r>
            </a:p>
            <a:p>
              <a:pPr algn="l">
                <a:lnSpc>
                  <a:spcPts val="1680"/>
                </a:lnSpc>
              </a:pPr>
              <a:r>
                <a:rPr lang="en-US" sz="1400">
                  <a:solidFill>
                    <a:srgbClr val="5B6B5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Pesquisa de campo · 8 de 25</a:t>
              </a:r>
            </a:p>
          </p:txBody>
        </p:sp>
      </p:grpSp>
      <p:sp>
        <p:nvSpPr>
          <p:cNvPr name="AutoShape 65" id="65"/>
          <p:cNvSpPr/>
          <p:nvPr/>
        </p:nvSpPr>
        <p:spPr>
          <a:xfrm rot="6180">
            <a:off x="9869167" y="6597206"/>
            <a:ext cx="7053596" cy="0"/>
          </a:xfrm>
          <a:prstGeom prst="line">
            <a:avLst/>
          </a:prstGeom>
          <a:ln cap="rnd" w="9525">
            <a:solidFill>
              <a:srgbClr val="C9D4C6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66" id="66"/>
          <p:cNvGrpSpPr/>
          <p:nvPr/>
        </p:nvGrpSpPr>
        <p:grpSpPr>
          <a:xfrm rot="0">
            <a:off x="9875520" y="6766560"/>
            <a:ext cx="3200400" cy="1554480"/>
            <a:chOff x="0" y="0"/>
            <a:chExt cx="4267200" cy="2072640"/>
          </a:xfrm>
        </p:grpSpPr>
        <p:sp>
          <p:nvSpPr>
            <p:cNvPr name="Freeform 67" id="67"/>
            <p:cNvSpPr/>
            <p:nvPr/>
          </p:nvSpPr>
          <p:spPr>
            <a:xfrm flipH="false" flipV="false" rot="0">
              <a:off x="0" y="0"/>
              <a:ext cx="4267200" cy="2072640"/>
            </a:xfrm>
            <a:custGeom>
              <a:avLst/>
              <a:gdLst/>
              <a:ahLst/>
              <a:cxnLst/>
              <a:rect r="r" b="b" t="t" l="l"/>
              <a:pathLst>
                <a:path h="2072640" w="4267200">
                  <a:moveTo>
                    <a:pt x="0" y="0"/>
                  </a:moveTo>
                  <a:lnTo>
                    <a:pt x="4267200" y="0"/>
                  </a:lnTo>
                  <a:lnTo>
                    <a:pt x="4267200" y="2072640"/>
                  </a:lnTo>
                  <a:lnTo>
                    <a:pt x="0" y="2072640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-12318" t="0" r="-12318" b="0"/>
              </a:stretch>
            </a:blipFill>
          </p:spPr>
        </p:sp>
        <p:sp>
          <p:nvSpPr>
            <p:cNvPr name="TextBox 68" id="68"/>
            <p:cNvSpPr txBox="true"/>
            <p:nvPr/>
          </p:nvSpPr>
          <p:spPr>
            <a:xfrm>
              <a:off x="0" y="-9525"/>
              <a:ext cx="4267200" cy="208216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6480"/>
                </a:lnSpc>
              </a:pPr>
              <a:r>
                <a:rPr lang="en-US" sz="5400" b="true">
                  <a:solidFill>
                    <a:srgbClr val="B1734A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37,5%</a:t>
              </a:r>
            </a:p>
          </p:txBody>
        </p:sp>
      </p:grpSp>
      <p:grpSp>
        <p:nvGrpSpPr>
          <p:cNvPr name="Group 69" id="69"/>
          <p:cNvGrpSpPr/>
          <p:nvPr/>
        </p:nvGrpSpPr>
        <p:grpSpPr>
          <a:xfrm rot="0">
            <a:off x="13075920" y="6766560"/>
            <a:ext cx="3840480" cy="1554480"/>
            <a:chOff x="0" y="0"/>
            <a:chExt cx="5120640" cy="2072640"/>
          </a:xfrm>
        </p:grpSpPr>
        <p:sp>
          <p:nvSpPr>
            <p:cNvPr name="Freeform 70" id="70"/>
            <p:cNvSpPr/>
            <p:nvPr/>
          </p:nvSpPr>
          <p:spPr>
            <a:xfrm flipH="false" flipV="false" rot="0">
              <a:off x="0" y="0"/>
              <a:ext cx="5120639" cy="2072640"/>
            </a:xfrm>
            <a:custGeom>
              <a:avLst/>
              <a:gdLst/>
              <a:ahLst/>
              <a:cxnLst/>
              <a:rect r="r" b="b" t="t" l="l"/>
              <a:pathLst>
                <a:path h="2072640" w="5120639">
                  <a:moveTo>
                    <a:pt x="0" y="0"/>
                  </a:moveTo>
                  <a:lnTo>
                    <a:pt x="5120639" y="0"/>
                  </a:lnTo>
                  <a:lnTo>
                    <a:pt x="5120639" y="2072640"/>
                  </a:lnTo>
                  <a:lnTo>
                    <a:pt x="0" y="2072640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-1932" t="0" r="-1932" b="0"/>
              </a:stretch>
            </a:blipFill>
          </p:spPr>
        </p:sp>
        <p:sp>
          <p:nvSpPr>
            <p:cNvPr name="TextBox 71" id="71"/>
            <p:cNvSpPr txBox="true"/>
            <p:nvPr/>
          </p:nvSpPr>
          <p:spPr>
            <a:xfrm>
              <a:off x="0" y="-38100"/>
              <a:ext cx="5120640" cy="21107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400"/>
                </a:lnSpc>
              </a:pPr>
              <a:r>
                <a:rPr lang="en-US" sz="2000">
                  <a:solidFill>
                    <a:srgbClr val="1B2A1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já viram golpes ou trotes nas divulgações</a:t>
              </a:r>
            </a:p>
            <a:p>
              <a:pPr algn="l">
                <a:lnSpc>
                  <a:spcPts val="1680"/>
                </a:lnSpc>
              </a:pPr>
              <a:r>
                <a:rPr lang="en-US" sz="1400">
                  <a:solidFill>
                    <a:srgbClr val="5B6B5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Pesquisa de campo · 18 de 48</a:t>
              </a:r>
            </a:p>
          </p:txBody>
        </p:sp>
      </p:grpSp>
      <p:sp>
        <p:nvSpPr>
          <p:cNvPr name="TextBox 72" id="72"/>
          <p:cNvSpPr txBox="true"/>
          <p:nvPr/>
        </p:nvSpPr>
        <p:spPr>
          <a:xfrm rot="0">
            <a:off x="16459200" y="9471660"/>
            <a:ext cx="914400" cy="3429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400"/>
              </a:lnSpc>
            </a:pPr>
            <a:r>
              <a:rPr lang="en-US" sz="2000">
                <a:solidFill>
                  <a:srgbClr val="5B6B5F"/>
                </a:solidFill>
                <a:latin typeface="Calibri (MS)"/>
                <a:ea typeface="Calibri (MS)"/>
                <a:cs typeface="Calibri (MS)"/>
                <a:sym typeface="Calibri (MS)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914400" y="245364"/>
            <a:ext cx="6858000" cy="6324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00"/>
              </a:lnSpc>
            </a:pPr>
            <a:r>
              <a:rPr lang="en-US" b="true" sz="2000" spc="400">
                <a:solidFill>
                  <a:srgbClr val="B1734A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01  INTRODUÇÃO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914400" y="914400"/>
            <a:ext cx="16459200" cy="1097280"/>
            <a:chOff x="0" y="0"/>
            <a:chExt cx="21945600" cy="146304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21945600" cy="1463040"/>
            </a:xfrm>
            <a:custGeom>
              <a:avLst/>
              <a:gdLst/>
              <a:ahLst/>
              <a:cxnLst/>
              <a:rect r="r" b="b" t="t" l="l"/>
              <a:pathLst>
                <a:path h="146304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463040"/>
                  </a:lnTo>
                  <a:lnTo>
                    <a:pt x="0" y="14630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242072" r="0" b="-242072"/>
              </a:stretch>
            </a:blipFill>
          </p:spPr>
        </p:sp>
      </p:grpSp>
      <p:grpSp>
        <p:nvGrpSpPr>
          <p:cNvPr name="Group 5" id="5"/>
          <p:cNvGrpSpPr/>
          <p:nvPr/>
        </p:nvGrpSpPr>
        <p:grpSpPr>
          <a:xfrm rot="0">
            <a:off x="914400" y="907256"/>
            <a:ext cx="16459200" cy="1104424"/>
            <a:chOff x="0" y="0"/>
            <a:chExt cx="21945600" cy="1472565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21945600" cy="1472565"/>
            </a:xfrm>
            <a:custGeom>
              <a:avLst/>
              <a:gdLst/>
              <a:ahLst/>
              <a:cxnLst/>
              <a:rect r="r" b="b" t="t" l="l"/>
              <a:pathLst>
                <a:path h="1472565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472565"/>
                  </a:lnTo>
                  <a:lnTo>
                    <a:pt x="0" y="1472565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40182" r="0" b="-240183"/>
              </a:stretch>
            </a:blipFill>
          </p:spPr>
        </p:sp>
      </p:grpSp>
      <p:grpSp>
        <p:nvGrpSpPr>
          <p:cNvPr name="Group 7" id="7"/>
          <p:cNvGrpSpPr/>
          <p:nvPr/>
        </p:nvGrpSpPr>
        <p:grpSpPr>
          <a:xfrm rot="0">
            <a:off x="914400" y="900112"/>
            <a:ext cx="16459200" cy="1111568"/>
            <a:chOff x="0" y="0"/>
            <a:chExt cx="21945600" cy="148209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21945600" cy="1482090"/>
            </a:xfrm>
            <a:custGeom>
              <a:avLst/>
              <a:gdLst/>
              <a:ahLst/>
              <a:cxnLst/>
              <a:rect r="r" b="b" t="t" l="l"/>
              <a:pathLst>
                <a:path h="148209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482090"/>
                  </a:lnTo>
                  <a:lnTo>
                    <a:pt x="0" y="148209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38317" r="0" b="-238318"/>
              </a:stretch>
            </a:blipFill>
          </p:spPr>
        </p:sp>
      </p:grpSp>
      <p:grpSp>
        <p:nvGrpSpPr>
          <p:cNvPr name="Group 9" id="9"/>
          <p:cNvGrpSpPr/>
          <p:nvPr/>
        </p:nvGrpSpPr>
        <p:grpSpPr>
          <a:xfrm rot="0">
            <a:off x="914400" y="892969"/>
            <a:ext cx="16459200" cy="1118711"/>
            <a:chOff x="0" y="0"/>
            <a:chExt cx="21945600" cy="1491615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21945600" cy="1491615"/>
            </a:xfrm>
            <a:custGeom>
              <a:avLst/>
              <a:gdLst/>
              <a:ahLst/>
              <a:cxnLst/>
              <a:rect r="r" b="b" t="t" l="l"/>
              <a:pathLst>
                <a:path h="1491615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491615"/>
                  </a:lnTo>
                  <a:lnTo>
                    <a:pt x="0" y="1491615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236476" r="0" b="-236477"/>
              </a:stretch>
            </a:blipFill>
          </p:spPr>
        </p:sp>
      </p:grpSp>
      <p:grpSp>
        <p:nvGrpSpPr>
          <p:cNvPr name="Group 11" id="11"/>
          <p:cNvGrpSpPr/>
          <p:nvPr/>
        </p:nvGrpSpPr>
        <p:grpSpPr>
          <a:xfrm rot="0">
            <a:off x="914400" y="885825"/>
            <a:ext cx="16459200" cy="1125855"/>
            <a:chOff x="0" y="0"/>
            <a:chExt cx="21945600" cy="150114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21945600" cy="1501140"/>
            </a:xfrm>
            <a:custGeom>
              <a:avLst/>
              <a:gdLst/>
              <a:ahLst/>
              <a:cxnLst/>
              <a:rect r="r" b="b" t="t" l="l"/>
              <a:pathLst>
                <a:path h="150114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501140"/>
                  </a:lnTo>
                  <a:lnTo>
                    <a:pt x="0" y="1501140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l="0" t="-234659" r="0" b="-234659"/>
              </a:stretch>
            </a:blipFill>
          </p:spPr>
        </p:sp>
      </p:grpSp>
      <p:grpSp>
        <p:nvGrpSpPr>
          <p:cNvPr name="Group 13" id="13"/>
          <p:cNvGrpSpPr/>
          <p:nvPr/>
        </p:nvGrpSpPr>
        <p:grpSpPr>
          <a:xfrm rot="0">
            <a:off x="914400" y="878681"/>
            <a:ext cx="16459200" cy="1132999"/>
            <a:chOff x="0" y="0"/>
            <a:chExt cx="21945600" cy="1510665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21945600" cy="1510665"/>
            </a:xfrm>
            <a:custGeom>
              <a:avLst/>
              <a:gdLst/>
              <a:ahLst/>
              <a:cxnLst/>
              <a:rect r="r" b="b" t="t" l="l"/>
              <a:pathLst>
                <a:path h="1510665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510665"/>
                  </a:lnTo>
                  <a:lnTo>
                    <a:pt x="0" y="1510665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0" t="-232864" r="0" b="-232865"/>
              </a:stretch>
            </a:blipFill>
          </p:spPr>
        </p:sp>
      </p:grpSp>
      <p:grpSp>
        <p:nvGrpSpPr>
          <p:cNvPr name="Group 15" id="15"/>
          <p:cNvGrpSpPr/>
          <p:nvPr/>
        </p:nvGrpSpPr>
        <p:grpSpPr>
          <a:xfrm rot="0">
            <a:off x="914400" y="871538"/>
            <a:ext cx="16459200" cy="1140142"/>
            <a:chOff x="0" y="0"/>
            <a:chExt cx="21945600" cy="152019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21945600" cy="1520190"/>
            </a:xfrm>
            <a:custGeom>
              <a:avLst/>
              <a:gdLst/>
              <a:ahLst/>
              <a:cxnLst/>
              <a:rect r="r" b="b" t="t" l="l"/>
              <a:pathLst>
                <a:path h="152019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520190"/>
                  </a:lnTo>
                  <a:lnTo>
                    <a:pt x="0" y="1520190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0" t="-231287" r="0" b="-231287"/>
              </a:stretch>
            </a:blip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9525"/>
              <a:ext cx="21945600" cy="15297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6239"/>
                </a:lnSpc>
              </a:pPr>
              <a:r>
                <a:rPr lang="en-US" sz="5198" b="true">
                  <a:solidFill>
                    <a:srgbClr val="2E5634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Objetivos</a:t>
              </a:r>
            </a:p>
          </p:txBody>
        </p:sp>
      </p:grpSp>
      <p:grpSp>
        <p:nvGrpSpPr>
          <p:cNvPr name="Group 18" id="18"/>
          <p:cNvGrpSpPr/>
          <p:nvPr/>
        </p:nvGrpSpPr>
        <p:grpSpPr>
          <a:xfrm rot="0">
            <a:off x="822960" y="9572625"/>
            <a:ext cx="8229600" cy="440055"/>
            <a:chOff x="0" y="0"/>
            <a:chExt cx="10972800" cy="586740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10972800" cy="586740"/>
            </a:xfrm>
            <a:custGeom>
              <a:avLst/>
              <a:gdLst/>
              <a:ahLst/>
              <a:cxnLst/>
              <a:rect r="r" b="b" t="t" l="l"/>
              <a:pathLst>
                <a:path h="5867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586740"/>
                  </a:lnTo>
                  <a:lnTo>
                    <a:pt x="0" y="5867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314142" r="0" b="-314140"/>
              </a:stretch>
            </a:blipFill>
          </p:spPr>
        </p:sp>
      </p:grpSp>
      <p:grpSp>
        <p:nvGrpSpPr>
          <p:cNvPr name="Group 20" id="20"/>
          <p:cNvGrpSpPr/>
          <p:nvPr/>
        </p:nvGrpSpPr>
        <p:grpSpPr>
          <a:xfrm rot="0">
            <a:off x="822960" y="9544050"/>
            <a:ext cx="8229600" cy="468630"/>
            <a:chOff x="0" y="0"/>
            <a:chExt cx="10972800" cy="624840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10972800" cy="624840"/>
            </a:xfrm>
            <a:custGeom>
              <a:avLst/>
              <a:gdLst/>
              <a:ahLst/>
              <a:cxnLst/>
              <a:rect r="r" b="b" t="t" l="l"/>
              <a:pathLst>
                <a:path h="6248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624840"/>
                  </a:lnTo>
                  <a:lnTo>
                    <a:pt x="0" y="6248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91939" r="0" b="-291936"/>
              </a:stretch>
            </a:blipFill>
          </p:spPr>
        </p:sp>
      </p:grpSp>
      <p:grpSp>
        <p:nvGrpSpPr>
          <p:cNvPr name="Group 22" id="22"/>
          <p:cNvGrpSpPr/>
          <p:nvPr/>
        </p:nvGrpSpPr>
        <p:grpSpPr>
          <a:xfrm rot="0">
            <a:off x="822960" y="9515475"/>
            <a:ext cx="8229600" cy="497205"/>
            <a:chOff x="0" y="0"/>
            <a:chExt cx="10972800" cy="662940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10972800" cy="662940"/>
            </a:xfrm>
            <a:custGeom>
              <a:avLst/>
              <a:gdLst/>
              <a:ahLst/>
              <a:cxnLst/>
              <a:rect r="r" b="b" t="t" l="l"/>
              <a:pathLst>
                <a:path h="6629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662940"/>
                  </a:lnTo>
                  <a:lnTo>
                    <a:pt x="0" y="66294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72287" r="0" b="-272285"/>
              </a:stretch>
            </a:blipFill>
          </p:spPr>
        </p:sp>
      </p:grpSp>
      <p:grpSp>
        <p:nvGrpSpPr>
          <p:cNvPr name="Group 24" id="24"/>
          <p:cNvGrpSpPr/>
          <p:nvPr/>
        </p:nvGrpSpPr>
        <p:grpSpPr>
          <a:xfrm rot="0">
            <a:off x="822960" y="9486900"/>
            <a:ext cx="8229600" cy="525780"/>
            <a:chOff x="0" y="0"/>
            <a:chExt cx="10972800" cy="701040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10972800" cy="701040"/>
            </a:xfrm>
            <a:custGeom>
              <a:avLst/>
              <a:gdLst/>
              <a:ahLst/>
              <a:cxnLst/>
              <a:rect r="r" b="b" t="t" l="l"/>
              <a:pathLst>
                <a:path h="7010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701040"/>
                  </a:lnTo>
                  <a:lnTo>
                    <a:pt x="0" y="701040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254771" r="0" b="-254769"/>
              </a:stretch>
            </a:blipFill>
          </p:spPr>
        </p:sp>
      </p:grpSp>
      <p:grpSp>
        <p:nvGrpSpPr>
          <p:cNvPr name="Group 26" id="26"/>
          <p:cNvGrpSpPr/>
          <p:nvPr/>
        </p:nvGrpSpPr>
        <p:grpSpPr>
          <a:xfrm rot="0">
            <a:off x="822960" y="9458325"/>
            <a:ext cx="8229600" cy="554355"/>
            <a:chOff x="0" y="0"/>
            <a:chExt cx="10972800" cy="739140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10972800" cy="739140"/>
            </a:xfrm>
            <a:custGeom>
              <a:avLst/>
              <a:gdLst/>
              <a:ahLst/>
              <a:cxnLst/>
              <a:rect r="r" b="b" t="t" l="l"/>
              <a:pathLst>
                <a:path h="7391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739140"/>
                  </a:lnTo>
                  <a:lnTo>
                    <a:pt x="0" y="739140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l="0" t="-239061" r="0" b="-239060"/>
              </a:stretch>
            </a:blipFill>
          </p:spPr>
        </p:sp>
      </p:grpSp>
      <p:grpSp>
        <p:nvGrpSpPr>
          <p:cNvPr name="Group 28" id="28"/>
          <p:cNvGrpSpPr/>
          <p:nvPr/>
        </p:nvGrpSpPr>
        <p:grpSpPr>
          <a:xfrm rot="0">
            <a:off x="822960" y="9429750"/>
            <a:ext cx="8229600" cy="582930"/>
            <a:chOff x="0" y="0"/>
            <a:chExt cx="10972800" cy="777240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10972800" cy="777240"/>
            </a:xfrm>
            <a:custGeom>
              <a:avLst/>
              <a:gdLst/>
              <a:ahLst/>
              <a:cxnLst/>
              <a:rect r="r" b="b" t="t" l="l"/>
              <a:pathLst>
                <a:path h="7772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777240"/>
                  </a:lnTo>
                  <a:lnTo>
                    <a:pt x="0" y="777240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0" t="-224892" r="0" b="-224890"/>
              </a:stretch>
            </a:blipFill>
          </p:spPr>
        </p:sp>
      </p:grpSp>
      <p:grpSp>
        <p:nvGrpSpPr>
          <p:cNvPr name="Group 30" id="30"/>
          <p:cNvGrpSpPr/>
          <p:nvPr/>
        </p:nvGrpSpPr>
        <p:grpSpPr>
          <a:xfrm rot="0">
            <a:off x="822960" y="9401175"/>
            <a:ext cx="8229600" cy="611505"/>
            <a:chOff x="0" y="0"/>
            <a:chExt cx="10972800" cy="815340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10972800" cy="815340"/>
            </a:xfrm>
            <a:custGeom>
              <a:avLst/>
              <a:gdLst/>
              <a:ahLst/>
              <a:cxnLst/>
              <a:rect r="r" b="b" t="t" l="l"/>
              <a:pathLst>
                <a:path h="8153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815340"/>
                  </a:lnTo>
                  <a:lnTo>
                    <a:pt x="0" y="815340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0" t="-212228" r="0" b="-212228"/>
              </a:stretch>
            </a:blipFill>
          </p:spPr>
        </p:sp>
        <p:sp>
          <p:nvSpPr>
            <p:cNvPr name="TextBox 32" id="32"/>
            <p:cNvSpPr txBox="true"/>
            <p:nvPr/>
          </p:nvSpPr>
          <p:spPr>
            <a:xfrm>
              <a:off x="0" y="-38100"/>
              <a:ext cx="10972800" cy="8534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6B728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WeFIND  |  TCC  |  IFSul Campus Pelotas</a:t>
              </a:r>
            </a:p>
          </p:txBody>
        </p:sp>
      </p:grpSp>
      <p:grpSp>
        <p:nvGrpSpPr>
          <p:cNvPr name="Group 33" id="33"/>
          <p:cNvGrpSpPr/>
          <p:nvPr/>
        </p:nvGrpSpPr>
        <p:grpSpPr>
          <a:xfrm rot="0">
            <a:off x="914400" y="2148840"/>
            <a:ext cx="16459200" cy="1600200"/>
            <a:chOff x="0" y="0"/>
            <a:chExt cx="21945600" cy="2133600"/>
          </a:xfrm>
        </p:grpSpPr>
        <p:sp>
          <p:nvSpPr>
            <p:cNvPr name="Freeform 34" id="34"/>
            <p:cNvSpPr/>
            <p:nvPr/>
          </p:nvSpPr>
          <p:spPr>
            <a:xfrm flipH="false" flipV="false" rot="0">
              <a:off x="0" y="0"/>
              <a:ext cx="21945600" cy="2133600"/>
            </a:xfrm>
            <a:custGeom>
              <a:avLst/>
              <a:gdLst/>
              <a:ahLst/>
              <a:cxnLst/>
              <a:rect r="r" b="b" t="t" l="l"/>
              <a:pathLst>
                <a:path h="2133600" w="21945600">
                  <a:moveTo>
                    <a:pt x="0" y="213360"/>
                  </a:moveTo>
                  <a:cubicBezTo>
                    <a:pt x="0" y="95504"/>
                    <a:pt x="95504" y="0"/>
                    <a:pt x="213360" y="0"/>
                  </a:cubicBezTo>
                  <a:lnTo>
                    <a:pt x="21732239" y="0"/>
                  </a:lnTo>
                  <a:cubicBezTo>
                    <a:pt x="21850096" y="0"/>
                    <a:pt x="21945600" y="95504"/>
                    <a:pt x="21945600" y="213360"/>
                  </a:cubicBezTo>
                  <a:lnTo>
                    <a:pt x="21945600" y="1920240"/>
                  </a:lnTo>
                  <a:cubicBezTo>
                    <a:pt x="21945600" y="2038096"/>
                    <a:pt x="21850096" y="2133600"/>
                    <a:pt x="21732239" y="2133600"/>
                  </a:cubicBezTo>
                  <a:lnTo>
                    <a:pt x="213360" y="2133600"/>
                  </a:lnTo>
                  <a:cubicBezTo>
                    <a:pt x="95504" y="2133600"/>
                    <a:pt x="0" y="2038096"/>
                    <a:pt x="0" y="1920240"/>
                  </a:cubicBezTo>
                  <a:close/>
                </a:path>
              </a:pathLst>
            </a:custGeom>
            <a:solidFill>
              <a:srgbClr val="2E5634"/>
            </a:solidFill>
          </p:spPr>
        </p:sp>
      </p:grpSp>
      <p:grpSp>
        <p:nvGrpSpPr>
          <p:cNvPr name="Group 35" id="35"/>
          <p:cNvGrpSpPr/>
          <p:nvPr/>
        </p:nvGrpSpPr>
        <p:grpSpPr>
          <a:xfrm rot="0">
            <a:off x="1371600" y="2377440"/>
            <a:ext cx="2926080" cy="1143000"/>
            <a:chOff x="0" y="0"/>
            <a:chExt cx="3901440" cy="1524000"/>
          </a:xfrm>
        </p:grpSpPr>
        <p:sp>
          <p:nvSpPr>
            <p:cNvPr name="Freeform 36" id="36"/>
            <p:cNvSpPr/>
            <p:nvPr/>
          </p:nvSpPr>
          <p:spPr>
            <a:xfrm flipH="false" flipV="false" rot="0">
              <a:off x="0" y="0"/>
              <a:ext cx="3901440" cy="1524000"/>
            </a:xfrm>
            <a:custGeom>
              <a:avLst/>
              <a:gdLst/>
              <a:ahLst/>
              <a:cxnLst/>
              <a:rect r="r" b="b" t="t" l="l"/>
              <a:pathLst>
                <a:path h="1524000" w="3901440">
                  <a:moveTo>
                    <a:pt x="0" y="0"/>
                  </a:moveTo>
                  <a:lnTo>
                    <a:pt x="3901440" y="0"/>
                  </a:lnTo>
                  <a:lnTo>
                    <a:pt x="3901440" y="1524000"/>
                  </a:lnTo>
                  <a:lnTo>
                    <a:pt x="0" y="1524000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-118" t="0" r="-118" b="0"/>
              </a:stretch>
            </a:blipFill>
          </p:spPr>
        </p:sp>
        <p:sp>
          <p:nvSpPr>
            <p:cNvPr name="TextBox 37" id="37"/>
            <p:cNvSpPr txBox="true"/>
            <p:nvPr/>
          </p:nvSpPr>
          <p:spPr>
            <a:xfrm>
              <a:off x="0" y="-47625"/>
              <a:ext cx="3901440" cy="157162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399"/>
                </a:lnSpc>
              </a:pPr>
              <a:r>
                <a:rPr lang="en-US" sz="1999" b="true">
                  <a:solidFill>
                    <a:srgbClr val="E6C9B4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OBJETIVO GERAL</a:t>
              </a:r>
            </a:p>
          </p:txBody>
        </p:sp>
      </p:grpSp>
      <p:grpSp>
        <p:nvGrpSpPr>
          <p:cNvPr name="Group 38" id="38"/>
          <p:cNvGrpSpPr/>
          <p:nvPr/>
        </p:nvGrpSpPr>
        <p:grpSpPr>
          <a:xfrm rot="0">
            <a:off x="4206240" y="2331720"/>
            <a:ext cx="12710160" cy="1234440"/>
            <a:chOff x="0" y="0"/>
            <a:chExt cx="16946880" cy="1645920"/>
          </a:xfrm>
        </p:grpSpPr>
        <p:sp>
          <p:nvSpPr>
            <p:cNvPr name="Freeform 39" id="39"/>
            <p:cNvSpPr/>
            <p:nvPr/>
          </p:nvSpPr>
          <p:spPr>
            <a:xfrm flipH="false" flipV="false" rot="0">
              <a:off x="0" y="0"/>
              <a:ext cx="16946880" cy="1645920"/>
            </a:xfrm>
            <a:custGeom>
              <a:avLst/>
              <a:gdLst/>
              <a:ahLst/>
              <a:cxnLst/>
              <a:rect r="r" b="b" t="t" l="l"/>
              <a:pathLst>
                <a:path h="1645920" w="16946880">
                  <a:moveTo>
                    <a:pt x="0" y="0"/>
                  </a:moveTo>
                  <a:lnTo>
                    <a:pt x="16946880" y="0"/>
                  </a:lnTo>
                  <a:lnTo>
                    <a:pt x="16946880" y="1645920"/>
                  </a:lnTo>
                  <a:lnTo>
                    <a:pt x="0" y="1645920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0" t="-150623" r="0" b="-150623"/>
              </a:stretch>
            </a:blipFill>
          </p:spPr>
        </p:sp>
        <p:sp>
          <p:nvSpPr>
            <p:cNvPr name="TextBox 40" id="40"/>
            <p:cNvSpPr txBox="true"/>
            <p:nvPr/>
          </p:nvSpPr>
          <p:spPr>
            <a:xfrm>
              <a:off x="0" y="-66675"/>
              <a:ext cx="16946880" cy="171259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359"/>
                </a:lnSpc>
              </a:pPr>
              <a:r>
                <a:rPr lang="en-US" sz="279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Desenvolver uma aplicação móvel colaborativa que apoie tutores e a comunidade na divulgação e na busca por animais perdidos e encontrados.</a:t>
              </a:r>
            </a:p>
          </p:txBody>
        </p:sp>
      </p:grpSp>
      <p:sp>
        <p:nvSpPr>
          <p:cNvPr name="TextBox 41" id="41"/>
          <p:cNvSpPr txBox="true"/>
          <p:nvPr/>
        </p:nvSpPr>
        <p:spPr>
          <a:xfrm rot="0">
            <a:off x="914400" y="4067175"/>
            <a:ext cx="9144000" cy="3429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99"/>
              </a:lnSpc>
            </a:pPr>
            <a:r>
              <a:rPr lang="en-US" sz="1999" b="true">
                <a:solidFill>
                  <a:srgbClr val="B1734A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OBJETIVOS ESPECÍFICOS</a:t>
            </a:r>
          </a:p>
        </p:txBody>
      </p:sp>
      <p:grpSp>
        <p:nvGrpSpPr>
          <p:cNvPr name="Group 42" id="42"/>
          <p:cNvGrpSpPr/>
          <p:nvPr/>
        </p:nvGrpSpPr>
        <p:grpSpPr>
          <a:xfrm rot="0">
            <a:off x="906466" y="4655506"/>
            <a:ext cx="3924938" cy="1890398"/>
            <a:chOff x="0" y="0"/>
            <a:chExt cx="5233251" cy="2520531"/>
          </a:xfrm>
        </p:grpSpPr>
        <p:sp>
          <p:nvSpPr>
            <p:cNvPr name="Freeform 43" id="43"/>
            <p:cNvSpPr/>
            <p:nvPr/>
          </p:nvSpPr>
          <p:spPr>
            <a:xfrm flipH="false" flipV="false" rot="0">
              <a:off x="0" y="0"/>
              <a:ext cx="5233289" cy="2520569"/>
            </a:xfrm>
            <a:custGeom>
              <a:avLst/>
              <a:gdLst/>
              <a:ahLst/>
              <a:cxnLst/>
              <a:rect r="r" b="b" t="t" l="l"/>
              <a:pathLst>
                <a:path h="2520569" w="5233289">
                  <a:moveTo>
                    <a:pt x="0" y="201676"/>
                  </a:moveTo>
                  <a:cubicBezTo>
                    <a:pt x="0" y="90297"/>
                    <a:pt x="90297" y="0"/>
                    <a:pt x="201676" y="0"/>
                  </a:cubicBezTo>
                  <a:lnTo>
                    <a:pt x="5031613" y="0"/>
                  </a:lnTo>
                  <a:cubicBezTo>
                    <a:pt x="5142992" y="0"/>
                    <a:pt x="5233289" y="90297"/>
                    <a:pt x="5233289" y="201676"/>
                  </a:cubicBezTo>
                  <a:lnTo>
                    <a:pt x="5233289" y="2318893"/>
                  </a:lnTo>
                  <a:cubicBezTo>
                    <a:pt x="5233289" y="2430272"/>
                    <a:pt x="5142992" y="2520569"/>
                    <a:pt x="5031613" y="2520569"/>
                  </a:cubicBezTo>
                  <a:lnTo>
                    <a:pt x="201676" y="2520569"/>
                  </a:lnTo>
                  <a:cubicBezTo>
                    <a:pt x="90297" y="2520569"/>
                    <a:pt x="0" y="2430272"/>
                    <a:pt x="0" y="2318893"/>
                  </a:cubicBezTo>
                  <a:close/>
                </a:path>
              </a:pathLst>
            </a:custGeom>
            <a:solidFill>
              <a:srgbClr val="FFFFFF"/>
            </a:solidFill>
            <a:ln w="15875" cap="sq">
              <a:solidFill>
                <a:srgbClr val="C9D4C6"/>
              </a:solidFill>
              <a:prstDash val="solid"/>
              <a:miter/>
            </a:ln>
          </p:spPr>
        </p:sp>
      </p:grpSp>
      <p:sp>
        <p:nvSpPr>
          <p:cNvPr name="TextBox 44" id="44"/>
          <p:cNvSpPr txBox="true"/>
          <p:nvPr/>
        </p:nvSpPr>
        <p:spPr>
          <a:xfrm rot="0">
            <a:off x="1188720" y="4892040"/>
            <a:ext cx="914400" cy="5715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559"/>
              </a:lnSpc>
            </a:pPr>
            <a:r>
              <a:rPr lang="en-US" sz="3799" b="true">
                <a:solidFill>
                  <a:srgbClr val="B1734A"/>
                </a:solidFill>
                <a:latin typeface="Cambria Bold"/>
                <a:ea typeface="Cambria Bold"/>
                <a:cs typeface="Cambria Bold"/>
                <a:sym typeface="Cambria Bold"/>
              </a:rPr>
              <a:t>01</a:t>
            </a:r>
          </a:p>
        </p:txBody>
      </p:sp>
      <p:sp>
        <p:nvSpPr>
          <p:cNvPr name="TextBox 45" id="45"/>
          <p:cNvSpPr txBox="true"/>
          <p:nvPr/>
        </p:nvSpPr>
        <p:spPr>
          <a:xfrm rot="0">
            <a:off x="2057400" y="4880610"/>
            <a:ext cx="2537460" cy="13049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399" b="true">
                <a:solidFill>
                  <a:srgbClr val="2E5634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Identificar</a:t>
            </a:r>
          </a:p>
          <a:p>
            <a:pPr algn="l">
              <a:lnSpc>
                <a:spcPts val="2399"/>
              </a:lnSpc>
            </a:pPr>
            <a:r>
              <a:rPr lang="en-US" sz="1999">
                <a:solidFill>
                  <a:srgbClr val="1B2A1F"/>
                </a:solidFill>
                <a:latin typeface="Calibri (MS)"/>
                <a:ea typeface="Calibri (MS)"/>
                <a:cs typeface="Calibri (MS)"/>
                <a:sym typeface="Calibri (MS)"/>
              </a:rPr>
              <a:t>as dificuldades de tutores e protetores na divulgação e na busca</a:t>
            </a:r>
          </a:p>
        </p:txBody>
      </p:sp>
      <p:grpSp>
        <p:nvGrpSpPr>
          <p:cNvPr name="Group 46" id="46"/>
          <p:cNvGrpSpPr/>
          <p:nvPr/>
        </p:nvGrpSpPr>
        <p:grpSpPr>
          <a:xfrm rot="0">
            <a:off x="5089846" y="4655506"/>
            <a:ext cx="3924938" cy="1890398"/>
            <a:chOff x="0" y="0"/>
            <a:chExt cx="5233251" cy="2520531"/>
          </a:xfrm>
        </p:grpSpPr>
        <p:sp>
          <p:nvSpPr>
            <p:cNvPr name="Freeform 47" id="47"/>
            <p:cNvSpPr/>
            <p:nvPr/>
          </p:nvSpPr>
          <p:spPr>
            <a:xfrm flipH="false" flipV="false" rot="0">
              <a:off x="0" y="0"/>
              <a:ext cx="5233289" cy="2520569"/>
            </a:xfrm>
            <a:custGeom>
              <a:avLst/>
              <a:gdLst/>
              <a:ahLst/>
              <a:cxnLst/>
              <a:rect r="r" b="b" t="t" l="l"/>
              <a:pathLst>
                <a:path h="2520569" w="5233289">
                  <a:moveTo>
                    <a:pt x="0" y="201676"/>
                  </a:moveTo>
                  <a:cubicBezTo>
                    <a:pt x="0" y="90297"/>
                    <a:pt x="90297" y="0"/>
                    <a:pt x="201676" y="0"/>
                  </a:cubicBezTo>
                  <a:lnTo>
                    <a:pt x="5031613" y="0"/>
                  </a:lnTo>
                  <a:cubicBezTo>
                    <a:pt x="5142992" y="0"/>
                    <a:pt x="5233289" y="90297"/>
                    <a:pt x="5233289" y="201676"/>
                  </a:cubicBezTo>
                  <a:lnTo>
                    <a:pt x="5233289" y="2318893"/>
                  </a:lnTo>
                  <a:cubicBezTo>
                    <a:pt x="5233289" y="2430272"/>
                    <a:pt x="5142992" y="2520569"/>
                    <a:pt x="5031613" y="2520569"/>
                  </a:cubicBezTo>
                  <a:lnTo>
                    <a:pt x="201676" y="2520569"/>
                  </a:lnTo>
                  <a:cubicBezTo>
                    <a:pt x="90297" y="2520569"/>
                    <a:pt x="0" y="2430272"/>
                    <a:pt x="0" y="2318893"/>
                  </a:cubicBezTo>
                  <a:close/>
                </a:path>
              </a:pathLst>
            </a:custGeom>
            <a:solidFill>
              <a:srgbClr val="FFFFFF"/>
            </a:solidFill>
            <a:ln w="15875" cap="sq">
              <a:solidFill>
                <a:srgbClr val="C9D4C6"/>
              </a:solidFill>
              <a:prstDash val="solid"/>
              <a:miter/>
            </a:ln>
          </p:spPr>
        </p:sp>
      </p:grpSp>
      <p:sp>
        <p:nvSpPr>
          <p:cNvPr name="TextBox 48" id="48"/>
          <p:cNvSpPr txBox="true"/>
          <p:nvPr/>
        </p:nvSpPr>
        <p:spPr>
          <a:xfrm rot="0">
            <a:off x="5372100" y="4892040"/>
            <a:ext cx="914400" cy="5715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559"/>
              </a:lnSpc>
            </a:pPr>
            <a:r>
              <a:rPr lang="en-US" sz="3799" b="true">
                <a:solidFill>
                  <a:srgbClr val="B1734A"/>
                </a:solidFill>
                <a:latin typeface="Cambria Bold"/>
                <a:ea typeface="Cambria Bold"/>
                <a:cs typeface="Cambria Bold"/>
                <a:sym typeface="Cambria Bold"/>
              </a:rPr>
              <a:t>02</a:t>
            </a:r>
          </a:p>
        </p:txBody>
      </p:sp>
      <p:sp>
        <p:nvSpPr>
          <p:cNvPr name="TextBox 49" id="49"/>
          <p:cNvSpPr txBox="true"/>
          <p:nvPr/>
        </p:nvSpPr>
        <p:spPr>
          <a:xfrm rot="0">
            <a:off x="6240780" y="4880610"/>
            <a:ext cx="2537460" cy="13049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399" b="true">
                <a:solidFill>
                  <a:srgbClr val="2E5634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Analisar</a:t>
            </a:r>
          </a:p>
          <a:p>
            <a:pPr algn="l">
              <a:lnSpc>
                <a:spcPts val="2399"/>
              </a:lnSpc>
            </a:pPr>
            <a:r>
              <a:rPr lang="en-US" sz="1999">
                <a:solidFill>
                  <a:srgbClr val="1B2A1F"/>
                </a:solidFill>
                <a:latin typeface="Calibri (MS)"/>
                <a:ea typeface="Calibri (MS)"/>
                <a:cs typeface="Calibri (MS)"/>
                <a:sym typeface="Calibri (MS)"/>
              </a:rPr>
              <a:t>sistemas similares de animais perdidos e encontrados</a:t>
            </a:r>
          </a:p>
        </p:txBody>
      </p:sp>
      <p:grpSp>
        <p:nvGrpSpPr>
          <p:cNvPr name="Group 50" id="50"/>
          <p:cNvGrpSpPr/>
          <p:nvPr/>
        </p:nvGrpSpPr>
        <p:grpSpPr>
          <a:xfrm rot="0">
            <a:off x="9273226" y="4655506"/>
            <a:ext cx="3924938" cy="1890398"/>
            <a:chOff x="0" y="0"/>
            <a:chExt cx="5233251" cy="2520531"/>
          </a:xfrm>
        </p:grpSpPr>
        <p:sp>
          <p:nvSpPr>
            <p:cNvPr name="Freeform 51" id="51"/>
            <p:cNvSpPr/>
            <p:nvPr/>
          </p:nvSpPr>
          <p:spPr>
            <a:xfrm flipH="false" flipV="false" rot="0">
              <a:off x="0" y="0"/>
              <a:ext cx="5233289" cy="2520569"/>
            </a:xfrm>
            <a:custGeom>
              <a:avLst/>
              <a:gdLst/>
              <a:ahLst/>
              <a:cxnLst/>
              <a:rect r="r" b="b" t="t" l="l"/>
              <a:pathLst>
                <a:path h="2520569" w="5233289">
                  <a:moveTo>
                    <a:pt x="0" y="201676"/>
                  </a:moveTo>
                  <a:cubicBezTo>
                    <a:pt x="0" y="90297"/>
                    <a:pt x="90297" y="0"/>
                    <a:pt x="201676" y="0"/>
                  </a:cubicBezTo>
                  <a:lnTo>
                    <a:pt x="5031613" y="0"/>
                  </a:lnTo>
                  <a:cubicBezTo>
                    <a:pt x="5142992" y="0"/>
                    <a:pt x="5233289" y="90297"/>
                    <a:pt x="5233289" y="201676"/>
                  </a:cubicBezTo>
                  <a:lnTo>
                    <a:pt x="5233289" y="2318893"/>
                  </a:lnTo>
                  <a:cubicBezTo>
                    <a:pt x="5233289" y="2430272"/>
                    <a:pt x="5142992" y="2520569"/>
                    <a:pt x="5031613" y="2520569"/>
                  </a:cubicBezTo>
                  <a:lnTo>
                    <a:pt x="201676" y="2520569"/>
                  </a:lnTo>
                  <a:cubicBezTo>
                    <a:pt x="90297" y="2520569"/>
                    <a:pt x="0" y="2430272"/>
                    <a:pt x="0" y="2318893"/>
                  </a:cubicBezTo>
                  <a:close/>
                </a:path>
              </a:pathLst>
            </a:custGeom>
            <a:solidFill>
              <a:srgbClr val="FFFFFF"/>
            </a:solidFill>
            <a:ln w="15875" cap="sq">
              <a:solidFill>
                <a:srgbClr val="C9D4C6"/>
              </a:solidFill>
              <a:prstDash val="solid"/>
              <a:miter/>
            </a:ln>
          </p:spPr>
        </p:sp>
      </p:grpSp>
      <p:sp>
        <p:nvSpPr>
          <p:cNvPr name="TextBox 52" id="52"/>
          <p:cNvSpPr txBox="true"/>
          <p:nvPr/>
        </p:nvSpPr>
        <p:spPr>
          <a:xfrm rot="0">
            <a:off x="9555480" y="4892040"/>
            <a:ext cx="914400" cy="5715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559"/>
              </a:lnSpc>
            </a:pPr>
            <a:r>
              <a:rPr lang="en-US" sz="3799" b="true">
                <a:solidFill>
                  <a:srgbClr val="B1734A"/>
                </a:solidFill>
                <a:latin typeface="Cambria Bold"/>
                <a:ea typeface="Cambria Bold"/>
                <a:cs typeface="Cambria Bold"/>
                <a:sym typeface="Cambria Bold"/>
              </a:rPr>
              <a:t>03</a:t>
            </a:r>
          </a:p>
        </p:txBody>
      </p:sp>
      <p:sp>
        <p:nvSpPr>
          <p:cNvPr name="TextBox 53" id="53"/>
          <p:cNvSpPr txBox="true"/>
          <p:nvPr/>
        </p:nvSpPr>
        <p:spPr>
          <a:xfrm rot="0">
            <a:off x="10424160" y="4880610"/>
            <a:ext cx="2537460" cy="10096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399" b="true">
                <a:solidFill>
                  <a:srgbClr val="2E5634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Definir e modelar</a:t>
            </a:r>
          </a:p>
          <a:p>
            <a:pPr algn="l">
              <a:lnSpc>
                <a:spcPts val="2399"/>
              </a:lnSpc>
            </a:pPr>
            <a:r>
              <a:rPr lang="en-US" sz="1999">
                <a:solidFill>
                  <a:srgbClr val="1B2A1F"/>
                </a:solidFill>
                <a:latin typeface="Calibri (MS)"/>
                <a:ea typeface="Calibri (MS)"/>
                <a:cs typeface="Calibri (MS)"/>
                <a:sym typeface="Calibri (MS)"/>
              </a:rPr>
              <a:t>os requisitos e os diagramas em UML</a:t>
            </a:r>
          </a:p>
        </p:txBody>
      </p:sp>
      <p:grpSp>
        <p:nvGrpSpPr>
          <p:cNvPr name="Group 54" id="54"/>
          <p:cNvGrpSpPr/>
          <p:nvPr/>
        </p:nvGrpSpPr>
        <p:grpSpPr>
          <a:xfrm rot="0">
            <a:off x="13456606" y="4655506"/>
            <a:ext cx="3924938" cy="1890398"/>
            <a:chOff x="0" y="0"/>
            <a:chExt cx="5233251" cy="2520531"/>
          </a:xfrm>
        </p:grpSpPr>
        <p:sp>
          <p:nvSpPr>
            <p:cNvPr name="Freeform 55" id="55"/>
            <p:cNvSpPr/>
            <p:nvPr/>
          </p:nvSpPr>
          <p:spPr>
            <a:xfrm flipH="false" flipV="false" rot="0">
              <a:off x="0" y="0"/>
              <a:ext cx="5233289" cy="2520569"/>
            </a:xfrm>
            <a:custGeom>
              <a:avLst/>
              <a:gdLst/>
              <a:ahLst/>
              <a:cxnLst/>
              <a:rect r="r" b="b" t="t" l="l"/>
              <a:pathLst>
                <a:path h="2520569" w="5233289">
                  <a:moveTo>
                    <a:pt x="0" y="201676"/>
                  </a:moveTo>
                  <a:cubicBezTo>
                    <a:pt x="0" y="90297"/>
                    <a:pt x="90297" y="0"/>
                    <a:pt x="201676" y="0"/>
                  </a:cubicBezTo>
                  <a:lnTo>
                    <a:pt x="5031613" y="0"/>
                  </a:lnTo>
                  <a:cubicBezTo>
                    <a:pt x="5142992" y="0"/>
                    <a:pt x="5233289" y="90297"/>
                    <a:pt x="5233289" y="201676"/>
                  </a:cubicBezTo>
                  <a:lnTo>
                    <a:pt x="5233289" y="2318893"/>
                  </a:lnTo>
                  <a:cubicBezTo>
                    <a:pt x="5233289" y="2430272"/>
                    <a:pt x="5142992" y="2520569"/>
                    <a:pt x="5031613" y="2520569"/>
                  </a:cubicBezTo>
                  <a:lnTo>
                    <a:pt x="201676" y="2520569"/>
                  </a:lnTo>
                  <a:cubicBezTo>
                    <a:pt x="90297" y="2520569"/>
                    <a:pt x="0" y="2430272"/>
                    <a:pt x="0" y="2318893"/>
                  </a:cubicBezTo>
                  <a:close/>
                </a:path>
              </a:pathLst>
            </a:custGeom>
            <a:solidFill>
              <a:srgbClr val="FFFFFF"/>
            </a:solidFill>
            <a:ln w="15875" cap="sq">
              <a:solidFill>
                <a:srgbClr val="C9D4C6"/>
              </a:solidFill>
              <a:prstDash val="solid"/>
              <a:miter/>
            </a:ln>
          </p:spPr>
        </p:sp>
      </p:grpSp>
      <p:sp>
        <p:nvSpPr>
          <p:cNvPr name="TextBox 56" id="56"/>
          <p:cNvSpPr txBox="true"/>
          <p:nvPr/>
        </p:nvSpPr>
        <p:spPr>
          <a:xfrm rot="0">
            <a:off x="13738860" y="4892040"/>
            <a:ext cx="914400" cy="5715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559"/>
              </a:lnSpc>
            </a:pPr>
            <a:r>
              <a:rPr lang="en-US" sz="3799" b="true">
                <a:solidFill>
                  <a:srgbClr val="B1734A"/>
                </a:solidFill>
                <a:latin typeface="Cambria Bold"/>
                <a:ea typeface="Cambria Bold"/>
                <a:cs typeface="Cambria Bold"/>
                <a:sym typeface="Cambria Bold"/>
              </a:rPr>
              <a:t>04</a:t>
            </a:r>
          </a:p>
        </p:txBody>
      </p:sp>
      <p:sp>
        <p:nvSpPr>
          <p:cNvPr name="TextBox 57" id="57"/>
          <p:cNvSpPr txBox="true"/>
          <p:nvPr/>
        </p:nvSpPr>
        <p:spPr>
          <a:xfrm rot="0">
            <a:off x="14607540" y="4880610"/>
            <a:ext cx="2537460" cy="7143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399" b="true">
                <a:solidFill>
                  <a:srgbClr val="2E5634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Projetar</a:t>
            </a:r>
          </a:p>
          <a:p>
            <a:pPr algn="l">
              <a:lnSpc>
                <a:spcPts val="2399"/>
              </a:lnSpc>
            </a:pPr>
            <a:r>
              <a:rPr lang="en-US" sz="1999">
                <a:solidFill>
                  <a:srgbClr val="1B2A1F"/>
                </a:solidFill>
                <a:latin typeface="Calibri (MS)"/>
                <a:ea typeface="Calibri (MS)"/>
                <a:cs typeface="Calibri (MS)"/>
                <a:sym typeface="Calibri (MS)"/>
              </a:rPr>
              <a:t>a interface do aplicativo</a:t>
            </a:r>
          </a:p>
        </p:txBody>
      </p:sp>
      <p:grpSp>
        <p:nvGrpSpPr>
          <p:cNvPr name="Group 58" id="58"/>
          <p:cNvGrpSpPr/>
          <p:nvPr/>
        </p:nvGrpSpPr>
        <p:grpSpPr>
          <a:xfrm rot="0">
            <a:off x="906466" y="6804346"/>
            <a:ext cx="3924938" cy="1890398"/>
            <a:chOff x="0" y="0"/>
            <a:chExt cx="5233251" cy="2520531"/>
          </a:xfrm>
        </p:grpSpPr>
        <p:sp>
          <p:nvSpPr>
            <p:cNvPr name="Freeform 59" id="59"/>
            <p:cNvSpPr/>
            <p:nvPr/>
          </p:nvSpPr>
          <p:spPr>
            <a:xfrm flipH="false" flipV="false" rot="0">
              <a:off x="0" y="0"/>
              <a:ext cx="5233289" cy="2520569"/>
            </a:xfrm>
            <a:custGeom>
              <a:avLst/>
              <a:gdLst/>
              <a:ahLst/>
              <a:cxnLst/>
              <a:rect r="r" b="b" t="t" l="l"/>
              <a:pathLst>
                <a:path h="2520569" w="5233289">
                  <a:moveTo>
                    <a:pt x="0" y="201676"/>
                  </a:moveTo>
                  <a:cubicBezTo>
                    <a:pt x="0" y="90297"/>
                    <a:pt x="90297" y="0"/>
                    <a:pt x="201676" y="0"/>
                  </a:cubicBezTo>
                  <a:lnTo>
                    <a:pt x="5031613" y="0"/>
                  </a:lnTo>
                  <a:cubicBezTo>
                    <a:pt x="5142992" y="0"/>
                    <a:pt x="5233289" y="90297"/>
                    <a:pt x="5233289" y="201676"/>
                  </a:cubicBezTo>
                  <a:lnTo>
                    <a:pt x="5233289" y="2318893"/>
                  </a:lnTo>
                  <a:cubicBezTo>
                    <a:pt x="5233289" y="2430272"/>
                    <a:pt x="5142992" y="2520569"/>
                    <a:pt x="5031613" y="2520569"/>
                  </a:cubicBezTo>
                  <a:lnTo>
                    <a:pt x="201676" y="2520569"/>
                  </a:lnTo>
                  <a:cubicBezTo>
                    <a:pt x="90297" y="2520569"/>
                    <a:pt x="0" y="2430272"/>
                    <a:pt x="0" y="2318893"/>
                  </a:cubicBezTo>
                  <a:close/>
                </a:path>
              </a:pathLst>
            </a:custGeom>
            <a:solidFill>
              <a:srgbClr val="FFFFFF"/>
            </a:solidFill>
            <a:ln w="15875" cap="sq">
              <a:solidFill>
                <a:srgbClr val="C9D4C6"/>
              </a:solidFill>
              <a:prstDash val="solid"/>
              <a:miter/>
            </a:ln>
          </p:spPr>
        </p:sp>
      </p:grpSp>
      <p:sp>
        <p:nvSpPr>
          <p:cNvPr name="TextBox 60" id="60"/>
          <p:cNvSpPr txBox="true"/>
          <p:nvPr/>
        </p:nvSpPr>
        <p:spPr>
          <a:xfrm rot="0">
            <a:off x="1188720" y="7040880"/>
            <a:ext cx="914400" cy="5715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559"/>
              </a:lnSpc>
            </a:pPr>
            <a:r>
              <a:rPr lang="en-US" sz="3799" b="true">
                <a:solidFill>
                  <a:srgbClr val="B1734A"/>
                </a:solidFill>
                <a:latin typeface="Cambria Bold"/>
                <a:ea typeface="Cambria Bold"/>
                <a:cs typeface="Cambria Bold"/>
                <a:sym typeface="Cambria Bold"/>
              </a:rPr>
              <a:t>05</a:t>
            </a:r>
          </a:p>
        </p:txBody>
      </p:sp>
      <p:sp>
        <p:nvSpPr>
          <p:cNvPr name="TextBox 61" id="61"/>
          <p:cNvSpPr txBox="true"/>
          <p:nvPr/>
        </p:nvSpPr>
        <p:spPr>
          <a:xfrm rot="0">
            <a:off x="2057400" y="7029450"/>
            <a:ext cx="2537460" cy="10096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399" b="true">
                <a:solidFill>
                  <a:srgbClr val="2E5634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Implementar</a:t>
            </a:r>
          </a:p>
          <a:p>
            <a:pPr algn="l">
              <a:lnSpc>
                <a:spcPts val="2399"/>
              </a:lnSpc>
            </a:pPr>
            <a:r>
              <a:rPr lang="en-US" sz="1999">
                <a:solidFill>
                  <a:srgbClr val="1B2A1F"/>
                </a:solidFill>
                <a:latin typeface="Calibri (MS)"/>
                <a:ea typeface="Calibri (MS)"/>
                <a:cs typeface="Calibri (MS)"/>
                <a:sym typeface="Calibri (MS)"/>
              </a:rPr>
              <a:t>o aplicativo móvel com suas funcionalidades</a:t>
            </a:r>
          </a:p>
        </p:txBody>
      </p:sp>
      <p:grpSp>
        <p:nvGrpSpPr>
          <p:cNvPr name="Group 62" id="62"/>
          <p:cNvGrpSpPr/>
          <p:nvPr/>
        </p:nvGrpSpPr>
        <p:grpSpPr>
          <a:xfrm rot="0">
            <a:off x="5089846" y="6804346"/>
            <a:ext cx="3924938" cy="1890398"/>
            <a:chOff x="0" y="0"/>
            <a:chExt cx="5233251" cy="2520531"/>
          </a:xfrm>
        </p:grpSpPr>
        <p:sp>
          <p:nvSpPr>
            <p:cNvPr name="Freeform 63" id="63"/>
            <p:cNvSpPr/>
            <p:nvPr/>
          </p:nvSpPr>
          <p:spPr>
            <a:xfrm flipH="false" flipV="false" rot="0">
              <a:off x="0" y="0"/>
              <a:ext cx="5233289" cy="2520569"/>
            </a:xfrm>
            <a:custGeom>
              <a:avLst/>
              <a:gdLst/>
              <a:ahLst/>
              <a:cxnLst/>
              <a:rect r="r" b="b" t="t" l="l"/>
              <a:pathLst>
                <a:path h="2520569" w="5233289">
                  <a:moveTo>
                    <a:pt x="0" y="201676"/>
                  </a:moveTo>
                  <a:cubicBezTo>
                    <a:pt x="0" y="90297"/>
                    <a:pt x="90297" y="0"/>
                    <a:pt x="201676" y="0"/>
                  </a:cubicBezTo>
                  <a:lnTo>
                    <a:pt x="5031613" y="0"/>
                  </a:lnTo>
                  <a:cubicBezTo>
                    <a:pt x="5142992" y="0"/>
                    <a:pt x="5233289" y="90297"/>
                    <a:pt x="5233289" y="201676"/>
                  </a:cubicBezTo>
                  <a:lnTo>
                    <a:pt x="5233289" y="2318893"/>
                  </a:lnTo>
                  <a:cubicBezTo>
                    <a:pt x="5233289" y="2430272"/>
                    <a:pt x="5142992" y="2520569"/>
                    <a:pt x="5031613" y="2520569"/>
                  </a:cubicBezTo>
                  <a:lnTo>
                    <a:pt x="201676" y="2520569"/>
                  </a:lnTo>
                  <a:cubicBezTo>
                    <a:pt x="90297" y="2520569"/>
                    <a:pt x="0" y="2430272"/>
                    <a:pt x="0" y="2318893"/>
                  </a:cubicBezTo>
                  <a:close/>
                </a:path>
              </a:pathLst>
            </a:custGeom>
            <a:solidFill>
              <a:srgbClr val="FFFFFF"/>
            </a:solidFill>
            <a:ln w="15875" cap="sq">
              <a:solidFill>
                <a:srgbClr val="C9D4C6"/>
              </a:solidFill>
              <a:prstDash val="solid"/>
              <a:miter/>
            </a:ln>
          </p:spPr>
        </p:sp>
      </p:grpSp>
      <p:sp>
        <p:nvSpPr>
          <p:cNvPr name="TextBox 64" id="64"/>
          <p:cNvSpPr txBox="true"/>
          <p:nvPr/>
        </p:nvSpPr>
        <p:spPr>
          <a:xfrm rot="0">
            <a:off x="5372100" y="7040880"/>
            <a:ext cx="914400" cy="5715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559"/>
              </a:lnSpc>
            </a:pPr>
            <a:r>
              <a:rPr lang="en-US" sz="3799" b="true">
                <a:solidFill>
                  <a:srgbClr val="B1734A"/>
                </a:solidFill>
                <a:latin typeface="Cambria Bold"/>
                <a:ea typeface="Cambria Bold"/>
                <a:cs typeface="Cambria Bold"/>
                <a:sym typeface="Cambria Bold"/>
              </a:rPr>
              <a:t>06</a:t>
            </a:r>
          </a:p>
        </p:txBody>
      </p:sp>
      <p:sp>
        <p:nvSpPr>
          <p:cNvPr name="TextBox 65" id="65"/>
          <p:cNvSpPr txBox="true"/>
          <p:nvPr/>
        </p:nvSpPr>
        <p:spPr>
          <a:xfrm rot="0">
            <a:off x="6240780" y="7029450"/>
            <a:ext cx="2537460" cy="13049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399" b="true">
                <a:solidFill>
                  <a:srgbClr val="2E5634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Testar</a:t>
            </a:r>
          </a:p>
          <a:p>
            <a:pPr algn="l">
              <a:lnSpc>
                <a:spcPts val="2399"/>
              </a:lnSpc>
            </a:pPr>
            <a:r>
              <a:rPr lang="en-US" sz="1999">
                <a:solidFill>
                  <a:srgbClr val="1B2A1F"/>
                </a:solidFill>
                <a:latin typeface="Calibri (MS)"/>
                <a:ea typeface="Calibri (MS)"/>
                <a:cs typeface="Calibri (MS)"/>
                <a:sym typeface="Calibri (MS)"/>
              </a:rPr>
              <a:t>o mecanismo de correspondência entre anúncios</a:t>
            </a:r>
          </a:p>
        </p:txBody>
      </p:sp>
      <p:grpSp>
        <p:nvGrpSpPr>
          <p:cNvPr name="Group 66" id="66"/>
          <p:cNvGrpSpPr/>
          <p:nvPr/>
        </p:nvGrpSpPr>
        <p:grpSpPr>
          <a:xfrm rot="0">
            <a:off x="9273226" y="6804346"/>
            <a:ext cx="3924938" cy="1890398"/>
            <a:chOff x="0" y="0"/>
            <a:chExt cx="5233251" cy="2520531"/>
          </a:xfrm>
        </p:grpSpPr>
        <p:sp>
          <p:nvSpPr>
            <p:cNvPr name="Freeform 67" id="67"/>
            <p:cNvSpPr/>
            <p:nvPr/>
          </p:nvSpPr>
          <p:spPr>
            <a:xfrm flipH="false" flipV="false" rot="0">
              <a:off x="0" y="0"/>
              <a:ext cx="5233289" cy="2520569"/>
            </a:xfrm>
            <a:custGeom>
              <a:avLst/>
              <a:gdLst/>
              <a:ahLst/>
              <a:cxnLst/>
              <a:rect r="r" b="b" t="t" l="l"/>
              <a:pathLst>
                <a:path h="2520569" w="5233289">
                  <a:moveTo>
                    <a:pt x="0" y="201676"/>
                  </a:moveTo>
                  <a:cubicBezTo>
                    <a:pt x="0" y="90297"/>
                    <a:pt x="90297" y="0"/>
                    <a:pt x="201676" y="0"/>
                  </a:cubicBezTo>
                  <a:lnTo>
                    <a:pt x="5031613" y="0"/>
                  </a:lnTo>
                  <a:cubicBezTo>
                    <a:pt x="5142992" y="0"/>
                    <a:pt x="5233289" y="90297"/>
                    <a:pt x="5233289" y="201676"/>
                  </a:cubicBezTo>
                  <a:lnTo>
                    <a:pt x="5233289" y="2318893"/>
                  </a:lnTo>
                  <a:cubicBezTo>
                    <a:pt x="5233289" y="2430272"/>
                    <a:pt x="5142992" y="2520569"/>
                    <a:pt x="5031613" y="2520569"/>
                  </a:cubicBezTo>
                  <a:lnTo>
                    <a:pt x="201676" y="2520569"/>
                  </a:lnTo>
                  <a:cubicBezTo>
                    <a:pt x="90297" y="2520569"/>
                    <a:pt x="0" y="2430272"/>
                    <a:pt x="0" y="2318893"/>
                  </a:cubicBezTo>
                  <a:close/>
                </a:path>
              </a:pathLst>
            </a:custGeom>
            <a:solidFill>
              <a:srgbClr val="FFFFFF"/>
            </a:solidFill>
            <a:ln w="15875" cap="sq">
              <a:solidFill>
                <a:srgbClr val="C9D4C6"/>
              </a:solidFill>
              <a:prstDash val="solid"/>
              <a:miter/>
            </a:ln>
          </p:spPr>
        </p:sp>
      </p:grpSp>
      <p:sp>
        <p:nvSpPr>
          <p:cNvPr name="TextBox 68" id="68"/>
          <p:cNvSpPr txBox="true"/>
          <p:nvPr/>
        </p:nvSpPr>
        <p:spPr>
          <a:xfrm rot="0">
            <a:off x="9555480" y="7040880"/>
            <a:ext cx="914400" cy="5715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559"/>
              </a:lnSpc>
            </a:pPr>
            <a:r>
              <a:rPr lang="en-US" sz="3799" b="true">
                <a:solidFill>
                  <a:srgbClr val="B1734A"/>
                </a:solidFill>
                <a:latin typeface="Cambria Bold"/>
                <a:ea typeface="Cambria Bold"/>
                <a:cs typeface="Cambria Bold"/>
                <a:sym typeface="Cambria Bold"/>
              </a:rPr>
              <a:t>07</a:t>
            </a:r>
          </a:p>
        </p:txBody>
      </p:sp>
      <p:sp>
        <p:nvSpPr>
          <p:cNvPr name="TextBox 69" id="69"/>
          <p:cNvSpPr txBox="true"/>
          <p:nvPr/>
        </p:nvSpPr>
        <p:spPr>
          <a:xfrm rot="0">
            <a:off x="10424160" y="7029450"/>
            <a:ext cx="2537460" cy="10096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399" b="true">
                <a:solidFill>
                  <a:srgbClr val="2E5634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Avaliar</a:t>
            </a:r>
          </a:p>
          <a:p>
            <a:pPr algn="l">
              <a:lnSpc>
                <a:spcPts val="2399"/>
              </a:lnSpc>
            </a:pPr>
            <a:r>
              <a:rPr lang="en-US" sz="1999">
                <a:solidFill>
                  <a:srgbClr val="1B2A1F"/>
                </a:solidFill>
                <a:latin typeface="Calibri (MS)"/>
                <a:ea typeface="Calibri (MS)"/>
                <a:cs typeface="Calibri (MS)"/>
                <a:sym typeface="Calibri (MS)"/>
              </a:rPr>
              <a:t>a usabilidade com tarefas e a escala SUS</a:t>
            </a:r>
          </a:p>
        </p:txBody>
      </p:sp>
      <p:sp>
        <p:nvSpPr>
          <p:cNvPr name="TextBox 70" id="70"/>
          <p:cNvSpPr txBox="true"/>
          <p:nvPr/>
        </p:nvSpPr>
        <p:spPr>
          <a:xfrm rot="0">
            <a:off x="16459200" y="9471660"/>
            <a:ext cx="914400" cy="3429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400"/>
              </a:lnSpc>
            </a:pPr>
            <a:r>
              <a:rPr lang="en-US" sz="2000">
                <a:solidFill>
                  <a:srgbClr val="5B6B5F"/>
                </a:solidFill>
                <a:latin typeface="Calibri (MS)"/>
                <a:ea typeface="Calibri (MS)"/>
                <a:cs typeface="Calibri (MS)"/>
                <a:sym typeface="Calibri (MS)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>
  <p:cSld>
    <p:bg>
      <p:bgPr>
        <a:solidFill>
          <a:srgbClr val="2E56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463040" y="2274570"/>
            <a:ext cx="9144000" cy="78574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38"/>
              </a:lnSpc>
            </a:pPr>
            <a:r>
              <a:rPr lang="en-US" b="true" sz="2199" spc="599">
                <a:solidFill>
                  <a:srgbClr val="E3B58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A SEGUIR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1463040" y="2960370"/>
            <a:ext cx="6400800" cy="24571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00"/>
              </a:lnSpc>
            </a:pPr>
            <a:r>
              <a:rPr lang="en-US" sz="15000" b="true">
                <a:solidFill>
                  <a:srgbClr val="E3B58F"/>
                </a:solidFill>
                <a:latin typeface="Cambria Bold"/>
                <a:ea typeface="Cambria Bold"/>
                <a:cs typeface="Cambria Bold"/>
                <a:sym typeface="Cambria Bold"/>
              </a:rPr>
              <a:t>02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463040" y="5463540"/>
            <a:ext cx="15544800" cy="10191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920"/>
              </a:lnSpc>
            </a:pPr>
            <a:r>
              <a:rPr lang="en-US" sz="6600" b="true">
                <a:solidFill>
                  <a:srgbClr val="FFFFFF"/>
                </a:solidFill>
                <a:latin typeface="Cambria Bold"/>
                <a:ea typeface="Cambria Bold"/>
                <a:cs typeface="Cambria Bold"/>
                <a:sym typeface="Cambria Bold"/>
              </a:rPr>
              <a:t>Método e p</a:t>
            </a:r>
            <a:r>
              <a:rPr lang="en-US" sz="6600" b="true">
                <a:solidFill>
                  <a:srgbClr val="FFFFFF"/>
                </a:solidFill>
                <a:latin typeface="Cambria Bold"/>
                <a:ea typeface="Cambria Bold"/>
                <a:cs typeface="Cambria Bold"/>
                <a:sym typeface="Cambria Bold"/>
              </a:rPr>
              <a:t>esquisa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463040" y="6366510"/>
            <a:ext cx="15544800" cy="48600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7"/>
              </a:lnSpc>
            </a:pPr>
            <a:r>
              <a:rPr lang="en-US" sz="2799">
                <a:solidFill>
                  <a:srgbClr val="C9D8CB"/>
                </a:solidFill>
                <a:latin typeface="Calibri (MS)"/>
                <a:ea typeface="Calibri (MS)"/>
                <a:cs typeface="Calibri (MS)"/>
                <a:sym typeface="Calibri (MS)"/>
              </a:rPr>
              <a:t>Metodologia, pesquisa de campo e similares</a:t>
            </a:r>
            <a:r>
              <a:rPr lang="en-US" sz="2799">
                <a:solidFill>
                  <a:srgbClr val="C9D8CB"/>
                </a:solidFill>
                <a:latin typeface="Calibri (MS)"/>
                <a:ea typeface="Calibri (MS)"/>
                <a:cs typeface="Calibri (MS)"/>
                <a:sym typeface="Calibri (MS)"/>
              </a:rPr>
              <a:t/>
            </a:r>
          </a:p>
        </p:txBody>
      </p:sp>
      <p:grpSp>
        <p:nvGrpSpPr>
          <p:cNvPr name="Group 6" id="6"/>
          <p:cNvGrpSpPr/>
          <p:nvPr/>
        </p:nvGrpSpPr>
        <p:grpSpPr>
          <a:xfrm rot="0">
            <a:off x="1463040" y="8869680"/>
            <a:ext cx="1645920" cy="91440"/>
            <a:chOff x="0" y="0"/>
            <a:chExt cx="2194560" cy="12192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194560" cy="121920"/>
            </a:xfrm>
            <a:custGeom>
              <a:avLst/>
              <a:gdLst/>
              <a:ahLst/>
              <a:cxnLst/>
              <a:rect r="r" b="b" t="t" l="l"/>
              <a:pathLst>
                <a:path h="121920" w="2194560">
                  <a:moveTo>
                    <a:pt x="0" y="60960"/>
                  </a:moveTo>
                  <a:cubicBezTo>
                    <a:pt x="0" y="27305"/>
                    <a:pt x="27305" y="0"/>
                    <a:pt x="60960" y="0"/>
                  </a:cubicBezTo>
                  <a:lnTo>
                    <a:pt x="2133600" y="0"/>
                  </a:lnTo>
                  <a:cubicBezTo>
                    <a:pt x="2167255" y="0"/>
                    <a:pt x="2194560" y="27305"/>
                    <a:pt x="2194560" y="60960"/>
                  </a:cubicBezTo>
                  <a:cubicBezTo>
                    <a:pt x="2194560" y="94615"/>
                    <a:pt x="2167255" y="121920"/>
                    <a:pt x="2133600" y="121920"/>
                  </a:cubicBezTo>
                  <a:lnTo>
                    <a:pt x="60960" y="121920"/>
                  </a:lnTo>
                  <a:cubicBezTo>
                    <a:pt x="27305" y="121920"/>
                    <a:pt x="0" y="94615"/>
                    <a:pt x="0" y="60960"/>
                  </a:cubicBezTo>
                  <a:close/>
                </a:path>
              </a:pathLst>
            </a:custGeom>
            <a:solidFill>
              <a:srgbClr val="C9D8CB"/>
            </a:solidFill>
          </p:spPr>
        </p:sp>
      </p:grpSp>
      <p:sp>
        <p:nvSpPr>
          <p:cNvPr name="TextBox 8" id="8"/>
          <p:cNvSpPr txBox="true"/>
          <p:nvPr/>
        </p:nvSpPr>
        <p:spPr>
          <a:xfrm rot="0">
            <a:off x="1463040" y="8999220"/>
            <a:ext cx="1645920" cy="57145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19"/>
              </a:lnSpc>
            </a:pPr>
            <a:r>
              <a:rPr lang="en-US" sz="1599" b="true">
                <a:solidFill>
                  <a:srgbClr val="C9D8CB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01</a:t>
            </a:r>
          </a:p>
        </p:txBody>
      </p:sp>
      <p:grpSp>
        <p:nvGrpSpPr>
          <p:cNvPr name="Group 9" id="9"/>
          <p:cNvGrpSpPr/>
          <p:nvPr/>
        </p:nvGrpSpPr>
        <p:grpSpPr>
          <a:xfrm rot="0">
            <a:off x="3291840" y="8869680"/>
            <a:ext cx="1645920" cy="91440"/>
            <a:chOff x="0" y="0"/>
            <a:chExt cx="2194560" cy="121920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2194560" cy="121920"/>
            </a:xfrm>
            <a:custGeom>
              <a:avLst/>
              <a:gdLst/>
              <a:ahLst/>
              <a:cxnLst/>
              <a:rect r="r" b="b" t="t" l="l"/>
              <a:pathLst>
                <a:path h="121920" w="2194560">
                  <a:moveTo>
                    <a:pt x="0" y="60960"/>
                  </a:moveTo>
                  <a:cubicBezTo>
                    <a:pt x="0" y="27305"/>
                    <a:pt x="27305" y="0"/>
                    <a:pt x="60960" y="0"/>
                  </a:cubicBezTo>
                  <a:lnTo>
                    <a:pt x="2133600" y="0"/>
                  </a:lnTo>
                  <a:cubicBezTo>
                    <a:pt x="2167255" y="0"/>
                    <a:pt x="2194560" y="27305"/>
                    <a:pt x="2194560" y="60960"/>
                  </a:cubicBezTo>
                  <a:cubicBezTo>
                    <a:pt x="2194560" y="94615"/>
                    <a:pt x="2167255" y="121920"/>
                    <a:pt x="2133600" y="121920"/>
                  </a:cubicBezTo>
                  <a:lnTo>
                    <a:pt x="60960" y="121920"/>
                  </a:lnTo>
                  <a:cubicBezTo>
                    <a:pt x="27305" y="121920"/>
                    <a:pt x="0" y="94615"/>
                    <a:pt x="0" y="60960"/>
                  </a:cubicBezTo>
                  <a:close/>
                </a:path>
              </a:pathLst>
            </a:custGeom>
            <a:solidFill>
              <a:srgbClr val="E3B58F"/>
            </a:solidFill>
          </p:spPr>
        </p:sp>
      </p:grpSp>
      <p:sp>
        <p:nvSpPr>
          <p:cNvPr name="TextBox 11" id="11"/>
          <p:cNvSpPr txBox="true"/>
          <p:nvPr/>
        </p:nvSpPr>
        <p:spPr>
          <a:xfrm rot="0">
            <a:off x="3291840" y="8999220"/>
            <a:ext cx="1645920" cy="57145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19"/>
              </a:lnSpc>
            </a:pPr>
            <a:r>
              <a:rPr lang="en-US" sz="1599" b="true">
                <a:solidFill>
                  <a:srgbClr val="E3B58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02</a:t>
            </a:r>
          </a:p>
        </p:txBody>
      </p:sp>
      <p:grpSp>
        <p:nvGrpSpPr>
          <p:cNvPr name="Group 12" id="12"/>
          <p:cNvGrpSpPr/>
          <p:nvPr/>
        </p:nvGrpSpPr>
        <p:grpSpPr>
          <a:xfrm rot="0">
            <a:off x="5120640" y="8869680"/>
            <a:ext cx="1645920" cy="91440"/>
            <a:chOff x="0" y="0"/>
            <a:chExt cx="2194560" cy="12192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2194560" cy="121920"/>
            </a:xfrm>
            <a:custGeom>
              <a:avLst/>
              <a:gdLst/>
              <a:ahLst/>
              <a:cxnLst/>
              <a:rect r="r" b="b" t="t" l="l"/>
              <a:pathLst>
                <a:path h="121920" w="2194560">
                  <a:moveTo>
                    <a:pt x="0" y="60960"/>
                  </a:moveTo>
                  <a:cubicBezTo>
                    <a:pt x="0" y="27305"/>
                    <a:pt x="27305" y="0"/>
                    <a:pt x="60960" y="0"/>
                  </a:cubicBezTo>
                  <a:lnTo>
                    <a:pt x="2133600" y="0"/>
                  </a:lnTo>
                  <a:cubicBezTo>
                    <a:pt x="2167255" y="0"/>
                    <a:pt x="2194560" y="27305"/>
                    <a:pt x="2194560" y="60960"/>
                  </a:cubicBezTo>
                  <a:cubicBezTo>
                    <a:pt x="2194560" y="94615"/>
                    <a:pt x="2167255" y="121920"/>
                    <a:pt x="2133600" y="121920"/>
                  </a:cubicBezTo>
                  <a:lnTo>
                    <a:pt x="60960" y="121920"/>
                  </a:lnTo>
                  <a:cubicBezTo>
                    <a:pt x="27305" y="121920"/>
                    <a:pt x="0" y="94615"/>
                    <a:pt x="0" y="60960"/>
                  </a:cubicBezTo>
                  <a:close/>
                </a:path>
              </a:pathLst>
            </a:custGeom>
            <a:solidFill>
              <a:srgbClr val="5E8063"/>
            </a:solidFill>
          </p:spPr>
        </p:sp>
      </p:grpSp>
      <p:sp>
        <p:nvSpPr>
          <p:cNvPr name="TextBox 14" id="14"/>
          <p:cNvSpPr txBox="true"/>
          <p:nvPr/>
        </p:nvSpPr>
        <p:spPr>
          <a:xfrm rot="0">
            <a:off x="5120640" y="8999220"/>
            <a:ext cx="1645920" cy="57145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19"/>
              </a:lnSpc>
            </a:pPr>
            <a:r>
              <a:rPr lang="en-US" sz="1599" b="true">
                <a:solidFill>
                  <a:srgbClr val="5E8063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03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6949440" y="8869680"/>
            <a:ext cx="1645920" cy="91440"/>
            <a:chOff x="0" y="0"/>
            <a:chExt cx="2194560" cy="12192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2194560" cy="121920"/>
            </a:xfrm>
            <a:custGeom>
              <a:avLst/>
              <a:gdLst/>
              <a:ahLst/>
              <a:cxnLst/>
              <a:rect r="r" b="b" t="t" l="l"/>
              <a:pathLst>
                <a:path h="121920" w="2194560">
                  <a:moveTo>
                    <a:pt x="0" y="60960"/>
                  </a:moveTo>
                  <a:cubicBezTo>
                    <a:pt x="0" y="27305"/>
                    <a:pt x="27305" y="0"/>
                    <a:pt x="60960" y="0"/>
                  </a:cubicBezTo>
                  <a:lnTo>
                    <a:pt x="2133600" y="0"/>
                  </a:lnTo>
                  <a:cubicBezTo>
                    <a:pt x="2167255" y="0"/>
                    <a:pt x="2194560" y="27305"/>
                    <a:pt x="2194560" y="60960"/>
                  </a:cubicBezTo>
                  <a:cubicBezTo>
                    <a:pt x="2194560" y="94615"/>
                    <a:pt x="2167255" y="121920"/>
                    <a:pt x="2133600" y="121920"/>
                  </a:cubicBezTo>
                  <a:lnTo>
                    <a:pt x="60960" y="121920"/>
                  </a:lnTo>
                  <a:cubicBezTo>
                    <a:pt x="27305" y="121920"/>
                    <a:pt x="0" y="94615"/>
                    <a:pt x="0" y="60960"/>
                  </a:cubicBezTo>
                  <a:close/>
                </a:path>
              </a:pathLst>
            </a:custGeom>
            <a:solidFill>
              <a:srgbClr val="5E8063"/>
            </a:solidFill>
          </p:spPr>
        </p:sp>
      </p:grpSp>
      <p:sp>
        <p:nvSpPr>
          <p:cNvPr name="TextBox 17" id="17"/>
          <p:cNvSpPr txBox="true"/>
          <p:nvPr/>
        </p:nvSpPr>
        <p:spPr>
          <a:xfrm rot="0">
            <a:off x="6949440" y="8999220"/>
            <a:ext cx="1645920" cy="57145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19"/>
              </a:lnSpc>
            </a:pPr>
            <a:r>
              <a:rPr lang="en-US" sz="1599" b="true">
                <a:solidFill>
                  <a:srgbClr val="5E8063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04</a:t>
            </a:r>
          </a:p>
        </p:txBody>
      </p:sp>
      <p:grpSp>
        <p:nvGrpSpPr>
          <p:cNvPr name="Group 18" id="18"/>
          <p:cNvGrpSpPr/>
          <p:nvPr/>
        </p:nvGrpSpPr>
        <p:grpSpPr>
          <a:xfrm rot="0">
            <a:off x="8778240" y="8869680"/>
            <a:ext cx="1645920" cy="91440"/>
            <a:chOff x="0" y="0"/>
            <a:chExt cx="2194560" cy="121920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2194560" cy="121920"/>
            </a:xfrm>
            <a:custGeom>
              <a:avLst/>
              <a:gdLst/>
              <a:ahLst/>
              <a:cxnLst/>
              <a:rect r="r" b="b" t="t" l="l"/>
              <a:pathLst>
                <a:path h="121920" w="2194560">
                  <a:moveTo>
                    <a:pt x="0" y="60960"/>
                  </a:moveTo>
                  <a:cubicBezTo>
                    <a:pt x="0" y="27305"/>
                    <a:pt x="27305" y="0"/>
                    <a:pt x="60960" y="0"/>
                  </a:cubicBezTo>
                  <a:lnTo>
                    <a:pt x="2133600" y="0"/>
                  </a:lnTo>
                  <a:cubicBezTo>
                    <a:pt x="2167255" y="0"/>
                    <a:pt x="2194560" y="27305"/>
                    <a:pt x="2194560" y="60960"/>
                  </a:cubicBezTo>
                  <a:cubicBezTo>
                    <a:pt x="2194560" y="94615"/>
                    <a:pt x="2167255" y="121920"/>
                    <a:pt x="2133600" y="121920"/>
                  </a:cubicBezTo>
                  <a:lnTo>
                    <a:pt x="60960" y="121920"/>
                  </a:lnTo>
                  <a:cubicBezTo>
                    <a:pt x="27305" y="121920"/>
                    <a:pt x="0" y="94615"/>
                    <a:pt x="0" y="60960"/>
                  </a:cubicBezTo>
                  <a:close/>
                </a:path>
              </a:pathLst>
            </a:custGeom>
            <a:solidFill>
              <a:srgbClr val="5E8063"/>
            </a:solidFill>
          </p:spPr>
        </p:sp>
      </p:grpSp>
      <p:sp>
        <p:nvSpPr>
          <p:cNvPr name="TextBox 20" id="20"/>
          <p:cNvSpPr txBox="true"/>
          <p:nvPr/>
        </p:nvSpPr>
        <p:spPr>
          <a:xfrm rot="0">
            <a:off x="8778240" y="8999220"/>
            <a:ext cx="1645920" cy="57145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19"/>
              </a:lnSpc>
            </a:pPr>
            <a:r>
              <a:rPr lang="en-US" sz="1599" b="true">
                <a:solidFill>
                  <a:srgbClr val="5E8063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05</a:t>
            </a:r>
          </a:p>
        </p:txBody>
      </p:sp>
      <p:grpSp>
        <p:nvGrpSpPr>
          <p:cNvPr name="Group 21" id="21"/>
          <p:cNvGrpSpPr/>
          <p:nvPr/>
        </p:nvGrpSpPr>
        <p:grpSpPr>
          <a:xfrm rot="0">
            <a:off x="10607040" y="8869680"/>
            <a:ext cx="1645920" cy="91440"/>
            <a:chOff x="0" y="0"/>
            <a:chExt cx="2194560" cy="121920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2194560" cy="121920"/>
            </a:xfrm>
            <a:custGeom>
              <a:avLst/>
              <a:gdLst/>
              <a:ahLst/>
              <a:cxnLst/>
              <a:rect r="r" b="b" t="t" l="l"/>
              <a:pathLst>
                <a:path h="121920" w="2194560">
                  <a:moveTo>
                    <a:pt x="0" y="60960"/>
                  </a:moveTo>
                  <a:cubicBezTo>
                    <a:pt x="0" y="27305"/>
                    <a:pt x="27305" y="0"/>
                    <a:pt x="60960" y="0"/>
                  </a:cubicBezTo>
                  <a:lnTo>
                    <a:pt x="2133600" y="0"/>
                  </a:lnTo>
                  <a:cubicBezTo>
                    <a:pt x="2167255" y="0"/>
                    <a:pt x="2194560" y="27305"/>
                    <a:pt x="2194560" y="60960"/>
                  </a:cubicBezTo>
                  <a:cubicBezTo>
                    <a:pt x="2194560" y="94615"/>
                    <a:pt x="2167255" y="121920"/>
                    <a:pt x="2133600" y="121920"/>
                  </a:cubicBezTo>
                  <a:lnTo>
                    <a:pt x="60960" y="121920"/>
                  </a:lnTo>
                  <a:cubicBezTo>
                    <a:pt x="27305" y="121920"/>
                    <a:pt x="0" y="94615"/>
                    <a:pt x="0" y="60960"/>
                  </a:cubicBezTo>
                  <a:close/>
                </a:path>
              </a:pathLst>
            </a:custGeom>
            <a:solidFill>
              <a:srgbClr val="5E8063"/>
            </a:solidFill>
          </p:spPr>
        </p:sp>
      </p:grpSp>
      <p:sp>
        <p:nvSpPr>
          <p:cNvPr name="TextBox 23" id="23"/>
          <p:cNvSpPr txBox="true"/>
          <p:nvPr/>
        </p:nvSpPr>
        <p:spPr>
          <a:xfrm rot="0">
            <a:off x="10607040" y="8999220"/>
            <a:ext cx="1645920" cy="57145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19"/>
              </a:lnSpc>
            </a:pPr>
            <a:r>
              <a:rPr lang="en-US" sz="1599" b="true">
                <a:solidFill>
                  <a:srgbClr val="5E8063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06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16459200" y="9471660"/>
            <a:ext cx="914400" cy="3429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400"/>
              </a:lnSpc>
            </a:pPr>
            <a:r>
              <a:rPr lang="en-US" sz="2000">
                <a:solidFill>
                  <a:srgbClr val="C9D8CB"/>
                </a:solidFill>
                <a:latin typeface="Calibri (MS)"/>
                <a:ea typeface="Calibri (MS)"/>
                <a:cs typeface="Calibri (MS)"/>
                <a:sym typeface="Calibri (MS)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914400" y="914400"/>
            <a:ext cx="16459200" cy="1097280"/>
            <a:chOff x="0" y="0"/>
            <a:chExt cx="21945600" cy="146304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1945600" cy="1463040"/>
            </a:xfrm>
            <a:custGeom>
              <a:avLst/>
              <a:gdLst/>
              <a:ahLst/>
              <a:cxnLst/>
              <a:rect r="r" b="b" t="t" l="l"/>
              <a:pathLst>
                <a:path h="146304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463040"/>
                  </a:lnTo>
                  <a:lnTo>
                    <a:pt x="0" y="14630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242072" r="0" b="-242072"/>
              </a:stretch>
            </a:blipFill>
          </p:spPr>
        </p:sp>
      </p:grpSp>
      <p:grpSp>
        <p:nvGrpSpPr>
          <p:cNvPr name="Group 4" id="4"/>
          <p:cNvGrpSpPr/>
          <p:nvPr/>
        </p:nvGrpSpPr>
        <p:grpSpPr>
          <a:xfrm rot="0">
            <a:off x="914400" y="907256"/>
            <a:ext cx="16459200" cy="1104424"/>
            <a:chOff x="0" y="0"/>
            <a:chExt cx="21945600" cy="1472565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1945600" cy="1472565"/>
            </a:xfrm>
            <a:custGeom>
              <a:avLst/>
              <a:gdLst/>
              <a:ahLst/>
              <a:cxnLst/>
              <a:rect r="r" b="b" t="t" l="l"/>
              <a:pathLst>
                <a:path h="1472565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472565"/>
                  </a:lnTo>
                  <a:lnTo>
                    <a:pt x="0" y="1472565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40182" r="0" b="-240183"/>
              </a:stretch>
            </a:blipFill>
          </p:spPr>
        </p:sp>
      </p:grpSp>
      <p:grpSp>
        <p:nvGrpSpPr>
          <p:cNvPr name="Group 6" id="6"/>
          <p:cNvGrpSpPr/>
          <p:nvPr/>
        </p:nvGrpSpPr>
        <p:grpSpPr>
          <a:xfrm rot="0">
            <a:off x="914400" y="900112"/>
            <a:ext cx="16459200" cy="1111568"/>
            <a:chOff x="0" y="0"/>
            <a:chExt cx="21945600" cy="148209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1945600" cy="1482090"/>
            </a:xfrm>
            <a:custGeom>
              <a:avLst/>
              <a:gdLst/>
              <a:ahLst/>
              <a:cxnLst/>
              <a:rect r="r" b="b" t="t" l="l"/>
              <a:pathLst>
                <a:path h="148209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482090"/>
                  </a:lnTo>
                  <a:lnTo>
                    <a:pt x="0" y="148209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38317" r="0" b="-238318"/>
              </a:stretch>
            </a:blipFill>
          </p:spPr>
        </p:sp>
      </p:grpSp>
      <p:grpSp>
        <p:nvGrpSpPr>
          <p:cNvPr name="Group 8" id="8"/>
          <p:cNvGrpSpPr/>
          <p:nvPr/>
        </p:nvGrpSpPr>
        <p:grpSpPr>
          <a:xfrm rot="0">
            <a:off x="914400" y="892969"/>
            <a:ext cx="16459200" cy="1118711"/>
            <a:chOff x="0" y="0"/>
            <a:chExt cx="21945600" cy="1491615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1945600" cy="1491615"/>
            </a:xfrm>
            <a:custGeom>
              <a:avLst/>
              <a:gdLst/>
              <a:ahLst/>
              <a:cxnLst/>
              <a:rect r="r" b="b" t="t" l="l"/>
              <a:pathLst>
                <a:path h="1491615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491615"/>
                  </a:lnTo>
                  <a:lnTo>
                    <a:pt x="0" y="1491615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236476" r="0" b="-236477"/>
              </a:stretch>
            </a:blipFill>
          </p:spPr>
        </p:sp>
      </p:grpSp>
      <p:grpSp>
        <p:nvGrpSpPr>
          <p:cNvPr name="Group 10" id="10"/>
          <p:cNvGrpSpPr/>
          <p:nvPr/>
        </p:nvGrpSpPr>
        <p:grpSpPr>
          <a:xfrm rot="0">
            <a:off x="914400" y="885825"/>
            <a:ext cx="16459200" cy="1125855"/>
            <a:chOff x="0" y="0"/>
            <a:chExt cx="21945600" cy="150114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21945600" cy="1501140"/>
            </a:xfrm>
            <a:custGeom>
              <a:avLst/>
              <a:gdLst/>
              <a:ahLst/>
              <a:cxnLst/>
              <a:rect r="r" b="b" t="t" l="l"/>
              <a:pathLst>
                <a:path h="150114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501140"/>
                  </a:lnTo>
                  <a:lnTo>
                    <a:pt x="0" y="1501140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l="0" t="-234659" r="0" b="-234659"/>
              </a:stretch>
            </a:blipFill>
          </p:spPr>
        </p:sp>
      </p:grpSp>
      <p:grpSp>
        <p:nvGrpSpPr>
          <p:cNvPr name="Group 12" id="12"/>
          <p:cNvGrpSpPr/>
          <p:nvPr/>
        </p:nvGrpSpPr>
        <p:grpSpPr>
          <a:xfrm rot="0">
            <a:off x="914400" y="878681"/>
            <a:ext cx="16459200" cy="1132999"/>
            <a:chOff x="0" y="0"/>
            <a:chExt cx="21945600" cy="1510665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21945600" cy="1510665"/>
            </a:xfrm>
            <a:custGeom>
              <a:avLst/>
              <a:gdLst/>
              <a:ahLst/>
              <a:cxnLst/>
              <a:rect r="r" b="b" t="t" l="l"/>
              <a:pathLst>
                <a:path h="1510665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510665"/>
                  </a:lnTo>
                  <a:lnTo>
                    <a:pt x="0" y="1510665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0" t="-232864" r="0" b="-232865"/>
              </a:stretch>
            </a:blipFill>
          </p:spPr>
        </p:sp>
      </p:grpSp>
      <p:grpSp>
        <p:nvGrpSpPr>
          <p:cNvPr name="Group 14" id="14"/>
          <p:cNvGrpSpPr/>
          <p:nvPr/>
        </p:nvGrpSpPr>
        <p:grpSpPr>
          <a:xfrm rot="0">
            <a:off x="914400" y="871538"/>
            <a:ext cx="16459200" cy="1140142"/>
            <a:chOff x="0" y="0"/>
            <a:chExt cx="21945600" cy="152019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21945600" cy="1520190"/>
            </a:xfrm>
            <a:custGeom>
              <a:avLst/>
              <a:gdLst/>
              <a:ahLst/>
              <a:cxnLst/>
              <a:rect r="r" b="b" t="t" l="l"/>
              <a:pathLst>
                <a:path h="152019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520190"/>
                  </a:lnTo>
                  <a:lnTo>
                    <a:pt x="0" y="1520190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0" t="-231287" r="0" b="-231287"/>
              </a:stretch>
            </a:blipFill>
          </p:spPr>
        </p:sp>
        <p:sp>
          <p:nvSpPr>
            <p:cNvPr name="TextBox 16" id="16"/>
            <p:cNvSpPr txBox="true"/>
            <p:nvPr/>
          </p:nvSpPr>
          <p:spPr>
            <a:xfrm>
              <a:off x="0" y="-9525"/>
              <a:ext cx="21945600" cy="15297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6239"/>
                </a:lnSpc>
              </a:pPr>
              <a:r>
                <a:rPr lang="en-US" sz="5198" b="true">
                  <a:solidFill>
                    <a:srgbClr val="2E5634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Metodologia</a:t>
              </a: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822960" y="9572625"/>
            <a:ext cx="8229600" cy="440055"/>
            <a:chOff x="0" y="0"/>
            <a:chExt cx="10972800" cy="58674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10972800" cy="586740"/>
            </a:xfrm>
            <a:custGeom>
              <a:avLst/>
              <a:gdLst/>
              <a:ahLst/>
              <a:cxnLst/>
              <a:rect r="r" b="b" t="t" l="l"/>
              <a:pathLst>
                <a:path h="5867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586740"/>
                  </a:lnTo>
                  <a:lnTo>
                    <a:pt x="0" y="5867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314142" r="0" b="-314140"/>
              </a:stretch>
            </a:blipFill>
          </p:spPr>
        </p:sp>
      </p:grpSp>
      <p:grpSp>
        <p:nvGrpSpPr>
          <p:cNvPr name="Group 19" id="19"/>
          <p:cNvGrpSpPr/>
          <p:nvPr/>
        </p:nvGrpSpPr>
        <p:grpSpPr>
          <a:xfrm rot="0">
            <a:off x="822960" y="9544050"/>
            <a:ext cx="8229600" cy="468630"/>
            <a:chOff x="0" y="0"/>
            <a:chExt cx="10972800" cy="624840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10972800" cy="624840"/>
            </a:xfrm>
            <a:custGeom>
              <a:avLst/>
              <a:gdLst/>
              <a:ahLst/>
              <a:cxnLst/>
              <a:rect r="r" b="b" t="t" l="l"/>
              <a:pathLst>
                <a:path h="6248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624840"/>
                  </a:lnTo>
                  <a:lnTo>
                    <a:pt x="0" y="6248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91939" r="0" b="-291936"/>
              </a:stretch>
            </a:blipFill>
          </p:spPr>
        </p:sp>
      </p:grpSp>
      <p:grpSp>
        <p:nvGrpSpPr>
          <p:cNvPr name="Group 21" id="21"/>
          <p:cNvGrpSpPr/>
          <p:nvPr/>
        </p:nvGrpSpPr>
        <p:grpSpPr>
          <a:xfrm rot="0">
            <a:off x="822960" y="9515475"/>
            <a:ext cx="8229600" cy="497205"/>
            <a:chOff x="0" y="0"/>
            <a:chExt cx="10972800" cy="662940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10972800" cy="662940"/>
            </a:xfrm>
            <a:custGeom>
              <a:avLst/>
              <a:gdLst/>
              <a:ahLst/>
              <a:cxnLst/>
              <a:rect r="r" b="b" t="t" l="l"/>
              <a:pathLst>
                <a:path h="6629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662940"/>
                  </a:lnTo>
                  <a:lnTo>
                    <a:pt x="0" y="66294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72287" r="0" b="-272285"/>
              </a:stretch>
            </a:blipFill>
          </p:spPr>
        </p:sp>
      </p:grpSp>
      <p:grpSp>
        <p:nvGrpSpPr>
          <p:cNvPr name="Group 23" id="23"/>
          <p:cNvGrpSpPr/>
          <p:nvPr/>
        </p:nvGrpSpPr>
        <p:grpSpPr>
          <a:xfrm rot="0">
            <a:off x="822960" y="9486900"/>
            <a:ext cx="8229600" cy="525780"/>
            <a:chOff x="0" y="0"/>
            <a:chExt cx="10972800" cy="701040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10972800" cy="701040"/>
            </a:xfrm>
            <a:custGeom>
              <a:avLst/>
              <a:gdLst/>
              <a:ahLst/>
              <a:cxnLst/>
              <a:rect r="r" b="b" t="t" l="l"/>
              <a:pathLst>
                <a:path h="7010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701040"/>
                  </a:lnTo>
                  <a:lnTo>
                    <a:pt x="0" y="701040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254771" r="0" b="-254769"/>
              </a:stretch>
            </a:blipFill>
          </p:spPr>
        </p:sp>
      </p:grpSp>
      <p:grpSp>
        <p:nvGrpSpPr>
          <p:cNvPr name="Group 25" id="25"/>
          <p:cNvGrpSpPr/>
          <p:nvPr/>
        </p:nvGrpSpPr>
        <p:grpSpPr>
          <a:xfrm rot="0">
            <a:off x="822960" y="9458325"/>
            <a:ext cx="8229600" cy="554355"/>
            <a:chOff x="0" y="0"/>
            <a:chExt cx="10972800" cy="739140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10972800" cy="739140"/>
            </a:xfrm>
            <a:custGeom>
              <a:avLst/>
              <a:gdLst/>
              <a:ahLst/>
              <a:cxnLst/>
              <a:rect r="r" b="b" t="t" l="l"/>
              <a:pathLst>
                <a:path h="7391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739140"/>
                  </a:lnTo>
                  <a:lnTo>
                    <a:pt x="0" y="739140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l="0" t="-239061" r="0" b="-239060"/>
              </a:stretch>
            </a:blipFill>
          </p:spPr>
        </p:sp>
      </p:grpSp>
      <p:grpSp>
        <p:nvGrpSpPr>
          <p:cNvPr name="Group 27" id="27"/>
          <p:cNvGrpSpPr/>
          <p:nvPr/>
        </p:nvGrpSpPr>
        <p:grpSpPr>
          <a:xfrm rot="0">
            <a:off x="822960" y="9429750"/>
            <a:ext cx="8229600" cy="582930"/>
            <a:chOff x="0" y="0"/>
            <a:chExt cx="10972800" cy="777240"/>
          </a:xfrm>
        </p:grpSpPr>
        <p:sp>
          <p:nvSpPr>
            <p:cNvPr name="Freeform 28" id="28"/>
            <p:cNvSpPr/>
            <p:nvPr/>
          </p:nvSpPr>
          <p:spPr>
            <a:xfrm flipH="false" flipV="false" rot="0">
              <a:off x="0" y="0"/>
              <a:ext cx="10972800" cy="777240"/>
            </a:xfrm>
            <a:custGeom>
              <a:avLst/>
              <a:gdLst/>
              <a:ahLst/>
              <a:cxnLst/>
              <a:rect r="r" b="b" t="t" l="l"/>
              <a:pathLst>
                <a:path h="7772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777240"/>
                  </a:lnTo>
                  <a:lnTo>
                    <a:pt x="0" y="777240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0" t="-224892" r="0" b="-224890"/>
              </a:stretch>
            </a:blipFill>
          </p:spPr>
        </p:sp>
      </p:grpSp>
      <p:grpSp>
        <p:nvGrpSpPr>
          <p:cNvPr name="Group 29" id="29"/>
          <p:cNvGrpSpPr/>
          <p:nvPr/>
        </p:nvGrpSpPr>
        <p:grpSpPr>
          <a:xfrm rot="0">
            <a:off x="822960" y="9401175"/>
            <a:ext cx="8229600" cy="611505"/>
            <a:chOff x="0" y="0"/>
            <a:chExt cx="10972800" cy="815340"/>
          </a:xfrm>
        </p:grpSpPr>
        <p:sp>
          <p:nvSpPr>
            <p:cNvPr name="Freeform 30" id="30"/>
            <p:cNvSpPr/>
            <p:nvPr/>
          </p:nvSpPr>
          <p:spPr>
            <a:xfrm flipH="false" flipV="false" rot="0">
              <a:off x="0" y="0"/>
              <a:ext cx="10972800" cy="815340"/>
            </a:xfrm>
            <a:custGeom>
              <a:avLst/>
              <a:gdLst/>
              <a:ahLst/>
              <a:cxnLst/>
              <a:rect r="r" b="b" t="t" l="l"/>
              <a:pathLst>
                <a:path h="8153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815340"/>
                  </a:lnTo>
                  <a:lnTo>
                    <a:pt x="0" y="815340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0" t="-212228" r="0" b="-212228"/>
              </a:stretch>
            </a:blipFill>
          </p:spPr>
        </p:sp>
        <p:sp>
          <p:nvSpPr>
            <p:cNvPr name="TextBox 31" id="31"/>
            <p:cNvSpPr txBox="true"/>
            <p:nvPr/>
          </p:nvSpPr>
          <p:spPr>
            <a:xfrm>
              <a:off x="0" y="-38100"/>
              <a:ext cx="10972800" cy="8534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6B728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WeFIND  |  TCC  |  IFSul Campus Pelotas</a:t>
              </a:r>
            </a:p>
          </p:txBody>
        </p:sp>
      </p:grpSp>
      <p:sp>
        <p:nvSpPr>
          <p:cNvPr name="TextBox 32" id="32"/>
          <p:cNvSpPr txBox="true"/>
          <p:nvPr/>
        </p:nvSpPr>
        <p:spPr>
          <a:xfrm rot="0">
            <a:off x="914400" y="2211705"/>
            <a:ext cx="7315200" cy="3943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19"/>
              </a:lnSpc>
            </a:pPr>
            <a:r>
              <a:rPr lang="en-US" sz="1599" b="true">
                <a:solidFill>
                  <a:srgbClr val="B1734A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COMO O TRABALHO FOI FEITO</a:t>
            </a:r>
          </a:p>
        </p:txBody>
      </p:sp>
      <p:sp>
        <p:nvSpPr>
          <p:cNvPr name="AutoShape 33" id="33"/>
          <p:cNvSpPr/>
          <p:nvPr/>
        </p:nvSpPr>
        <p:spPr>
          <a:xfrm rot="5363640">
            <a:off x="69532" y="4324731"/>
            <a:ext cx="2402977" cy="0"/>
          </a:xfrm>
          <a:prstGeom prst="line">
            <a:avLst/>
          </a:prstGeom>
          <a:ln cap="rnd" w="19050">
            <a:solidFill>
              <a:srgbClr val="C9D4C6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34" id="34"/>
          <p:cNvGrpSpPr/>
          <p:nvPr/>
        </p:nvGrpSpPr>
        <p:grpSpPr>
          <a:xfrm rot="0">
            <a:off x="914400" y="2788920"/>
            <a:ext cx="713232" cy="713232"/>
            <a:chOff x="0" y="0"/>
            <a:chExt cx="950976" cy="950976"/>
          </a:xfrm>
        </p:grpSpPr>
        <p:sp>
          <p:nvSpPr>
            <p:cNvPr name="Freeform 35" id="35"/>
            <p:cNvSpPr/>
            <p:nvPr/>
          </p:nvSpPr>
          <p:spPr>
            <a:xfrm flipH="false" flipV="false" rot="0">
              <a:off x="0" y="0"/>
              <a:ext cx="950976" cy="950976"/>
            </a:xfrm>
            <a:custGeom>
              <a:avLst/>
              <a:gdLst/>
              <a:ahLst/>
              <a:cxnLst/>
              <a:rect r="r" b="b" t="t" l="l"/>
              <a:pathLst>
                <a:path h="950976" w="950976">
                  <a:moveTo>
                    <a:pt x="0" y="475488"/>
                  </a:moveTo>
                  <a:cubicBezTo>
                    <a:pt x="0" y="212852"/>
                    <a:pt x="212852" y="0"/>
                    <a:pt x="475488" y="0"/>
                  </a:cubicBezTo>
                  <a:cubicBezTo>
                    <a:pt x="738124" y="0"/>
                    <a:pt x="950976" y="212852"/>
                    <a:pt x="950976" y="475488"/>
                  </a:cubicBezTo>
                  <a:cubicBezTo>
                    <a:pt x="950976" y="738124"/>
                    <a:pt x="738124" y="950976"/>
                    <a:pt x="475488" y="950976"/>
                  </a:cubicBezTo>
                  <a:cubicBezTo>
                    <a:pt x="212852" y="950976"/>
                    <a:pt x="0" y="738124"/>
                    <a:pt x="0" y="475488"/>
                  </a:cubicBezTo>
                  <a:close/>
                </a:path>
              </a:pathLst>
            </a:custGeom>
            <a:solidFill>
              <a:srgbClr val="2E5634"/>
            </a:solidFill>
          </p:spPr>
        </p:sp>
        <p:sp>
          <p:nvSpPr>
            <p:cNvPr name="TextBox 36" id="36"/>
            <p:cNvSpPr txBox="true"/>
            <p:nvPr/>
          </p:nvSpPr>
          <p:spPr>
            <a:xfrm>
              <a:off x="0" y="-38100"/>
              <a:ext cx="950976" cy="98907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79"/>
                </a:lnSpc>
              </a:pPr>
              <a:r>
                <a:rPr lang="en-US" sz="2400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1</a:t>
              </a:r>
            </a:p>
          </p:txBody>
        </p:sp>
      </p:grpSp>
      <p:grpSp>
        <p:nvGrpSpPr>
          <p:cNvPr name="Group 37" id="37"/>
          <p:cNvGrpSpPr/>
          <p:nvPr/>
        </p:nvGrpSpPr>
        <p:grpSpPr>
          <a:xfrm rot="0">
            <a:off x="1920240" y="2715768"/>
            <a:ext cx="6400800" cy="868680"/>
            <a:chOff x="0" y="0"/>
            <a:chExt cx="8534400" cy="1158240"/>
          </a:xfrm>
        </p:grpSpPr>
        <p:sp>
          <p:nvSpPr>
            <p:cNvPr name="Freeform 38" id="38"/>
            <p:cNvSpPr/>
            <p:nvPr/>
          </p:nvSpPr>
          <p:spPr>
            <a:xfrm flipH="false" flipV="false" rot="0">
              <a:off x="0" y="0"/>
              <a:ext cx="8534400" cy="1158240"/>
            </a:xfrm>
            <a:custGeom>
              <a:avLst/>
              <a:gdLst/>
              <a:ahLst/>
              <a:cxnLst/>
              <a:rect r="r" b="b" t="t" l="l"/>
              <a:pathLst>
                <a:path h="1158240" w="8534400">
                  <a:moveTo>
                    <a:pt x="0" y="0"/>
                  </a:moveTo>
                  <a:lnTo>
                    <a:pt x="8534400" y="0"/>
                  </a:lnTo>
                  <a:lnTo>
                    <a:pt x="8534400" y="1158240"/>
                  </a:lnTo>
                  <a:lnTo>
                    <a:pt x="0" y="1158240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0" t="-93573" r="0" b="-93573"/>
              </a:stretch>
            </a:blipFill>
          </p:spPr>
        </p:sp>
        <p:sp>
          <p:nvSpPr>
            <p:cNvPr name="TextBox 39" id="39"/>
            <p:cNvSpPr txBox="true"/>
            <p:nvPr/>
          </p:nvSpPr>
          <p:spPr>
            <a:xfrm>
              <a:off x="0" y="-47625"/>
              <a:ext cx="8534400" cy="120586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520"/>
                </a:lnSpc>
              </a:pPr>
              <a:r>
                <a:rPr lang="en-US" sz="2100" b="true">
                  <a:solidFill>
                    <a:srgbClr val="2E5634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Ouvir e pesquisar</a:t>
              </a:r>
            </a:p>
            <a:p>
              <a:pPr algn="l">
                <a:lnSpc>
                  <a:spcPts val="1919"/>
                </a:lnSpc>
              </a:pPr>
              <a:r>
                <a:rPr lang="en-US" sz="1599">
                  <a:solidFill>
                    <a:srgbClr val="5B6B5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Questionário com 48 participantes e análise de 4 plataformas</a:t>
              </a:r>
            </a:p>
          </p:txBody>
        </p:sp>
      </p:grpSp>
      <p:grpSp>
        <p:nvGrpSpPr>
          <p:cNvPr name="Group 40" id="40"/>
          <p:cNvGrpSpPr/>
          <p:nvPr/>
        </p:nvGrpSpPr>
        <p:grpSpPr>
          <a:xfrm rot="0">
            <a:off x="914400" y="3977640"/>
            <a:ext cx="713232" cy="713232"/>
            <a:chOff x="0" y="0"/>
            <a:chExt cx="950976" cy="950976"/>
          </a:xfrm>
        </p:grpSpPr>
        <p:sp>
          <p:nvSpPr>
            <p:cNvPr name="Freeform 41" id="41"/>
            <p:cNvSpPr/>
            <p:nvPr/>
          </p:nvSpPr>
          <p:spPr>
            <a:xfrm flipH="false" flipV="false" rot="0">
              <a:off x="0" y="0"/>
              <a:ext cx="950976" cy="950976"/>
            </a:xfrm>
            <a:custGeom>
              <a:avLst/>
              <a:gdLst/>
              <a:ahLst/>
              <a:cxnLst/>
              <a:rect r="r" b="b" t="t" l="l"/>
              <a:pathLst>
                <a:path h="950976" w="950976">
                  <a:moveTo>
                    <a:pt x="0" y="475488"/>
                  </a:moveTo>
                  <a:cubicBezTo>
                    <a:pt x="0" y="212852"/>
                    <a:pt x="212852" y="0"/>
                    <a:pt x="475488" y="0"/>
                  </a:cubicBezTo>
                  <a:cubicBezTo>
                    <a:pt x="738124" y="0"/>
                    <a:pt x="950976" y="212852"/>
                    <a:pt x="950976" y="475488"/>
                  </a:cubicBezTo>
                  <a:cubicBezTo>
                    <a:pt x="950976" y="738124"/>
                    <a:pt x="738124" y="950976"/>
                    <a:pt x="475488" y="950976"/>
                  </a:cubicBezTo>
                  <a:cubicBezTo>
                    <a:pt x="212852" y="950976"/>
                    <a:pt x="0" y="738124"/>
                    <a:pt x="0" y="475488"/>
                  </a:cubicBezTo>
                  <a:close/>
                </a:path>
              </a:pathLst>
            </a:custGeom>
            <a:solidFill>
              <a:srgbClr val="B1734A"/>
            </a:solidFill>
          </p:spPr>
        </p:sp>
        <p:sp>
          <p:nvSpPr>
            <p:cNvPr name="TextBox 42" id="42"/>
            <p:cNvSpPr txBox="true"/>
            <p:nvPr/>
          </p:nvSpPr>
          <p:spPr>
            <a:xfrm>
              <a:off x="0" y="-38100"/>
              <a:ext cx="950976" cy="98907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79"/>
                </a:lnSpc>
              </a:pPr>
              <a:r>
                <a:rPr lang="en-US" sz="2400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2</a:t>
              </a:r>
            </a:p>
          </p:txBody>
        </p:sp>
      </p:grpSp>
      <p:grpSp>
        <p:nvGrpSpPr>
          <p:cNvPr name="Group 43" id="43"/>
          <p:cNvGrpSpPr/>
          <p:nvPr/>
        </p:nvGrpSpPr>
        <p:grpSpPr>
          <a:xfrm rot="0">
            <a:off x="1920240" y="3904488"/>
            <a:ext cx="6400800" cy="868680"/>
            <a:chOff x="0" y="0"/>
            <a:chExt cx="8534400" cy="1158240"/>
          </a:xfrm>
        </p:grpSpPr>
        <p:sp>
          <p:nvSpPr>
            <p:cNvPr name="Freeform 44" id="44"/>
            <p:cNvSpPr/>
            <p:nvPr/>
          </p:nvSpPr>
          <p:spPr>
            <a:xfrm flipH="false" flipV="false" rot="0">
              <a:off x="0" y="0"/>
              <a:ext cx="8534400" cy="1158240"/>
            </a:xfrm>
            <a:custGeom>
              <a:avLst/>
              <a:gdLst/>
              <a:ahLst/>
              <a:cxnLst/>
              <a:rect r="r" b="b" t="t" l="l"/>
              <a:pathLst>
                <a:path h="1158240" w="8534400">
                  <a:moveTo>
                    <a:pt x="0" y="0"/>
                  </a:moveTo>
                  <a:lnTo>
                    <a:pt x="8534400" y="0"/>
                  </a:lnTo>
                  <a:lnTo>
                    <a:pt x="8534400" y="1158240"/>
                  </a:lnTo>
                  <a:lnTo>
                    <a:pt x="0" y="1158240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0" t="-93573" r="0" b="-93573"/>
              </a:stretch>
            </a:blipFill>
          </p:spPr>
        </p:sp>
        <p:sp>
          <p:nvSpPr>
            <p:cNvPr name="TextBox 45" id="45"/>
            <p:cNvSpPr txBox="true"/>
            <p:nvPr/>
          </p:nvSpPr>
          <p:spPr>
            <a:xfrm>
              <a:off x="0" y="-47625"/>
              <a:ext cx="8534400" cy="120586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520"/>
                </a:lnSpc>
              </a:pPr>
              <a:r>
                <a:rPr lang="en-US" sz="2100" b="true">
                  <a:solidFill>
                    <a:srgbClr val="2E5634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Construir o aplicativo</a:t>
              </a:r>
            </a:p>
            <a:p>
              <a:pPr algn="l">
                <a:lnSpc>
                  <a:spcPts val="1919"/>
                </a:lnSpc>
              </a:pPr>
              <a:r>
                <a:rPr lang="en-US" sz="1599">
                  <a:solidFill>
                    <a:srgbClr val="5B6B5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Em 6 partes, uma de cada vez  →</a:t>
              </a:r>
            </a:p>
          </p:txBody>
        </p:sp>
      </p:grpSp>
      <p:grpSp>
        <p:nvGrpSpPr>
          <p:cNvPr name="Group 46" id="46"/>
          <p:cNvGrpSpPr/>
          <p:nvPr/>
        </p:nvGrpSpPr>
        <p:grpSpPr>
          <a:xfrm rot="0">
            <a:off x="914400" y="5166360"/>
            <a:ext cx="713232" cy="713232"/>
            <a:chOff x="0" y="0"/>
            <a:chExt cx="950976" cy="950976"/>
          </a:xfrm>
        </p:grpSpPr>
        <p:sp>
          <p:nvSpPr>
            <p:cNvPr name="Freeform 47" id="47"/>
            <p:cNvSpPr/>
            <p:nvPr/>
          </p:nvSpPr>
          <p:spPr>
            <a:xfrm flipH="false" flipV="false" rot="0">
              <a:off x="0" y="0"/>
              <a:ext cx="950976" cy="950976"/>
            </a:xfrm>
            <a:custGeom>
              <a:avLst/>
              <a:gdLst/>
              <a:ahLst/>
              <a:cxnLst/>
              <a:rect r="r" b="b" t="t" l="l"/>
              <a:pathLst>
                <a:path h="950976" w="950976">
                  <a:moveTo>
                    <a:pt x="0" y="475488"/>
                  </a:moveTo>
                  <a:cubicBezTo>
                    <a:pt x="0" y="212852"/>
                    <a:pt x="212852" y="0"/>
                    <a:pt x="475488" y="0"/>
                  </a:cubicBezTo>
                  <a:cubicBezTo>
                    <a:pt x="738124" y="0"/>
                    <a:pt x="950976" y="212852"/>
                    <a:pt x="950976" y="475488"/>
                  </a:cubicBezTo>
                  <a:cubicBezTo>
                    <a:pt x="950976" y="738124"/>
                    <a:pt x="738124" y="950976"/>
                    <a:pt x="475488" y="950976"/>
                  </a:cubicBezTo>
                  <a:cubicBezTo>
                    <a:pt x="212852" y="950976"/>
                    <a:pt x="0" y="738124"/>
                    <a:pt x="0" y="475488"/>
                  </a:cubicBezTo>
                  <a:close/>
                </a:path>
              </a:pathLst>
            </a:custGeom>
            <a:solidFill>
              <a:srgbClr val="2E5634"/>
            </a:solidFill>
          </p:spPr>
        </p:sp>
        <p:sp>
          <p:nvSpPr>
            <p:cNvPr name="TextBox 48" id="48"/>
            <p:cNvSpPr txBox="true"/>
            <p:nvPr/>
          </p:nvSpPr>
          <p:spPr>
            <a:xfrm>
              <a:off x="0" y="-38100"/>
              <a:ext cx="950976" cy="98907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79"/>
                </a:lnSpc>
              </a:pPr>
              <a:r>
                <a:rPr lang="en-US" sz="2400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3</a:t>
              </a:r>
            </a:p>
          </p:txBody>
        </p:sp>
      </p:grpSp>
      <p:grpSp>
        <p:nvGrpSpPr>
          <p:cNvPr name="Group 49" id="49"/>
          <p:cNvGrpSpPr/>
          <p:nvPr/>
        </p:nvGrpSpPr>
        <p:grpSpPr>
          <a:xfrm rot="0">
            <a:off x="1920240" y="5093208"/>
            <a:ext cx="6400800" cy="868680"/>
            <a:chOff x="0" y="0"/>
            <a:chExt cx="8534400" cy="1158240"/>
          </a:xfrm>
        </p:grpSpPr>
        <p:sp>
          <p:nvSpPr>
            <p:cNvPr name="Freeform 50" id="50"/>
            <p:cNvSpPr/>
            <p:nvPr/>
          </p:nvSpPr>
          <p:spPr>
            <a:xfrm flipH="false" flipV="false" rot="0">
              <a:off x="0" y="0"/>
              <a:ext cx="8534400" cy="1158240"/>
            </a:xfrm>
            <a:custGeom>
              <a:avLst/>
              <a:gdLst/>
              <a:ahLst/>
              <a:cxnLst/>
              <a:rect r="r" b="b" t="t" l="l"/>
              <a:pathLst>
                <a:path h="1158240" w="8534400">
                  <a:moveTo>
                    <a:pt x="0" y="0"/>
                  </a:moveTo>
                  <a:lnTo>
                    <a:pt x="8534400" y="0"/>
                  </a:lnTo>
                  <a:lnTo>
                    <a:pt x="8534400" y="1158240"/>
                  </a:lnTo>
                  <a:lnTo>
                    <a:pt x="0" y="1158240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0" t="-93573" r="0" b="-93573"/>
              </a:stretch>
            </a:blipFill>
          </p:spPr>
        </p:sp>
        <p:sp>
          <p:nvSpPr>
            <p:cNvPr name="TextBox 51" id="51"/>
            <p:cNvSpPr txBox="true"/>
            <p:nvPr/>
          </p:nvSpPr>
          <p:spPr>
            <a:xfrm>
              <a:off x="0" y="-47625"/>
              <a:ext cx="8534400" cy="120586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520"/>
                </a:lnSpc>
              </a:pPr>
              <a:r>
                <a:rPr lang="en-US" sz="2100" b="true">
                  <a:solidFill>
                    <a:srgbClr val="2E5634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Testar com tutores</a:t>
              </a:r>
            </a:p>
            <a:p>
              <a:pPr algn="l">
                <a:lnSpc>
                  <a:spcPts val="1919"/>
                </a:lnSpc>
              </a:pPr>
              <a:r>
                <a:rPr lang="en-US" sz="1599">
                  <a:solidFill>
                    <a:srgbClr val="5B6B5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Testes funcionais, segurança e usabilidade (SUS)</a:t>
              </a:r>
            </a:p>
          </p:txBody>
        </p:sp>
      </p:grpSp>
      <p:grpSp>
        <p:nvGrpSpPr>
          <p:cNvPr name="Group 52" id="52"/>
          <p:cNvGrpSpPr/>
          <p:nvPr/>
        </p:nvGrpSpPr>
        <p:grpSpPr>
          <a:xfrm rot="0">
            <a:off x="914400" y="6400800"/>
            <a:ext cx="7223760" cy="868680"/>
            <a:chOff x="0" y="0"/>
            <a:chExt cx="9631680" cy="1158240"/>
          </a:xfrm>
        </p:grpSpPr>
        <p:sp>
          <p:nvSpPr>
            <p:cNvPr name="Freeform 53" id="53"/>
            <p:cNvSpPr/>
            <p:nvPr/>
          </p:nvSpPr>
          <p:spPr>
            <a:xfrm flipH="false" flipV="false" rot="0">
              <a:off x="0" y="0"/>
              <a:ext cx="9631680" cy="1158240"/>
            </a:xfrm>
            <a:custGeom>
              <a:avLst/>
              <a:gdLst/>
              <a:ahLst/>
              <a:cxnLst/>
              <a:rect r="r" b="b" t="t" l="l"/>
              <a:pathLst>
                <a:path h="1158240" w="9631680">
                  <a:moveTo>
                    <a:pt x="0" y="231648"/>
                  </a:moveTo>
                  <a:cubicBezTo>
                    <a:pt x="0" y="103759"/>
                    <a:pt x="103759" y="0"/>
                    <a:pt x="231648" y="0"/>
                  </a:cubicBezTo>
                  <a:lnTo>
                    <a:pt x="9400032" y="0"/>
                  </a:lnTo>
                  <a:cubicBezTo>
                    <a:pt x="9527921" y="0"/>
                    <a:pt x="9631680" y="103759"/>
                    <a:pt x="9631680" y="231648"/>
                  </a:cubicBezTo>
                  <a:lnTo>
                    <a:pt x="9631680" y="926592"/>
                  </a:lnTo>
                  <a:cubicBezTo>
                    <a:pt x="9631680" y="1054481"/>
                    <a:pt x="9527921" y="1158240"/>
                    <a:pt x="9400032" y="1158240"/>
                  </a:cubicBezTo>
                  <a:lnTo>
                    <a:pt x="231648" y="1158240"/>
                  </a:lnTo>
                  <a:cubicBezTo>
                    <a:pt x="103759" y="1158240"/>
                    <a:pt x="0" y="1054481"/>
                    <a:pt x="0" y="926592"/>
                  </a:cubicBezTo>
                  <a:close/>
                </a:path>
              </a:pathLst>
            </a:custGeom>
            <a:solidFill>
              <a:srgbClr val="EEF3ED"/>
            </a:solidFill>
          </p:spPr>
        </p:sp>
      </p:grpSp>
      <p:grpSp>
        <p:nvGrpSpPr>
          <p:cNvPr name="Group 54" id="54"/>
          <p:cNvGrpSpPr/>
          <p:nvPr/>
        </p:nvGrpSpPr>
        <p:grpSpPr>
          <a:xfrm rot="0">
            <a:off x="1188720" y="6400800"/>
            <a:ext cx="6766560" cy="868680"/>
            <a:chOff x="0" y="0"/>
            <a:chExt cx="9022080" cy="1158240"/>
          </a:xfrm>
        </p:grpSpPr>
        <p:sp>
          <p:nvSpPr>
            <p:cNvPr name="Freeform 55" id="55"/>
            <p:cNvSpPr/>
            <p:nvPr/>
          </p:nvSpPr>
          <p:spPr>
            <a:xfrm flipH="false" flipV="false" rot="0">
              <a:off x="0" y="0"/>
              <a:ext cx="9022080" cy="1158240"/>
            </a:xfrm>
            <a:custGeom>
              <a:avLst/>
              <a:gdLst/>
              <a:ahLst/>
              <a:cxnLst/>
              <a:rect r="r" b="b" t="t" l="l"/>
              <a:pathLst>
                <a:path h="1158240" w="9022080">
                  <a:moveTo>
                    <a:pt x="0" y="0"/>
                  </a:moveTo>
                  <a:lnTo>
                    <a:pt x="9022080" y="0"/>
                  </a:lnTo>
                  <a:lnTo>
                    <a:pt x="9022080" y="1158240"/>
                  </a:lnTo>
                  <a:lnTo>
                    <a:pt x="0" y="1158240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0" t="-101778" r="0" b="-101778"/>
              </a:stretch>
            </a:blipFill>
          </p:spPr>
        </p:sp>
        <p:sp>
          <p:nvSpPr>
            <p:cNvPr name="TextBox 56" id="56"/>
            <p:cNvSpPr txBox="true"/>
            <p:nvPr/>
          </p:nvSpPr>
          <p:spPr>
            <a:xfrm>
              <a:off x="0" y="-38100"/>
              <a:ext cx="9022080" cy="11963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040"/>
                </a:lnSpc>
              </a:pPr>
              <a:r>
                <a:rPr lang="en-US" sz="1700" b="true">
                  <a:solidFill>
                    <a:srgbClr val="1B2A1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Pesquisa aplicada, exploratória e descritiva</a:t>
              </a:r>
            </a:p>
            <a:p>
              <a:pPr algn="l">
                <a:lnSpc>
                  <a:spcPts val="1439"/>
                </a:lnSpc>
              </a:pPr>
              <a:r>
                <a:rPr lang="en-US" sz="1200">
                  <a:solidFill>
                    <a:srgbClr val="5B6B5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Gil (2022); Marconi e Lakatos (2022)</a:t>
              </a:r>
            </a:p>
          </p:txBody>
        </p:sp>
      </p:grpSp>
      <p:grpSp>
        <p:nvGrpSpPr>
          <p:cNvPr name="Group 57" id="57"/>
          <p:cNvGrpSpPr/>
          <p:nvPr/>
        </p:nvGrpSpPr>
        <p:grpSpPr>
          <a:xfrm rot="0">
            <a:off x="908047" y="7537447"/>
            <a:ext cx="3216278" cy="1475737"/>
            <a:chOff x="0" y="0"/>
            <a:chExt cx="4288371" cy="1967649"/>
          </a:xfrm>
        </p:grpSpPr>
        <p:sp>
          <p:nvSpPr>
            <p:cNvPr name="Freeform 58" id="58" descr="quadro_kanban_trello_wefind.png"/>
            <p:cNvSpPr/>
            <p:nvPr/>
          </p:nvSpPr>
          <p:spPr>
            <a:xfrm flipH="false" flipV="false" rot="0">
              <a:off x="0" y="0"/>
              <a:ext cx="4288330" cy="1967611"/>
            </a:xfrm>
            <a:custGeom>
              <a:avLst/>
              <a:gdLst/>
              <a:ahLst/>
              <a:cxnLst/>
              <a:rect r="r" b="b" t="t" l="l"/>
              <a:pathLst>
                <a:path h="1967611" w="4288330">
                  <a:moveTo>
                    <a:pt x="0" y="0"/>
                  </a:moveTo>
                  <a:lnTo>
                    <a:pt x="4288330" y="0"/>
                  </a:lnTo>
                  <a:lnTo>
                    <a:pt x="4288330" y="1967611"/>
                  </a:lnTo>
                  <a:lnTo>
                    <a:pt x="0" y="19676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>
                <a:fillRect l="0" t="-2768" r="0" b="-2770"/>
              </a:stretch>
            </a:blipFill>
          </p:spPr>
        </p:sp>
      </p:grpSp>
      <p:sp>
        <p:nvSpPr>
          <p:cNvPr name="TextBox 59" id="59"/>
          <p:cNvSpPr txBox="true"/>
          <p:nvPr/>
        </p:nvSpPr>
        <p:spPr>
          <a:xfrm rot="0">
            <a:off x="4210050" y="7698105"/>
            <a:ext cx="3928110" cy="12172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19"/>
              </a:lnSpc>
            </a:pPr>
            <a:r>
              <a:rPr lang="en-US" sz="1599" b="true">
                <a:solidFill>
                  <a:srgbClr val="2E5634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Tarefas no Trello</a:t>
            </a:r>
          </a:p>
          <a:p>
            <a:pPr algn="l">
              <a:lnSpc>
                <a:spcPts val="1680"/>
              </a:lnSpc>
            </a:pPr>
            <a:r>
              <a:rPr lang="en-US" sz="1400">
                <a:solidFill>
                  <a:srgbClr val="5B6B5F"/>
                </a:solidFill>
                <a:latin typeface="Calibri (MS)"/>
                <a:ea typeface="Calibri (MS)"/>
                <a:cs typeface="Calibri (MS)"/>
                <a:sym typeface="Calibri (MS)"/>
              </a:rPr>
              <a:t>quadro Kanban</a:t>
            </a:r>
          </a:p>
        </p:txBody>
      </p:sp>
      <p:grpSp>
        <p:nvGrpSpPr>
          <p:cNvPr name="Group 60" id="60"/>
          <p:cNvGrpSpPr/>
          <p:nvPr/>
        </p:nvGrpSpPr>
        <p:grpSpPr>
          <a:xfrm rot="0">
            <a:off x="8961120" y="2148840"/>
            <a:ext cx="8412480" cy="6675120"/>
            <a:chOff x="0" y="0"/>
            <a:chExt cx="11216640" cy="8900160"/>
          </a:xfrm>
        </p:grpSpPr>
        <p:sp>
          <p:nvSpPr>
            <p:cNvPr name="Freeform 61" id="61"/>
            <p:cNvSpPr/>
            <p:nvPr/>
          </p:nvSpPr>
          <p:spPr>
            <a:xfrm flipH="false" flipV="false" rot="0">
              <a:off x="0" y="0"/>
              <a:ext cx="11216640" cy="8900161"/>
            </a:xfrm>
            <a:custGeom>
              <a:avLst/>
              <a:gdLst/>
              <a:ahLst/>
              <a:cxnLst/>
              <a:rect r="r" b="b" t="t" l="l"/>
              <a:pathLst>
                <a:path h="8900161" w="11216640">
                  <a:moveTo>
                    <a:pt x="0" y="355981"/>
                  </a:moveTo>
                  <a:cubicBezTo>
                    <a:pt x="0" y="159385"/>
                    <a:pt x="159385" y="0"/>
                    <a:pt x="355981" y="0"/>
                  </a:cubicBezTo>
                  <a:lnTo>
                    <a:pt x="10860659" y="0"/>
                  </a:lnTo>
                  <a:cubicBezTo>
                    <a:pt x="11057255" y="0"/>
                    <a:pt x="11216640" y="159385"/>
                    <a:pt x="11216640" y="355981"/>
                  </a:cubicBezTo>
                  <a:lnTo>
                    <a:pt x="11216640" y="8544179"/>
                  </a:lnTo>
                  <a:cubicBezTo>
                    <a:pt x="11216640" y="8740775"/>
                    <a:pt x="11057255" y="8900161"/>
                    <a:pt x="10860659" y="8900161"/>
                  </a:cubicBezTo>
                  <a:lnTo>
                    <a:pt x="355981" y="8900161"/>
                  </a:lnTo>
                  <a:cubicBezTo>
                    <a:pt x="159385" y="8900160"/>
                    <a:pt x="0" y="8740775"/>
                    <a:pt x="0" y="8544179"/>
                  </a:cubicBezTo>
                  <a:close/>
                </a:path>
              </a:pathLst>
            </a:custGeom>
            <a:solidFill>
              <a:srgbClr val="EEF3ED"/>
            </a:solidFill>
          </p:spPr>
        </p:sp>
      </p:grpSp>
      <p:sp>
        <p:nvSpPr>
          <p:cNvPr name="TextBox 62" id="62"/>
          <p:cNvSpPr txBox="true"/>
          <p:nvPr/>
        </p:nvSpPr>
        <p:spPr>
          <a:xfrm rot="0">
            <a:off x="9418320" y="2394585"/>
            <a:ext cx="7589520" cy="3943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19"/>
              </a:lnSpc>
            </a:pPr>
            <a:r>
              <a:rPr lang="en-US" sz="1599" b="true">
                <a:solidFill>
                  <a:srgbClr val="B1734A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CONSTRUÇÃO EM 6 PARTES (ITERATIVA E INCREMENTAL)</a:t>
            </a:r>
          </a:p>
        </p:txBody>
      </p:sp>
      <p:grpSp>
        <p:nvGrpSpPr>
          <p:cNvPr name="Group 63" id="63"/>
          <p:cNvGrpSpPr/>
          <p:nvPr/>
        </p:nvGrpSpPr>
        <p:grpSpPr>
          <a:xfrm rot="0">
            <a:off x="9418320" y="2926080"/>
            <a:ext cx="292608" cy="292608"/>
            <a:chOff x="0" y="0"/>
            <a:chExt cx="390144" cy="390144"/>
          </a:xfrm>
        </p:grpSpPr>
        <p:sp>
          <p:nvSpPr>
            <p:cNvPr name="Freeform 64" id="64"/>
            <p:cNvSpPr/>
            <p:nvPr/>
          </p:nvSpPr>
          <p:spPr>
            <a:xfrm flipH="false" flipV="false" rot="0">
              <a:off x="0" y="0"/>
              <a:ext cx="390144" cy="390144"/>
            </a:xfrm>
            <a:custGeom>
              <a:avLst/>
              <a:gdLst/>
              <a:ahLst/>
              <a:cxnLst/>
              <a:rect r="r" b="b" t="t" l="l"/>
              <a:pathLst>
                <a:path h="390144" w="390144">
                  <a:moveTo>
                    <a:pt x="0" y="65024"/>
                  </a:moveTo>
                  <a:cubicBezTo>
                    <a:pt x="0" y="29083"/>
                    <a:pt x="29083" y="0"/>
                    <a:pt x="65024" y="0"/>
                  </a:cubicBezTo>
                  <a:lnTo>
                    <a:pt x="325120" y="0"/>
                  </a:lnTo>
                  <a:cubicBezTo>
                    <a:pt x="361061" y="0"/>
                    <a:pt x="390144" y="29083"/>
                    <a:pt x="390144" y="65024"/>
                  </a:cubicBezTo>
                  <a:lnTo>
                    <a:pt x="390144" y="325120"/>
                  </a:lnTo>
                  <a:cubicBezTo>
                    <a:pt x="390144" y="361061"/>
                    <a:pt x="361061" y="390144"/>
                    <a:pt x="325120" y="390144"/>
                  </a:cubicBezTo>
                  <a:lnTo>
                    <a:pt x="65024" y="390144"/>
                  </a:lnTo>
                  <a:cubicBezTo>
                    <a:pt x="29083" y="390144"/>
                    <a:pt x="0" y="361061"/>
                    <a:pt x="0" y="325120"/>
                  </a:cubicBezTo>
                  <a:close/>
                </a:path>
              </a:pathLst>
            </a:custGeom>
            <a:solidFill>
              <a:srgbClr val="8FB38F"/>
            </a:solidFill>
          </p:spPr>
        </p:sp>
      </p:grpSp>
      <p:grpSp>
        <p:nvGrpSpPr>
          <p:cNvPr name="Group 65" id="65"/>
          <p:cNvGrpSpPr/>
          <p:nvPr/>
        </p:nvGrpSpPr>
        <p:grpSpPr>
          <a:xfrm rot="0">
            <a:off x="9802368" y="2898648"/>
            <a:ext cx="1828800" cy="365760"/>
            <a:chOff x="0" y="0"/>
            <a:chExt cx="2438400" cy="487680"/>
          </a:xfrm>
        </p:grpSpPr>
        <p:sp>
          <p:nvSpPr>
            <p:cNvPr name="Freeform 66" id="66"/>
            <p:cNvSpPr/>
            <p:nvPr/>
          </p:nvSpPr>
          <p:spPr>
            <a:xfrm flipH="false" flipV="false" rot="0">
              <a:off x="0" y="0"/>
              <a:ext cx="2438400" cy="487680"/>
            </a:xfrm>
            <a:custGeom>
              <a:avLst/>
              <a:gdLst/>
              <a:ahLst/>
              <a:cxnLst/>
              <a:rect r="r" b="b" t="t" l="l"/>
              <a:pathLst>
                <a:path h="487680" w="2438400">
                  <a:moveTo>
                    <a:pt x="0" y="0"/>
                  </a:moveTo>
                  <a:lnTo>
                    <a:pt x="2438400" y="0"/>
                  </a:lnTo>
                  <a:lnTo>
                    <a:pt x="2438400" y="487680"/>
                  </a:lnTo>
                  <a:lnTo>
                    <a:pt x="0" y="487680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0" t="-47425" r="0" b="-47425"/>
              </a:stretch>
            </a:blipFill>
          </p:spPr>
        </p:sp>
        <p:sp>
          <p:nvSpPr>
            <p:cNvPr name="TextBox 67" id="67"/>
            <p:cNvSpPr txBox="true"/>
            <p:nvPr/>
          </p:nvSpPr>
          <p:spPr>
            <a:xfrm>
              <a:off x="0" y="-28575"/>
              <a:ext cx="2438400" cy="51625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559"/>
                </a:lnSpc>
              </a:pPr>
              <a:r>
                <a:rPr lang="en-US" sz="1299">
                  <a:solidFill>
                    <a:srgbClr val="1B2A1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Planejar</a:t>
              </a:r>
            </a:p>
          </p:txBody>
        </p:sp>
      </p:grpSp>
      <p:grpSp>
        <p:nvGrpSpPr>
          <p:cNvPr name="Group 68" id="68"/>
          <p:cNvGrpSpPr/>
          <p:nvPr/>
        </p:nvGrpSpPr>
        <p:grpSpPr>
          <a:xfrm rot="0">
            <a:off x="11018520" y="2926080"/>
            <a:ext cx="292608" cy="292608"/>
            <a:chOff x="0" y="0"/>
            <a:chExt cx="390144" cy="390144"/>
          </a:xfrm>
        </p:grpSpPr>
        <p:sp>
          <p:nvSpPr>
            <p:cNvPr name="Freeform 69" id="69"/>
            <p:cNvSpPr/>
            <p:nvPr/>
          </p:nvSpPr>
          <p:spPr>
            <a:xfrm flipH="false" flipV="false" rot="0">
              <a:off x="0" y="0"/>
              <a:ext cx="390144" cy="390144"/>
            </a:xfrm>
            <a:custGeom>
              <a:avLst/>
              <a:gdLst/>
              <a:ahLst/>
              <a:cxnLst/>
              <a:rect r="r" b="b" t="t" l="l"/>
              <a:pathLst>
                <a:path h="390144" w="390144">
                  <a:moveTo>
                    <a:pt x="0" y="65024"/>
                  </a:moveTo>
                  <a:cubicBezTo>
                    <a:pt x="0" y="29083"/>
                    <a:pt x="29083" y="0"/>
                    <a:pt x="65024" y="0"/>
                  </a:cubicBezTo>
                  <a:lnTo>
                    <a:pt x="325120" y="0"/>
                  </a:lnTo>
                  <a:cubicBezTo>
                    <a:pt x="361061" y="0"/>
                    <a:pt x="390144" y="29083"/>
                    <a:pt x="390144" y="65024"/>
                  </a:cubicBezTo>
                  <a:lnTo>
                    <a:pt x="390144" y="325120"/>
                  </a:lnTo>
                  <a:cubicBezTo>
                    <a:pt x="390144" y="361061"/>
                    <a:pt x="361061" y="390144"/>
                    <a:pt x="325120" y="390144"/>
                  </a:cubicBezTo>
                  <a:lnTo>
                    <a:pt x="65024" y="390144"/>
                  </a:lnTo>
                  <a:cubicBezTo>
                    <a:pt x="29083" y="390144"/>
                    <a:pt x="0" y="361061"/>
                    <a:pt x="0" y="325120"/>
                  </a:cubicBezTo>
                  <a:close/>
                </a:path>
              </a:pathLst>
            </a:custGeom>
            <a:solidFill>
              <a:srgbClr val="2E5634"/>
            </a:solidFill>
          </p:spPr>
        </p:sp>
      </p:grpSp>
      <p:grpSp>
        <p:nvGrpSpPr>
          <p:cNvPr name="Group 70" id="70"/>
          <p:cNvGrpSpPr/>
          <p:nvPr/>
        </p:nvGrpSpPr>
        <p:grpSpPr>
          <a:xfrm rot="0">
            <a:off x="11402568" y="2898648"/>
            <a:ext cx="1828800" cy="365760"/>
            <a:chOff x="0" y="0"/>
            <a:chExt cx="2438400" cy="487680"/>
          </a:xfrm>
        </p:grpSpPr>
        <p:sp>
          <p:nvSpPr>
            <p:cNvPr name="Freeform 71" id="71"/>
            <p:cNvSpPr/>
            <p:nvPr/>
          </p:nvSpPr>
          <p:spPr>
            <a:xfrm flipH="false" flipV="false" rot="0">
              <a:off x="0" y="0"/>
              <a:ext cx="2438400" cy="487680"/>
            </a:xfrm>
            <a:custGeom>
              <a:avLst/>
              <a:gdLst/>
              <a:ahLst/>
              <a:cxnLst/>
              <a:rect r="r" b="b" t="t" l="l"/>
              <a:pathLst>
                <a:path h="487680" w="2438400">
                  <a:moveTo>
                    <a:pt x="0" y="0"/>
                  </a:moveTo>
                  <a:lnTo>
                    <a:pt x="2438400" y="0"/>
                  </a:lnTo>
                  <a:lnTo>
                    <a:pt x="2438400" y="487680"/>
                  </a:lnTo>
                  <a:lnTo>
                    <a:pt x="0" y="487680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0" t="-47425" r="0" b="-47425"/>
              </a:stretch>
            </a:blipFill>
          </p:spPr>
        </p:sp>
        <p:sp>
          <p:nvSpPr>
            <p:cNvPr name="TextBox 72" id="72"/>
            <p:cNvSpPr txBox="true"/>
            <p:nvPr/>
          </p:nvSpPr>
          <p:spPr>
            <a:xfrm>
              <a:off x="0" y="-28575"/>
              <a:ext cx="2438400" cy="51625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559"/>
                </a:lnSpc>
              </a:pPr>
              <a:r>
                <a:rPr lang="en-US" sz="1299">
                  <a:solidFill>
                    <a:srgbClr val="1B2A1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Desenvolver</a:t>
              </a:r>
            </a:p>
          </p:txBody>
        </p:sp>
      </p:grpSp>
      <p:grpSp>
        <p:nvGrpSpPr>
          <p:cNvPr name="Group 73" id="73"/>
          <p:cNvGrpSpPr/>
          <p:nvPr/>
        </p:nvGrpSpPr>
        <p:grpSpPr>
          <a:xfrm rot="0">
            <a:off x="12920472" y="2926080"/>
            <a:ext cx="292608" cy="292608"/>
            <a:chOff x="0" y="0"/>
            <a:chExt cx="390144" cy="390144"/>
          </a:xfrm>
        </p:grpSpPr>
        <p:sp>
          <p:nvSpPr>
            <p:cNvPr name="Freeform 74" id="74"/>
            <p:cNvSpPr/>
            <p:nvPr/>
          </p:nvSpPr>
          <p:spPr>
            <a:xfrm flipH="false" flipV="false" rot="0">
              <a:off x="0" y="0"/>
              <a:ext cx="390144" cy="390144"/>
            </a:xfrm>
            <a:custGeom>
              <a:avLst/>
              <a:gdLst/>
              <a:ahLst/>
              <a:cxnLst/>
              <a:rect r="r" b="b" t="t" l="l"/>
              <a:pathLst>
                <a:path h="390144" w="390144">
                  <a:moveTo>
                    <a:pt x="0" y="65024"/>
                  </a:moveTo>
                  <a:cubicBezTo>
                    <a:pt x="0" y="29083"/>
                    <a:pt x="29083" y="0"/>
                    <a:pt x="65024" y="0"/>
                  </a:cubicBezTo>
                  <a:lnTo>
                    <a:pt x="325120" y="0"/>
                  </a:lnTo>
                  <a:cubicBezTo>
                    <a:pt x="361061" y="0"/>
                    <a:pt x="390144" y="29083"/>
                    <a:pt x="390144" y="65024"/>
                  </a:cubicBezTo>
                  <a:lnTo>
                    <a:pt x="390144" y="325120"/>
                  </a:lnTo>
                  <a:cubicBezTo>
                    <a:pt x="390144" y="361061"/>
                    <a:pt x="361061" y="390144"/>
                    <a:pt x="325120" y="390144"/>
                  </a:cubicBezTo>
                  <a:lnTo>
                    <a:pt x="65024" y="390144"/>
                  </a:lnTo>
                  <a:cubicBezTo>
                    <a:pt x="29083" y="390144"/>
                    <a:pt x="0" y="361061"/>
                    <a:pt x="0" y="325120"/>
                  </a:cubicBezTo>
                  <a:close/>
                </a:path>
              </a:pathLst>
            </a:custGeom>
            <a:solidFill>
              <a:srgbClr val="B1734A"/>
            </a:solidFill>
          </p:spPr>
        </p:sp>
      </p:grpSp>
      <p:grpSp>
        <p:nvGrpSpPr>
          <p:cNvPr name="Group 75" id="75"/>
          <p:cNvGrpSpPr/>
          <p:nvPr/>
        </p:nvGrpSpPr>
        <p:grpSpPr>
          <a:xfrm rot="0">
            <a:off x="13304520" y="2898648"/>
            <a:ext cx="1828800" cy="365760"/>
            <a:chOff x="0" y="0"/>
            <a:chExt cx="2438400" cy="487680"/>
          </a:xfrm>
        </p:grpSpPr>
        <p:sp>
          <p:nvSpPr>
            <p:cNvPr name="Freeform 76" id="76"/>
            <p:cNvSpPr/>
            <p:nvPr/>
          </p:nvSpPr>
          <p:spPr>
            <a:xfrm flipH="false" flipV="false" rot="0">
              <a:off x="0" y="0"/>
              <a:ext cx="2438400" cy="487680"/>
            </a:xfrm>
            <a:custGeom>
              <a:avLst/>
              <a:gdLst/>
              <a:ahLst/>
              <a:cxnLst/>
              <a:rect r="r" b="b" t="t" l="l"/>
              <a:pathLst>
                <a:path h="487680" w="2438400">
                  <a:moveTo>
                    <a:pt x="0" y="0"/>
                  </a:moveTo>
                  <a:lnTo>
                    <a:pt x="2438400" y="0"/>
                  </a:lnTo>
                  <a:lnTo>
                    <a:pt x="2438400" y="487680"/>
                  </a:lnTo>
                  <a:lnTo>
                    <a:pt x="0" y="487680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0" t="-47425" r="0" b="-47425"/>
              </a:stretch>
            </a:blipFill>
          </p:spPr>
        </p:sp>
        <p:sp>
          <p:nvSpPr>
            <p:cNvPr name="TextBox 77" id="77"/>
            <p:cNvSpPr txBox="true"/>
            <p:nvPr/>
          </p:nvSpPr>
          <p:spPr>
            <a:xfrm>
              <a:off x="0" y="-28575"/>
              <a:ext cx="2438400" cy="51625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559"/>
                </a:lnSpc>
              </a:pPr>
              <a:r>
                <a:rPr lang="en-US" sz="1299">
                  <a:solidFill>
                    <a:srgbClr val="1B2A1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Testar no celular</a:t>
              </a:r>
            </a:p>
          </p:txBody>
        </p:sp>
      </p:grpSp>
      <p:grpSp>
        <p:nvGrpSpPr>
          <p:cNvPr name="Group 78" id="78"/>
          <p:cNvGrpSpPr/>
          <p:nvPr/>
        </p:nvGrpSpPr>
        <p:grpSpPr>
          <a:xfrm rot="0">
            <a:off x="15425928" y="2926080"/>
            <a:ext cx="292608" cy="292608"/>
            <a:chOff x="0" y="0"/>
            <a:chExt cx="390144" cy="390144"/>
          </a:xfrm>
        </p:grpSpPr>
        <p:sp>
          <p:nvSpPr>
            <p:cNvPr name="Freeform 79" id="79"/>
            <p:cNvSpPr/>
            <p:nvPr/>
          </p:nvSpPr>
          <p:spPr>
            <a:xfrm flipH="false" flipV="false" rot="0">
              <a:off x="0" y="0"/>
              <a:ext cx="390144" cy="390144"/>
            </a:xfrm>
            <a:custGeom>
              <a:avLst/>
              <a:gdLst/>
              <a:ahLst/>
              <a:cxnLst/>
              <a:rect r="r" b="b" t="t" l="l"/>
              <a:pathLst>
                <a:path h="390144" w="390144">
                  <a:moveTo>
                    <a:pt x="0" y="65024"/>
                  </a:moveTo>
                  <a:cubicBezTo>
                    <a:pt x="0" y="29083"/>
                    <a:pt x="29083" y="0"/>
                    <a:pt x="65024" y="0"/>
                  </a:cubicBezTo>
                  <a:lnTo>
                    <a:pt x="325120" y="0"/>
                  </a:lnTo>
                  <a:cubicBezTo>
                    <a:pt x="361061" y="0"/>
                    <a:pt x="390144" y="29083"/>
                    <a:pt x="390144" y="65024"/>
                  </a:cubicBezTo>
                  <a:lnTo>
                    <a:pt x="390144" y="325120"/>
                  </a:lnTo>
                  <a:cubicBezTo>
                    <a:pt x="390144" y="361061"/>
                    <a:pt x="361061" y="390144"/>
                    <a:pt x="325120" y="390144"/>
                  </a:cubicBezTo>
                  <a:lnTo>
                    <a:pt x="65024" y="390144"/>
                  </a:lnTo>
                  <a:cubicBezTo>
                    <a:pt x="29083" y="390144"/>
                    <a:pt x="0" y="361061"/>
                    <a:pt x="0" y="325120"/>
                  </a:cubicBezTo>
                  <a:close/>
                </a:path>
              </a:pathLst>
            </a:custGeom>
            <a:solidFill>
              <a:srgbClr val="7A4B2C"/>
            </a:solidFill>
          </p:spPr>
        </p:sp>
      </p:grpSp>
      <p:grpSp>
        <p:nvGrpSpPr>
          <p:cNvPr name="Group 80" id="80"/>
          <p:cNvGrpSpPr/>
          <p:nvPr/>
        </p:nvGrpSpPr>
        <p:grpSpPr>
          <a:xfrm rot="0">
            <a:off x="15809976" y="2898648"/>
            <a:ext cx="1828800" cy="365760"/>
            <a:chOff x="0" y="0"/>
            <a:chExt cx="2438400" cy="487680"/>
          </a:xfrm>
        </p:grpSpPr>
        <p:sp>
          <p:nvSpPr>
            <p:cNvPr name="Freeform 81" id="81"/>
            <p:cNvSpPr/>
            <p:nvPr/>
          </p:nvSpPr>
          <p:spPr>
            <a:xfrm flipH="false" flipV="false" rot="0">
              <a:off x="0" y="0"/>
              <a:ext cx="2438400" cy="487680"/>
            </a:xfrm>
            <a:custGeom>
              <a:avLst/>
              <a:gdLst/>
              <a:ahLst/>
              <a:cxnLst/>
              <a:rect r="r" b="b" t="t" l="l"/>
              <a:pathLst>
                <a:path h="487680" w="2438400">
                  <a:moveTo>
                    <a:pt x="0" y="0"/>
                  </a:moveTo>
                  <a:lnTo>
                    <a:pt x="2438400" y="0"/>
                  </a:lnTo>
                  <a:lnTo>
                    <a:pt x="2438400" y="487680"/>
                  </a:lnTo>
                  <a:lnTo>
                    <a:pt x="0" y="487680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0" t="-47425" r="0" b="-47425"/>
              </a:stretch>
            </a:blipFill>
          </p:spPr>
        </p:sp>
        <p:sp>
          <p:nvSpPr>
            <p:cNvPr name="TextBox 82" id="82"/>
            <p:cNvSpPr txBox="true"/>
            <p:nvPr/>
          </p:nvSpPr>
          <p:spPr>
            <a:xfrm>
              <a:off x="0" y="-28575"/>
              <a:ext cx="2438400" cy="51625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559"/>
                </a:lnSpc>
              </a:pPr>
              <a:r>
                <a:rPr lang="en-US" sz="1299">
                  <a:solidFill>
                    <a:srgbClr val="1B2A1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Entregar</a:t>
              </a:r>
            </a:p>
          </p:txBody>
        </p:sp>
      </p:grpSp>
      <p:grpSp>
        <p:nvGrpSpPr>
          <p:cNvPr name="Group 83" id="83"/>
          <p:cNvGrpSpPr/>
          <p:nvPr/>
        </p:nvGrpSpPr>
        <p:grpSpPr>
          <a:xfrm rot="0">
            <a:off x="9418320" y="3520440"/>
            <a:ext cx="1463040" cy="502920"/>
            <a:chOff x="0" y="0"/>
            <a:chExt cx="1950720" cy="670560"/>
          </a:xfrm>
        </p:grpSpPr>
        <p:sp>
          <p:nvSpPr>
            <p:cNvPr name="Freeform 84" id="84"/>
            <p:cNvSpPr/>
            <p:nvPr/>
          </p:nvSpPr>
          <p:spPr>
            <a:xfrm flipH="false" flipV="false" rot="0">
              <a:off x="0" y="0"/>
              <a:ext cx="1950720" cy="670560"/>
            </a:xfrm>
            <a:custGeom>
              <a:avLst/>
              <a:gdLst/>
              <a:ahLst/>
              <a:cxnLst/>
              <a:rect r="r" b="b" t="t" l="l"/>
              <a:pathLst>
                <a:path h="670560" w="1950720">
                  <a:moveTo>
                    <a:pt x="0" y="0"/>
                  </a:moveTo>
                  <a:lnTo>
                    <a:pt x="1950720" y="0"/>
                  </a:lnTo>
                  <a:lnTo>
                    <a:pt x="1950720" y="670560"/>
                  </a:lnTo>
                  <a:lnTo>
                    <a:pt x="0" y="670560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0" t="-6683" r="0" b="-6683"/>
              </a:stretch>
            </a:blipFill>
          </p:spPr>
        </p:sp>
        <p:sp>
          <p:nvSpPr>
            <p:cNvPr name="TextBox 85" id="85"/>
            <p:cNvSpPr txBox="true"/>
            <p:nvPr/>
          </p:nvSpPr>
          <p:spPr>
            <a:xfrm>
              <a:off x="0" y="-28575"/>
              <a:ext cx="1950720" cy="69913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680"/>
                </a:lnSpc>
              </a:pPr>
              <a:r>
                <a:rPr lang="en-US" sz="1400" b="true">
                  <a:solidFill>
                    <a:srgbClr val="2E5634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1  Acesso</a:t>
              </a:r>
            </a:p>
          </p:txBody>
        </p:sp>
      </p:grpSp>
      <p:grpSp>
        <p:nvGrpSpPr>
          <p:cNvPr name="Group 86" id="86"/>
          <p:cNvGrpSpPr/>
          <p:nvPr/>
        </p:nvGrpSpPr>
        <p:grpSpPr>
          <a:xfrm rot="0">
            <a:off x="10972800" y="3575304"/>
            <a:ext cx="749808" cy="402336"/>
            <a:chOff x="0" y="0"/>
            <a:chExt cx="999744" cy="536448"/>
          </a:xfrm>
        </p:grpSpPr>
        <p:sp>
          <p:nvSpPr>
            <p:cNvPr name="Freeform 87" id="87"/>
            <p:cNvSpPr/>
            <p:nvPr/>
          </p:nvSpPr>
          <p:spPr>
            <a:xfrm flipH="false" flipV="false" rot="0">
              <a:off x="0" y="0"/>
              <a:ext cx="999744" cy="536448"/>
            </a:xfrm>
            <a:custGeom>
              <a:avLst/>
              <a:gdLst/>
              <a:ahLst/>
              <a:cxnLst/>
              <a:rect r="r" b="b" t="t" l="l"/>
              <a:pathLst>
                <a:path h="536448" w="999744">
                  <a:moveTo>
                    <a:pt x="0" y="0"/>
                  </a:moveTo>
                  <a:lnTo>
                    <a:pt x="999744" y="0"/>
                  </a:lnTo>
                  <a:lnTo>
                    <a:pt x="999744" y="536448"/>
                  </a:lnTo>
                  <a:lnTo>
                    <a:pt x="0" y="536448"/>
                  </a:lnTo>
                  <a:close/>
                </a:path>
              </a:pathLst>
            </a:custGeom>
            <a:solidFill>
              <a:srgbClr val="8FB38F"/>
            </a:solidFill>
          </p:spPr>
        </p:sp>
      </p:grpSp>
      <p:grpSp>
        <p:nvGrpSpPr>
          <p:cNvPr name="Group 88" id="88"/>
          <p:cNvGrpSpPr/>
          <p:nvPr/>
        </p:nvGrpSpPr>
        <p:grpSpPr>
          <a:xfrm rot="0">
            <a:off x="11777472" y="3575304"/>
            <a:ext cx="749808" cy="402336"/>
            <a:chOff x="0" y="0"/>
            <a:chExt cx="999744" cy="536448"/>
          </a:xfrm>
        </p:grpSpPr>
        <p:sp>
          <p:nvSpPr>
            <p:cNvPr name="Freeform 89" id="89"/>
            <p:cNvSpPr/>
            <p:nvPr/>
          </p:nvSpPr>
          <p:spPr>
            <a:xfrm flipH="false" flipV="false" rot="0">
              <a:off x="0" y="0"/>
              <a:ext cx="999744" cy="536448"/>
            </a:xfrm>
            <a:custGeom>
              <a:avLst/>
              <a:gdLst/>
              <a:ahLst/>
              <a:cxnLst/>
              <a:rect r="r" b="b" t="t" l="l"/>
              <a:pathLst>
                <a:path h="536448" w="999744">
                  <a:moveTo>
                    <a:pt x="0" y="0"/>
                  </a:moveTo>
                  <a:lnTo>
                    <a:pt x="999744" y="0"/>
                  </a:lnTo>
                  <a:lnTo>
                    <a:pt x="999744" y="536448"/>
                  </a:lnTo>
                  <a:lnTo>
                    <a:pt x="0" y="536448"/>
                  </a:lnTo>
                  <a:close/>
                </a:path>
              </a:pathLst>
            </a:custGeom>
            <a:solidFill>
              <a:srgbClr val="2E5634"/>
            </a:solidFill>
          </p:spPr>
        </p:sp>
      </p:grpSp>
      <p:grpSp>
        <p:nvGrpSpPr>
          <p:cNvPr name="Group 90" id="90"/>
          <p:cNvGrpSpPr/>
          <p:nvPr/>
        </p:nvGrpSpPr>
        <p:grpSpPr>
          <a:xfrm rot="0">
            <a:off x="12582144" y="3575304"/>
            <a:ext cx="749808" cy="402336"/>
            <a:chOff x="0" y="0"/>
            <a:chExt cx="999744" cy="536448"/>
          </a:xfrm>
        </p:grpSpPr>
        <p:sp>
          <p:nvSpPr>
            <p:cNvPr name="Freeform 91" id="91"/>
            <p:cNvSpPr/>
            <p:nvPr/>
          </p:nvSpPr>
          <p:spPr>
            <a:xfrm flipH="false" flipV="false" rot="0">
              <a:off x="0" y="0"/>
              <a:ext cx="999744" cy="536448"/>
            </a:xfrm>
            <a:custGeom>
              <a:avLst/>
              <a:gdLst/>
              <a:ahLst/>
              <a:cxnLst/>
              <a:rect r="r" b="b" t="t" l="l"/>
              <a:pathLst>
                <a:path h="536448" w="999744">
                  <a:moveTo>
                    <a:pt x="0" y="0"/>
                  </a:moveTo>
                  <a:lnTo>
                    <a:pt x="999744" y="0"/>
                  </a:lnTo>
                  <a:lnTo>
                    <a:pt x="999744" y="536448"/>
                  </a:lnTo>
                  <a:lnTo>
                    <a:pt x="0" y="536448"/>
                  </a:lnTo>
                  <a:close/>
                </a:path>
              </a:pathLst>
            </a:custGeom>
            <a:solidFill>
              <a:srgbClr val="B1734A"/>
            </a:solidFill>
          </p:spPr>
        </p:sp>
      </p:grpSp>
      <p:grpSp>
        <p:nvGrpSpPr>
          <p:cNvPr name="Group 92" id="92"/>
          <p:cNvGrpSpPr/>
          <p:nvPr/>
        </p:nvGrpSpPr>
        <p:grpSpPr>
          <a:xfrm rot="0">
            <a:off x="13386816" y="3575304"/>
            <a:ext cx="749808" cy="402336"/>
            <a:chOff x="0" y="0"/>
            <a:chExt cx="999744" cy="536448"/>
          </a:xfrm>
        </p:grpSpPr>
        <p:sp>
          <p:nvSpPr>
            <p:cNvPr name="Freeform 93" id="93"/>
            <p:cNvSpPr/>
            <p:nvPr/>
          </p:nvSpPr>
          <p:spPr>
            <a:xfrm flipH="false" flipV="false" rot="0">
              <a:off x="0" y="0"/>
              <a:ext cx="999744" cy="536448"/>
            </a:xfrm>
            <a:custGeom>
              <a:avLst/>
              <a:gdLst/>
              <a:ahLst/>
              <a:cxnLst/>
              <a:rect r="r" b="b" t="t" l="l"/>
              <a:pathLst>
                <a:path h="536448" w="999744">
                  <a:moveTo>
                    <a:pt x="0" y="0"/>
                  </a:moveTo>
                  <a:lnTo>
                    <a:pt x="999744" y="0"/>
                  </a:lnTo>
                  <a:lnTo>
                    <a:pt x="999744" y="536448"/>
                  </a:lnTo>
                  <a:lnTo>
                    <a:pt x="0" y="536448"/>
                  </a:lnTo>
                  <a:close/>
                </a:path>
              </a:pathLst>
            </a:custGeom>
            <a:solidFill>
              <a:srgbClr val="7A4B2C"/>
            </a:solidFill>
          </p:spPr>
        </p:sp>
      </p:grpSp>
      <p:grpSp>
        <p:nvGrpSpPr>
          <p:cNvPr name="Group 94" id="94"/>
          <p:cNvGrpSpPr/>
          <p:nvPr/>
        </p:nvGrpSpPr>
        <p:grpSpPr>
          <a:xfrm rot="0">
            <a:off x="9418320" y="4233672"/>
            <a:ext cx="1463040" cy="502920"/>
            <a:chOff x="0" y="0"/>
            <a:chExt cx="1950720" cy="670560"/>
          </a:xfrm>
        </p:grpSpPr>
        <p:sp>
          <p:nvSpPr>
            <p:cNvPr name="Freeform 95" id="95"/>
            <p:cNvSpPr/>
            <p:nvPr/>
          </p:nvSpPr>
          <p:spPr>
            <a:xfrm flipH="false" flipV="false" rot="0">
              <a:off x="0" y="0"/>
              <a:ext cx="1950720" cy="670560"/>
            </a:xfrm>
            <a:custGeom>
              <a:avLst/>
              <a:gdLst/>
              <a:ahLst/>
              <a:cxnLst/>
              <a:rect r="r" b="b" t="t" l="l"/>
              <a:pathLst>
                <a:path h="670560" w="1950720">
                  <a:moveTo>
                    <a:pt x="0" y="0"/>
                  </a:moveTo>
                  <a:lnTo>
                    <a:pt x="1950720" y="0"/>
                  </a:lnTo>
                  <a:lnTo>
                    <a:pt x="1950720" y="670560"/>
                  </a:lnTo>
                  <a:lnTo>
                    <a:pt x="0" y="670560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0" t="-6683" r="0" b="-6683"/>
              </a:stretch>
            </a:blipFill>
          </p:spPr>
        </p:sp>
        <p:sp>
          <p:nvSpPr>
            <p:cNvPr name="TextBox 96" id="96"/>
            <p:cNvSpPr txBox="true"/>
            <p:nvPr/>
          </p:nvSpPr>
          <p:spPr>
            <a:xfrm>
              <a:off x="0" y="-28575"/>
              <a:ext cx="1950720" cy="69913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680"/>
                </a:lnSpc>
              </a:pPr>
              <a:r>
                <a:rPr lang="en-US" sz="1400" b="true">
                  <a:solidFill>
                    <a:srgbClr val="2E5634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2  Mapa</a:t>
              </a:r>
            </a:p>
          </p:txBody>
        </p:sp>
      </p:grpSp>
      <p:grpSp>
        <p:nvGrpSpPr>
          <p:cNvPr name="Group 97" id="97"/>
          <p:cNvGrpSpPr/>
          <p:nvPr/>
        </p:nvGrpSpPr>
        <p:grpSpPr>
          <a:xfrm rot="0">
            <a:off x="11484864" y="4288536"/>
            <a:ext cx="749808" cy="402336"/>
            <a:chOff x="0" y="0"/>
            <a:chExt cx="999744" cy="536448"/>
          </a:xfrm>
        </p:grpSpPr>
        <p:sp>
          <p:nvSpPr>
            <p:cNvPr name="Freeform 98" id="98"/>
            <p:cNvSpPr/>
            <p:nvPr/>
          </p:nvSpPr>
          <p:spPr>
            <a:xfrm flipH="false" flipV="false" rot="0">
              <a:off x="0" y="0"/>
              <a:ext cx="999744" cy="536448"/>
            </a:xfrm>
            <a:custGeom>
              <a:avLst/>
              <a:gdLst/>
              <a:ahLst/>
              <a:cxnLst/>
              <a:rect r="r" b="b" t="t" l="l"/>
              <a:pathLst>
                <a:path h="536448" w="999744">
                  <a:moveTo>
                    <a:pt x="0" y="0"/>
                  </a:moveTo>
                  <a:lnTo>
                    <a:pt x="999744" y="0"/>
                  </a:lnTo>
                  <a:lnTo>
                    <a:pt x="999744" y="536448"/>
                  </a:lnTo>
                  <a:lnTo>
                    <a:pt x="0" y="536448"/>
                  </a:lnTo>
                  <a:close/>
                </a:path>
              </a:pathLst>
            </a:custGeom>
            <a:solidFill>
              <a:srgbClr val="8FB38F"/>
            </a:solidFill>
          </p:spPr>
        </p:sp>
      </p:grpSp>
      <p:grpSp>
        <p:nvGrpSpPr>
          <p:cNvPr name="Group 99" id="99"/>
          <p:cNvGrpSpPr/>
          <p:nvPr/>
        </p:nvGrpSpPr>
        <p:grpSpPr>
          <a:xfrm rot="0">
            <a:off x="12289536" y="4288536"/>
            <a:ext cx="749808" cy="402336"/>
            <a:chOff x="0" y="0"/>
            <a:chExt cx="999744" cy="536448"/>
          </a:xfrm>
        </p:grpSpPr>
        <p:sp>
          <p:nvSpPr>
            <p:cNvPr name="Freeform 100" id="100"/>
            <p:cNvSpPr/>
            <p:nvPr/>
          </p:nvSpPr>
          <p:spPr>
            <a:xfrm flipH="false" flipV="false" rot="0">
              <a:off x="0" y="0"/>
              <a:ext cx="999744" cy="536448"/>
            </a:xfrm>
            <a:custGeom>
              <a:avLst/>
              <a:gdLst/>
              <a:ahLst/>
              <a:cxnLst/>
              <a:rect r="r" b="b" t="t" l="l"/>
              <a:pathLst>
                <a:path h="536448" w="999744">
                  <a:moveTo>
                    <a:pt x="0" y="0"/>
                  </a:moveTo>
                  <a:lnTo>
                    <a:pt x="999744" y="0"/>
                  </a:lnTo>
                  <a:lnTo>
                    <a:pt x="999744" y="536448"/>
                  </a:lnTo>
                  <a:lnTo>
                    <a:pt x="0" y="536448"/>
                  </a:lnTo>
                  <a:close/>
                </a:path>
              </a:pathLst>
            </a:custGeom>
            <a:solidFill>
              <a:srgbClr val="2E5634"/>
            </a:solidFill>
          </p:spPr>
        </p:sp>
      </p:grpSp>
      <p:grpSp>
        <p:nvGrpSpPr>
          <p:cNvPr name="Group 101" id="101"/>
          <p:cNvGrpSpPr/>
          <p:nvPr/>
        </p:nvGrpSpPr>
        <p:grpSpPr>
          <a:xfrm rot="0">
            <a:off x="13094208" y="4288536"/>
            <a:ext cx="749808" cy="402336"/>
            <a:chOff x="0" y="0"/>
            <a:chExt cx="999744" cy="536448"/>
          </a:xfrm>
        </p:grpSpPr>
        <p:sp>
          <p:nvSpPr>
            <p:cNvPr name="Freeform 102" id="102"/>
            <p:cNvSpPr/>
            <p:nvPr/>
          </p:nvSpPr>
          <p:spPr>
            <a:xfrm flipH="false" flipV="false" rot="0">
              <a:off x="0" y="0"/>
              <a:ext cx="999744" cy="536448"/>
            </a:xfrm>
            <a:custGeom>
              <a:avLst/>
              <a:gdLst/>
              <a:ahLst/>
              <a:cxnLst/>
              <a:rect r="r" b="b" t="t" l="l"/>
              <a:pathLst>
                <a:path h="536448" w="999744">
                  <a:moveTo>
                    <a:pt x="0" y="0"/>
                  </a:moveTo>
                  <a:lnTo>
                    <a:pt x="999744" y="0"/>
                  </a:lnTo>
                  <a:lnTo>
                    <a:pt x="999744" y="536448"/>
                  </a:lnTo>
                  <a:lnTo>
                    <a:pt x="0" y="536448"/>
                  </a:lnTo>
                  <a:close/>
                </a:path>
              </a:pathLst>
            </a:custGeom>
            <a:solidFill>
              <a:srgbClr val="B1734A"/>
            </a:solidFill>
          </p:spPr>
        </p:sp>
      </p:grpSp>
      <p:grpSp>
        <p:nvGrpSpPr>
          <p:cNvPr name="Group 103" id="103"/>
          <p:cNvGrpSpPr/>
          <p:nvPr/>
        </p:nvGrpSpPr>
        <p:grpSpPr>
          <a:xfrm rot="0">
            <a:off x="13898880" y="4288536"/>
            <a:ext cx="749808" cy="402336"/>
            <a:chOff x="0" y="0"/>
            <a:chExt cx="999744" cy="536448"/>
          </a:xfrm>
        </p:grpSpPr>
        <p:sp>
          <p:nvSpPr>
            <p:cNvPr name="Freeform 104" id="104"/>
            <p:cNvSpPr/>
            <p:nvPr/>
          </p:nvSpPr>
          <p:spPr>
            <a:xfrm flipH="false" flipV="false" rot="0">
              <a:off x="0" y="0"/>
              <a:ext cx="999744" cy="536448"/>
            </a:xfrm>
            <a:custGeom>
              <a:avLst/>
              <a:gdLst/>
              <a:ahLst/>
              <a:cxnLst/>
              <a:rect r="r" b="b" t="t" l="l"/>
              <a:pathLst>
                <a:path h="536448" w="999744">
                  <a:moveTo>
                    <a:pt x="0" y="0"/>
                  </a:moveTo>
                  <a:lnTo>
                    <a:pt x="999744" y="0"/>
                  </a:lnTo>
                  <a:lnTo>
                    <a:pt x="999744" y="536448"/>
                  </a:lnTo>
                  <a:lnTo>
                    <a:pt x="0" y="536448"/>
                  </a:lnTo>
                  <a:close/>
                </a:path>
              </a:pathLst>
            </a:custGeom>
            <a:solidFill>
              <a:srgbClr val="7A4B2C"/>
            </a:solidFill>
          </p:spPr>
        </p:sp>
      </p:grpSp>
      <p:grpSp>
        <p:nvGrpSpPr>
          <p:cNvPr name="Group 105" id="105"/>
          <p:cNvGrpSpPr/>
          <p:nvPr/>
        </p:nvGrpSpPr>
        <p:grpSpPr>
          <a:xfrm rot="0">
            <a:off x="9418320" y="4946904"/>
            <a:ext cx="1463040" cy="502920"/>
            <a:chOff x="0" y="0"/>
            <a:chExt cx="1950720" cy="670560"/>
          </a:xfrm>
        </p:grpSpPr>
        <p:sp>
          <p:nvSpPr>
            <p:cNvPr name="Freeform 106" id="106"/>
            <p:cNvSpPr/>
            <p:nvPr/>
          </p:nvSpPr>
          <p:spPr>
            <a:xfrm flipH="false" flipV="false" rot="0">
              <a:off x="0" y="0"/>
              <a:ext cx="1950720" cy="670560"/>
            </a:xfrm>
            <a:custGeom>
              <a:avLst/>
              <a:gdLst/>
              <a:ahLst/>
              <a:cxnLst/>
              <a:rect r="r" b="b" t="t" l="l"/>
              <a:pathLst>
                <a:path h="670560" w="1950720">
                  <a:moveTo>
                    <a:pt x="0" y="0"/>
                  </a:moveTo>
                  <a:lnTo>
                    <a:pt x="1950720" y="0"/>
                  </a:lnTo>
                  <a:lnTo>
                    <a:pt x="1950720" y="670560"/>
                  </a:lnTo>
                  <a:lnTo>
                    <a:pt x="0" y="670560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0" t="-6683" r="0" b="-6683"/>
              </a:stretch>
            </a:blipFill>
          </p:spPr>
        </p:sp>
        <p:sp>
          <p:nvSpPr>
            <p:cNvPr name="TextBox 107" id="107"/>
            <p:cNvSpPr txBox="true"/>
            <p:nvPr/>
          </p:nvSpPr>
          <p:spPr>
            <a:xfrm>
              <a:off x="0" y="-28575"/>
              <a:ext cx="1950720" cy="69913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680"/>
                </a:lnSpc>
              </a:pPr>
              <a:r>
                <a:rPr lang="en-US" sz="1400" b="true">
                  <a:solidFill>
                    <a:srgbClr val="2E5634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3  Publicações</a:t>
              </a:r>
            </a:p>
          </p:txBody>
        </p:sp>
      </p:grpSp>
      <p:grpSp>
        <p:nvGrpSpPr>
          <p:cNvPr name="Group 108" id="108"/>
          <p:cNvGrpSpPr/>
          <p:nvPr/>
        </p:nvGrpSpPr>
        <p:grpSpPr>
          <a:xfrm rot="0">
            <a:off x="11996928" y="5001768"/>
            <a:ext cx="749808" cy="402336"/>
            <a:chOff x="0" y="0"/>
            <a:chExt cx="999744" cy="536448"/>
          </a:xfrm>
        </p:grpSpPr>
        <p:sp>
          <p:nvSpPr>
            <p:cNvPr name="Freeform 109" id="109"/>
            <p:cNvSpPr/>
            <p:nvPr/>
          </p:nvSpPr>
          <p:spPr>
            <a:xfrm flipH="false" flipV="false" rot="0">
              <a:off x="0" y="0"/>
              <a:ext cx="999744" cy="536448"/>
            </a:xfrm>
            <a:custGeom>
              <a:avLst/>
              <a:gdLst/>
              <a:ahLst/>
              <a:cxnLst/>
              <a:rect r="r" b="b" t="t" l="l"/>
              <a:pathLst>
                <a:path h="536448" w="999744">
                  <a:moveTo>
                    <a:pt x="0" y="0"/>
                  </a:moveTo>
                  <a:lnTo>
                    <a:pt x="999744" y="0"/>
                  </a:lnTo>
                  <a:lnTo>
                    <a:pt x="999744" y="536448"/>
                  </a:lnTo>
                  <a:lnTo>
                    <a:pt x="0" y="536448"/>
                  </a:lnTo>
                  <a:close/>
                </a:path>
              </a:pathLst>
            </a:custGeom>
            <a:solidFill>
              <a:srgbClr val="8FB38F"/>
            </a:solidFill>
          </p:spPr>
        </p:sp>
      </p:grpSp>
      <p:grpSp>
        <p:nvGrpSpPr>
          <p:cNvPr name="Group 110" id="110"/>
          <p:cNvGrpSpPr/>
          <p:nvPr/>
        </p:nvGrpSpPr>
        <p:grpSpPr>
          <a:xfrm rot="0">
            <a:off x="12801600" y="5001768"/>
            <a:ext cx="749808" cy="402336"/>
            <a:chOff x="0" y="0"/>
            <a:chExt cx="999744" cy="536448"/>
          </a:xfrm>
        </p:grpSpPr>
        <p:sp>
          <p:nvSpPr>
            <p:cNvPr name="Freeform 111" id="111"/>
            <p:cNvSpPr/>
            <p:nvPr/>
          </p:nvSpPr>
          <p:spPr>
            <a:xfrm flipH="false" flipV="false" rot="0">
              <a:off x="0" y="0"/>
              <a:ext cx="999744" cy="536448"/>
            </a:xfrm>
            <a:custGeom>
              <a:avLst/>
              <a:gdLst/>
              <a:ahLst/>
              <a:cxnLst/>
              <a:rect r="r" b="b" t="t" l="l"/>
              <a:pathLst>
                <a:path h="536448" w="999744">
                  <a:moveTo>
                    <a:pt x="0" y="0"/>
                  </a:moveTo>
                  <a:lnTo>
                    <a:pt x="999744" y="0"/>
                  </a:lnTo>
                  <a:lnTo>
                    <a:pt x="999744" y="536448"/>
                  </a:lnTo>
                  <a:lnTo>
                    <a:pt x="0" y="536448"/>
                  </a:lnTo>
                  <a:close/>
                </a:path>
              </a:pathLst>
            </a:custGeom>
            <a:solidFill>
              <a:srgbClr val="2E5634"/>
            </a:solidFill>
          </p:spPr>
        </p:sp>
      </p:grpSp>
      <p:grpSp>
        <p:nvGrpSpPr>
          <p:cNvPr name="Group 112" id="112"/>
          <p:cNvGrpSpPr/>
          <p:nvPr/>
        </p:nvGrpSpPr>
        <p:grpSpPr>
          <a:xfrm rot="0">
            <a:off x="13606272" y="5001768"/>
            <a:ext cx="749808" cy="402336"/>
            <a:chOff x="0" y="0"/>
            <a:chExt cx="999744" cy="536448"/>
          </a:xfrm>
        </p:grpSpPr>
        <p:sp>
          <p:nvSpPr>
            <p:cNvPr name="Freeform 113" id="113"/>
            <p:cNvSpPr/>
            <p:nvPr/>
          </p:nvSpPr>
          <p:spPr>
            <a:xfrm flipH="false" flipV="false" rot="0">
              <a:off x="0" y="0"/>
              <a:ext cx="999744" cy="536448"/>
            </a:xfrm>
            <a:custGeom>
              <a:avLst/>
              <a:gdLst/>
              <a:ahLst/>
              <a:cxnLst/>
              <a:rect r="r" b="b" t="t" l="l"/>
              <a:pathLst>
                <a:path h="536448" w="999744">
                  <a:moveTo>
                    <a:pt x="0" y="0"/>
                  </a:moveTo>
                  <a:lnTo>
                    <a:pt x="999744" y="0"/>
                  </a:lnTo>
                  <a:lnTo>
                    <a:pt x="999744" y="536448"/>
                  </a:lnTo>
                  <a:lnTo>
                    <a:pt x="0" y="536448"/>
                  </a:lnTo>
                  <a:close/>
                </a:path>
              </a:pathLst>
            </a:custGeom>
            <a:solidFill>
              <a:srgbClr val="B1734A"/>
            </a:solidFill>
          </p:spPr>
        </p:sp>
      </p:grpSp>
      <p:grpSp>
        <p:nvGrpSpPr>
          <p:cNvPr name="Group 114" id="114"/>
          <p:cNvGrpSpPr/>
          <p:nvPr/>
        </p:nvGrpSpPr>
        <p:grpSpPr>
          <a:xfrm rot="0">
            <a:off x="14410944" y="5001768"/>
            <a:ext cx="749808" cy="402336"/>
            <a:chOff x="0" y="0"/>
            <a:chExt cx="999744" cy="536448"/>
          </a:xfrm>
        </p:grpSpPr>
        <p:sp>
          <p:nvSpPr>
            <p:cNvPr name="Freeform 115" id="115"/>
            <p:cNvSpPr/>
            <p:nvPr/>
          </p:nvSpPr>
          <p:spPr>
            <a:xfrm flipH="false" flipV="false" rot="0">
              <a:off x="0" y="0"/>
              <a:ext cx="999744" cy="536448"/>
            </a:xfrm>
            <a:custGeom>
              <a:avLst/>
              <a:gdLst/>
              <a:ahLst/>
              <a:cxnLst/>
              <a:rect r="r" b="b" t="t" l="l"/>
              <a:pathLst>
                <a:path h="536448" w="999744">
                  <a:moveTo>
                    <a:pt x="0" y="0"/>
                  </a:moveTo>
                  <a:lnTo>
                    <a:pt x="999744" y="0"/>
                  </a:lnTo>
                  <a:lnTo>
                    <a:pt x="999744" y="536448"/>
                  </a:lnTo>
                  <a:lnTo>
                    <a:pt x="0" y="536448"/>
                  </a:lnTo>
                  <a:close/>
                </a:path>
              </a:pathLst>
            </a:custGeom>
            <a:solidFill>
              <a:srgbClr val="7A4B2C"/>
            </a:solidFill>
          </p:spPr>
        </p:sp>
      </p:grpSp>
      <p:grpSp>
        <p:nvGrpSpPr>
          <p:cNvPr name="Group 116" id="116"/>
          <p:cNvGrpSpPr/>
          <p:nvPr/>
        </p:nvGrpSpPr>
        <p:grpSpPr>
          <a:xfrm rot="0">
            <a:off x="9418320" y="5660136"/>
            <a:ext cx="1463040" cy="502920"/>
            <a:chOff x="0" y="0"/>
            <a:chExt cx="1950720" cy="670560"/>
          </a:xfrm>
        </p:grpSpPr>
        <p:sp>
          <p:nvSpPr>
            <p:cNvPr name="Freeform 117" id="117"/>
            <p:cNvSpPr/>
            <p:nvPr/>
          </p:nvSpPr>
          <p:spPr>
            <a:xfrm flipH="false" flipV="false" rot="0">
              <a:off x="0" y="0"/>
              <a:ext cx="1950720" cy="670560"/>
            </a:xfrm>
            <a:custGeom>
              <a:avLst/>
              <a:gdLst/>
              <a:ahLst/>
              <a:cxnLst/>
              <a:rect r="r" b="b" t="t" l="l"/>
              <a:pathLst>
                <a:path h="670560" w="1950720">
                  <a:moveTo>
                    <a:pt x="0" y="0"/>
                  </a:moveTo>
                  <a:lnTo>
                    <a:pt x="1950720" y="0"/>
                  </a:lnTo>
                  <a:lnTo>
                    <a:pt x="1950720" y="670560"/>
                  </a:lnTo>
                  <a:lnTo>
                    <a:pt x="0" y="670560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0" t="-6683" r="0" b="-6683"/>
              </a:stretch>
            </a:blipFill>
          </p:spPr>
        </p:sp>
        <p:sp>
          <p:nvSpPr>
            <p:cNvPr name="TextBox 118" id="118"/>
            <p:cNvSpPr txBox="true"/>
            <p:nvPr/>
          </p:nvSpPr>
          <p:spPr>
            <a:xfrm>
              <a:off x="0" y="-28575"/>
              <a:ext cx="1950720" cy="69913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680"/>
                </a:lnSpc>
              </a:pPr>
              <a:r>
                <a:rPr lang="en-US" sz="1400" b="true">
                  <a:solidFill>
                    <a:srgbClr val="2E5634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4  Comunicação</a:t>
              </a:r>
            </a:p>
          </p:txBody>
        </p:sp>
      </p:grpSp>
      <p:grpSp>
        <p:nvGrpSpPr>
          <p:cNvPr name="Group 119" id="119"/>
          <p:cNvGrpSpPr/>
          <p:nvPr/>
        </p:nvGrpSpPr>
        <p:grpSpPr>
          <a:xfrm rot="0">
            <a:off x="12508992" y="5715000"/>
            <a:ext cx="749808" cy="402336"/>
            <a:chOff x="0" y="0"/>
            <a:chExt cx="999744" cy="536448"/>
          </a:xfrm>
        </p:grpSpPr>
        <p:sp>
          <p:nvSpPr>
            <p:cNvPr name="Freeform 120" id="120"/>
            <p:cNvSpPr/>
            <p:nvPr/>
          </p:nvSpPr>
          <p:spPr>
            <a:xfrm flipH="false" flipV="false" rot="0">
              <a:off x="0" y="0"/>
              <a:ext cx="999744" cy="536448"/>
            </a:xfrm>
            <a:custGeom>
              <a:avLst/>
              <a:gdLst/>
              <a:ahLst/>
              <a:cxnLst/>
              <a:rect r="r" b="b" t="t" l="l"/>
              <a:pathLst>
                <a:path h="536448" w="999744">
                  <a:moveTo>
                    <a:pt x="0" y="0"/>
                  </a:moveTo>
                  <a:lnTo>
                    <a:pt x="999744" y="0"/>
                  </a:lnTo>
                  <a:lnTo>
                    <a:pt x="999744" y="536448"/>
                  </a:lnTo>
                  <a:lnTo>
                    <a:pt x="0" y="536448"/>
                  </a:lnTo>
                  <a:close/>
                </a:path>
              </a:pathLst>
            </a:custGeom>
            <a:solidFill>
              <a:srgbClr val="8FB38F"/>
            </a:solidFill>
          </p:spPr>
        </p:sp>
      </p:grpSp>
      <p:grpSp>
        <p:nvGrpSpPr>
          <p:cNvPr name="Group 121" id="121"/>
          <p:cNvGrpSpPr/>
          <p:nvPr/>
        </p:nvGrpSpPr>
        <p:grpSpPr>
          <a:xfrm rot="0">
            <a:off x="13313664" y="5715000"/>
            <a:ext cx="749808" cy="402336"/>
            <a:chOff x="0" y="0"/>
            <a:chExt cx="999744" cy="536448"/>
          </a:xfrm>
        </p:grpSpPr>
        <p:sp>
          <p:nvSpPr>
            <p:cNvPr name="Freeform 122" id="122"/>
            <p:cNvSpPr/>
            <p:nvPr/>
          </p:nvSpPr>
          <p:spPr>
            <a:xfrm flipH="false" flipV="false" rot="0">
              <a:off x="0" y="0"/>
              <a:ext cx="999744" cy="536448"/>
            </a:xfrm>
            <a:custGeom>
              <a:avLst/>
              <a:gdLst/>
              <a:ahLst/>
              <a:cxnLst/>
              <a:rect r="r" b="b" t="t" l="l"/>
              <a:pathLst>
                <a:path h="536448" w="999744">
                  <a:moveTo>
                    <a:pt x="0" y="0"/>
                  </a:moveTo>
                  <a:lnTo>
                    <a:pt x="999744" y="0"/>
                  </a:lnTo>
                  <a:lnTo>
                    <a:pt x="999744" y="536448"/>
                  </a:lnTo>
                  <a:lnTo>
                    <a:pt x="0" y="536448"/>
                  </a:lnTo>
                  <a:close/>
                </a:path>
              </a:pathLst>
            </a:custGeom>
            <a:solidFill>
              <a:srgbClr val="2E5634"/>
            </a:solidFill>
          </p:spPr>
        </p:sp>
      </p:grpSp>
      <p:grpSp>
        <p:nvGrpSpPr>
          <p:cNvPr name="Group 123" id="123"/>
          <p:cNvGrpSpPr/>
          <p:nvPr/>
        </p:nvGrpSpPr>
        <p:grpSpPr>
          <a:xfrm rot="0">
            <a:off x="14118336" y="5715000"/>
            <a:ext cx="749808" cy="402336"/>
            <a:chOff x="0" y="0"/>
            <a:chExt cx="999744" cy="536448"/>
          </a:xfrm>
        </p:grpSpPr>
        <p:sp>
          <p:nvSpPr>
            <p:cNvPr name="Freeform 124" id="124"/>
            <p:cNvSpPr/>
            <p:nvPr/>
          </p:nvSpPr>
          <p:spPr>
            <a:xfrm flipH="false" flipV="false" rot="0">
              <a:off x="0" y="0"/>
              <a:ext cx="999744" cy="536448"/>
            </a:xfrm>
            <a:custGeom>
              <a:avLst/>
              <a:gdLst/>
              <a:ahLst/>
              <a:cxnLst/>
              <a:rect r="r" b="b" t="t" l="l"/>
              <a:pathLst>
                <a:path h="536448" w="999744">
                  <a:moveTo>
                    <a:pt x="0" y="0"/>
                  </a:moveTo>
                  <a:lnTo>
                    <a:pt x="999744" y="0"/>
                  </a:lnTo>
                  <a:lnTo>
                    <a:pt x="999744" y="536448"/>
                  </a:lnTo>
                  <a:lnTo>
                    <a:pt x="0" y="536448"/>
                  </a:lnTo>
                  <a:close/>
                </a:path>
              </a:pathLst>
            </a:custGeom>
            <a:solidFill>
              <a:srgbClr val="B1734A"/>
            </a:solidFill>
          </p:spPr>
        </p:sp>
      </p:grpSp>
      <p:grpSp>
        <p:nvGrpSpPr>
          <p:cNvPr name="Group 125" id="125"/>
          <p:cNvGrpSpPr/>
          <p:nvPr/>
        </p:nvGrpSpPr>
        <p:grpSpPr>
          <a:xfrm rot="0">
            <a:off x="14923008" y="5715000"/>
            <a:ext cx="749808" cy="402336"/>
            <a:chOff x="0" y="0"/>
            <a:chExt cx="999744" cy="536448"/>
          </a:xfrm>
        </p:grpSpPr>
        <p:sp>
          <p:nvSpPr>
            <p:cNvPr name="Freeform 126" id="126"/>
            <p:cNvSpPr/>
            <p:nvPr/>
          </p:nvSpPr>
          <p:spPr>
            <a:xfrm flipH="false" flipV="false" rot="0">
              <a:off x="0" y="0"/>
              <a:ext cx="999744" cy="536448"/>
            </a:xfrm>
            <a:custGeom>
              <a:avLst/>
              <a:gdLst/>
              <a:ahLst/>
              <a:cxnLst/>
              <a:rect r="r" b="b" t="t" l="l"/>
              <a:pathLst>
                <a:path h="536448" w="999744">
                  <a:moveTo>
                    <a:pt x="0" y="0"/>
                  </a:moveTo>
                  <a:lnTo>
                    <a:pt x="999744" y="0"/>
                  </a:lnTo>
                  <a:lnTo>
                    <a:pt x="999744" y="536448"/>
                  </a:lnTo>
                  <a:lnTo>
                    <a:pt x="0" y="536448"/>
                  </a:lnTo>
                  <a:close/>
                </a:path>
              </a:pathLst>
            </a:custGeom>
            <a:solidFill>
              <a:srgbClr val="7A4B2C"/>
            </a:solidFill>
          </p:spPr>
        </p:sp>
      </p:grpSp>
      <p:grpSp>
        <p:nvGrpSpPr>
          <p:cNvPr name="Group 127" id="127"/>
          <p:cNvGrpSpPr/>
          <p:nvPr/>
        </p:nvGrpSpPr>
        <p:grpSpPr>
          <a:xfrm rot="0">
            <a:off x="9418320" y="6373368"/>
            <a:ext cx="1463040" cy="502920"/>
            <a:chOff x="0" y="0"/>
            <a:chExt cx="1950720" cy="670560"/>
          </a:xfrm>
        </p:grpSpPr>
        <p:sp>
          <p:nvSpPr>
            <p:cNvPr name="Freeform 128" id="128"/>
            <p:cNvSpPr/>
            <p:nvPr/>
          </p:nvSpPr>
          <p:spPr>
            <a:xfrm flipH="false" flipV="false" rot="0">
              <a:off x="0" y="0"/>
              <a:ext cx="1950720" cy="670560"/>
            </a:xfrm>
            <a:custGeom>
              <a:avLst/>
              <a:gdLst/>
              <a:ahLst/>
              <a:cxnLst/>
              <a:rect r="r" b="b" t="t" l="l"/>
              <a:pathLst>
                <a:path h="670560" w="1950720">
                  <a:moveTo>
                    <a:pt x="0" y="0"/>
                  </a:moveTo>
                  <a:lnTo>
                    <a:pt x="1950720" y="0"/>
                  </a:lnTo>
                  <a:lnTo>
                    <a:pt x="1950720" y="670560"/>
                  </a:lnTo>
                  <a:lnTo>
                    <a:pt x="0" y="670560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0" t="-6683" r="0" b="-6683"/>
              </a:stretch>
            </a:blipFill>
          </p:spPr>
        </p:sp>
        <p:sp>
          <p:nvSpPr>
            <p:cNvPr name="TextBox 129" id="129"/>
            <p:cNvSpPr txBox="true"/>
            <p:nvPr/>
          </p:nvSpPr>
          <p:spPr>
            <a:xfrm>
              <a:off x="0" y="-28575"/>
              <a:ext cx="1950720" cy="69913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680"/>
                </a:lnSpc>
              </a:pPr>
              <a:r>
                <a:rPr lang="en-US" sz="1400" b="true">
                  <a:solidFill>
                    <a:srgbClr val="2E5634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5  Cartaz QR</a:t>
              </a:r>
            </a:p>
          </p:txBody>
        </p:sp>
      </p:grpSp>
      <p:grpSp>
        <p:nvGrpSpPr>
          <p:cNvPr name="Group 130" id="130"/>
          <p:cNvGrpSpPr/>
          <p:nvPr/>
        </p:nvGrpSpPr>
        <p:grpSpPr>
          <a:xfrm rot="0">
            <a:off x="13021056" y="6428232"/>
            <a:ext cx="749808" cy="402336"/>
            <a:chOff x="0" y="0"/>
            <a:chExt cx="999744" cy="536448"/>
          </a:xfrm>
        </p:grpSpPr>
        <p:sp>
          <p:nvSpPr>
            <p:cNvPr name="Freeform 131" id="131"/>
            <p:cNvSpPr/>
            <p:nvPr/>
          </p:nvSpPr>
          <p:spPr>
            <a:xfrm flipH="false" flipV="false" rot="0">
              <a:off x="0" y="0"/>
              <a:ext cx="999744" cy="536448"/>
            </a:xfrm>
            <a:custGeom>
              <a:avLst/>
              <a:gdLst/>
              <a:ahLst/>
              <a:cxnLst/>
              <a:rect r="r" b="b" t="t" l="l"/>
              <a:pathLst>
                <a:path h="536448" w="999744">
                  <a:moveTo>
                    <a:pt x="0" y="0"/>
                  </a:moveTo>
                  <a:lnTo>
                    <a:pt x="999744" y="0"/>
                  </a:lnTo>
                  <a:lnTo>
                    <a:pt x="999744" y="536448"/>
                  </a:lnTo>
                  <a:lnTo>
                    <a:pt x="0" y="536448"/>
                  </a:lnTo>
                  <a:close/>
                </a:path>
              </a:pathLst>
            </a:custGeom>
            <a:solidFill>
              <a:srgbClr val="8FB38F"/>
            </a:solidFill>
          </p:spPr>
        </p:sp>
      </p:grpSp>
      <p:grpSp>
        <p:nvGrpSpPr>
          <p:cNvPr name="Group 132" id="132"/>
          <p:cNvGrpSpPr/>
          <p:nvPr/>
        </p:nvGrpSpPr>
        <p:grpSpPr>
          <a:xfrm rot="0">
            <a:off x="13825728" y="6428232"/>
            <a:ext cx="749808" cy="402336"/>
            <a:chOff x="0" y="0"/>
            <a:chExt cx="999744" cy="536448"/>
          </a:xfrm>
        </p:grpSpPr>
        <p:sp>
          <p:nvSpPr>
            <p:cNvPr name="Freeform 133" id="133"/>
            <p:cNvSpPr/>
            <p:nvPr/>
          </p:nvSpPr>
          <p:spPr>
            <a:xfrm flipH="false" flipV="false" rot="0">
              <a:off x="0" y="0"/>
              <a:ext cx="999744" cy="536448"/>
            </a:xfrm>
            <a:custGeom>
              <a:avLst/>
              <a:gdLst/>
              <a:ahLst/>
              <a:cxnLst/>
              <a:rect r="r" b="b" t="t" l="l"/>
              <a:pathLst>
                <a:path h="536448" w="999744">
                  <a:moveTo>
                    <a:pt x="0" y="0"/>
                  </a:moveTo>
                  <a:lnTo>
                    <a:pt x="999744" y="0"/>
                  </a:lnTo>
                  <a:lnTo>
                    <a:pt x="999744" y="536448"/>
                  </a:lnTo>
                  <a:lnTo>
                    <a:pt x="0" y="536448"/>
                  </a:lnTo>
                  <a:close/>
                </a:path>
              </a:pathLst>
            </a:custGeom>
            <a:solidFill>
              <a:srgbClr val="2E5634"/>
            </a:solidFill>
          </p:spPr>
        </p:sp>
      </p:grpSp>
      <p:grpSp>
        <p:nvGrpSpPr>
          <p:cNvPr name="Group 134" id="134"/>
          <p:cNvGrpSpPr/>
          <p:nvPr/>
        </p:nvGrpSpPr>
        <p:grpSpPr>
          <a:xfrm rot="0">
            <a:off x="14630400" y="6428232"/>
            <a:ext cx="749808" cy="402336"/>
            <a:chOff x="0" y="0"/>
            <a:chExt cx="999744" cy="536448"/>
          </a:xfrm>
        </p:grpSpPr>
        <p:sp>
          <p:nvSpPr>
            <p:cNvPr name="Freeform 135" id="135"/>
            <p:cNvSpPr/>
            <p:nvPr/>
          </p:nvSpPr>
          <p:spPr>
            <a:xfrm flipH="false" flipV="false" rot="0">
              <a:off x="0" y="0"/>
              <a:ext cx="999744" cy="536448"/>
            </a:xfrm>
            <a:custGeom>
              <a:avLst/>
              <a:gdLst/>
              <a:ahLst/>
              <a:cxnLst/>
              <a:rect r="r" b="b" t="t" l="l"/>
              <a:pathLst>
                <a:path h="536448" w="999744">
                  <a:moveTo>
                    <a:pt x="0" y="0"/>
                  </a:moveTo>
                  <a:lnTo>
                    <a:pt x="999744" y="0"/>
                  </a:lnTo>
                  <a:lnTo>
                    <a:pt x="999744" y="536448"/>
                  </a:lnTo>
                  <a:lnTo>
                    <a:pt x="0" y="536448"/>
                  </a:lnTo>
                  <a:close/>
                </a:path>
              </a:pathLst>
            </a:custGeom>
            <a:solidFill>
              <a:srgbClr val="B1734A"/>
            </a:solidFill>
          </p:spPr>
        </p:sp>
      </p:grpSp>
      <p:grpSp>
        <p:nvGrpSpPr>
          <p:cNvPr name="Group 136" id="136"/>
          <p:cNvGrpSpPr/>
          <p:nvPr/>
        </p:nvGrpSpPr>
        <p:grpSpPr>
          <a:xfrm rot="0">
            <a:off x="15435072" y="6428232"/>
            <a:ext cx="749808" cy="402336"/>
            <a:chOff x="0" y="0"/>
            <a:chExt cx="999744" cy="536448"/>
          </a:xfrm>
        </p:grpSpPr>
        <p:sp>
          <p:nvSpPr>
            <p:cNvPr name="Freeform 137" id="137"/>
            <p:cNvSpPr/>
            <p:nvPr/>
          </p:nvSpPr>
          <p:spPr>
            <a:xfrm flipH="false" flipV="false" rot="0">
              <a:off x="0" y="0"/>
              <a:ext cx="999744" cy="536448"/>
            </a:xfrm>
            <a:custGeom>
              <a:avLst/>
              <a:gdLst/>
              <a:ahLst/>
              <a:cxnLst/>
              <a:rect r="r" b="b" t="t" l="l"/>
              <a:pathLst>
                <a:path h="536448" w="999744">
                  <a:moveTo>
                    <a:pt x="0" y="0"/>
                  </a:moveTo>
                  <a:lnTo>
                    <a:pt x="999744" y="0"/>
                  </a:lnTo>
                  <a:lnTo>
                    <a:pt x="999744" y="536448"/>
                  </a:lnTo>
                  <a:lnTo>
                    <a:pt x="0" y="536448"/>
                  </a:lnTo>
                  <a:close/>
                </a:path>
              </a:pathLst>
            </a:custGeom>
            <a:solidFill>
              <a:srgbClr val="7A4B2C"/>
            </a:solidFill>
          </p:spPr>
        </p:sp>
      </p:grpSp>
      <p:grpSp>
        <p:nvGrpSpPr>
          <p:cNvPr name="Group 138" id="138"/>
          <p:cNvGrpSpPr/>
          <p:nvPr/>
        </p:nvGrpSpPr>
        <p:grpSpPr>
          <a:xfrm rot="0">
            <a:off x="9418320" y="7086600"/>
            <a:ext cx="1463040" cy="502920"/>
            <a:chOff x="0" y="0"/>
            <a:chExt cx="1950720" cy="670560"/>
          </a:xfrm>
        </p:grpSpPr>
        <p:sp>
          <p:nvSpPr>
            <p:cNvPr name="Freeform 139" id="139"/>
            <p:cNvSpPr/>
            <p:nvPr/>
          </p:nvSpPr>
          <p:spPr>
            <a:xfrm flipH="false" flipV="false" rot="0">
              <a:off x="0" y="0"/>
              <a:ext cx="1950720" cy="670560"/>
            </a:xfrm>
            <a:custGeom>
              <a:avLst/>
              <a:gdLst/>
              <a:ahLst/>
              <a:cxnLst/>
              <a:rect r="r" b="b" t="t" l="l"/>
              <a:pathLst>
                <a:path h="670560" w="1950720">
                  <a:moveTo>
                    <a:pt x="0" y="0"/>
                  </a:moveTo>
                  <a:lnTo>
                    <a:pt x="1950720" y="0"/>
                  </a:lnTo>
                  <a:lnTo>
                    <a:pt x="1950720" y="670560"/>
                  </a:lnTo>
                  <a:lnTo>
                    <a:pt x="0" y="670560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0" t="-6683" r="0" b="-6683"/>
              </a:stretch>
            </a:blipFill>
          </p:spPr>
        </p:sp>
        <p:sp>
          <p:nvSpPr>
            <p:cNvPr name="TextBox 140" id="140"/>
            <p:cNvSpPr txBox="true"/>
            <p:nvPr/>
          </p:nvSpPr>
          <p:spPr>
            <a:xfrm>
              <a:off x="0" y="-28575"/>
              <a:ext cx="1950720" cy="69913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680"/>
                </a:lnSpc>
              </a:pPr>
              <a:r>
                <a:rPr lang="en-US" sz="1400" b="true">
                  <a:solidFill>
                    <a:srgbClr val="B1734A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6  Reencontro</a:t>
              </a:r>
            </a:p>
          </p:txBody>
        </p:sp>
      </p:grpSp>
      <p:grpSp>
        <p:nvGrpSpPr>
          <p:cNvPr name="Group 141" id="141"/>
          <p:cNvGrpSpPr/>
          <p:nvPr/>
        </p:nvGrpSpPr>
        <p:grpSpPr>
          <a:xfrm rot="0">
            <a:off x="13533120" y="7141464"/>
            <a:ext cx="749808" cy="402336"/>
            <a:chOff x="0" y="0"/>
            <a:chExt cx="999744" cy="536448"/>
          </a:xfrm>
        </p:grpSpPr>
        <p:sp>
          <p:nvSpPr>
            <p:cNvPr name="Freeform 142" id="142"/>
            <p:cNvSpPr/>
            <p:nvPr/>
          </p:nvSpPr>
          <p:spPr>
            <a:xfrm flipH="false" flipV="false" rot="0">
              <a:off x="0" y="0"/>
              <a:ext cx="999744" cy="536448"/>
            </a:xfrm>
            <a:custGeom>
              <a:avLst/>
              <a:gdLst/>
              <a:ahLst/>
              <a:cxnLst/>
              <a:rect r="r" b="b" t="t" l="l"/>
              <a:pathLst>
                <a:path h="536448" w="999744">
                  <a:moveTo>
                    <a:pt x="0" y="0"/>
                  </a:moveTo>
                  <a:lnTo>
                    <a:pt x="999744" y="0"/>
                  </a:lnTo>
                  <a:lnTo>
                    <a:pt x="999744" y="536448"/>
                  </a:lnTo>
                  <a:lnTo>
                    <a:pt x="0" y="536448"/>
                  </a:lnTo>
                  <a:close/>
                </a:path>
              </a:pathLst>
            </a:custGeom>
            <a:solidFill>
              <a:srgbClr val="8FB38F"/>
            </a:solidFill>
          </p:spPr>
        </p:sp>
      </p:grpSp>
      <p:grpSp>
        <p:nvGrpSpPr>
          <p:cNvPr name="Group 143" id="143"/>
          <p:cNvGrpSpPr/>
          <p:nvPr/>
        </p:nvGrpSpPr>
        <p:grpSpPr>
          <a:xfrm rot="0">
            <a:off x="14337792" y="7141464"/>
            <a:ext cx="749808" cy="402336"/>
            <a:chOff x="0" y="0"/>
            <a:chExt cx="999744" cy="536448"/>
          </a:xfrm>
        </p:grpSpPr>
        <p:sp>
          <p:nvSpPr>
            <p:cNvPr name="Freeform 144" id="144"/>
            <p:cNvSpPr/>
            <p:nvPr/>
          </p:nvSpPr>
          <p:spPr>
            <a:xfrm flipH="false" flipV="false" rot="0">
              <a:off x="0" y="0"/>
              <a:ext cx="999744" cy="536448"/>
            </a:xfrm>
            <a:custGeom>
              <a:avLst/>
              <a:gdLst/>
              <a:ahLst/>
              <a:cxnLst/>
              <a:rect r="r" b="b" t="t" l="l"/>
              <a:pathLst>
                <a:path h="536448" w="999744">
                  <a:moveTo>
                    <a:pt x="0" y="0"/>
                  </a:moveTo>
                  <a:lnTo>
                    <a:pt x="999744" y="0"/>
                  </a:lnTo>
                  <a:lnTo>
                    <a:pt x="999744" y="536448"/>
                  </a:lnTo>
                  <a:lnTo>
                    <a:pt x="0" y="536448"/>
                  </a:lnTo>
                  <a:close/>
                </a:path>
              </a:pathLst>
            </a:custGeom>
            <a:solidFill>
              <a:srgbClr val="2E5634"/>
            </a:solidFill>
          </p:spPr>
        </p:sp>
      </p:grpSp>
      <p:grpSp>
        <p:nvGrpSpPr>
          <p:cNvPr name="Group 145" id="145"/>
          <p:cNvGrpSpPr/>
          <p:nvPr/>
        </p:nvGrpSpPr>
        <p:grpSpPr>
          <a:xfrm rot="0">
            <a:off x="15142464" y="7141464"/>
            <a:ext cx="749808" cy="402336"/>
            <a:chOff x="0" y="0"/>
            <a:chExt cx="999744" cy="536448"/>
          </a:xfrm>
        </p:grpSpPr>
        <p:sp>
          <p:nvSpPr>
            <p:cNvPr name="Freeform 146" id="146"/>
            <p:cNvSpPr/>
            <p:nvPr/>
          </p:nvSpPr>
          <p:spPr>
            <a:xfrm flipH="false" flipV="false" rot="0">
              <a:off x="0" y="0"/>
              <a:ext cx="999744" cy="536448"/>
            </a:xfrm>
            <a:custGeom>
              <a:avLst/>
              <a:gdLst/>
              <a:ahLst/>
              <a:cxnLst/>
              <a:rect r="r" b="b" t="t" l="l"/>
              <a:pathLst>
                <a:path h="536448" w="999744">
                  <a:moveTo>
                    <a:pt x="0" y="0"/>
                  </a:moveTo>
                  <a:lnTo>
                    <a:pt x="999744" y="0"/>
                  </a:lnTo>
                  <a:lnTo>
                    <a:pt x="999744" y="536448"/>
                  </a:lnTo>
                  <a:lnTo>
                    <a:pt x="0" y="536448"/>
                  </a:lnTo>
                  <a:close/>
                </a:path>
              </a:pathLst>
            </a:custGeom>
            <a:solidFill>
              <a:srgbClr val="B1734A"/>
            </a:solidFill>
          </p:spPr>
        </p:sp>
      </p:grpSp>
      <p:grpSp>
        <p:nvGrpSpPr>
          <p:cNvPr name="Group 147" id="147"/>
          <p:cNvGrpSpPr/>
          <p:nvPr/>
        </p:nvGrpSpPr>
        <p:grpSpPr>
          <a:xfrm rot="0">
            <a:off x="15947136" y="7141464"/>
            <a:ext cx="749808" cy="402336"/>
            <a:chOff x="0" y="0"/>
            <a:chExt cx="999744" cy="536448"/>
          </a:xfrm>
        </p:grpSpPr>
        <p:sp>
          <p:nvSpPr>
            <p:cNvPr name="Freeform 148" id="148"/>
            <p:cNvSpPr/>
            <p:nvPr/>
          </p:nvSpPr>
          <p:spPr>
            <a:xfrm flipH="false" flipV="false" rot="0">
              <a:off x="0" y="0"/>
              <a:ext cx="999744" cy="536448"/>
            </a:xfrm>
            <a:custGeom>
              <a:avLst/>
              <a:gdLst/>
              <a:ahLst/>
              <a:cxnLst/>
              <a:rect r="r" b="b" t="t" l="l"/>
              <a:pathLst>
                <a:path h="536448" w="999744">
                  <a:moveTo>
                    <a:pt x="0" y="0"/>
                  </a:moveTo>
                  <a:lnTo>
                    <a:pt x="999744" y="0"/>
                  </a:lnTo>
                  <a:lnTo>
                    <a:pt x="999744" y="536448"/>
                  </a:lnTo>
                  <a:lnTo>
                    <a:pt x="0" y="536448"/>
                  </a:lnTo>
                  <a:close/>
                </a:path>
              </a:pathLst>
            </a:custGeom>
            <a:solidFill>
              <a:srgbClr val="7A4B2C"/>
            </a:solidFill>
          </p:spPr>
        </p:sp>
      </p:grpSp>
      <p:sp>
        <p:nvSpPr>
          <p:cNvPr name="AutoShape 149" id="149"/>
          <p:cNvSpPr/>
          <p:nvPr/>
        </p:nvSpPr>
        <p:spPr>
          <a:xfrm rot="10680">
            <a:off x="10963256" y="7836027"/>
            <a:ext cx="6145559" cy="0"/>
          </a:xfrm>
          <a:prstGeom prst="line">
            <a:avLst/>
          </a:prstGeom>
          <a:ln cap="rnd" w="19050">
            <a:solidFill>
              <a:srgbClr val="5B6B5F"/>
            </a:solidFill>
            <a:prstDash val="solid"/>
            <a:headEnd type="none" len="sm" w="sm"/>
            <a:tailEnd type="triangle" len="med" w="lg"/>
          </a:ln>
        </p:spPr>
      </p:sp>
      <p:sp>
        <p:nvSpPr>
          <p:cNvPr name="TextBox 150" id="150"/>
          <p:cNvSpPr txBox="true"/>
          <p:nvPr/>
        </p:nvSpPr>
        <p:spPr>
          <a:xfrm rot="0">
            <a:off x="13898880" y="7890129"/>
            <a:ext cx="3200400" cy="3486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559"/>
              </a:lnSpc>
            </a:pPr>
            <a:r>
              <a:rPr lang="en-US" sz="1299">
                <a:solidFill>
                  <a:srgbClr val="5B6B5F"/>
                </a:solidFill>
                <a:latin typeface="Calibri (MS)"/>
                <a:ea typeface="Calibri (MS)"/>
                <a:cs typeface="Calibri (MS)"/>
                <a:sym typeface="Calibri (MS)"/>
              </a:rPr>
              <a:t>tempo do projeto</a:t>
            </a:r>
          </a:p>
        </p:txBody>
      </p:sp>
      <p:sp>
        <p:nvSpPr>
          <p:cNvPr name="TextBox 151" id="151"/>
          <p:cNvSpPr txBox="true"/>
          <p:nvPr/>
        </p:nvSpPr>
        <p:spPr>
          <a:xfrm rot="0">
            <a:off x="9418320" y="8155305"/>
            <a:ext cx="7680960" cy="5772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59"/>
              </a:lnSpc>
            </a:pPr>
            <a:r>
              <a:rPr lang="en-US" sz="1299">
                <a:solidFill>
                  <a:srgbClr val="5B6B5F"/>
                </a:solidFill>
                <a:latin typeface="Calibri (MS)"/>
                <a:ea typeface="Calibri (MS)"/>
                <a:cs typeface="Calibri (MS)"/>
                <a:sym typeface="Calibri (MS)"/>
              </a:rPr>
              <a:t>Cada parte foi planejada, feita, testada no celular e entregue antes da próxima (Valente, 2023).</a:t>
            </a:r>
          </a:p>
        </p:txBody>
      </p:sp>
      <p:sp>
        <p:nvSpPr>
          <p:cNvPr name="TextBox 152" id="152"/>
          <p:cNvSpPr txBox="true"/>
          <p:nvPr/>
        </p:nvSpPr>
        <p:spPr>
          <a:xfrm rot="0">
            <a:off x="16459200" y="9471660"/>
            <a:ext cx="914400" cy="3429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400"/>
              </a:lnSpc>
            </a:pPr>
            <a:r>
              <a:rPr lang="en-US" sz="2000">
                <a:solidFill>
                  <a:srgbClr val="5B6B5F"/>
                </a:solidFill>
                <a:latin typeface="Calibri (MS)"/>
                <a:ea typeface="Calibri (MS)"/>
                <a:cs typeface="Calibri (MS)"/>
                <a:sym typeface="Calibri (MS)"/>
              </a:rPr>
              <a:t>8</a:t>
            </a:r>
          </a:p>
        </p:txBody>
      </p:sp>
      <p:sp>
        <p:nvSpPr>
          <p:cNvPr name="TextBox 153" id="153"/>
          <p:cNvSpPr txBox="true"/>
          <p:nvPr/>
        </p:nvSpPr>
        <p:spPr>
          <a:xfrm rot="0">
            <a:off x="914400" y="207264"/>
            <a:ext cx="6858000" cy="3429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00"/>
              </a:lnSpc>
            </a:pPr>
            <a:r>
              <a:rPr lang="en-US" b="true" sz="2000" spc="400">
                <a:solidFill>
                  <a:srgbClr val="B1734A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02  MÉTODO E PESQUISA</a:t>
            </a:r>
          </a:p>
        </p:txBody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914400" y="914400"/>
            <a:ext cx="16459200" cy="1097280"/>
            <a:chOff x="0" y="0"/>
            <a:chExt cx="21945600" cy="146304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1945600" cy="1463040"/>
            </a:xfrm>
            <a:custGeom>
              <a:avLst/>
              <a:gdLst/>
              <a:ahLst/>
              <a:cxnLst/>
              <a:rect r="r" b="b" t="t" l="l"/>
              <a:pathLst>
                <a:path h="146304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463040"/>
                  </a:lnTo>
                  <a:lnTo>
                    <a:pt x="0" y="14630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242072" r="0" b="-242072"/>
              </a:stretch>
            </a:blipFill>
          </p:spPr>
        </p:sp>
      </p:grpSp>
      <p:grpSp>
        <p:nvGrpSpPr>
          <p:cNvPr name="Group 4" id="4"/>
          <p:cNvGrpSpPr/>
          <p:nvPr/>
        </p:nvGrpSpPr>
        <p:grpSpPr>
          <a:xfrm rot="0">
            <a:off x="914400" y="907256"/>
            <a:ext cx="16459200" cy="1104424"/>
            <a:chOff x="0" y="0"/>
            <a:chExt cx="21945600" cy="1472565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1945600" cy="1472565"/>
            </a:xfrm>
            <a:custGeom>
              <a:avLst/>
              <a:gdLst/>
              <a:ahLst/>
              <a:cxnLst/>
              <a:rect r="r" b="b" t="t" l="l"/>
              <a:pathLst>
                <a:path h="1472565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472565"/>
                  </a:lnTo>
                  <a:lnTo>
                    <a:pt x="0" y="1472565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40182" r="0" b="-240183"/>
              </a:stretch>
            </a:blipFill>
          </p:spPr>
        </p:sp>
      </p:grpSp>
      <p:grpSp>
        <p:nvGrpSpPr>
          <p:cNvPr name="Group 6" id="6"/>
          <p:cNvGrpSpPr/>
          <p:nvPr/>
        </p:nvGrpSpPr>
        <p:grpSpPr>
          <a:xfrm rot="0">
            <a:off x="914400" y="900112"/>
            <a:ext cx="16459200" cy="1111568"/>
            <a:chOff x="0" y="0"/>
            <a:chExt cx="21945600" cy="148209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1945600" cy="1482090"/>
            </a:xfrm>
            <a:custGeom>
              <a:avLst/>
              <a:gdLst/>
              <a:ahLst/>
              <a:cxnLst/>
              <a:rect r="r" b="b" t="t" l="l"/>
              <a:pathLst>
                <a:path h="148209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482090"/>
                  </a:lnTo>
                  <a:lnTo>
                    <a:pt x="0" y="148209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38317" r="0" b="-238318"/>
              </a:stretch>
            </a:blipFill>
          </p:spPr>
        </p:sp>
      </p:grpSp>
      <p:grpSp>
        <p:nvGrpSpPr>
          <p:cNvPr name="Group 8" id="8"/>
          <p:cNvGrpSpPr/>
          <p:nvPr/>
        </p:nvGrpSpPr>
        <p:grpSpPr>
          <a:xfrm rot="0">
            <a:off x="914400" y="892969"/>
            <a:ext cx="16459200" cy="1118711"/>
            <a:chOff x="0" y="0"/>
            <a:chExt cx="21945600" cy="1491615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1945600" cy="1491615"/>
            </a:xfrm>
            <a:custGeom>
              <a:avLst/>
              <a:gdLst/>
              <a:ahLst/>
              <a:cxnLst/>
              <a:rect r="r" b="b" t="t" l="l"/>
              <a:pathLst>
                <a:path h="1491615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491615"/>
                  </a:lnTo>
                  <a:lnTo>
                    <a:pt x="0" y="1491615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236476" r="0" b="-236477"/>
              </a:stretch>
            </a:blipFill>
          </p:spPr>
        </p:sp>
      </p:grpSp>
      <p:grpSp>
        <p:nvGrpSpPr>
          <p:cNvPr name="Group 10" id="10"/>
          <p:cNvGrpSpPr/>
          <p:nvPr/>
        </p:nvGrpSpPr>
        <p:grpSpPr>
          <a:xfrm rot="0">
            <a:off x="914400" y="885825"/>
            <a:ext cx="16459200" cy="1125855"/>
            <a:chOff x="0" y="0"/>
            <a:chExt cx="21945600" cy="150114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21945600" cy="1501140"/>
            </a:xfrm>
            <a:custGeom>
              <a:avLst/>
              <a:gdLst/>
              <a:ahLst/>
              <a:cxnLst/>
              <a:rect r="r" b="b" t="t" l="l"/>
              <a:pathLst>
                <a:path h="150114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501140"/>
                  </a:lnTo>
                  <a:lnTo>
                    <a:pt x="0" y="1501140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l="0" t="-234659" r="0" b="-234659"/>
              </a:stretch>
            </a:blipFill>
          </p:spPr>
        </p:sp>
      </p:grpSp>
      <p:grpSp>
        <p:nvGrpSpPr>
          <p:cNvPr name="Group 12" id="12"/>
          <p:cNvGrpSpPr/>
          <p:nvPr/>
        </p:nvGrpSpPr>
        <p:grpSpPr>
          <a:xfrm rot="0">
            <a:off x="914400" y="878681"/>
            <a:ext cx="16459200" cy="1132999"/>
            <a:chOff x="0" y="0"/>
            <a:chExt cx="21945600" cy="1510665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21945600" cy="1510665"/>
            </a:xfrm>
            <a:custGeom>
              <a:avLst/>
              <a:gdLst/>
              <a:ahLst/>
              <a:cxnLst/>
              <a:rect r="r" b="b" t="t" l="l"/>
              <a:pathLst>
                <a:path h="1510665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510665"/>
                  </a:lnTo>
                  <a:lnTo>
                    <a:pt x="0" y="1510665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0" t="-232864" r="0" b="-232865"/>
              </a:stretch>
            </a:blipFill>
          </p:spPr>
        </p:sp>
      </p:grpSp>
      <p:grpSp>
        <p:nvGrpSpPr>
          <p:cNvPr name="Group 14" id="14"/>
          <p:cNvGrpSpPr/>
          <p:nvPr/>
        </p:nvGrpSpPr>
        <p:grpSpPr>
          <a:xfrm rot="0">
            <a:off x="914400" y="871538"/>
            <a:ext cx="16459200" cy="1140142"/>
            <a:chOff x="0" y="0"/>
            <a:chExt cx="21945600" cy="152019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21945600" cy="1520190"/>
            </a:xfrm>
            <a:custGeom>
              <a:avLst/>
              <a:gdLst/>
              <a:ahLst/>
              <a:cxnLst/>
              <a:rect r="r" b="b" t="t" l="l"/>
              <a:pathLst>
                <a:path h="152019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520190"/>
                  </a:lnTo>
                  <a:lnTo>
                    <a:pt x="0" y="1520190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0" t="-231091" r="0" b="-231092"/>
              </a:stretch>
            </a:blipFill>
          </p:spPr>
        </p:sp>
      </p:grpSp>
      <p:grpSp>
        <p:nvGrpSpPr>
          <p:cNvPr name="Group 16" id="16"/>
          <p:cNvGrpSpPr/>
          <p:nvPr/>
        </p:nvGrpSpPr>
        <p:grpSpPr>
          <a:xfrm rot="0">
            <a:off x="914400" y="864394"/>
            <a:ext cx="16459200" cy="1147286"/>
            <a:chOff x="0" y="0"/>
            <a:chExt cx="21945600" cy="1529715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21945600" cy="1529714"/>
            </a:xfrm>
            <a:custGeom>
              <a:avLst/>
              <a:gdLst/>
              <a:ahLst/>
              <a:cxnLst/>
              <a:rect r="r" b="b" t="t" l="l"/>
              <a:pathLst>
                <a:path h="1529714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529714"/>
                  </a:lnTo>
                  <a:lnTo>
                    <a:pt x="0" y="1529714"/>
                  </a:lnTo>
                  <a:close/>
                </a:path>
              </a:pathLst>
            </a:custGeom>
            <a:blipFill>
              <a:blip r:embed="rId9">
                <a:alphaModFix amt="0"/>
              </a:blip>
              <a:stretch>
                <a:fillRect l="0" t="-229536" r="0" b="-229536"/>
              </a:stretch>
            </a:blipFill>
          </p:spPr>
        </p:sp>
        <p:sp>
          <p:nvSpPr>
            <p:cNvPr name="TextBox 18" id="18"/>
            <p:cNvSpPr txBox="true"/>
            <p:nvPr/>
          </p:nvSpPr>
          <p:spPr>
            <a:xfrm>
              <a:off x="0" y="-9525"/>
              <a:ext cx="21945600" cy="15392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6239"/>
                </a:lnSpc>
              </a:pPr>
              <a:r>
                <a:rPr lang="en-US" sz="5198" b="true">
                  <a:solidFill>
                    <a:srgbClr val="2E5634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48 participantes descreveram o problema</a:t>
              </a:r>
            </a:p>
          </p:txBody>
        </p:sp>
      </p:grpSp>
      <p:grpSp>
        <p:nvGrpSpPr>
          <p:cNvPr name="Group 19" id="19"/>
          <p:cNvGrpSpPr/>
          <p:nvPr/>
        </p:nvGrpSpPr>
        <p:grpSpPr>
          <a:xfrm rot="0">
            <a:off x="11887200" y="2194560"/>
            <a:ext cx="2743200" cy="1463040"/>
            <a:chOff x="0" y="0"/>
            <a:chExt cx="3657600" cy="1950720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3657600" cy="1950720"/>
            </a:xfrm>
            <a:custGeom>
              <a:avLst/>
              <a:gdLst/>
              <a:ahLst/>
              <a:cxnLst/>
              <a:rect r="r" b="b" t="t" l="l"/>
              <a:pathLst>
                <a:path h="1950720" w="3657600">
                  <a:moveTo>
                    <a:pt x="0" y="0"/>
                  </a:moveTo>
                  <a:lnTo>
                    <a:pt x="3657600" y="0"/>
                  </a:lnTo>
                  <a:lnTo>
                    <a:pt x="3657600" y="1950720"/>
                  </a:lnTo>
                  <a:lnTo>
                    <a:pt x="0" y="195072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18476" t="0" r="-18476" b="0"/>
              </a:stretch>
            </a:blipFill>
          </p:spPr>
        </p:sp>
      </p:grpSp>
      <p:grpSp>
        <p:nvGrpSpPr>
          <p:cNvPr name="Group 21" id="21"/>
          <p:cNvGrpSpPr/>
          <p:nvPr/>
        </p:nvGrpSpPr>
        <p:grpSpPr>
          <a:xfrm rot="0">
            <a:off x="11887200" y="2187416"/>
            <a:ext cx="2743200" cy="1470184"/>
            <a:chOff x="0" y="0"/>
            <a:chExt cx="3657600" cy="1960245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3657600" cy="1960245"/>
            </a:xfrm>
            <a:custGeom>
              <a:avLst/>
              <a:gdLst/>
              <a:ahLst/>
              <a:cxnLst/>
              <a:rect r="r" b="b" t="t" l="l"/>
              <a:pathLst>
                <a:path h="1960245" w="3657600">
                  <a:moveTo>
                    <a:pt x="0" y="0"/>
                  </a:moveTo>
                  <a:lnTo>
                    <a:pt x="3657600" y="0"/>
                  </a:lnTo>
                  <a:lnTo>
                    <a:pt x="3657600" y="1960245"/>
                  </a:lnTo>
                  <a:lnTo>
                    <a:pt x="0" y="1960245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18810" t="0" r="-18810" b="0"/>
              </a:stretch>
            </a:blipFill>
          </p:spPr>
        </p:sp>
      </p:grpSp>
      <p:grpSp>
        <p:nvGrpSpPr>
          <p:cNvPr name="Group 23" id="23"/>
          <p:cNvGrpSpPr/>
          <p:nvPr/>
        </p:nvGrpSpPr>
        <p:grpSpPr>
          <a:xfrm rot="0">
            <a:off x="11887200" y="2180272"/>
            <a:ext cx="2743200" cy="1477327"/>
            <a:chOff x="0" y="0"/>
            <a:chExt cx="3657600" cy="1969770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3657600" cy="1969770"/>
            </a:xfrm>
            <a:custGeom>
              <a:avLst/>
              <a:gdLst/>
              <a:ahLst/>
              <a:cxnLst/>
              <a:rect r="r" b="b" t="t" l="l"/>
              <a:pathLst>
                <a:path h="1969770" w="3657600">
                  <a:moveTo>
                    <a:pt x="0" y="0"/>
                  </a:moveTo>
                  <a:lnTo>
                    <a:pt x="3657600" y="0"/>
                  </a:lnTo>
                  <a:lnTo>
                    <a:pt x="3657600" y="1969770"/>
                  </a:lnTo>
                  <a:lnTo>
                    <a:pt x="0" y="196977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19144" t="0" r="-19145" b="0"/>
              </a:stretch>
            </a:blipFill>
          </p:spPr>
        </p:sp>
      </p:grpSp>
      <p:grpSp>
        <p:nvGrpSpPr>
          <p:cNvPr name="Group 25" id="25"/>
          <p:cNvGrpSpPr/>
          <p:nvPr/>
        </p:nvGrpSpPr>
        <p:grpSpPr>
          <a:xfrm rot="0">
            <a:off x="11887200" y="2173129"/>
            <a:ext cx="2743200" cy="1484471"/>
            <a:chOff x="0" y="0"/>
            <a:chExt cx="3657600" cy="1979295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3657600" cy="1979295"/>
            </a:xfrm>
            <a:custGeom>
              <a:avLst/>
              <a:gdLst/>
              <a:ahLst/>
              <a:cxnLst/>
              <a:rect r="r" b="b" t="t" l="l"/>
              <a:pathLst>
                <a:path h="1979295" w="3657600">
                  <a:moveTo>
                    <a:pt x="0" y="0"/>
                  </a:moveTo>
                  <a:lnTo>
                    <a:pt x="3657600" y="0"/>
                  </a:lnTo>
                  <a:lnTo>
                    <a:pt x="3657600" y="1979295"/>
                  </a:lnTo>
                  <a:lnTo>
                    <a:pt x="0" y="1979295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-19479" t="0" r="-19479" b="0"/>
              </a:stretch>
            </a:blipFill>
          </p:spPr>
        </p:sp>
      </p:grpSp>
      <p:grpSp>
        <p:nvGrpSpPr>
          <p:cNvPr name="Group 27" id="27"/>
          <p:cNvGrpSpPr/>
          <p:nvPr/>
        </p:nvGrpSpPr>
        <p:grpSpPr>
          <a:xfrm rot="0">
            <a:off x="11887200" y="2165985"/>
            <a:ext cx="2743200" cy="1491615"/>
            <a:chOff x="0" y="0"/>
            <a:chExt cx="3657600" cy="1988820"/>
          </a:xfrm>
        </p:grpSpPr>
        <p:sp>
          <p:nvSpPr>
            <p:cNvPr name="Freeform 28" id="28"/>
            <p:cNvSpPr/>
            <p:nvPr/>
          </p:nvSpPr>
          <p:spPr>
            <a:xfrm flipH="false" flipV="false" rot="0">
              <a:off x="0" y="0"/>
              <a:ext cx="3657600" cy="1988820"/>
            </a:xfrm>
            <a:custGeom>
              <a:avLst/>
              <a:gdLst/>
              <a:ahLst/>
              <a:cxnLst/>
              <a:rect r="r" b="b" t="t" l="l"/>
              <a:pathLst>
                <a:path h="1988820" w="3657600">
                  <a:moveTo>
                    <a:pt x="0" y="0"/>
                  </a:moveTo>
                  <a:lnTo>
                    <a:pt x="3657600" y="0"/>
                  </a:lnTo>
                  <a:lnTo>
                    <a:pt x="3657600" y="1988820"/>
                  </a:lnTo>
                  <a:lnTo>
                    <a:pt x="0" y="1988820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l="-19813" t="0" r="-19813" b="0"/>
              </a:stretch>
            </a:blipFill>
          </p:spPr>
        </p:sp>
      </p:grpSp>
      <p:grpSp>
        <p:nvGrpSpPr>
          <p:cNvPr name="Group 29" id="29"/>
          <p:cNvGrpSpPr/>
          <p:nvPr/>
        </p:nvGrpSpPr>
        <p:grpSpPr>
          <a:xfrm rot="0">
            <a:off x="11887200" y="2158841"/>
            <a:ext cx="2743200" cy="1498759"/>
            <a:chOff x="0" y="0"/>
            <a:chExt cx="3657600" cy="1998345"/>
          </a:xfrm>
        </p:grpSpPr>
        <p:sp>
          <p:nvSpPr>
            <p:cNvPr name="Freeform 30" id="30"/>
            <p:cNvSpPr/>
            <p:nvPr/>
          </p:nvSpPr>
          <p:spPr>
            <a:xfrm flipH="false" flipV="false" rot="0">
              <a:off x="0" y="0"/>
              <a:ext cx="3657600" cy="1998345"/>
            </a:xfrm>
            <a:custGeom>
              <a:avLst/>
              <a:gdLst/>
              <a:ahLst/>
              <a:cxnLst/>
              <a:rect r="r" b="b" t="t" l="l"/>
              <a:pathLst>
                <a:path h="1998345" w="3657600">
                  <a:moveTo>
                    <a:pt x="0" y="0"/>
                  </a:moveTo>
                  <a:lnTo>
                    <a:pt x="3657600" y="0"/>
                  </a:lnTo>
                  <a:lnTo>
                    <a:pt x="3657600" y="1998345"/>
                  </a:lnTo>
                  <a:lnTo>
                    <a:pt x="0" y="1998345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-20147" t="0" r="-20147" b="0"/>
              </a:stretch>
            </a:blipFill>
          </p:spPr>
        </p:sp>
      </p:grpSp>
      <p:grpSp>
        <p:nvGrpSpPr>
          <p:cNvPr name="Group 31" id="31"/>
          <p:cNvGrpSpPr/>
          <p:nvPr/>
        </p:nvGrpSpPr>
        <p:grpSpPr>
          <a:xfrm rot="0">
            <a:off x="11887200" y="2151698"/>
            <a:ext cx="2743200" cy="1505902"/>
            <a:chOff x="0" y="0"/>
            <a:chExt cx="3657600" cy="2007870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0" y="0"/>
              <a:ext cx="3657600" cy="2007870"/>
            </a:xfrm>
            <a:custGeom>
              <a:avLst/>
              <a:gdLst/>
              <a:ahLst/>
              <a:cxnLst/>
              <a:rect r="r" b="b" t="t" l="l"/>
              <a:pathLst>
                <a:path h="2007870" w="3657600">
                  <a:moveTo>
                    <a:pt x="0" y="0"/>
                  </a:moveTo>
                  <a:lnTo>
                    <a:pt x="3657600" y="0"/>
                  </a:lnTo>
                  <a:lnTo>
                    <a:pt x="3657600" y="2007870"/>
                  </a:lnTo>
                  <a:lnTo>
                    <a:pt x="0" y="2007870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-20482" t="0" r="-20482" b="0"/>
              </a:stretch>
            </a:blipFill>
          </p:spPr>
        </p:sp>
      </p:grpSp>
      <p:grpSp>
        <p:nvGrpSpPr>
          <p:cNvPr name="Group 33" id="33"/>
          <p:cNvGrpSpPr/>
          <p:nvPr/>
        </p:nvGrpSpPr>
        <p:grpSpPr>
          <a:xfrm rot="0">
            <a:off x="11887200" y="2144554"/>
            <a:ext cx="2743200" cy="1513046"/>
            <a:chOff x="0" y="0"/>
            <a:chExt cx="3657600" cy="2017395"/>
          </a:xfrm>
        </p:grpSpPr>
        <p:sp>
          <p:nvSpPr>
            <p:cNvPr name="Freeform 34" id="34"/>
            <p:cNvSpPr/>
            <p:nvPr/>
          </p:nvSpPr>
          <p:spPr>
            <a:xfrm flipH="false" flipV="false" rot="0">
              <a:off x="0" y="0"/>
              <a:ext cx="3657600" cy="2017394"/>
            </a:xfrm>
            <a:custGeom>
              <a:avLst/>
              <a:gdLst/>
              <a:ahLst/>
              <a:cxnLst/>
              <a:rect r="r" b="b" t="t" l="l"/>
              <a:pathLst>
                <a:path h="2017394" w="3657600">
                  <a:moveTo>
                    <a:pt x="0" y="0"/>
                  </a:moveTo>
                  <a:lnTo>
                    <a:pt x="3657600" y="0"/>
                  </a:lnTo>
                  <a:lnTo>
                    <a:pt x="3657600" y="2017394"/>
                  </a:lnTo>
                  <a:lnTo>
                    <a:pt x="0" y="2017394"/>
                  </a:lnTo>
                  <a:close/>
                </a:path>
              </a:pathLst>
            </a:custGeom>
            <a:blipFill>
              <a:blip r:embed="rId9">
                <a:alphaModFix amt="0"/>
              </a:blip>
              <a:stretch>
                <a:fillRect l="-20767" t="0" r="-20767" b="0"/>
              </a:stretch>
            </a:blipFill>
          </p:spPr>
        </p:sp>
        <p:sp>
          <p:nvSpPr>
            <p:cNvPr name="TextBox 35" id="35"/>
            <p:cNvSpPr txBox="true"/>
            <p:nvPr/>
          </p:nvSpPr>
          <p:spPr>
            <a:xfrm>
              <a:off x="0" y="-9525"/>
              <a:ext cx="3657600" cy="202692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9600"/>
                </a:lnSpc>
              </a:pPr>
              <a:r>
                <a:rPr lang="en-US" sz="8000" b="true">
                  <a:solidFill>
                    <a:srgbClr val="2E5634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48</a:t>
              </a:r>
            </a:p>
          </p:txBody>
        </p:sp>
      </p:grpSp>
      <p:sp>
        <p:nvSpPr>
          <p:cNvPr name="TextBox 36" id="36"/>
          <p:cNvSpPr txBox="true"/>
          <p:nvPr/>
        </p:nvSpPr>
        <p:spPr>
          <a:xfrm rot="0">
            <a:off x="14630400" y="1996440"/>
            <a:ext cx="2743200" cy="12039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98"/>
              </a:lnSpc>
            </a:pPr>
            <a:r>
              <a:rPr lang="en-US" sz="2499" b="true">
                <a:solidFill>
                  <a:srgbClr val="1B2A1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respondentes</a:t>
            </a:r>
          </a:p>
        </p:txBody>
      </p:sp>
      <p:sp>
        <p:nvSpPr>
          <p:cNvPr name="TextBox 37" id="37"/>
          <p:cNvSpPr txBox="true"/>
          <p:nvPr/>
        </p:nvSpPr>
        <p:spPr>
          <a:xfrm rot="0">
            <a:off x="14630400" y="2819400"/>
            <a:ext cx="2743200" cy="12954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2100">
                <a:solidFill>
                  <a:srgbClr val="5B6B5F"/>
                </a:solidFill>
                <a:latin typeface="Calibri (MS)"/>
                <a:ea typeface="Calibri (MS)"/>
                <a:cs typeface="Calibri (MS)"/>
                <a:sym typeface="Calibri (MS)"/>
              </a:rPr>
              <a:t>52 questões; consulta em out. de 2026</a:t>
            </a:r>
          </a:p>
        </p:txBody>
      </p:sp>
      <p:sp>
        <p:nvSpPr>
          <p:cNvPr name="AutoShape 38" id="38"/>
          <p:cNvSpPr/>
          <p:nvPr/>
        </p:nvSpPr>
        <p:spPr>
          <a:xfrm rot="5880">
            <a:off x="11844318" y="4168140"/>
            <a:ext cx="5572220" cy="0"/>
          </a:xfrm>
          <a:prstGeom prst="line">
            <a:avLst/>
          </a:prstGeom>
          <a:ln cap="rnd" w="9525">
            <a:solidFill>
              <a:srgbClr val="C9D4C6"/>
            </a:solidFill>
            <a:prstDash val="solid"/>
            <a:headEnd type="none" len="sm" w="sm"/>
            <a:tailEnd type="none" len="sm" w="sm"/>
          </a:ln>
        </p:spPr>
        <p:txBody>
          <a:bodyPr/>
          <a:p/>
        </p:txBody>
      </p:sp>
      <p:grpSp>
        <p:nvGrpSpPr>
          <p:cNvPr name="Group 39" id="39"/>
          <p:cNvGrpSpPr/>
          <p:nvPr/>
        </p:nvGrpSpPr>
        <p:grpSpPr>
          <a:xfrm rot="0">
            <a:off x="11887200" y="4389120"/>
            <a:ext cx="2743200" cy="1463040"/>
            <a:chOff x="0" y="0"/>
            <a:chExt cx="3657600" cy="1950720"/>
          </a:xfrm>
        </p:grpSpPr>
        <p:sp>
          <p:nvSpPr>
            <p:cNvPr name="Freeform 40" id="40"/>
            <p:cNvSpPr/>
            <p:nvPr/>
          </p:nvSpPr>
          <p:spPr>
            <a:xfrm flipH="false" flipV="false" rot="0">
              <a:off x="0" y="0"/>
              <a:ext cx="3657600" cy="1950720"/>
            </a:xfrm>
            <a:custGeom>
              <a:avLst/>
              <a:gdLst/>
              <a:ahLst/>
              <a:cxnLst/>
              <a:rect r="r" b="b" t="t" l="l"/>
              <a:pathLst>
                <a:path h="1950720" w="3657600">
                  <a:moveTo>
                    <a:pt x="0" y="0"/>
                  </a:moveTo>
                  <a:lnTo>
                    <a:pt x="3657600" y="0"/>
                  </a:lnTo>
                  <a:lnTo>
                    <a:pt x="3657600" y="1950720"/>
                  </a:lnTo>
                  <a:lnTo>
                    <a:pt x="0" y="195072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18476" t="0" r="-18476" b="0"/>
              </a:stretch>
            </a:blipFill>
          </p:spPr>
        </p:sp>
      </p:grpSp>
      <p:grpSp>
        <p:nvGrpSpPr>
          <p:cNvPr name="Group 41" id="41"/>
          <p:cNvGrpSpPr/>
          <p:nvPr/>
        </p:nvGrpSpPr>
        <p:grpSpPr>
          <a:xfrm rot="0">
            <a:off x="11887200" y="4381976"/>
            <a:ext cx="2743200" cy="1470184"/>
            <a:chOff x="0" y="0"/>
            <a:chExt cx="3657600" cy="1960245"/>
          </a:xfrm>
        </p:grpSpPr>
        <p:sp>
          <p:nvSpPr>
            <p:cNvPr name="Freeform 42" id="42"/>
            <p:cNvSpPr/>
            <p:nvPr/>
          </p:nvSpPr>
          <p:spPr>
            <a:xfrm flipH="false" flipV="false" rot="0">
              <a:off x="0" y="0"/>
              <a:ext cx="3657600" cy="1960245"/>
            </a:xfrm>
            <a:custGeom>
              <a:avLst/>
              <a:gdLst/>
              <a:ahLst/>
              <a:cxnLst/>
              <a:rect r="r" b="b" t="t" l="l"/>
              <a:pathLst>
                <a:path h="1960245" w="3657600">
                  <a:moveTo>
                    <a:pt x="0" y="0"/>
                  </a:moveTo>
                  <a:lnTo>
                    <a:pt x="3657600" y="0"/>
                  </a:lnTo>
                  <a:lnTo>
                    <a:pt x="3657600" y="1960245"/>
                  </a:lnTo>
                  <a:lnTo>
                    <a:pt x="0" y="1960245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18810" t="0" r="-18810" b="0"/>
              </a:stretch>
            </a:blipFill>
          </p:spPr>
        </p:sp>
      </p:grpSp>
      <p:grpSp>
        <p:nvGrpSpPr>
          <p:cNvPr name="Group 43" id="43"/>
          <p:cNvGrpSpPr/>
          <p:nvPr/>
        </p:nvGrpSpPr>
        <p:grpSpPr>
          <a:xfrm rot="0">
            <a:off x="11887200" y="4374832"/>
            <a:ext cx="2743200" cy="1477327"/>
            <a:chOff x="0" y="0"/>
            <a:chExt cx="3657600" cy="1969770"/>
          </a:xfrm>
        </p:grpSpPr>
        <p:sp>
          <p:nvSpPr>
            <p:cNvPr name="Freeform 44" id="44"/>
            <p:cNvSpPr/>
            <p:nvPr/>
          </p:nvSpPr>
          <p:spPr>
            <a:xfrm flipH="false" flipV="false" rot="0">
              <a:off x="0" y="0"/>
              <a:ext cx="3657600" cy="1969770"/>
            </a:xfrm>
            <a:custGeom>
              <a:avLst/>
              <a:gdLst/>
              <a:ahLst/>
              <a:cxnLst/>
              <a:rect r="r" b="b" t="t" l="l"/>
              <a:pathLst>
                <a:path h="1969770" w="3657600">
                  <a:moveTo>
                    <a:pt x="0" y="0"/>
                  </a:moveTo>
                  <a:lnTo>
                    <a:pt x="3657600" y="0"/>
                  </a:lnTo>
                  <a:lnTo>
                    <a:pt x="3657600" y="1969770"/>
                  </a:lnTo>
                  <a:lnTo>
                    <a:pt x="0" y="196977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19144" t="0" r="-19145" b="0"/>
              </a:stretch>
            </a:blipFill>
          </p:spPr>
        </p:sp>
      </p:grpSp>
      <p:grpSp>
        <p:nvGrpSpPr>
          <p:cNvPr name="Group 45" id="45"/>
          <p:cNvGrpSpPr/>
          <p:nvPr/>
        </p:nvGrpSpPr>
        <p:grpSpPr>
          <a:xfrm rot="0">
            <a:off x="11887200" y="4367689"/>
            <a:ext cx="2743200" cy="1484471"/>
            <a:chOff x="0" y="0"/>
            <a:chExt cx="3657600" cy="1979295"/>
          </a:xfrm>
        </p:grpSpPr>
        <p:sp>
          <p:nvSpPr>
            <p:cNvPr name="Freeform 46" id="46"/>
            <p:cNvSpPr/>
            <p:nvPr/>
          </p:nvSpPr>
          <p:spPr>
            <a:xfrm flipH="false" flipV="false" rot="0">
              <a:off x="0" y="0"/>
              <a:ext cx="3657600" cy="1979295"/>
            </a:xfrm>
            <a:custGeom>
              <a:avLst/>
              <a:gdLst/>
              <a:ahLst/>
              <a:cxnLst/>
              <a:rect r="r" b="b" t="t" l="l"/>
              <a:pathLst>
                <a:path h="1979295" w="3657600">
                  <a:moveTo>
                    <a:pt x="0" y="0"/>
                  </a:moveTo>
                  <a:lnTo>
                    <a:pt x="3657600" y="0"/>
                  </a:lnTo>
                  <a:lnTo>
                    <a:pt x="3657600" y="1979295"/>
                  </a:lnTo>
                  <a:lnTo>
                    <a:pt x="0" y="1979295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-19479" t="0" r="-19479" b="0"/>
              </a:stretch>
            </a:blipFill>
          </p:spPr>
        </p:sp>
      </p:grpSp>
      <p:grpSp>
        <p:nvGrpSpPr>
          <p:cNvPr name="Group 47" id="47"/>
          <p:cNvGrpSpPr/>
          <p:nvPr/>
        </p:nvGrpSpPr>
        <p:grpSpPr>
          <a:xfrm rot="0">
            <a:off x="11887200" y="4360545"/>
            <a:ext cx="2743200" cy="1491615"/>
            <a:chOff x="0" y="0"/>
            <a:chExt cx="3657600" cy="1988820"/>
          </a:xfrm>
        </p:grpSpPr>
        <p:sp>
          <p:nvSpPr>
            <p:cNvPr name="Freeform 48" id="48"/>
            <p:cNvSpPr/>
            <p:nvPr/>
          </p:nvSpPr>
          <p:spPr>
            <a:xfrm flipH="false" flipV="false" rot="0">
              <a:off x="0" y="0"/>
              <a:ext cx="3657600" cy="1988820"/>
            </a:xfrm>
            <a:custGeom>
              <a:avLst/>
              <a:gdLst/>
              <a:ahLst/>
              <a:cxnLst/>
              <a:rect r="r" b="b" t="t" l="l"/>
              <a:pathLst>
                <a:path h="1988820" w="3657600">
                  <a:moveTo>
                    <a:pt x="0" y="0"/>
                  </a:moveTo>
                  <a:lnTo>
                    <a:pt x="3657600" y="0"/>
                  </a:lnTo>
                  <a:lnTo>
                    <a:pt x="3657600" y="1988820"/>
                  </a:lnTo>
                  <a:lnTo>
                    <a:pt x="0" y="1988820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l="-19813" t="0" r="-19813" b="0"/>
              </a:stretch>
            </a:blipFill>
          </p:spPr>
        </p:sp>
      </p:grpSp>
      <p:grpSp>
        <p:nvGrpSpPr>
          <p:cNvPr name="Group 49" id="49"/>
          <p:cNvGrpSpPr/>
          <p:nvPr/>
        </p:nvGrpSpPr>
        <p:grpSpPr>
          <a:xfrm rot="0">
            <a:off x="11887200" y="4353401"/>
            <a:ext cx="2743200" cy="1498759"/>
            <a:chOff x="0" y="0"/>
            <a:chExt cx="3657600" cy="1998345"/>
          </a:xfrm>
        </p:grpSpPr>
        <p:sp>
          <p:nvSpPr>
            <p:cNvPr name="Freeform 50" id="50"/>
            <p:cNvSpPr/>
            <p:nvPr/>
          </p:nvSpPr>
          <p:spPr>
            <a:xfrm flipH="false" flipV="false" rot="0">
              <a:off x="0" y="0"/>
              <a:ext cx="3657600" cy="1998345"/>
            </a:xfrm>
            <a:custGeom>
              <a:avLst/>
              <a:gdLst/>
              <a:ahLst/>
              <a:cxnLst/>
              <a:rect r="r" b="b" t="t" l="l"/>
              <a:pathLst>
                <a:path h="1998345" w="3657600">
                  <a:moveTo>
                    <a:pt x="0" y="0"/>
                  </a:moveTo>
                  <a:lnTo>
                    <a:pt x="3657600" y="0"/>
                  </a:lnTo>
                  <a:lnTo>
                    <a:pt x="3657600" y="1998345"/>
                  </a:lnTo>
                  <a:lnTo>
                    <a:pt x="0" y="1998345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-20147" t="0" r="-20147" b="0"/>
              </a:stretch>
            </a:blipFill>
          </p:spPr>
        </p:sp>
      </p:grpSp>
      <p:grpSp>
        <p:nvGrpSpPr>
          <p:cNvPr name="Group 51" id="51"/>
          <p:cNvGrpSpPr/>
          <p:nvPr/>
        </p:nvGrpSpPr>
        <p:grpSpPr>
          <a:xfrm rot="0">
            <a:off x="11887200" y="4346258"/>
            <a:ext cx="2743200" cy="1505902"/>
            <a:chOff x="0" y="0"/>
            <a:chExt cx="3657600" cy="2007870"/>
          </a:xfrm>
        </p:grpSpPr>
        <p:sp>
          <p:nvSpPr>
            <p:cNvPr name="Freeform 52" id="52"/>
            <p:cNvSpPr/>
            <p:nvPr/>
          </p:nvSpPr>
          <p:spPr>
            <a:xfrm flipH="false" flipV="false" rot="0">
              <a:off x="0" y="0"/>
              <a:ext cx="3657600" cy="2007870"/>
            </a:xfrm>
            <a:custGeom>
              <a:avLst/>
              <a:gdLst/>
              <a:ahLst/>
              <a:cxnLst/>
              <a:rect r="r" b="b" t="t" l="l"/>
              <a:pathLst>
                <a:path h="2007870" w="3657600">
                  <a:moveTo>
                    <a:pt x="0" y="0"/>
                  </a:moveTo>
                  <a:lnTo>
                    <a:pt x="3657600" y="0"/>
                  </a:lnTo>
                  <a:lnTo>
                    <a:pt x="3657600" y="2007870"/>
                  </a:lnTo>
                  <a:lnTo>
                    <a:pt x="0" y="2007870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-20482" t="0" r="-20482" b="0"/>
              </a:stretch>
            </a:blipFill>
          </p:spPr>
        </p:sp>
      </p:grpSp>
      <p:grpSp>
        <p:nvGrpSpPr>
          <p:cNvPr name="Group 53" id="53"/>
          <p:cNvGrpSpPr/>
          <p:nvPr/>
        </p:nvGrpSpPr>
        <p:grpSpPr>
          <a:xfrm rot="0">
            <a:off x="11887200" y="4339114"/>
            <a:ext cx="2743200" cy="1513046"/>
            <a:chOff x="0" y="0"/>
            <a:chExt cx="3657600" cy="2017395"/>
          </a:xfrm>
        </p:grpSpPr>
        <p:sp>
          <p:nvSpPr>
            <p:cNvPr name="Freeform 54" id="54"/>
            <p:cNvSpPr/>
            <p:nvPr/>
          </p:nvSpPr>
          <p:spPr>
            <a:xfrm flipH="false" flipV="false" rot="0">
              <a:off x="0" y="0"/>
              <a:ext cx="3657600" cy="2017394"/>
            </a:xfrm>
            <a:custGeom>
              <a:avLst/>
              <a:gdLst/>
              <a:ahLst/>
              <a:cxnLst/>
              <a:rect r="r" b="b" t="t" l="l"/>
              <a:pathLst>
                <a:path h="2017394" w="3657600">
                  <a:moveTo>
                    <a:pt x="0" y="0"/>
                  </a:moveTo>
                  <a:lnTo>
                    <a:pt x="3657600" y="0"/>
                  </a:lnTo>
                  <a:lnTo>
                    <a:pt x="3657600" y="2017394"/>
                  </a:lnTo>
                  <a:lnTo>
                    <a:pt x="0" y="2017394"/>
                  </a:lnTo>
                  <a:close/>
                </a:path>
              </a:pathLst>
            </a:custGeom>
            <a:blipFill>
              <a:blip r:embed="rId9">
                <a:alphaModFix amt="0"/>
              </a:blip>
              <a:stretch>
                <a:fillRect l="-20767" t="0" r="-20767" b="0"/>
              </a:stretch>
            </a:blipFill>
          </p:spPr>
        </p:sp>
        <p:sp>
          <p:nvSpPr>
            <p:cNvPr name="TextBox 55" id="55"/>
            <p:cNvSpPr txBox="true"/>
            <p:nvPr/>
          </p:nvSpPr>
          <p:spPr>
            <a:xfrm>
              <a:off x="0" y="-9525"/>
              <a:ext cx="3657600" cy="202692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9600"/>
                </a:lnSpc>
              </a:pPr>
              <a:r>
                <a:rPr lang="en-US" sz="8000" b="true">
                  <a:solidFill>
                    <a:srgbClr val="B1734A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52%</a:t>
              </a:r>
            </a:p>
          </p:txBody>
        </p:sp>
      </p:grpSp>
      <p:sp>
        <p:nvSpPr>
          <p:cNvPr name="TextBox 56" id="56"/>
          <p:cNvSpPr txBox="true"/>
          <p:nvPr/>
        </p:nvSpPr>
        <p:spPr>
          <a:xfrm rot="0">
            <a:off x="14630400" y="4191000"/>
            <a:ext cx="2743200" cy="12039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98"/>
              </a:lnSpc>
            </a:pPr>
            <a:r>
              <a:rPr lang="en-US" sz="2499" b="true">
                <a:solidFill>
                  <a:srgbClr val="1B2A1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já perderam um animal</a:t>
            </a:r>
          </a:p>
        </p:txBody>
      </p:sp>
      <p:sp>
        <p:nvSpPr>
          <p:cNvPr name="TextBox 57" id="57"/>
          <p:cNvSpPr txBox="true"/>
          <p:nvPr/>
        </p:nvSpPr>
        <p:spPr>
          <a:xfrm rot="0">
            <a:off x="14630400" y="5013960"/>
            <a:ext cx="2743200" cy="12954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2100">
                <a:solidFill>
                  <a:srgbClr val="5B6B5F"/>
                </a:solidFill>
                <a:latin typeface="Calibri (MS)"/>
                <a:ea typeface="Calibri (MS)"/>
                <a:cs typeface="Calibri (MS)"/>
                <a:sym typeface="Calibri (MS)"/>
              </a:rPr>
              <a:t>25 de 48 participantes</a:t>
            </a:r>
          </a:p>
        </p:txBody>
      </p:sp>
      <p:sp>
        <p:nvSpPr>
          <p:cNvPr name="AutoShape 58" id="58"/>
          <p:cNvSpPr/>
          <p:nvPr/>
        </p:nvSpPr>
        <p:spPr>
          <a:xfrm rot="5880">
            <a:off x="11844318" y="6362700"/>
            <a:ext cx="5572220" cy="0"/>
          </a:xfrm>
          <a:prstGeom prst="line">
            <a:avLst/>
          </a:prstGeom>
          <a:ln cap="rnd" w="9525">
            <a:solidFill>
              <a:srgbClr val="C9D4C6"/>
            </a:solidFill>
            <a:prstDash val="solid"/>
            <a:headEnd type="none" len="sm" w="sm"/>
            <a:tailEnd type="none" len="sm" w="sm"/>
          </a:ln>
        </p:spPr>
        <p:txBody>
          <a:bodyPr/>
          <a:p/>
        </p:txBody>
      </p:sp>
      <p:grpSp>
        <p:nvGrpSpPr>
          <p:cNvPr name="Group 59" id="59"/>
          <p:cNvGrpSpPr/>
          <p:nvPr/>
        </p:nvGrpSpPr>
        <p:grpSpPr>
          <a:xfrm rot="0">
            <a:off x="11887200" y="6583680"/>
            <a:ext cx="2743200" cy="1463040"/>
            <a:chOff x="0" y="0"/>
            <a:chExt cx="3657600" cy="1950720"/>
          </a:xfrm>
        </p:grpSpPr>
        <p:sp>
          <p:nvSpPr>
            <p:cNvPr name="Freeform 60" id="60"/>
            <p:cNvSpPr/>
            <p:nvPr/>
          </p:nvSpPr>
          <p:spPr>
            <a:xfrm flipH="false" flipV="false" rot="0">
              <a:off x="0" y="0"/>
              <a:ext cx="3657600" cy="1950720"/>
            </a:xfrm>
            <a:custGeom>
              <a:avLst/>
              <a:gdLst/>
              <a:ahLst/>
              <a:cxnLst/>
              <a:rect r="r" b="b" t="t" l="l"/>
              <a:pathLst>
                <a:path h="1950720" w="3657600">
                  <a:moveTo>
                    <a:pt x="0" y="0"/>
                  </a:moveTo>
                  <a:lnTo>
                    <a:pt x="3657600" y="0"/>
                  </a:lnTo>
                  <a:lnTo>
                    <a:pt x="3657600" y="1950720"/>
                  </a:lnTo>
                  <a:lnTo>
                    <a:pt x="0" y="195072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18476" t="0" r="-18476" b="0"/>
              </a:stretch>
            </a:blipFill>
          </p:spPr>
        </p:sp>
      </p:grpSp>
      <p:grpSp>
        <p:nvGrpSpPr>
          <p:cNvPr name="Group 61" id="61"/>
          <p:cNvGrpSpPr/>
          <p:nvPr/>
        </p:nvGrpSpPr>
        <p:grpSpPr>
          <a:xfrm rot="0">
            <a:off x="11887200" y="6576536"/>
            <a:ext cx="2743200" cy="1470184"/>
            <a:chOff x="0" y="0"/>
            <a:chExt cx="3657600" cy="1960245"/>
          </a:xfrm>
        </p:grpSpPr>
        <p:sp>
          <p:nvSpPr>
            <p:cNvPr name="Freeform 62" id="62"/>
            <p:cNvSpPr/>
            <p:nvPr/>
          </p:nvSpPr>
          <p:spPr>
            <a:xfrm flipH="false" flipV="false" rot="0">
              <a:off x="0" y="0"/>
              <a:ext cx="3657600" cy="1960245"/>
            </a:xfrm>
            <a:custGeom>
              <a:avLst/>
              <a:gdLst/>
              <a:ahLst/>
              <a:cxnLst/>
              <a:rect r="r" b="b" t="t" l="l"/>
              <a:pathLst>
                <a:path h="1960245" w="3657600">
                  <a:moveTo>
                    <a:pt x="0" y="0"/>
                  </a:moveTo>
                  <a:lnTo>
                    <a:pt x="3657600" y="0"/>
                  </a:lnTo>
                  <a:lnTo>
                    <a:pt x="3657600" y="1960245"/>
                  </a:lnTo>
                  <a:lnTo>
                    <a:pt x="0" y="1960245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18810" t="0" r="-18810" b="0"/>
              </a:stretch>
            </a:blipFill>
          </p:spPr>
        </p:sp>
      </p:grpSp>
      <p:grpSp>
        <p:nvGrpSpPr>
          <p:cNvPr name="Group 63" id="63"/>
          <p:cNvGrpSpPr/>
          <p:nvPr/>
        </p:nvGrpSpPr>
        <p:grpSpPr>
          <a:xfrm rot="0">
            <a:off x="11887200" y="6569393"/>
            <a:ext cx="2743200" cy="1477327"/>
            <a:chOff x="0" y="0"/>
            <a:chExt cx="3657600" cy="1969770"/>
          </a:xfrm>
        </p:grpSpPr>
        <p:sp>
          <p:nvSpPr>
            <p:cNvPr name="Freeform 64" id="64"/>
            <p:cNvSpPr/>
            <p:nvPr/>
          </p:nvSpPr>
          <p:spPr>
            <a:xfrm flipH="false" flipV="false" rot="0">
              <a:off x="0" y="0"/>
              <a:ext cx="3657600" cy="1969770"/>
            </a:xfrm>
            <a:custGeom>
              <a:avLst/>
              <a:gdLst/>
              <a:ahLst/>
              <a:cxnLst/>
              <a:rect r="r" b="b" t="t" l="l"/>
              <a:pathLst>
                <a:path h="1969770" w="3657600">
                  <a:moveTo>
                    <a:pt x="0" y="0"/>
                  </a:moveTo>
                  <a:lnTo>
                    <a:pt x="3657600" y="0"/>
                  </a:lnTo>
                  <a:lnTo>
                    <a:pt x="3657600" y="1969770"/>
                  </a:lnTo>
                  <a:lnTo>
                    <a:pt x="0" y="196977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19144" t="0" r="-19145" b="0"/>
              </a:stretch>
            </a:blipFill>
          </p:spPr>
        </p:sp>
      </p:grpSp>
      <p:grpSp>
        <p:nvGrpSpPr>
          <p:cNvPr name="Group 65" id="65"/>
          <p:cNvGrpSpPr/>
          <p:nvPr/>
        </p:nvGrpSpPr>
        <p:grpSpPr>
          <a:xfrm rot="0">
            <a:off x="11887200" y="6562249"/>
            <a:ext cx="2743200" cy="1484471"/>
            <a:chOff x="0" y="0"/>
            <a:chExt cx="3657600" cy="1979295"/>
          </a:xfrm>
        </p:grpSpPr>
        <p:sp>
          <p:nvSpPr>
            <p:cNvPr name="Freeform 66" id="66"/>
            <p:cNvSpPr/>
            <p:nvPr/>
          </p:nvSpPr>
          <p:spPr>
            <a:xfrm flipH="false" flipV="false" rot="0">
              <a:off x="0" y="0"/>
              <a:ext cx="3657600" cy="1979295"/>
            </a:xfrm>
            <a:custGeom>
              <a:avLst/>
              <a:gdLst/>
              <a:ahLst/>
              <a:cxnLst/>
              <a:rect r="r" b="b" t="t" l="l"/>
              <a:pathLst>
                <a:path h="1979295" w="3657600">
                  <a:moveTo>
                    <a:pt x="0" y="0"/>
                  </a:moveTo>
                  <a:lnTo>
                    <a:pt x="3657600" y="0"/>
                  </a:lnTo>
                  <a:lnTo>
                    <a:pt x="3657600" y="1979295"/>
                  </a:lnTo>
                  <a:lnTo>
                    <a:pt x="0" y="1979295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-19479" t="0" r="-19479" b="0"/>
              </a:stretch>
            </a:blipFill>
          </p:spPr>
        </p:sp>
      </p:grpSp>
      <p:grpSp>
        <p:nvGrpSpPr>
          <p:cNvPr name="Group 67" id="67"/>
          <p:cNvGrpSpPr/>
          <p:nvPr/>
        </p:nvGrpSpPr>
        <p:grpSpPr>
          <a:xfrm rot="0">
            <a:off x="11887200" y="6555105"/>
            <a:ext cx="2743200" cy="1491615"/>
            <a:chOff x="0" y="0"/>
            <a:chExt cx="3657600" cy="1988820"/>
          </a:xfrm>
        </p:grpSpPr>
        <p:sp>
          <p:nvSpPr>
            <p:cNvPr name="Freeform 68" id="68"/>
            <p:cNvSpPr/>
            <p:nvPr/>
          </p:nvSpPr>
          <p:spPr>
            <a:xfrm flipH="false" flipV="false" rot="0">
              <a:off x="0" y="0"/>
              <a:ext cx="3657600" cy="1988820"/>
            </a:xfrm>
            <a:custGeom>
              <a:avLst/>
              <a:gdLst/>
              <a:ahLst/>
              <a:cxnLst/>
              <a:rect r="r" b="b" t="t" l="l"/>
              <a:pathLst>
                <a:path h="1988820" w="3657600">
                  <a:moveTo>
                    <a:pt x="0" y="0"/>
                  </a:moveTo>
                  <a:lnTo>
                    <a:pt x="3657600" y="0"/>
                  </a:lnTo>
                  <a:lnTo>
                    <a:pt x="3657600" y="1988820"/>
                  </a:lnTo>
                  <a:lnTo>
                    <a:pt x="0" y="1988820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l="-19813" t="0" r="-19813" b="0"/>
              </a:stretch>
            </a:blipFill>
          </p:spPr>
        </p:sp>
      </p:grpSp>
      <p:grpSp>
        <p:nvGrpSpPr>
          <p:cNvPr name="Group 69" id="69"/>
          <p:cNvGrpSpPr/>
          <p:nvPr/>
        </p:nvGrpSpPr>
        <p:grpSpPr>
          <a:xfrm rot="0">
            <a:off x="11887200" y="6547961"/>
            <a:ext cx="2743200" cy="1498759"/>
            <a:chOff x="0" y="0"/>
            <a:chExt cx="3657600" cy="1998345"/>
          </a:xfrm>
        </p:grpSpPr>
        <p:sp>
          <p:nvSpPr>
            <p:cNvPr name="Freeform 70" id="70"/>
            <p:cNvSpPr/>
            <p:nvPr/>
          </p:nvSpPr>
          <p:spPr>
            <a:xfrm flipH="false" flipV="false" rot="0">
              <a:off x="0" y="0"/>
              <a:ext cx="3657600" cy="1998345"/>
            </a:xfrm>
            <a:custGeom>
              <a:avLst/>
              <a:gdLst/>
              <a:ahLst/>
              <a:cxnLst/>
              <a:rect r="r" b="b" t="t" l="l"/>
              <a:pathLst>
                <a:path h="1998345" w="3657600">
                  <a:moveTo>
                    <a:pt x="0" y="0"/>
                  </a:moveTo>
                  <a:lnTo>
                    <a:pt x="3657600" y="0"/>
                  </a:lnTo>
                  <a:lnTo>
                    <a:pt x="3657600" y="1998345"/>
                  </a:lnTo>
                  <a:lnTo>
                    <a:pt x="0" y="1998345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-20147" t="0" r="-20147" b="0"/>
              </a:stretch>
            </a:blipFill>
          </p:spPr>
        </p:sp>
      </p:grpSp>
      <p:grpSp>
        <p:nvGrpSpPr>
          <p:cNvPr name="Group 71" id="71"/>
          <p:cNvGrpSpPr/>
          <p:nvPr/>
        </p:nvGrpSpPr>
        <p:grpSpPr>
          <a:xfrm rot="0">
            <a:off x="11887200" y="6540818"/>
            <a:ext cx="2743200" cy="1505902"/>
            <a:chOff x="0" y="0"/>
            <a:chExt cx="3657600" cy="2007870"/>
          </a:xfrm>
        </p:grpSpPr>
        <p:sp>
          <p:nvSpPr>
            <p:cNvPr name="Freeform 72" id="72"/>
            <p:cNvSpPr/>
            <p:nvPr/>
          </p:nvSpPr>
          <p:spPr>
            <a:xfrm flipH="false" flipV="false" rot="0">
              <a:off x="0" y="0"/>
              <a:ext cx="3657600" cy="2007870"/>
            </a:xfrm>
            <a:custGeom>
              <a:avLst/>
              <a:gdLst/>
              <a:ahLst/>
              <a:cxnLst/>
              <a:rect r="r" b="b" t="t" l="l"/>
              <a:pathLst>
                <a:path h="2007870" w="3657600">
                  <a:moveTo>
                    <a:pt x="0" y="0"/>
                  </a:moveTo>
                  <a:lnTo>
                    <a:pt x="3657600" y="0"/>
                  </a:lnTo>
                  <a:lnTo>
                    <a:pt x="3657600" y="2007870"/>
                  </a:lnTo>
                  <a:lnTo>
                    <a:pt x="0" y="2007870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-20482" t="0" r="-20482" b="0"/>
              </a:stretch>
            </a:blipFill>
          </p:spPr>
        </p:sp>
      </p:grpSp>
      <p:grpSp>
        <p:nvGrpSpPr>
          <p:cNvPr name="Group 73" id="73"/>
          <p:cNvGrpSpPr/>
          <p:nvPr/>
        </p:nvGrpSpPr>
        <p:grpSpPr>
          <a:xfrm rot="0">
            <a:off x="11887200" y="6533674"/>
            <a:ext cx="2743200" cy="1513046"/>
            <a:chOff x="0" y="0"/>
            <a:chExt cx="3657600" cy="2017395"/>
          </a:xfrm>
        </p:grpSpPr>
        <p:sp>
          <p:nvSpPr>
            <p:cNvPr name="Freeform 74" id="74"/>
            <p:cNvSpPr/>
            <p:nvPr/>
          </p:nvSpPr>
          <p:spPr>
            <a:xfrm flipH="false" flipV="false" rot="0">
              <a:off x="0" y="0"/>
              <a:ext cx="3657600" cy="2017394"/>
            </a:xfrm>
            <a:custGeom>
              <a:avLst/>
              <a:gdLst/>
              <a:ahLst/>
              <a:cxnLst/>
              <a:rect r="r" b="b" t="t" l="l"/>
              <a:pathLst>
                <a:path h="2017394" w="3657600">
                  <a:moveTo>
                    <a:pt x="0" y="0"/>
                  </a:moveTo>
                  <a:lnTo>
                    <a:pt x="3657600" y="0"/>
                  </a:lnTo>
                  <a:lnTo>
                    <a:pt x="3657600" y="2017394"/>
                  </a:lnTo>
                  <a:lnTo>
                    <a:pt x="0" y="2017394"/>
                  </a:lnTo>
                  <a:close/>
                </a:path>
              </a:pathLst>
            </a:custGeom>
            <a:blipFill>
              <a:blip r:embed="rId9">
                <a:alphaModFix amt="0"/>
              </a:blip>
              <a:stretch>
                <a:fillRect l="-20767" t="0" r="-20767" b="0"/>
              </a:stretch>
            </a:blipFill>
          </p:spPr>
        </p:sp>
        <p:sp>
          <p:nvSpPr>
            <p:cNvPr name="TextBox 75" id="75"/>
            <p:cNvSpPr txBox="true"/>
            <p:nvPr/>
          </p:nvSpPr>
          <p:spPr>
            <a:xfrm>
              <a:off x="0" y="-9525"/>
              <a:ext cx="3657600" cy="202692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9600"/>
                </a:lnSpc>
              </a:pPr>
              <a:r>
                <a:rPr lang="en-US" sz="8000" b="true">
                  <a:solidFill>
                    <a:srgbClr val="B1734A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83%</a:t>
              </a:r>
            </a:p>
          </p:txBody>
        </p:sp>
      </p:grpSp>
      <p:sp>
        <p:nvSpPr>
          <p:cNvPr name="TextBox 76" id="76"/>
          <p:cNvSpPr txBox="true"/>
          <p:nvPr/>
        </p:nvSpPr>
        <p:spPr>
          <a:xfrm rot="0">
            <a:off x="14630400" y="6385560"/>
            <a:ext cx="2743200" cy="12039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98"/>
              </a:lnSpc>
            </a:pPr>
            <a:r>
              <a:rPr lang="en-US" sz="2499" b="true">
                <a:solidFill>
                  <a:srgbClr val="1B2A1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publicariam em até 3 min</a:t>
            </a:r>
          </a:p>
        </p:txBody>
      </p:sp>
      <p:sp>
        <p:nvSpPr>
          <p:cNvPr name="TextBox 77" id="77"/>
          <p:cNvSpPr txBox="true"/>
          <p:nvPr/>
        </p:nvSpPr>
        <p:spPr>
          <a:xfrm rot="0">
            <a:off x="14630400" y="7208520"/>
            <a:ext cx="2743200" cy="12954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2100">
                <a:solidFill>
                  <a:srgbClr val="5B6B5F"/>
                </a:solidFill>
                <a:latin typeface="Calibri (MS)"/>
                <a:ea typeface="Calibri (MS)"/>
                <a:cs typeface="Calibri (MS)"/>
                <a:sym typeface="Calibri (MS)"/>
              </a:rPr>
              <a:t>40 de 48 participantes</a:t>
            </a:r>
          </a:p>
        </p:txBody>
      </p:sp>
      <p:sp>
        <p:nvSpPr>
          <p:cNvPr name="TextBox 78" id="78"/>
          <p:cNvSpPr txBox="true"/>
          <p:nvPr/>
        </p:nvSpPr>
        <p:spPr>
          <a:xfrm rot="0">
            <a:off x="914400" y="8397240"/>
            <a:ext cx="16459200" cy="9620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2100">
                <a:solidFill>
                  <a:srgbClr val="5B6B5F"/>
                </a:solidFill>
                <a:latin typeface="Calibri (MS)"/>
                <a:ea typeface="Calibri (MS)"/>
                <a:cs typeface="Calibri (MS)"/>
                <a:sym typeface="Calibri (MS)"/>
              </a:rPr>
              <a:t>Amostra por conveniência: formulário divulgado em dois grupos públicos do Facebook; 72,9% moram em Pelotas. Os resultados descrevem apenas o grupo consultado.</a:t>
            </a:r>
          </a:p>
        </p:txBody>
      </p:sp>
      <p:sp>
        <p:nvSpPr>
          <p:cNvPr name="TextBox 79" id="79"/>
          <p:cNvSpPr txBox="true"/>
          <p:nvPr/>
        </p:nvSpPr>
        <p:spPr>
          <a:xfrm rot="0">
            <a:off x="16459200" y="9433560"/>
            <a:ext cx="914400" cy="3429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400"/>
              </a:lnSpc>
            </a:pPr>
            <a:r>
              <a:rPr lang="en-US" sz="2300">
                <a:solidFill>
                  <a:srgbClr val="5B6B5F"/>
                </a:solidFill>
                <a:latin typeface="Calibri (MS)"/>
                <a:ea typeface="Calibri (MS)"/>
                <a:cs typeface="Calibri (MS)"/>
                <a:sym typeface="Calibri (MS)"/>
              </a:rPr>
              <a:t>9</a:t>
            </a:r>
          </a:p>
        </p:txBody>
      </p:sp>
      <p:grpSp>
        <p:nvGrpSpPr>
          <p:cNvPr name="Group 80" id="80"/>
          <p:cNvGrpSpPr/>
          <p:nvPr/>
        </p:nvGrpSpPr>
        <p:grpSpPr>
          <a:xfrm rot="0">
            <a:off x="822960" y="9572625"/>
            <a:ext cx="8229600" cy="440055"/>
            <a:chOff x="0" y="0"/>
            <a:chExt cx="10972800" cy="586740"/>
          </a:xfrm>
        </p:grpSpPr>
        <p:sp>
          <p:nvSpPr>
            <p:cNvPr name="Freeform 81" id="81"/>
            <p:cNvSpPr/>
            <p:nvPr/>
          </p:nvSpPr>
          <p:spPr>
            <a:xfrm flipH="false" flipV="false" rot="0">
              <a:off x="0" y="0"/>
              <a:ext cx="10972800" cy="586740"/>
            </a:xfrm>
            <a:custGeom>
              <a:avLst/>
              <a:gdLst/>
              <a:ahLst/>
              <a:cxnLst/>
              <a:rect r="r" b="b" t="t" l="l"/>
              <a:pathLst>
                <a:path h="5867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586740"/>
                  </a:lnTo>
                  <a:lnTo>
                    <a:pt x="0" y="5867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314142" r="0" b="-314140"/>
              </a:stretch>
            </a:blipFill>
          </p:spPr>
        </p:sp>
      </p:grpSp>
      <p:grpSp>
        <p:nvGrpSpPr>
          <p:cNvPr name="Group 82" id="82"/>
          <p:cNvGrpSpPr/>
          <p:nvPr/>
        </p:nvGrpSpPr>
        <p:grpSpPr>
          <a:xfrm rot="0">
            <a:off x="822960" y="9544050"/>
            <a:ext cx="8229600" cy="468630"/>
            <a:chOff x="0" y="0"/>
            <a:chExt cx="10972800" cy="624840"/>
          </a:xfrm>
        </p:grpSpPr>
        <p:sp>
          <p:nvSpPr>
            <p:cNvPr name="Freeform 83" id="83"/>
            <p:cNvSpPr/>
            <p:nvPr/>
          </p:nvSpPr>
          <p:spPr>
            <a:xfrm flipH="false" flipV="false" rot="0">
              <a:off x="0" y="0"/>
              <a:ext cx="10972800" cy="624840"/>
            </a:xfrm>
            <a:custGeom>
              <a:avLst/>
              <a:gdLst/>
              <a:ahLst/>
              <a:cxnLst/>
              <a:rect r="r" b="b" t="t" l="l"/>
              <a:pathLst>
                <a:path h="6248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624840"/>
                  </a:lnTo>
                  <a:lnTo>
                    <a:pt x="0" y="6248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91939" r="0" b="-291936"/>
              </a:stretch>
            </a:blipFill>
          </p:spPr>
        </p:sp>
      </p:grpSp>
      <p:grpSp>
        <p:nvGrpSpPr>
          <p:cNvPr name="Group 84" id="84"/>
          <p:cNvGrpSpPr/>
          <p:nvPr/>
        </p:nvGrpSpPr>
        <p:grpSpPr>
          <a:xfrm rot="0">
            <a:off x="822960" y="9515475"/>
            <a:ext cx="8229600" cy="497205"/>
            <a:chOff x="0" y="0"/>
            <a:chExt cx="10972800" cy="662940"/>
          </a:xfrm>
        </p:grpSpPr>
        <p:sp>
          <p:nvSpPr>
            <p:cNvPr name="Freeform 85" id="85"/>
            <p:cNvSpPr/>
            <p:nvPr/>
          </p:nvSpPr>
          <p:spPr>
            <a:xfrm flipH="false" flipV="false" rot="0">
              <a:off x="0" y="0"/>
              <a:ext cx="10972800" cy="662940"/>
            </a:xfrm>
            <a:custGeom>
              <a:avLst/>
              <a:gdLst/>
              <a:ahLst/>
              <a:cxnLst/>
              <a:rect r="r" b="b" t="t" l="l"/>
              <a:pathLst>
                <a:path h="6629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662940"/>
                  </a:lnTo>
                  <a:lnTo>
                    <a:pt x="0" y="66294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72287" r="0" b="-272285"/>
              </a:stretch>
            </a:blipFill>
          </p:spPr>
        </p:sp>
      </p:grpSp>
      <p:grpSp>
        <p:nvGrpSpPr>
          <p:cNvPr name="Group 86" id="86"/>
          <p:cNvGrpSpPr/>
          <p:nvPr/>
        </p:nvGrpSpPr>
        <p:grpSpPr>
          <a:xfrm rot="0">
            <a:off x="822960" y="9486900"/>
            <a:ext cx="8229600" cy="525780"/>
            <a:chOff x="0" y="0"/>
            <a:chExt cx="10972800" cy="701040"/>
          </a:xfrm>
        </p:grpSpPr>
        <p:sp>
          <p:nvSpPr>
            <p:cNvPr name="Freeform 87" id="87"/>
            <p:cNvSpPr/>
            <p:nvPr/>
          </p:nvSpPr>
          <p:spPr>
            <a:xfrm flipH="false" flipV="false" rot="0">
              <a:off x="0" y="0"/>
              <a:ext cx="10972800" cy="701040"/>
            </a:xfrm>
            <a:custGeom>
              <a:avLst/>
              <a:gdLst/>
              <a:ahLst/>
              <a:cxnLst/>
              <a:rect r="r" b="b" t="t" l="l"/>
              <a:pathLst>
                <a:path h="7010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701040"/>
                  </a:lnTo>
                  <a:lnTo>
                    <a:pt x="0" y="701040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254771" r="0" b="-254769"/>
              </a:stretch>
            </a:blipFill>
          </p:spPr>
        </p:sp>
      </p:grpSp>
      <p:grpSp>
        <p:nvGrpSpPr>
          <p:cNvPr name="Group 88" id="88"/>
          <p:cNvGrpSpPr/>
          <p:nvPr/>
        </p:nvGrpSpPr>
        <p:grpSpPr>
          <a:xfrm rot="0">
            <a:off x="822960" y="9458325"/>
            <a:ext cx="8229600" cy="554355"/>
            <a:chOff x="0" y="0"/>
            <a:chExt cx="10972800" cy="739140"/>
          </a:xfrm>
        </p:grpSpPr>
        <p:sp>
          <p:nvSpPr>
            <p:cNvPr name="Freeform 89" id="89"/>
            <p:cNvSpPr/>
            <p:nvPr/>
          </p:nvSpPr>
          <p:spPr>
            <a:xfrm flipH="false" flipV="false" rot="0">
              <a:off x="0" y="0"/>
              <a:ext cx="10972800" cy="739140"/>
            </a:xfrm>
            <a:custGeom>
              <a:avLst/>
              <a:gdLst/>
              <a:ahLst/>
              <a:cxnLst/>
              <a:rect r="r" b="b" t="t" l="l"/>
              <a:pathLst>
                <a:path h="7391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739140"/>
                  </a:lnTo>
                  <a:lnTo>
                    <a:pt x="0" y="739140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l="0" t="-239061" r="0" b="-239060"/>
              </a:stretch>
            </a:blipFill>
          </p:spPr>
        </p:sp>
      </p:grpSp>
      <p:grpSp>
        <p:nvGrpSpPr>
          <p:cNvPr name="Group 90" id="90"/>
          <p:cNvGrpSpPr/>
          <p:nvPr/>
        </p:nvGrpSpPr>
        <p:grpSpPr>
          <a:xfrm rot="0">
            <a:off x="822960" y="9429750"/>
            <a:ext cx="8229600" cy="582930"/>
            <a:chOff x="0" y="0"/>
            <a:chExt cx="10972800" cy="777240"/>
          </a:xfrm>
        </p:grpSpPr>
        <p:sp>
          <p:nvSpPr>
            <p:cNvPr name="Freeform 91" id="91"/>
            <p:cNvSpPr/>
            <p:nvPr/>
          </p:nvSpPr>
          <p:spPr>
            <a:xfrm flipH="false" flipV="false" rot="0">
              <a:off x="0" y="0"/>
              <a:ext cx="10972800" cy="777240"/>
            </a:xfrm>
            <a:custGeom>
              <a:avLst/>
              <a:gdLst/>
              <a:ahLst/>
              <a:cxnLst/>
              <a:rect r="r" b="b" t="t" l="l"/>
              <a:pathLst>
                <a:path h="7772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777240"/>
                  </a:lnTo>
                  <a:lnTo>
                    <a:pt x="0" y="777240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0" t="-224892" r="0" b="-224890"/>
              </a:stretch>
            </a:blipFill>
          </p:spPr>
        </p:sp>
      </p:grpSp>
      <p:grpSp>
        <p:nvGrpSpPr>
          <p:cNvPr name="Group 92" id="92"/>
          <p:cNvGrpSpPr/>
          <p:nvPr/>
        </p:nvGrpSpPr>
        <p:grpSpPr>
          <a:xfrm rot="0">
            <a:off x="822960" y="9401175"/>
            <a:ext cx="8229600" cy="611505"/>
            <a:chOff x="0" y="0"/>
            <a:chExt cx="10972800" cy="815340"/>
          </a:xfrm>
        </p:grpSpPr>
        <p:sp>
          <p:nvSpPr>
            <p:cNvPr name="Freeform 93" id="93"/>
            <p:cNvSpPr/>
            <p:nvPr/>
          </p:nvSpPr>
          <p:spPr>
            <a:xfrm flipH="false" flipV="false" rot="0">
              <a:off x="0" y="0"/>
              <a:ext cx="10972800" cy="815340"/>
            </a:xfrm>
            <a:custGeom>
              <a:avLst/>
              <a:gdLst/>
              <a:ahLst/>
              <a:cxnLst/>
              <a:rect r="r" b="b" t="t" l="l"/>
              <a:pathLst>
                <a:path h="8153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815340"/>
                  </a:lnTo>
                  <a:lnTo>
                    <a:pt x="0" y="815340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0" t="-212046" r="0" b="-212045"/>
              </a:stretch>
            </a:blipFill>
          </p:spPr>
        </p:sp>
      </p:grpSp>
      <p:grpSp>
        <p:nvGrpSpPr>
          <p:cNvPr name="Group 94" id="94"/>
          <p:cNvGrpSpPr/>
          <p:nvPr/>
        </p:nvGrpSpPr>
        <p:grpSpPr>
          <a:xfrm rot="0">
            <a:off x="822960" y="9372600"/>
            <a:ext cx="8229600" cy="640080"/>
            <a:chOff x="0" y="0"/>
            <a:chExt cx="10972800" cy="853440"/>
          </a:xfrm>
        </p:grpSpPr>
        <p:sp>
          <p:nvSpPr>
            <p:cNvPr name="Freeform 95" id="95"/>
            <p:cNvSpPr/>
            <p:nvPr/>
          </p:nvSpPr>
          <p:spPr>
            <a:xfrm flipH="false" flipV="false" rot="0">
              <a:off x="0" y="0"/>
              <a:ext cx="10972800" cy="853440"/>
            </a:xfrm>
            <a:custGeom>
              <a:avLst/>
              <a:gdLst/>
              <a:ahLst/>
              <a:cxnLst/>
              <a:rect r="r" b="b" t="t" l="l"/>
              <a:pathLst>
                <a:path h="8534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853440"/>
                  </a:lnTo>
                  <a:lnTo>
                    <a:pt x="0" y="853440"/>
                  </a:lnTo>
                  <a:close/>
                </a:path>
              </a:pathLst>
            </a:custGeom>
            <a:blipFill>
              <a:blip r:embed="rId9">
                <a:alphaModFix amt="0"/>
              </a:blip>
              <a:stretch>
                <a:fillRect l="0" t="-200521" r="0" b="-200521"/>
              </a:stretch>
            </a:blipFill>
          </p:spPr>
        </p:sp>
        <p:sp>
          <p:nvSpPr>
            <p:cNvPr name="TextBox 96" id="96"/>
            <p:cNvSpPr txBox="true"/>
            <p:nvPr/>
          </p:nvSpPr>
          <p:spPr>
            <a:xfrm>
              <a:off x="0" y="-38100"/>
              <a:ext cx="10972800" cy="8915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6B728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WeFIND  |  TCC  |  IFSul Campus Pelotas</a:t>
              </a:r>
            </a:p>
          </p:txBody>
        </p:sp>
      </p:grpSp>
      <p:sp>
        <p:nvSpPr>
          <p:cNvPr name="TextBox 97" id="97"/>
          <p:cNvSpPr txBox="true"/>
          <p:nvPr/>
        </p:nvSpPr>
        <p:spPr>
          <a:xfrm rot="0">
            <a:off x="914400" y="2053590"/>
            <a:ext cx="10241280" cy="6438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2100" b="true">
                <a:solidFill>
                  <a:srgbClr val="1B2A1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O que mais fez falta nas primeiras horas da busca</a:t>
            </a:r>
          </a:p>
        </p:txBody>
      </p:sp>
      <p:sp>
        <p:nvSpPr>
          <p:cNvPr name="TextBox 98" id="98"/>
          <p:cNvSpPr txBox="true"/>
          <p:nvPr/>
        </p:nvSpPr>
        <p:spPr>
          <a:xfrm rot="0">
            <a:off x="914400" y="207264"/>
            <a:ext cx="6858000" cy="3429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00"/>
              </a:lnSpc>
            </a:pPr>
            <a:r>
              <a:rPr lang="en-US" b="true" sz="2300" spc="400">
                <a:solidFill>
                  <a:srgbClr val="B1734A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02  MÉTODO E PESQUISA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914400" y="2606040"/>
            <a:ext cx="1051560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0">
                <a:solidFill>
                  <a:srgbClr val="5B6B5F"/>
                </a:solidFill>
                <a:latin typeface="Calibri (MS)"/>
              </a:rPr>
              <a:t>Respostas dos 25 que já perderam um animal; cada pessoa marcou até 3 opções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914400" y="3246120"/>
            <a:ext cx="438912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300" b="1">
                <a:solidFill>
                  <a:srgbClr val="1B2A1F"/>
                </a:solidFill>
                <a:latin typeface="Calibri (MS) Bold"/>
              </a:rPr>
              <a:t>Avisos de quem viu o animal</a:t>
            </a:r>
          </a:p>
          <a:p>
            <a:pPr algn="l">
              <a:spcBef>
                <a:spcPts val="200"/>
              </a:spcBef>
            </a:pPr>
            <a:r>
              <a:rPr sz="1800" b="0">
                <a:solidFill>
                  <a:srgbClr val="B1734A"/>
                </a:solidFill>
                <a:latin typeface="Calibri (MS)"/>
              </a:rPr>
              <a:t>No WeFIND: avistamentos no mapa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5486400" y="3493008"/>
            <a:ext cx="4754880" cy="475488"/>
          </a:xfrm>
          <a:prstGeom prst="rect">
            <a:avLst/>
          </a:prstGeom>
          <a:solidFill>
            <a:srgbClr val="E4E9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5486400" y="3493008"/>
            <a:ext cx="3994099" cy="475488"/>
          </a:xfrm>
          <a:prstGeom prst="rect">
            <a:avLst/>
          </a:prstGeom>
          <a:solidFill>
            <a:srgbClr val="B17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9617659" y="3493008"/>
            <a:ext cx="146304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300" b="1">
                <a:solidFill>
                  <a:srgbClr val="B1734A"/>
                </a:solidFill>
                <a:latin typeface="Calibri (MS) Bold"/>
              </a:rPr>
              <a:t>84%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14400" y="4434840"/>
            <a:ext cx="438912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300" b="1">
                <a:solidFill>
                  <a:srgbClr val="1B2A1F"/>
                </a:solidFill>
                <a:latin typeface="Calibri (MS) Bold"/>
              </a:rPr>
              <a:t>Alcance no próprio bairro</a:t>
            </a:r>
          </a:p>
          <a:p>
            <a:pPr algn="l">
              <a:spcBef>
                <a:spcPts val="200"/>
              </a:spcBef>
            </a:pPr>
            <a:r>
              <a:rPr sz="1800" b="0">
                <a:solidFill>
                  <a:srgbClr val="5B6B5F"/>
                </a:solidFill>
                <a:latin typeface="Calibri (MS)"/>
              </a:rPr>
              <a:t>No WeFIND: casos mais próximos primeiro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5486400" y="4681727"/>
            <a:ext cx="4754880" cy="475488"/>
          </a:xfrm>
          <a:prstGeom prst="rect">
            <a:avLst/>
          </a:prstGeom>
          <a:solidFill>
            <a:srgbClr val="E4E9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5486400" y="4681727"/>
            <a:ext cx="3423513" cy="475488"/>
          </a:xfrm>
          <a:prstGeom prst="rect">
            <a:avLst/>
          </a:prstGeom>
          <a:solidFill>
            <a:srgbClr val="2E5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9047073" y="4681727"/>
            <a:ext cx="146304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300" b="1">
                <a:solidFill>
                  <a:srgbClr val="2E5634"/>
                </a:solidFill>
                <a:latin typeface="Calibri (MS) Bold"/>
              </a:rPr>
              <a:t>72%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914400" y="5623559"/>
            <a:ext cx="438912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300" b="1">
                <a:solidFill>
                  <a:srgbClr val="1B2A1F"/>
                </a:solidFill>
                <a:latin typeface="Calibri (MS) Bold"/>
              </a:rPr>
              <a:t>Alerta de animal parecido</a:t>
            </a:r>
          </a:p>
          <a:p>
            <a:pPr algn="l">
              <a:spcBef>
                <a:spcPts val="200"/>
              </a:spcBef>
            </a:pPr>
            <a:r>
              <a:rPr sz="1800" b="0">
                <a:solidFill>
                  <a:srgbClr val="5B6B5F"/>
                </a:solidFill>
                <a:latin typeface="Calibri (MS)"/>
              </a:rPr>
              <a:t>No WeFIND: correspondência automática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5486400" y="5870448"/>
            <a:ext cx="4754880" cy="475488"/>
          </a:xfrm>
          <a:prstGeom prst="rect">
            <a:avLst/>
          </a:prstGeom>
          <a:solidFill>
            <a:srgbClr val="E4E9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5486400" y="5870448"/>
            <a:ext cx="2282342" cy="475488"/>
          </a:xfrm>
          <a:prstGeom prst="rect">
            <a:avLst/>
          </a:prstGeom>
          <a:solidFill>
            <a:srgbClr val="2E5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7905902" y="5870448"/>
            <a:ext cx="146304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300" b="1">
                <a:solidFill>
                  <a:srgbClr val="2E5634"/>
                </a:solidFill>
                <a:latin typeface="Calibri (MS) Bold"/>
              </a:rPr>
              <a:t>48%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14400" y="6812279"/>
            <a:ext cx="438912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300" b="1">
                <a:solidFill>
                  <a:srgbClr val="1B2A1F"/>
                </a:solidFill>
                <a:latin typeface="Calibri (MS) Bold"/>
              </a:rPr>
              <a:t>Orientação para começar a busca</a:t>
            </a:r>
          </a:p>
          <a:p>
            <a:pPr algn="l">
              <a:spcBef>
                <a:spcPts val="200"/>
              </a:spcBef>
            </a:pPr>
            <a:r>
              <a:rPr sz="1800" b="0">
                <a:solidFill>
                  <a:srgbClr val="5B6B5F"/>
                </a:solidFill>
                <a:latin typeface="Calibri (MS)"/>
              </a:rPr>
              <a:t>No WeFIND: publicação rápida e guiada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5486400" y="7059167"/>
            <a:ext cx="4754880" cy="475488"/>
          </a:xfrm>
          <a:prstGeom prst="rect">
            <a:avLst/>
          </a:prstGeom>
          <a:solidFill>
            <a:srgbClr val="E4E9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5486400" y="7059167"/>
            <a:ext cx="1901952" cy="475488"/>
          </a:xfrm>
          <a:prstGeom prst="rect">
            <a:avLst/>
          </a:prstGeom>
          <a:solidFill>
            <a:srgbClr val="2E5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7525512" y="7059167"/>
            <a:ext cx="146304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300" b="1">
                <a:solidFill>
                  <a:srgbClr val="2E5634"/>
                </a:solidFill>
                <a:latin typeface="Calibri (MS) Bold"/>
              </a:rPr>
              <a:t>40%</a:t>
            </a:r>
          </a:p>
        </p:txBody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914400" y="914400"/>
            <a:ext cx="16459200" cy="1097280"/>
            <a:chOff x="0" y="0"/>
            <a:chExt cx="21945600" cy="146304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1945600" cy="1463040"/>
            </a:xfrm>
            <a:custGeom>
              <a:avLst/>
              <a:gdLst/>
              <a:ahLst/>
              <a:cxnLst/>
              <a:rect r="r" b="b" t="t" l="l"/>
              <a:pathLst>
                <a:path h="146304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463040"/>
                  </a:lnTo>
                  <a:lnTo>
                    <a:pt x="0" y="14630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242072" r="0" b="-242072"/>
              </a:stretch>
            </a:blipFill>
          </p:spPr>
        </p:sp>
      </p:grpSp>
      <p:grpSp>
        <p:nvGrpSpPr>
          <p:cNvPr name="Group 4" id="4"/>
          <p:cNvGrpSpPr/>
          <p:nvPr/>
        </p:nvGrpSpPr>
        <p:grpSpPr>
          <a:xfrm rot="0">
            <a:off x="914400" y="907256"/>
            <a:ext cx="16459200" cy="1104424"/>
            <a:chOff x="0" y="0"/>
            <a:chExt cx="21945600" cy="1472565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1945600" cy="1472565"/>
            </a:xfrm>
            <a:custGeom>
              <a:avLst/>
              <a:gdLst/>
              <a:ahLst/>
              <a:cxnLst/>
              <a:rect r="r" b="b" t="t" l="l"/>
              <a:pathLst>
                <a:path h="1472565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472565"/>
                  </a:lnTo>
                  <a:lnTo>
                    <a:pt x="0" y="1472565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40182" r="0" b="-240183"/>
              </a:stretch>
            </a:blipFill>
          </p:spPr>
        </p:sp>
      </p:grpSp>
      <p:grpSp>
        <p:nvGrpSpPr>
          <p:cNvPr name="Group 6" id="6"/>
          <p:cNvGrpSpPr/>
          <p:nvPr/>
        </p:nvGrpSpPr>
        <p:grpSpPr>
          <a:xfrm rot="0">
            <a:off x="914400" y="900112"/>
            <a:ext cx="16459200" cy="1111568"/>
            <a:chOff x="0" y="0"/>
            <a:chExt cx="21945600" cy="148209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1945600" cy="1482090"/>
            </a:xfrm>
            <a:custGeom>
              <a:avLst/>
              <a:gdLst/>
              <a:ahLst/>
              <a:cxnLst/>
              <a:rect r="r" b="b" t="t" l="l"/>
              <a:pathLst>
                <a:path h="148209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482090"/>
                  </a:lnTo>
                  <a:lnTo>
                    <a:pt x="0" y="148209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38317" r="0" b="-238318"/>
              </a:stretch>
            </a:blipFill>
          </p:spPr>
        </p:sp>
      </p:grpSp>
      <p:grpSp>
        <p:nvGrpSpPr>
          <p:cNvPr name="Group 8" id="8"/>
          <p:cNvGrpSpPr/>
          <p:nvPr/>
        </p:nvGrpSpPr>
        <p:grpSpPr>
          <a:xfrm rot="0">
            <a:off x="914400" y="892969"/>
            <a:ext cx="16459200" cy="1118711"/>
            <a:chOff x="0" y="0"/>
            <a:chExt cx="21945600" cy="1491615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1945600" cy="1491615"/>
            </a:xfrm>
            <a:custGeom>
              <a:avLst/>
              <a:gdLst/>
              <a:ahLst/>
              <a:cxnLst/>
              <a:rect r="r" b="b" t="t" l="l"/>
              <a:pathLst>
                <a:path h="1491615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491615"/>
                  </a:lnTo>
                  <a:lnTo>
                    <a:pt x="0" y="1491615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236476" r="0" b="-236477"/>
              </a:stretch>
            </a:blipFill>
          </p:spPr>
        </p:sp>
      </p:grpSp>
      <p:grpSp>
        <p:nvGrpSpPr>
          <p:cNvPr name="Group 10" id="10"/>
          <p:cNvGrpSpPr/>
          <p:nvPr/>
        </p:nvGrpSpPr>
        <p:grpSpPr>
          <a:xfrm rot="0">
            <a:off x="914400" y="885825"/>
            <a:ext cx="16459200" cy="1125855"/>
            <a:chOff x="0" y="0"/>
            <a:chExt cx="21945600" cy="150114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21945600" cy="1501140"/>
            </a:xfrm>
            <a:custGeom>
              <a:avLst/>
              <a:gdLst/>
              <a:ahLst/>
              <a:cxnLst/>
              <a:rect r="r" b="b" t="t" l="l"/>
              <a:pathLst>
                <a:path h="150114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501140"/>
                  </a:lnTo>
                  <a:lnTo>
                    <a:pt x="0" y="1501140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l="0" t="-234659" r="0" b="-234659"/>
              </a:stretch>
            </a:blipFill>
          </p:spPr>
        </p:sp>
      </p:grpSp>
      <p:grpSp>
        <p:nvGrpSpPr>
          <p:cNvPr name="Group 12" id="12"/>
          <p:cNvGrpSpPr/>
          <p:nvPr/>
        </p:nvGrpSpPr>
        <p:grpSpPr>
          <a:xfrm rot="0">
            <a:off x="914400" y="878681"/>
            <a:ext cx="16459200" cy="1132999"/>
            <a:chOff x="0" y="0"/>
            <a:chExt cx="21945600" cy="1510665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21945600" cy="1510665"/>
            </a:xfrm>
            <a:custGeom>
              <a:avLst/>
              <a:gdLst/>
              <a:ahLst/>
              <a:cxnLst/>
              <a:rect r="r" b="b" t="t" l="l"/>
              <a:pathLst>
                <a:path h="1510665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510665"/>
                  </a:lnTo>
                  <a:lnTo>
                    <a:pt x="0" y="1510665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0" t="-232864" r="0" b="-232865"/>
              </a:stretch>
            </a:blipFill>
          </p:spPr>
        </p:sp>
      </p:grpSp>
      <p:grpSp>
        <p:nvGrpSpPr>
          <p:cNvPr name="Group 14" id="14"/>
          <p:cNvGrpSpPr/>
          <p:nvPr/>
        </p:nvGrpSpPr>
        <p:grpSpPr>
          <a:xfrm rot="0">
            <a:off x="914400" y="871538"/>
            <a:ext cx="16459200" cy="1140142"/>
            <a:chOff x="0" y="0"/>
            <a:chExt cx="21945600" cy="152019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21945600" cy="1520190"/>
            </a:xfrm>
            <a:custGeom>
              <a:avLst/>
              <a:gdLst/>
              <a:ahLst/>
              <a:cxnLst/>
              <a:rect r="r" b="b" t="t" l="l"/>
              <a:pathLst>
                <a:path h="152019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520190"/>
                  </a:lnTo>
                  <a:lnTo>
                    <a:pt x="0" y="1520190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0" t="-231091" r="0" b="-231092"/>
              </a:stretch>
            </a:blipFill>
          </p:spPr>
        </p:sp>
      </p:grpSp>
      <p:grpSp>
        <p:nvGrpSpPr>
          <p:cNvPr name="Group 16" id="16"/>
          <p:cNvGrpSpPr/>
          <p:nvPr/>
        </p:nvGrpSpPr>
        <p:grpSpPr>
          <a:xfrm rot="0">
            <a:off x="914400" y="864394"/>
            <a:ext cx="16459200" cy="1147286"/>
            <a:chOff x="0" y="0"/>
            <a:chExt cx="21945600" cy="1529715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21945600" cy="1529714"/>
            </a:xfrm>
            <a:custGeom>
              <a:avLst/>
              <a:gdLst/>
              <a:ahLst/>
              <a:cxnLst/>
              <a:rect r="r" b="b" t="t" l="l"/>
              <a:pathLst>
                <a:path h="1529714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529714"/>
                  </a:lnTo>
                  <a:lnTo>
                    <a:pt x="0" y="1529714"/>
                  </a:lnTo>
                  <a:close/>
                </a:path>
              </a:pathLst>
            </a:custGeom>
            <a:blipFill>
              <a:blip r:embed="rId9">
                <a:alphaModFix amt="0"/>
              </a:blip>
              <a:stretch>
                <a:fillRect l="0" t="-229536" r="0" b="-229536"/>
              </a:stretch>
            </a:blipFill>
          </p:spPr>
        </p:sp>
        <p:sp>
          <p:nvSpPr>
            <p:cNvPr name="TextBox 18" id="18"/>
            <p:cNvSpPr txBox="true"/>
            <p:nvPr/>
          </p:nvSpPr>
          <p:spPr>
            <a:xfrm>
              <a:off x="0" y="-9525"/>
              <a:ext cx="21945600" cy="15392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6239"/>
                </a:lnSpc>
              </a:pPr>
              <a:r>
                <a:rPr lang="en-US" sz="5198" b="true">
                  <a:solidFill>
                    <a:srgbClr val="2E5634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Sistemas similares analisados</a:t>
              </a:r>
            </a:p>
          </p:txBody>
        </p:sp>
      </p:grpSp>
      <p:grpSp>
        <p:nvGrpSpPr>
          <p:cNvPr name="Group 19" id="19"/>
          <p:cNvGrpSpPr/>
          <p:nvPr/>
        </p:nvGrpSpPr>
        <p:grpSpPr>
          <a:xfrm rot="0">
            <a:off x="822960" y="9572625"/>
            <a:ext cx="8229600" cy="440055"/>
            <a:chOff x="0" y="0"/>
            <a:chExt cx="10972800" cy="586740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10972800" cy="586740"/>
            </a:xfrm>
            <a:custGeom>
              <a:avLst/>
              <a:gdLst/>
              <a:ahLst/>
              <a:cxnLst/>
              <a:rect r="r" b="b" t="t" l="l"/>
              <a:pathLst>
                <a:path h="5867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586740"/>
                  </a:lnTo>
                  <a:lnTo>
                    <a:pt x="0" y="5867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314142" r="0" b="-314140"/>
              </a:stretch>
            </a:blipFill>
          </p:spPr>
        </p:sp>
      </p:grpSp>
      <p:grpSp>
        <p:nvGrpSpPr>
          <p:cNvPr name="Group 21" id="21"/>
          <p:cNvGrpSpPr/>
          <p:nvPr/>
        </p:nvGrpSpPr>
        <p:grpSpPr>
          <a:xfrm rot="0">
            <a:off x="822960" y="9544050"/>
            <a:ext cx="8229600" cy="468630"/>
            <a:chOff x="0" y="0"/>
            <a:chExt cx="10972800" cy="624840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10972800" cy="624840"/>
            </a:xfrm>
            <a:custGeom>
              <a:avLst/>
              <a:gdLst/>
              <a:ahLst/>
              <a:cxnLst/>
              <a:rect r="r" b="b" t="t" l="l"/>
              <a:pathLst>
                <a:path h="6248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624840"/>
                  </a:lnTo>
                  <a:lnTo>
                    <a:pt x="0" y="6248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91939" r="0" b="-291936"/>
              </a:stretch>
            </a:blipFill>
          </p:spPr>
        </p:sp>
      </p:grpSp>
      <p:grpSp>
        <p:nvGrpSpPr>
          <p:cNvPr name="Group 23" id="23"/>
          <p:cNvGrpSpPr/>
          <p:nvPr/>
        </p:nvGrpSpPr>
        <p:grpSpPr>
          <a:xfrm rot="0">
            <a:off x="822960" y="9515475"/>
            <a:ext cx="8229600" cy="497205"/>
            <a:chOff x="0" y="0"/>
            <a:chExt cx="10972800" cy="662940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10972800" cy="662940"/>
            </a:xfrm>
            <a:custGeom>
              <a:avLst/>
              <a:gdLst/>
              <a:ahLst/>
              <a:cxnLst/>
              <a:rect r="r" b="b" t="t" l="l"/>
              <a:pathLst>
                <a:path h="6629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662940"/>
                  </a:lnTo>
                  <a:lnTo>
                    <a:pt x="0" y="66294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72287" r="0" b="-272285"/>
              </a:stretch>
            </a:blipFill>
          </p:spPr>
        </p:sp>
      </p:grpSp>
      <p:grpSp>
        <p:nvGrpSpPr>
          <p:cNvPr name="Group 25" id="25"/>
          <p:cNvGrpSpPr/>
          <p:nvPr/>
        </p:nvGrpSpPr>
        <p:grpSpPr>
          <a:xfrm rot="0">
            <a:off x="822960" y="9486900"/>
            <a:ext cx="8229600" cy="525780"/>
            <a:chOff x="0" y="0"/>
            <a:chExt cx="10972800" cy="701040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10972800" cy="701040"/>
            </a:xfrm>
            <a:custGeom>
              <a:avLst/>
              <a:gdLst/>
              <a:ahLst/>
              <a:cxnLst/>
              <a:rect r="r" b="b" t="t" l="l"/>
              <a:pathLst>
                <a:path h="7010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701040"/>
                  </a:lnTo>
                  <a:lnTo>
                    <a:pt x="0" y="701040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254771" r="0" b="-254769"/>
              </a:stretch>
            </a:blipFill>
          </p:spPr>
        </p:sp>
      </p:grpSp>
      <p:grpSp>
        <p:nvGrpSpPr>
          <p:cNvPr name="Group 27" id="27"/>
          <p:cNvGrpSpPr/>
          <p:nvPr/>
        </p:nvGrpSpPr>
        <p:grpSpPr>
          <a:xfrm rot="0">
            <a:off x="822960" y="9458325"/>
            <a:ext cx="8229600" cy="554355"/>
            <a:chOff x="0" y="0"/>
            <a:chExt cx="10972800" cy="739140"/>
          </a:xfrm>
        </p:grpSpPr>
        <p:sp>
          <p:nvSpPr>
            <p:cNvPr name="Freeform 28" id="28"/>
            <p:cNvSpPr/>
            <p:nvPr/>
          </p:nvSpPr>
          <p:spPr>
            <a:xfrm flipH="false" flipV="false" rot="0">
              <a:off x="0" y="0"/>
              <a:ext cx="10972800" cy="739140"/>
            </a:xfrm>
            <a:custGeom>
              <a:avLst/>
              <a:gdLst/>
              <a:ahLst/>
              <a:cxnLst/>
              <a:rect r="r" b="b" t="t" l="l"/>
              <a:pathLst>
                <a:path h="7391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739140"/>
                  </a:lnTo>
                  <a:lnTo>
                    <a:pt x="0" y="739140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l="0" t="-239061" r="0" b="-239060"/>
              </a:stretch>
            </a:blipFill>
          </p:spPr>
        </p:sp>
      </p:grpSp>
      <p:grpSp>
        <p:nvGrpSpPr>
          <p:cNvPr name="Group 29" id="29"/>
          <p:cNvGrpSpPr/>
          <p:nvPr/>
        </p:nvGrpSpPr>
        <p:grpSpPr>
          <a:xfrm rot="0">
            <a:off x="822960" y="9429750"/>
            <a:ext cx="8229600" cy="582930"/>
            <a:chOff x="0" y="0"/>
            <a:chExt cx="10972800" cy="777240"/>
          </a:xfrm>
        </p:grpSpPr>
        <p:sp>
          <p:nvSpPr>
            <p:cNvPr name="Freeform 30" id="30"/>
            <p:cNvSpPr/>
            <p:nvPr/>
          </p:nvSpPr>
          <p:spPr>
            <a:xfrm flipH="false" flipV="false" rot="0">
              <a:off x="0" y="0"/>
              <a:ext cx="10972800" cy="777240"/>
            </a:xfrm>
            <a:custGeom>
              <a:avLst/>
              <a:gdLst/>
              <a:ahLst/>
              <a:cxnLst/>
              <a:rect r="r" b="b" t="t" l="l"/>
              <a:pathLst>
                <a:path h="7772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777240"/>
                  </a:lnTo>
                  <a:lnTo>
                    <a:pt x="0" y="777240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0" t="-224892" r="0" b="-224890"/>
              </a:stretch>
            </a:blipFill>
          </p:spPr>
        </p:sp>
      </p:grpSp>
      <p:grpSp>
        <p:nvGrpSpPr>
          <p:cNvPr name="Group 31" id="31"/>
          <p:cNvGrpSpPr/>
          <p:nvPr/>
        </p:nvGrpSpPr>
        <p:grpSpPr>
          <a:xfrm rot="0">
            <a:off x="822960" y="9401175"/>
            <a:ext cx="8229600" cy="611505"/>
            <a:chOff x="0" y="0"/>
            <a:chExt cx="10972800" cy="815340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0" y="0"/>
              <a:ext cx="10972800" cy="815340"/>
            </a:xfrm>
            <a:custGeom>
              <a:avLst/>
              <a:gdLst/>
              <a:ahLst/>
              <a:cxnLst/>
              <a:rect r="r" b="b" t="t" l="l"/>
              <a:pathLst>
                <a:path h="8153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815340"/>
                  </a:lnTo>
                  <a:lnTo>
                    <a:pt x="0" y="815340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0" t="-212046" r="0" b="-212045"/>
              </a:stretch>
            </a:blipFill>
          </p:spPr>
        </p:sp>
      </p:grpSp>
      <p:grpSp>
        <p:nvGrpSpPr>
          <p:cNvPr name="Group 33" id="33"/>
          <p:cNvGrpSpPr/>
          <p:nvPr/>
        </p:nvGrpSpPr>
        <p:grpSpPr>
          <a:xfrm rot="0">
            <a:off x="822960" y="9372600"/>
            <a:ext cx="8229600" cy="640080"/>
            <a:chOff x="0" y="0"/>
            <a:chExt cx="10972800" cy="853440"/>
          </a:xfrm>
        </p:grpSpPr>
        <p:sp>
          <p:nvSpPr>
            <p:cNvPr name="Freeform 34" id="34"/>
            <p:cNvSpPr/>
            <p:nvPr/>
          </p:nvSpPr>
          <p:spPr>
            <a:xfrm flipH="false" flipV="false" rot="0">
              <a:off x="0" y="0"/>
              <a:ext cx="10972800" cy="853440"/>
            </a:xfrm>
            <a:custGeom>
              <a:avLst/>
              <a:gdLst/>
              <a:ahLst/>
              <a:cxnLst/>
              <a:rect r="r" b="b" t="t" l="l"/>
              <a:pathLst>
                <a:path h="8534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853440"/>
                  </a:lnTo>
                  <a:lnTo>
                    <a:pt x="0" y="853440"/>
                  </a:lnTo>
                  <a:close/>
                </a:path>
              </a:pathLst>
            </a:custGeom>
            <a:blipFill>
              <a:blip r:embed="rId9">
                <a:alphaModFix amt="0"/>
              </a:blip>
              <a:stretch>
                <a:fillRect l="0" t="-200521" r="0" b="-200521"/>
              </a:stretch>
            </a:blipFill>
          </p:spPr>
        </p:sp>
        <p:sp>
          <p:nvSpPr>
            <p:cNvPr name="TextBox 35" id="35"/>
            <p:cNvSpPr txBox="true"/>
            <p:nvPr/>
          </p:nvSpPr>
          <p:spPr>
            <a:xfrm>
              <a:off x="0" y="-38100"/>
              <a:ext cx="10972800" cy="8915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6B728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WeFIND  |  TCC  |  IFSul Campus Pelotas</a:t>
              </a:r>
            </a:p>
          </p:txBody>
        </p:sp>
      </p:grpSp>
      <p:sp>
        <p:nvSpPr>
          <p:cNvPr name="Freeform 36" id="36"/>
          <p:cNvSpPr/>
          <p:nvPr/>
        </p:nvSpPr>
        <p:spPr>
          <a:xfrm flipH="false" flipV="false" rot="0">
            <a:off x="900513" y="2569321"/>
            <a:ext cx="3593878" cy="5148358"/>
          </a:xfrm>
          <a:custGeom>
            <a:avLst/>
            <a:gdLst/>
            <a:ahLst/>
            <a:cxnLst/>
            <a:rect r="r" b="b" t="t" l="l"/>
            <a:pathLst>
              <a:path h="5148358" w="3593878">
                <a:moveTo>
                  <a:pt x="0" y="0"/>
                </a:moveTo>
                <a:lnTo>
                  <a:pt x="3593877" y="0"/>
                </a:lnTo>
                <a:lnTo>
                  <a:pt x="3593877" y="5148358"/>
                </a:lnTo>
                <a:lnTo>
                  <a:pt x="0" y="5148358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37" id="37"/>
          <p:cNvGrpSpPr/>
          <p:nvPr/>
        </p:nvGrpSpPr>
        <p:grpSpPr>
          <a:xfrm rot="0">
            <a:off x="1645920" y="3086129"/>
            <a:ext cx="2103120" cy="2103120"/>
            <a:chOff x="0" y="0"/>
            <a:chExt cx="2804160" cy="2804160"/>
          </a:xfrm>
        </p:grpSpPr>
        <p:sp>
          <p:nvSpPr>
            <p:cNvPr name="Freeform 38" id="38" descr="viumeupet.png"/>
            <p:cNvSpPr/>
            <p:nvPr/>
          </p:nvSpPr>
          <p:spPr>
            <a:xfrm flipH="false" flipV="false" rot="0">
              <a:off x="0" y="0"/>
              <a:ext cx="2804160" cy="2804160"/>
            </a:xfrm>
            <a:custGeom>
              <a:avLst/>
              <a:gdLst/>
              <a:ahLst/>
              <a:cxnLst/>
              <a:rect r="r" b="b" t="t" l="l"/>
              <a:pathLst>
                <a:path h="2804160" w="2804160">
                  <a:moveTo>
                    <a:pt x="0" y="0"/>
                  </a:moveTo>
                  <a:lnTo>
                    <a:pt x="2804160" y="0"/>
                  </a:lnTo>
                  <a:lnTo>
                    <a:pt x="2804160" y="2804160"/>
                  </a:lnTo>
                  <a:lnTo>
                    <a:pt x="0" y="280416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/>
              <a:stretch>
                <a:fillRect l="0" t="0" r="0" b="0"/>
              </a:stretch>
            </a:blipFill>
          </p:spPr>
        </p:sp>
      </p:grpSp>
      <p:sp>
        <p:nvSpPr>
          <p:cNvPr name="Freeform 39" id="39"/>
          <p:cNvSpPr/>
          <p:nvPr/>
        </p:nvSpPr>
        <p:spPr>
          <a:xfrm flipH="false" flipV="false" rot="0">
            <a:off x="5198193" y="2569321"/>
            <a:ext cx="3593878" cy="5148358"/>
          </a:xfrm>
          <a:custGeom>
            <a:avLst/>
            <a:gdLst/>
            <a:ahLst/>
            <a:cxnLst/>
            <a:rect r="r" b="b" t="t" l="l"/>
            <a:pathLst>
              <a:path h="5148358" w="3593878">
                <a:moveTo>
                  <a:pt x="0" y="0"/>
                </a:moveTo>
                <a:lnTo>
                  <a:pt x="3593877" y="0"/>
                </a:lnTo>
                <a:lnTo>
                  <a:pt x="3593877" y="5148358"/>
                </a:lnTo>
                <a:lnTo>
                  <a:pt x="0" y="5148358"/>
                </a:lnTo>
                <a:lnTo>
                  <a:pt x="0" y="0"/>
                </a:lnTo>
                <a:close/>
              </a:path>
            </a:pathLst>
          </a:custGeom>
          <a:blipFill>
            <a:blip r:embed="rId13"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40" id="40"/>
          <p:cNvGrpSpPr/>
          <p:nvPr/>
        </p:nvGrpSpPr>
        <p:grpSpPr>
          <a:xfrm rot="0">
            <a:off x="5943600" y="3086129"/>
            <a:ext cx="2103120" cy="2103120"/>
            <a:chOff x="0" y="0"/>
            <a:chExt cx="2804160" cy="2804160"/>
          </a:xfrm>
        </p:grpSpPr>
        <p:sp>
          <p:nvSpPr>
            <p:cNvPr name="Freeform 41" id="41"/>
            <p:cNvSpPr/>
            <p:nvPr/>
          </p:nvSpPr>
          <p:spPr>
            <a:xfrm flipH="false" flipV="false" rot="0">
              <a:off x="0" y="0"/>
              <a:ext cx="2804160" cy="2804160"/>
            </a:xfrm>
            <a:custGeom>
              <a:avLst/>
              <a:gdLst/>
              <a:ahLst/>
              <a:cxnLst/>
              <a:rect r="r" b="b" t="t" l="l"/>
              <a:pathLst>
                <a:path h="2804160" w="2804160">
                  <a:moveTo>
                    <a:pt x="0" y="0"/>
                  </a:moveTo>
                  <a:lnTo>
                    <a:pt x="2804160" y="0"/>
                  </a:lnTo>
                  <a:lnTo>
                    <a:pt x="2804160" y="2804160"/>
                  </a:lnTo>
                  <a:lnTo>
                    <a:pt x="0" y="280416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5"/>
              <a:stretch>
                <a:fillRect l="-16964" t="0" r="-16964" b="0"/>
              </a:stretch>
            </a:blipFill>
          </p:spPr>
        </p:sp>
      </p:grpSp>
      <p:sp>
        <p:nvSpPr>
          <p:cNvPr name="Freeform 42" id="42"/>
          <p:cNvSpPr/>
          <p:nvPr/>
        </p:nvSpPr>
        <p:spPr>
          <a:xfrm flipH="false" flipV="false" rot="0">
            <a:off x="9495873" y="2569321"/>
            <a:ext cx="3593878" cy="5148358"/>
          </a:xfrm>
          <a:custGeom>
            <a:avLst/>
            <a:gdLst/>
            <a:ahLst/>
            <a:cxnLst/>
            <a:rect r="r" b="b" t="t" l="l"/>
            <a:pathLst>
              <a:path h="5148358" w="3593878">
                <a:moveTo>
                  <a:pt x="0" y="0"/>
                </a:moveTo>
                <a:lnTo>
                  <a:pt x="3593877" y="0"/>
                </a:lnTo>
                <a:lnTo>
                  <a:pt x="3593877" y="5148358"/>
                </a:lnTo>
                <a:lnTo>
                  <a:pt x="0" y="5148358"/>
                </a:lnTo>
                <a:lnTo>
                  <a:pt x="0" y="0"/>
                </a:lnTo>
                <a:close/>
              </a:path>
            </a:pathLst>
          </a:custGeom>
          <a:blipFill>
            <a:blip r:embed="rId13"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43" id="43"/>
          <p:cNvGrpSpPr/>
          <p:nvPr/>
        </p:nvGrpSpPr>
        <p:grpSpPr>
          <a:xfrm rot="0">
            <a:off x="10241280" y="3086129"/>
            <a:ext cx="2103120" cy="2103120"/>
            <a:chOff x="0" y="0"/>
            <a:chExt cx="2804160" cy="2804160"/>
          </a:xfrm>
        </p:grpSpPr>
        <p:sp>
          <p:nvSpPr>
            <p:cNvPr name="Freeform 44" id="44" descr="alertpet.png"/>
            <p:cNvSpPr/>
            <p:nvPr/>
          </p:nvSpPr>
          <p:spPr>
            <a:xfrm flipH="false" flipV="false" rot="0">
              <a:off x="0" y="0"/>
              <a:ext cx="2804160" cy="2804160"/>
            </a:xfrm>
            <a:custGeom>
              <a:avLst/>
              <a:gdLst/>
              <a:ahLst/>
              <a:cxnLst/>
              <a:rect r="r" b="b" t="t" l="l"/>
              <a:pathLst>
                <a:path h="2804160" w="2804160">
                  <a:moveTo>
                    <a:pt x="0" y="0"/>
                  </a:moveTo>
                  <a:lnTo>
                    <a:pt x="2804160" y="0"/>
                  </a:lnTo>
                  <a:lnTo>
                    <a:pt x="2804160" y="2804160"/>
                  </a:lnTo>
                  <a:lnTo>
                    <a:pt x="0" y="280416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/>
              <a:stretch>
                <a:fillRect l="-335" t="0" r="-335" b="0"/>
              </a:stretch>
            </a:blipFill>
          </p:spPr>
        </p:sp>
      </p:grpSp>
      <p:sp>
        <p:nvSpPr>
          <p:cNvPr name="Freeform 45" id="45"/>
          <p:cNvSpPr/>
          <p:nvPr/>
        </p:nvSpPr>
        <p:spPr>
          <a:xfrm flipH="false" flipV="false" rot="0">
            <a:off x="13793553" y="2569321"/>
            <a:ext cx="3593878" cy="5148358"/>
          </a:xfrm>
          <a:custGeom>
            <a:avLst/>
            <a:gdLst/>
            <a:ahLst/>
            <a:cxnLst/>
            <a:rect r="r" b="b" t="t" l="l"/>
            <a:pathLst>
              <a:path h="5148358" w="3593878">
                <a:moveTo>
                  <a:pt x="0" y="0"/>
                </a:moveTo>
                <a:lnTo>
                  <a:pt x="3593877" y="0"/>
                </a:lnTo>
                <a:lnTo>
                  <a:pt x="3593877" y="5148358"/>
                </a:lnTo>
                <a:lnTo>
                  <a:pt x="0" y="5148358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46" id="46"/>
          <p:cNvGrpSpPr/>
          <p:nvPr/>
        </p:nvGrpSpPr>
        <p:grpSpPr>
          <a:xfrm rot="0">
            <a:off x="14538960" y="3086129"/>
            <a:ext cx="2103120" cy="2103120"/>
            <a:chOff x="0" y="0"/>
            <a:chExt cx="2804160" cy="2804160"/>
          </a:xfrm>
        </p:grpSpPr>
        <p:sp>
          <p:nvSpPr>
            <p:cNvPr name="Freeform 47" id="47" descr="facebook.png"/>
            <p:cNvSpPr/>
            <p:nvPr/>
          </p:nvSpPr>
          <p:spPr>
            <a:xfrm flipH="false" flipV="false" rot="0">
              <a:off x="0" y="0"/>
              <a:ext cx="2804160" cy="2804160"/>
            </a:xfrm>
            <a:custGeom>
              <a:avLst/>
              <a:gdLst/>
              <a:ahLst/>
              <a:cxnLst/>
              <a:rect r="r" b="b" t="t" l="l"/>
              <a:pathLst>
                <a:path h="2804160" w="2804160">
                  <a:moveTo>
                    <a:pt x="0" y="0"/>
                  </a:moveTo>
                  <a:lnTo>
                    <a:pt x="2804160" y="0"/>
                  </a:lnTo>
                  <a:lnTo>
                    <a:pt x="2804160" y="2804160"/>
                  </a:lnTo>
                  <a:lnTo>
                    <a:pt x="0" y="280416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7"/>
              <a:stretch>
                <a:fillRect l="0" t="0" r="0" b="0"/>
              </a:stretch>
            </a:blipFill>
          </p:spPr>
        </p:sp>
      </p:grpSp>
      <p:sp>
        <p:nvSpPr>
          <p:cNvPr name="TextBox 48" id="48"/>
          <p:cNvSpPr txBox="true"/>
          <p:nvPr/>
        </p:nvSpPr>
        <p:spPr>
          <a:xfrm rot="0">
            <a:off x="1097280" y="5490239"/>
            <a:ext cx="3200400" cy="7505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079"/>
              </a:lnSpc>
            </a:pPr>
            <a:r>
              <a:rPr lang="en-US" sz="3399" b="true">
                <a:solidFill>
                  <a:srgbClr val="2E5634"/>
                </a:solidFill>
                <a:latin typeface="Cambria Bold"/>
                <a:ea typeface="Cambria Bold"/>
                <a:cs typeface="Cambria Bold"/>
                <a:sym typeface="Cambria Bold"/>
              </a:rPr>
              <a:t>Viu Meu Pet</a:t>
            </a:r>
          </a:p>
        </p:txBody>
      </p:sp>
      <p:sp>
        <p:nvSpPr>
          <p:cNvPr name="TextBox 49" id="49"/>
          <p:cNvSpPr txBox="true"/>
          <p:nvPr/>
        </p:nvSpPr>
        <p:spPr>
          <a:xfrm rot="0">
            <a:off x="1097280" y="6301769"/>
            <a:ext cx="3200400" cy="6248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00"/>
              </a:lnSpc>
            </a:pPr>
            <a:r>
              <a:rPr lang="en-US" sz="2000">
                <a:solidFill>
                  <a:srgbClr val="5B6B5F"/>
                </a:solidFill>
                <a:latin typeface="Calibri (MS)"/>
                <a:ea typeface="Calibri (MS)"/>
                <a:cs typeface="Calibri (MS)"/>
                <a:sym typeface="Calibri (MS)"/>
              </a:rPr>
              <a:t>Brasileiro · site e app</a:t>
            </a:r>
          </a:p>
        </p:txBody>
      </p:sp>
      <p:sp>
        <p:nvSpPr>
          <p:cNvPr name="TextBox 50" id="50"/>
          <p:cNvSpPr txBox="true"/>
          <p:nvPr/>
        </p:nvSpPr>
        <p:spPr>
          <a:xfrm rot="0">
            <a:off x="5394960" y="5490239"/>
            <a:ext cx="3200400" cy="7505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079"/>
              </a:lnSpc>
            </a:pPr>
            <a:r>
              <a:rPr lang="en-US" sz="3399" b="true">
                <a:solidFill>
                  <a:srgbClr val="2E5634"/>
                </a:solidFill>
                <a:latin typeface="Cambria Bold"/>
                <a:ea typeface="Cambria Bold"/>
                <a:cs typeface="Cambria Bold"/>
                <a:sym typeface="Cambria Bold"/>
              </a:rPr>
              <a:t>PawBoost</a:t>
            </a:r>
          </a:p>
        </p:txBody>
      </p:sp>
      <p:sp>
        <p:nvSpPr>
          <p:cNvPr name="TextBox 51" id="51"/>
          <p:cNvSpPr txBox="true"/>
          <p:nvPr/>
        </p:nvSpPr>
        <p:spPr>
          <a:xfrm rot="0">
            <a:off x="5394960" y="6301769"/>
            <a:ext cx="3200400" cy="6248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00"/>
              </a:lnSpc>
            </a:pPr>
            <a:r>
              <a:rPr lang="en-US" sz="2000">
                <a:solidFill>
                  <a:srgbClr val="5B6B5F"/>
                </a:solidFill>
                <a:latin typeface="Calibri (MS)"/>
                <a:ea typeface="Calibri (MS)"/>
                <a:cs typeface="Calibri (MS)"/>
                <a:sym typeface="Calibri (MS)"/>
              </a:rPr>
              <a:t>Internacional · site e app</a:t>
            </a:r>
          </a:p>
        </p:txBody>
      </p:sp>
      <p:sp>
        <p:nvSpPr>
          <p:cNvPr name="TextBox 52" id="52"/>
          <p:cNvSpPr txBox="true"/>
          <p:nvPr/>
        </p:nvSpPr>
        <p:spPr>
          <a:xfrm rot="0">
            <a:off x="9692640" y="5490239"/>
            <a:ext cx="3200400" cy="7505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079"/>
              </a:lnSpc>
            </a:pPr>
            <a:r>
              <a:rPr lang="en-US" sz="3399" b="true">
                <a:solidFill>
                  <a:srgbClr val="2E5634"/>
                </a:solidFill>
                <a:latin typeface="Cambria Bold"/>
                <a:ea typeface="Cambria Bold"/>
                <a:cs typeface="Cambria Bold"/>
                <a:sym typeface="Cambria Bold"/>
              </a:rPr>
              <a:t>AlertPet</a:t>
            </a:r>
          </a:p>
        </p:txBody>
      </p:sp>
      <p:sp>
        <p:nvSpPr>
          <p:cNvPr name="TextBox 53" id="53"/>
          <p:cNvSpPr txBox="true"/>
          <p:nvPr/>
        </p:nvSpPr>
        <p:spPr>
          <a:xfrm rot="0">
            <a:off x="9692640" y="6301769"/>
            <a:ext cx="3200400" cy="6248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00"/>
              </a:lnSpc>
            </a:pPr>
            <a:r>
              <a:rPr lang="en-US" sz="2000">
                <a:solidFill>
                  <a:srgbClr val="5B6B5F"/>
                </a:solidFill>
                <a:latin typeface="Calibri (MS)"/>
                <a:ea typeface="Calibri (MS)"/>
                <a:cs typeface="Calibri (MS)"/>
                <a:sym typeface="Calibri (MS)"/>
              </a:rPr>
              <a:t>Brasileiro · campanhas pagas</a:t>
            </a:r>
          </a:p>
        </p:txBody>
      </p:sp>
      <p:sp>
        <p:nvSpPr>
          <p:cNvPr name="TextBox 54" id="54"/>
          <p:cNvSpPr txBox="true"/>
          <p:nvPr/>
        </p:nvSpPr>
        <p:spPr>
          <a:xfrm rot="0">
            <a:off x="13990320" y="5490239"/>
            <a:ext cx="3200400" cy="7505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079"/>
              </a:lnSpc>
            </a:pPr>
            <a:r>
              <a:rPr lang="en-US" sz="3399" b="true">
                <a:solidFill>
                  <a:srgbClr val="2E5634"/>
                </a:solidFill>
                <a:latin typeface="Cambria Bold"/>
                <a:ea typeface="Cambria Bold"/>
                <a:cs typeface="Cambria Bold"/>
                <a:sym typeface="Cambria Bold"/>
              </a:rPr>
              <a:t>Facebook</a:t>
            </a:r>
          </a:p>
        </p:txBody>
      </p:sp>
      <p:sp>
        <p:nvSpPr>
          <p:cNvPr name="TextBox 55" id="55"/>
          <p:cNvSpPr txBox="true"/>
          <p:nvPr/>
        </p:nvSpPr>
        <p:spPr>
          <a:xfrm rot="0">
            <a:off x="13990320" y="6301769"/>
            <a:ext cx="3200400" cy="6248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00"/>
              </a:lnSpc>
            </a:pPr>
            <a:r>
              <a:rPr lang="en-US" sz="2000">
                <a:solidFill>
                  <a:srgbClr val="5B6B5F"/>
                </a:solidFill>
                <a:latin typeface="Calibri (MS)"/>
                <a:ea typeface="Calibri (MS)"/>
                <a:cs typeface="Calibri (MS)"/>
                <a:sym typeface="Calibri (MS)"/>
              </a:rPr>
              <a:t>Rede social · grupos</a:t>
            </a:r>
          </a:p>
        </p:txBody>
      </p:sp>
      <p:sp>
        <p:nvSpPr>
          <p:cNvPr name="TextBox 56" id="56"/>
          <p:cNvSpPr txBox="true"/>
          <p:nvPr/>
        </p:nvSpPr>
        <p:spPr>
          <a:xfrm rot="0">
            <a:off x="16459200" y="9433560"/>
            <a:ext cx="914400" cy="3810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400"/>
              </a:lnSpc>
            </a:pPr>
            <a:r>
              <a:rPr lang="en-US" sz="2000">
                <a:solidFill>
                  <a:srgbClr val="5B6B5F"/>
                </a:solidFill>
                <a:latin typeface="Calibri (MS)"/>
                <a:ea typeface="Calibri (MS)"/>
                <a:cs typeface="Calibri (MS)"/>
                <a:sym typeface="Calibri (MS)"/>
              </a:rPr>
              <a:t>10</a:t>
            </a:r>
          </a:p>
        </p:txBody>
      </p:sp>
      <p:sp>
        <p:nvSpPr>
          <p:cNvPr name="TextBox 57" id="57"/>
          <p:cNvSpPr txBox="true"/>
          <p:nvPr/>
        </p:nvSpPr>
        <p:spPr>
          <a:xfrm rot="0">
            <a:off x="914400" y="207264"/>
            <a:ext cx="6858000" cy="3429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00"/>
              </a:lnSpc>
            </a:pPr>
            <a:r>
              <a:rPr lang="en-US" b="true" sz="2000" spc="400">
                <a:solidFill>
                  <a:srgbClr val="B1734A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02  MÉTODO E PESQUISA</a:t>
            </a:r>
          </a:p>
        </p:txBody>
      </p: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914400" y="914400"/>
            <a:ext cx="16459200" cy="1097280"/>
            <a:chOff x="0" y="0"/>
            <a:chExt cx="21945600" cy="146304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1945600" cy="1463040"/>
            </a:xfrm>
            <a:custGeom>
              <a:avLst/>
              <a:gdLst/>
              <a:ahLst/>
              <a:cxnLst/>
              <a:rect r="r" b="b" t="t" l="l"/>
              <a:pathLst>
                <a:path h="146304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463040"/>
                  </a:lnTo>
                  <a:lnTo>
                    <a:pt x="0" y="14630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242072" r="0" b="-242072"/>
              </a:stretch>
            </a:blipFill>
          </p:spPr>
        </p:sp>
      </p:grpSp>
      <p:grpSp>
        <p:nvGrpSpPr>
          <p:cNvPr name="Group 4" id="4"/>
          <p:cNvGrpSpPr/>
          <p:nvPr/>
        </p:nvGrpSpPr>
        <p:grpSpPr>
          <a:xfrm rot="0">
            <a:off x="914400" y="907256"/>
            <a:ext cx="16459200" cy="1104424"/>
            <a:chOff x="0" y="0"/>
            <a:chExt cx="21945600" cy="1472565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1945600" cy="1472565"/>
            </a:xfrm>
            <a:custGeom>
              <a:avLst/>
              <a:gdLst/>
              <a:ahLst/>
              <a:cxnLst/>
              <a:rect r="r" b="b" t="t" l="l"/>
              <a:pathLst>
                <a:path h="1472565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472565"/>
                  </a:lnTo>
                  <a:lnTo>
                    <a:pt x="0" y="1472565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40182" r="0" b="-240183"/>
              </a:stretch>
            </a:blipFill>
          </p:spPr>
        </p:sp>
      </p:grpSp>
      <p:grpSp>
        <p:nvGrpSpPr>
          <p:cNvPr name="Group 6" id="6"/>
          <p:cNvGrpSpPr/>
          <p:nvPr/>
        </p:nvGrpSpPr>
        <p:grpSpPr>
          <a:xfrm rot="0">
            <a:off x="914400" y="900112"/>
            <a:ext cx="16459200" cy="1111568"/>
            <a:chOff x="0" y="0"/>
            <a:chExt cx="21945600" cy="148209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1945600" cy="1482090"/>
            </a:xfrm>
            <a:custGeom>
              <a:avLst/>
              <a:gdLst/>
              <a:ahLst/>
              <a:cxnLst/>
              <a:rect r="r" b="b" t="t" l="l"/>
              <a:pathLst>
                <a:path h="148209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482090"/>
                  </a:lnTo>
                  <a:lnTo>
                    <a:pt x="0" y="148209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38317" r="0" b="-238318"/>
              </a:stretch>
            </a:blipFill>
          </p:spPr>
        </p:sp>
      </p:grpSp>
      <p:grpSp>
        <p:nvGrpSpPr>
          <p:cNvPr name="Group 8" id="8"/>
          <p:cNvGrpSpPr/>
          <p:nvPr/>
        </p:nvGrpSpPr>
        <p:grpSpPr>
          <a:xfrm rot="0">
            <a:off x="914400" y="892969"/>
            <a:ext cx="16459200" cy="1118711"/>
            <a:chOff x="0" y="0"/>
            <a:chExt cx="21945600" cy="1491615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1945600" cy="1491615"/>
            </a:xfrm>
            <a:custGeom>
              <a:avLst/>
              <a:gdLst/>
              <a:ahLst/>
              <a:cxnLst/>
              <a:rect r="r" b="b" t="t" l="l"/>
              <a:pathLst>
                <a:path h="1491615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491615"/>
                  </a:lnTo>
                  <a:lnTo>
                    <a:pt x="0" y="1491615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236476" r="0" b="-236477"/>
              </a:stretch>
            </a:blipFill>
          </p:spPr>
        </p:sp>
      </p:grpSp>
      <p:grpSp>
        <p:nvGrpSpPr>
          <p:cNvPr name="Group 10" id="10"/>
          <p:cNvGrpSpPr/>
          <p:nvPr/>
        </p:nvGrpSpPr>
        <p:grpSpPr>
          <a:xfrm rot="0">
            <a:off x="914400" y="885825"/>
            <a:ext cx="16459200" cy="1125855"/>
            <a:chOff x="0" y="0"/>
            <a:chExt cx="21945600" cy="150114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21945600" cy="1501140"/>
            </a:xfrm>
            <a:custGeom>
              <a:avLst/>
              <a:gdLst/>
              <a:ahLst/>
              <a:cxnLst/>
              <a:rect r="r" b="b" t="t" l="l"/>
              <a:pathLst>
                <a:path h="150114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501140"/>
                  </a:lnTo>
                  <a:lnTo>
                    <a:pt x="0" y="1501140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l="0" t="-234659" r="0" b="-234659"/>
              </a:stretch>
            </a:blipFill>
          </p:spPr>
        </p:sp>
      </p:grpSp>
      <p:grpSp>
        <p:nvGrpSpPr>
          <p:cNvPr name="Group 12" id="12"/>
          <p:cNvGrpSpPr/>
          <p:nvPr/>
        </p:nvGrpSpPr>
        <p:grpSpPr>
          <a:xfrm rot="0">
            <a:off x="914400" y="878681"/>
            <a:ext cx="16459200" cy="1132999"/>
            <a:chOff x="0" y="0"/>
            <a:chExt cx="21945600" cy="1510665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21945600" cy="1510665"/>
            </a:xfrm>
            <a:custGeom>
              <a:avLst/>
              <a:gdLst/>
              <a:ahLst/>
              <a:cxnLst/>
              <a:rect r="r" b="b" t="t" l="l"/>
              <a:pathLst>
                <a:path h="1510665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510665"/>
                  </a:lnTo>
                  <a:lnTo>
                    <a:pt x="0" y="1510665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0" t="-232864" r="0" b="-232865"/>
              </a:stretch>
            </a:blipFill>
          </p:spPr>
        </p:sp>
      </p:grpSp>
      <p:grpSp>
        <p:nvGrpSpPr>
          <p:cNvPr name="Group 14" id="14"/>
          <p:cNvGrpSpPr/>
          <p:nvPr/>
        </p:nvGrpSpPr>
        <p:grpSpPr>
          <a:xfrm rot="0">
            <a:off x="914400" y="871538"/>
            <a:ext cx="16459200" cy="1140142"/>
            <a:chOff x="0" y="0"/>
            <a:chExt cx="21945600" cy="152019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21945600" cy="1520190"/>
            </a:xfrm>
            <a:custGeom>
              <a:avLst/>
              <a:gdLst/>
              <a:ahLst/>
              <a:cxnLst/>
              <a:rect r="r" b="b" t="t" l="l"/>
              <a:pathLst>
                <a:path h="152019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520190"/>
                  </a:lnTo>
                  <a:lnTo>
                    <a:pt x="0" y="1520190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0" t="-231287" r="0" b="-231287"/>
              </a:stretch>
            </a:blipFill>
          </p:spPr>
        </p:sp>
        <p:sp>
          <p:nvSpPr>
            <p:cNvPr name="TextBox 16" id="16"/>
            <p:cNvSpPr txBox="true"/>
            <p:nvPr/>
          </p:nvSpPr>
          <p:spPr>
            <a:xfrm>
              <a:off x="0" y="-9525"/>
              <a:ext cx="21945600" cy="15297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6239"/>
                </a:lnSpc>
              </a:pPr>
              <a:r>
                <a:rPr lang="en-US" sz="5198" b="true">
                  <a:solidFill>
                    <a:srgbClr val="2E5634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Nenhuma reúne mapa, rota e correspondência</a:t>
              </a:r>
            </a:p>
          </p:txBody>
        </p:sp>
      </p:grpSp>
      <p:graphicFrame>
        <p:nvGraphicFramePr>
          <p:cNvPr name="Table 17" id="17"/>
          <p:cNvGraphicFramePr>
            <a:graphicFrameLocks noGrp="true"/>
          </p:cNvGraphicFramePr>
          <p:nvPr/>
        </p:nvGraphicFramePr>
        <p:xfrm>
          <a:off x="914400" y="2194560"/>
          <a:ext cx="16217900" cy="6654800"/>
        </p:xfrm>
        <a:graphic>
          <a:graphicData uri="http://schemas.openxmlformats.org/drawingml/2006/table">
            <a:tbl>
              <a:tblPr/>
              <a:tblGrid>
                <a:gridCol w="6667359"/>
                <a:gridCol w="1910108"/>
                <a:gridCol w="1910108"/>
                <a:gridCol w="1910108"/>
                <a:gridCol w="1910108"/>
                <a:gridCol w="1910108"/>
              </a:tblGrid>
              <a:tr h="618590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760"/>
                        </a:lnSpc>
                        <a:defRPr/>
                      </a:pPr>
                      <a:r>
                        <a:rPr lang="en-US" sz="2300" b="true">
                          <a:solidFill>
                            <a:srgbClr val="2E5634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Funcionalidade</a:t>
                      </a:r>
                      <a:endParaRPr lang="en-US" sz="1100"/>
                    </a:p>
                  </a:txBody>
                  <a:tcPr marL="73152" marR="73152" marT="73152" marB="73152" anchor="ctr">
                    <a:lnL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5875">
                      <a:solidFill>
                        <a:srgbClr val="2E56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760"/>
                        </a:lnSpc>
                        <a:defRPr/>
                      </a:pPr>
                      <a:r>
                        <a:rPr lang="en-US" sz="2300" b="true">
                          <a:solidFill>
                            <a:srgbClr val="2E5634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Viu Meu Pet</a:t>
                      </a:r>
                      <a:endParaRPr lang="en-US" sz="1100"/>
                    </a:p>
                  </a:txBody>
                  <a:tcPr marL="73152" marR="73152" marT="73152" marB="73152" anchor="ctr">
                    <a:lnL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5875">
                      <a:solidFill>
                        <a:srgbClr val="2E56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760"/>
                        </a:lnSpc>
                        <a:defRPr/>
                      </a:pPr>
                      <a:r>
                        <a:rPr lang="en-US" sz="2300" b="true">
                          <a:solidFill>
                            <a:srgbClr val="2E5634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PawBoost</a:t>
                      </a:r>
                      <a:endParaRPr lang="en-US" sz="1100"/>
                    </a:p>
                  </a:txBody>
                  <a:tcPr marL="73152" marR="73152" marT="73152" marB="73152" anchor="ctr">
                    <a:lnL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5875">
                      <a:solidFill>
                        <a:srgbClr val="2E56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760"/>
                        </a:lnSpc>
                        <a:defRPr/>
                      </a:pPr>
                      <a:r>
                        <a:rPr lang="en-US" sz="2300" b="true">
                          <a:solidFill>
                            <a:srgbClr val="2E5634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AlertPet</a:t>
                      </a:r>
                      <a:endParaRPr lang="en-US" sz="1100"/>
                    </a:p>
                  </a:txBody>
                  <a:tcPr marL="73152" marR="73152" marT="73152" marB="73152" anchor="ctr">
                    <a:lnL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5875">
                      <a:solidFill>
                        <a:srgbClr val="2E56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760"/>
                        </a:lnSpc>
                        <a:defRPr/>
                      </a:pPr>
                      <a:r>
                        <a:rPr lang="en-US" sz="2300" b="true">
                          <a:solidFill>
                            <a:srgbClr val="2E5634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Facebook</a:t>
                      </a:r>
                      <a:endParaRPr lang="en-US" sz="1100"/>
                    </a:p>
                  </a:txBody>
                  <a:tcPr marL="73152" marR="73152" marT="73152" marB="73152" anchor="ctr">
                    <a:lnL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5875">
                      <a:solidFill>
                        <a:srgbClr val="2E56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760"/>
                        </a:lnSpc>
                        <a:defRPr/>
                      </a:pPr>
                      <a:r>
                        <a:rPr lang="en-US" sz="2300" b="true">
                          <a:solidFill>
                            <a:srgbClr val="B1734A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WeFIND</a:t>
                      </a:r>
                      <a:endParaRPr lang="en-US" sz="1100"/>
                    </a:p>
                  </a:txBody>
                  <a:tcPr marL="73152" marR="73152" marT="73152" marB="73152" anchor="ctr">
                    <a:lnL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5875">
                      <a:solidFill>
                        <a:srgbClr val="2E56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80954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760"/>
                        </a:lnSpc>
                        <a:defRPr/>
                      </a:pPr>
                      <a:r>
                        <a:rPr lang="en-US" sz="2300">
                          <a:solidFill>
                            <a:srgbClr val="000000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Cadastrar animal com fotos e descrição</a:t>
                      </a:r>
                      <a:endParaRPr lang="en-US" sz="1100"/>
                    </a:p>
                  </a:txBody>
                  <a:tcPr marL="73152" marR="73152" marT="73152" marB="73152" anchor="ctr">
                    <a:lnL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6350">
                      <a:solidFill>
                        <a:srgbClr val="E1E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760"/>
                        </a:lnSpc>
                        <a:defRPr/>
                      </a:pPr>
                      <a:r>
                        <a:rPr lang="en-US" sz="2300" b="true">
                          <a:solidFill>
                            <a:srgbClr val="2E5634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✓</a:t>
                      </a:r>
                      <a:endParaRPr lang="en-US" sz="1100"/>
                    </a:p>
                  </a:txBody>
                  <a:tcPr marL="73152" marR="73152" marT="73152" marB="73152" anchor="ctr">
                    <a:lnL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6350">
                      <a:solidFill>
                        <a:srgbClr val="E1E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760"/>
                        </a:lnSpc>
                        <a:defRPr/>
                      </a:pPr>
                      <a:r>
                        <a:rPr lang="en-US" sz="2300" b="true">
                          <a:solidFill>
                            <a:srgbClr val="2E5634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✓</a:t>
                      </a:r>
                      <a:endParaRPr lang="en-US" sz="1100"/>
                    </a:p>
                  </a:txBody>
                  <a:tcPr marL="73152" marR="73152" marT="73152" marB="73152" anchor="ctr">
                    <a:lnL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6350">
                      <a:solidFill>
                        <a:srgbClr val="E1E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760"/>
                        </a:lnSpc>
                        <a:defRPr/>
                      </a:pPr>
                      <a:r>
                        <a:rPr lang="en-US" sz="2300" b="true">
                          <a:solidFill>
                            <a:srgbClr val="2E5634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✓</a:t>
                      </a:r>
                      <a:endParaRPr lang="en-US" sz="1100"/>
                    </a:p>
                  </a:txBody>
                  <a:tcPr marL="73152" marR="73152" marT="73152" marB="73152" anchor="ctr">
                    <a:lnL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6350">
                      <a:solidFill>
                        <a:srgbClr val="E1E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760"/>
                        </a:lnSpc>
                        <a:defRPr/>
                      </a:pPr>
                      <a:r>
                        <a:rPr lang="en-US" sz="2300" b="true">
                          <a:solidFill>
                            <a:srgbClr val="2E5634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✓</a:t>
                      </a:r>
                      <a:endParaRPr lang="en-US" sz="1100"/>
                    </a:p>
                  </a:txBody>
                  <a:tcPr marL="73152" marR="73152" marT="73152" marB="73152" anchor="ctr">
                    <a:lnL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6350">
                      <a:solidFill>
                        <a:srgbClr val="E1E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760"/>
                        </a:lnSpc>
                        <a:defRPr/>
                      </a:pPr>
                      <a:r>
                        <a:rPr lang="en-US" sz="2300" b="true">
                          <a:solidFill>
                            <a:srgbClr val="2E5634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✓</a:t>
                      </a:r>
                      <a:endParaRPr lang="en-US" sz="1100"/>
                    </a:p>
                  </a:txBody>
                  <a:tcPr marL="73152" marR="73152" marT="73152" marB="73152" anchor="ctr">
                    <a:lnL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6350">
                      <a:solidFill>
                        <a:srgbClr val="E1E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72560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760"/>
                        </a:lnSpc>
                        <a:defRPr/>
                      </a:pPr>
                      <a:r>
                        <a:rPr lang="en-US" sz="2300">
                          <a:solidFill>
                            <a:srgbClr val="000000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Disponibilizar aplicativo móvel para busca de animais</a:t>
                      </a:r>
                      <a:endParaRPr lang="en-US" sz="1100"/>
                    </a:p>
                  </a:txBody>
                  <a:tcPr marL="73152" marR="73152" marT="73152" marB="73152" anchor="ctr">
                    <a:lnL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6350">
                      <a:solidFill>
                        <a:srgbClr val="E1E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760"/>
                        </a:lnSpc>
                        <a:defRPr/>
                      </a:pPr>
                      <a:r>
                        <a:rPr lang="en-US" sz="2300" b="true">
                          <a:solidFill>
                            <a:srgbClr val="2E5634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✓</a:t>
                      </a:r>
                      <a:endParaRPr lang="en-US" sz="1100"/>
                    </a:p>
                  </a:txBody>
                  <a:tcPr marL="73152" marR="73152" marT="73152" marB="73152" anchor="ctr">
                    <a:lnL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6350">
                      <a:solidFill>
                        <a:srgbClr val="E1E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760"/>
                        </a:lnSpc>
                        <a:defRPr/>
                      </a:pPr>
                      <a:r>
                        <a:rPr lang="en-US" sz="2300" b="true">
                          <a:solidFill>
                            <a:srgbClr val="2E5634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✓</a:t>
                      </a:r>
                      <a:endParaRPr lang="en-US" sz="1100"/>
                    </a:p>
                  </a:txBody>
                  <a:tcPr marL="73152" marR="73152" marT="73152" marB="73152" anchor="ctr">
                    <a:lnL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6350">
                      <a:solidFill>
                        <a:srgbClr val="E1E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760"/>
                        </a:lnSpc>
                        <a:defRPr/>
                      </a:pPr>
                      <a:r>
                        <a:rPr lang="en-US" sz="2300" b="true">
                          <a:solidFill>
                            <a:srgbClr val="CC0D0F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✗</a:t>
                      </a:r>
                      <a:endParaRPr lang="en-US" sz="1100"/>
                    </a:p>
                  </a:txBody>
                  <a:tcPr marL="73152" marR="73152" marT="73152" marB="73152" anchor="ctr">
                    <a:lnL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6350">
                      <a:solidFill>
                        <a:srgbClr val="E1E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760"/>
                        </a:lnSpc>
                        <a:defRPr/>
                      </a:pPr>
                      <a:r>
                        <a:rPr lang="en-US" sz="2300" b="true">
                          <a:solidFill>
                            <a:srgbClr val="CC0D0F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✗</a:t>
                      </a:r>
                      <a:endParaRPr lang="en-US" sz="1100"/>
                    </a:p>
                  </a:txBody>
                  <a:tcPr marL="73152" marR="73152" marT="73152" marB="73152" anchor="ctr">
                    <a:lnL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6350">
                      <a:solidFill>
                        <a:srgbClr val="E1E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760"/>
                        </a:lnSpc>
                        <a:defRPr/>
                      </a:pPr>
                      <a:r>
                        <a:rPr lang="en-US" sz="2300" b="true">
                          <a:solidFill>
                            <a:srgbClr val="2E5634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✓</a:t>
                      </a:r>
                      <a:endParaRPr lang="en-US" sz="1100"/>
                    </a:p>
                  </a:txBody>
                  <a:tcPr marL="73152" marR="73152" marT="73152" marB="73152" anchor="ctr">
                    <a:lnL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6350">
                      <a:solidFill>
                        <a:srgbClr val="E1E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72560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760"/>
                        </a:lnSpc>
                        <a:defRPr/>
                      </a:pPr>
                      <a:r>
                        <a:rPr lang="en-US" sz="2300">
                          <a:solidFill>
                            <a:srgbClr val="000000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Gerar cartazes digitais de busca</a:t>
                      </a:r>
                      <a:endParaRPr lang="en-US" sz="1100"/>
                    </a:p>
                  </a:txBody>
                  <a:tcPr marL="73152" marR="73152" marT="73152" marB="73152" anchor="ctr">
                    <a:lnL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6350">
                      <a:solidFill>
                        <a:srgbClr val="E1E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760"/>
                        </a:lnSpc>
                        <a:defRPr/>
                      </a:pPr>
                      <a:r>
                        <a:rPr lang="en-US" sz="2300" b="true">
                          <a:solidFill>
                            <a:srgbClr val="2E5634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✓</a:t>
                      </a:r>
                      <a:endParaRPr lang="en-US" sz="1100"/>
                    </a:p>
                  </a:txBody>
                  <a:tcPr marL="73152" marR="73152" marT="73152" marB="73152" anchor="ctr">
                    <a:lnL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6350">
                      <a:solidFill>
                        <a:srgbClr val="E1E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760"/>
                        </a:lnSpc>
                        <a:defRPr/>
                      </a:pPr>
                      <a:r>
                        <a:rPr lang="en-US" sz="2300" b="true">
                          <a:solidFill>
                            <a:srgbClr val="2E5634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✓</a:t>
                      </a:r>
                      <a:endParaRPr lang="en-US" sz="1100"/>
                    </a:p>
                  </a:txBody>
                  <a:tcPr marL="73152" marR="73152" marT="73152" marB="73152" anchor="ctr">
                    <a:lnL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6350">
                      <a:solidFill>
                        <a:srgbClr val="E1E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760"/>
                        </a:lnSpc>
                        <a:defRPr/>
                      </a:pPr>
                      <a:r>
                        <a:rPr lang="en-US" sz="2300" b="true">
                          <a:solidFill>
                            <a:srgbClr val="2E5634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✓</a:t>
                      </a:r>
                      <a:endParaRPr lang="en-US" sz="1100"/>
                    </a:p>
                  </a:txBody>
                  <a:tcPr marL="73152" marR="73152" marT="73152" marB="73152" anchor="ctr">
                    <a:lnL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6350">
                      <a:solidFill>
                        <a:srgbClr val="E1E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760"/>
                        </a:lnSpc>
                        <a:defRPr/>
                      </a:pPr>
                      <a:r>
                        <a:rPr lang="en-US" sz="2300" b="true">
                          <a:solidFill>
                            <a:srgbClr val="CC0D0F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✗</a:t>
                      </a:r>
                      <a:endParaRPr lang="en-US" sz="1100"/>
                    </a:p>
                  </a:txBody>
                  <a:tcPr marL="73152" marR="73152" marT="73152" marB="73152" anchor="ctr">
                    <a:lnL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6350">
                      <a:solidFill>
                        <a:srgbClr val="E1E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760"/>
                        </a:lnSpc>
                        <a:defRPr/>
                      </a:pPr>
                      <a:r>
                        <a:rPr lang="en-US" sz="2300" b="true">
                          <a:solidFill>
                            <a:srgbClr val="2E5634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✓</a:t>
                      </a:r>
                      <a:endParaRPr lang="en-US" sz="1100"/>
                    </a:p>
                  </a:txBody>
                  <a:tcPr marL="73152" marR="73152" marT="73152" marB="73152" anchor="ctr">
                    <a:lnL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6350">
                      <a:solidFill>
                        <a:srgbClr val="E1E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72560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760"/>
                        </a:lnSpc>
                        <a:defRPr/>
                      </a:pPr>
                      <a:r>
                        <a:rPr lang="en-US" sz="2300">
                          <a:solidFill>
                            <a:srgbClr val="000000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Filtrar animais por espécie e município</a:t>
                      </a:r>
                      <a:endParaRPr lang="en-US" sz="1100"/>
                    </a:p>
                  </a:txBody>
                  <a:tcPr marL="73152" marR="73152" marT="73152" marB="73152" anchor="ctr">
                    <a:lnL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6350">
                      <a:solidFill>
                        <a:srgbClr val="E1E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760"/>
                        </a:lnSpc>
                        <a:defRPr/>
                      </a:pPr>
                      <a:r>
                        <a:rPr lang="en-US" sz="2300" b="true">
                          <a:solidFill>
                            <a:srgbClr val="2E5634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✓</a:t>
                      </a:r>
                      <a:endParaRPr lang="en-US" sz="1100"/>
                    </a:p>
                  </a:txBody>
                  <a:tcPr marL="73152" marR="73152" marT="73152" marB="73152" anchor="ctr">
                    <a:lnL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6350">
                      <a:solidFill>
                        <a:srgbClr val="E1E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760"/>
                        </a:lnSpc>
                        <a:defRPr/>
                      </a:pPr>
                      <a:r>
                        <a:rPr lang="en-US" sz="2300" b="true">
                          <a:solidFill>
                            <a:srgbClr val="2E5634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✓</a:t>
                      </a:r>
                      <a:endParaRPr lang="en-US" sz="1100"/>
                    </a:p>
                  </a:txBody>
                  <a:tcPr marL="73152" marR="73152" marT="73152" marB="73152" anchor="ctr">
                    <a:lnL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6350">
                      <a:solidFill>
                        <a:srgbClr val="E1E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760"/>
                        </a:lnSpc>
                        <a:defRPr/>
                      </a:pPr>
                      <a:r>
                        <a:rPr lang="en-US" sz="2300" b="true">
                          <a:solidFill>
                            <a:srgbClr val="2E5634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✓</a:t>
                      </a:r>
                      <a:endParaRPr lang="en-US" sz="1100"/>
                    </a:p>
                  </a:txBody>
                  <a:tcPr marL="73152" marR="73152" marT="73152" marB="73152" anchor="ctr">
                    <a:lnL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6350">
                      <a:solidFill>
                        <a:srgbClr val="E1E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760"/>
                        </a:lnSpc>
                        <a:defRPr/>
                      </a:pPr>
                      <a:r>
                        <a:rPr lang="en-US" sz="2300" b="true">
                          <a:solidFill>
                            <a:srgbClr val="CC0D0F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✗</a:t>
                      </a:r>
                      <a:endParaRPr lang="en-US" sz="1100"/>
                    </a:p>
                  </a:txBody>
                  <a:tcPr marL="73152" marR="73152" marT="73152" marB="73152" anchor="ctr">
                    <a:lnL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6350">
                      <a:solidFill>
                        <a:srgbClr val="E1E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760"/>
                        </a:lnSpc>
                        <a:defRPr/>
                      </a:pPr>
                      <a:r>
                        <a:rPr lang="en-US" sz="2300" b="true">
                          <a:solidFill>
                            <a:srgbClr val="2E5634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✓</a:t>
                      </a:r>
                      <a:endParaRPr lang="en-US" sz="1100"/>
                    </a:p>
                  </a:txBody>
                  <a:tcPr marL="73152" marR="73152" marT="73152" marB="73152" anchor="ctr">
                    <a:lnL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6350">
                      <a:solidFill>
                        <a:srgbClr val="E1E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72560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760"/>
                        </a:lnSpc>
                        <a:defRPr/>
                      </a:pPr>
                      <a:r>
                        <a:rPr lang="en-US" sz="2300">
                          <a:solidFill>
                            <a:srgbClr val="000000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Enviar alertas sobre publicações relevantes</a:t>
                      </a:r>
                      <a:endParaRPr lang="en-US" sz="1100"/>
                    </a:p>
                  </a:txBody>
                  <a:tcPr marL="73152" marR="73152" marT="73152" marB="73152" anchor="ctr">
                    <a:lnL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6350">
                      <a:solidFill>
                        <a:srgbClr val="E1E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760"/>
                        </a:lnSpc>
                        <a:defRPr/>
                      </a:pPr>
                      <a:r>
                        <a:rPr lang="en-US" sz="2300" b="true">
                          <a:solidFill>
                            <a:srgbClr val="2E5634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✓</a:t>
                      </a:r>
                      <a:endParaRPr lang="en-US" sz="1100"/>
                    </a:p>
                  </a:txBody>
                  <a:tcPr marL="73152" marR="73152" marT="73152" marB="73152" anchor="ctr">
                    <a:lnL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6350">
                      <a:solidFill>
                        <a:srgbClr val="E1E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760"/>
                        </a:lnSpc>
                        <a:defRPr/>
                      </a:pPr>
                      <a:r>
                        <a:rPr lang="en-US" sz="2300" b="true">
                          <a:solidFill>
                            <a:srgbClr val="2E5634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✓</a:t>
                      </a:r>
                      <a:endParaRPr lang="en-US" sz="1100"/>
                    </a:p>
                  </a:txBody>
                  <a:tcPr marL="73152" marR="73152" marT="73152" marB="73152" anchor="ctr">
                    <a:lnL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6350">
                      <a:solidFill>
                        <a:srgbClr val="E1E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760"/>
                        </a:lnSpc>
                        <a:defRPr/>
                      </a:pPr>
                      <a:r>
                        <a:rPr lang="en-US" sz="2300" b="true">
                          <a:solidFill>
                            <a:srgbClr val="2E5634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✓</a:t>
                      </a:r>
                      <a:endParaRPr lang="en-US" sz="1100"/>
                    </a:p>
                  </a:txBody>
                  <a:tcPr marL="73152" marR="73152" marT="73152" marB="73152" anchor="ctr">
                    <a:lnL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6350">
                      <a:solidFill>
                        <a:srgbClr val="E1E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760"/>
                        </a:lnSpc>
                        <a:defRPr/>
                      </a:pPr>
                      <a:r>
                        <a:rPr lang="en-US" sz="2300" b="true">
                          <a:solidFill>
                            <a:srgbClr val="CC0D0F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✗</a:t>
                      </a:r>
                      <a:endParaRPr lang="en-US" sz="1100"/>
                    </a:p>
                  </a:txBody>
                  <a:tcPr marL="73152" marR="73152" marT="73152" marB="73152" anchor="ctr">
                    <a:lnL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6350">
                      <a:solidFill>
                        <a:srgbClr val="E1E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760"/>
                        </a:lnSpc>
                        <a:defRPr/>
                      </a:pPr>
                      <a:r>
                        <a:rPr lang="en-US" sz="2300" b="true">
                          <a:solidFill>
                            <a:srgbClr val="2E5634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✓</a:t>
                      </a:r>
                      <a:endParaRPr lang="en-US" sz="1100"/>
                    </a:p>
                  </a:txBody>
                  <a:tcPr marL="73152" marR="73152" marT="73152" marB="73152" anchor="ctr">
                    <a:lnL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6350">
                      <a:solidFill>
                        <a:srgbClr val="E1E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72560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760"/>
                        </a:lnSpc>
                        <a:defRPr/>
                      </a:pPr>
                      <a:r>
                        <a:rPr lang="en-US" sz="2300" b="true">
                          <a:solidFill>
                            <a:srgbClr val="000000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Visualizar animais em mapa interativo</a:t>
                      </a:r>
                      <a:endParaRPr lang="en-US" sz="1100"/>
                    </a:p>
                  </a:txBody>
                  <a:tcPr marL="73152" marR="73152" marT="73152" marB="73152" anchor="ctr">
                    <a:lnL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6350">
                      <a:solidFill>
                        <a:srgbClr val="E1E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760"/>
                        </a:lnSpc>
                        <a:defRPr/>
                      </a:pPr>
                      <a:r>
                        <a:rPr lang="en-US" sz="2300" b="true">
                          <a:solidFill>
                            <a:srgbClr val="CC0D0F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✗</a:t>
                      </a:r>
                      <a:endParaRPr lang="en-US" sz="1100"/>
                    </a:p>
                  </a:txBody>
                  <a:tcPr marL="73152" marR="73152" marT="73152" marB="73152" anchor="ctr">
                    <a:lnL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6350">
                      <a:solidFill>
                        <a:srgbClr val="E1E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760"/>
                        </a:lnSpc>
                        <a:defRPr/>
                      </a:pPr>
                      <a:r>
                        <a:rPr lang="en-US" sz="2300" b="true">
                          <a:solidFill>
                            <a:srgbClr val="CC0D0F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✗</a:t>
                      </a:r>
                      <a:endParaRPr lang="en-US" sz="1100"/>
                    </a:p>
                  </a:txBody>
                  <a:tcPr marL="73152" marR="73152" marT="73152" marB="73152" anchor="ctr">
                    <a:lnL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6350">
                      <a:solidFill>
                        <a:srgbClr val="E1E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760"/>
                        </a:lnSpc>
                        <a:defRPr/>
                      </a:pPr>
                      <a:r>
                        <a:rPr lang="en-US" sz="2300" b="true">
                          <a:solidFill>
                            <a:srgbClr val="CC0D0F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✗</a:t>
                      </a:r>
                      <a:endParaRPr lang="en-US" sz="1100"/>
                    </a:p>
                  </a:txBody>
                  <a:tcPr marL="73152" marR="73152" marT="73152" marB="73152" anchor="ctr">
                    <a:lnL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6350">
                      <a:solidFill>
                        <a:srgbClr val="E1E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760"/>
                        </a:lnSpc>
                        <a:defRPr/>
                      </a:pPr>
                      <a:r>
                        <a:rPr lang="en-US" sz="2300" b="true">
                          <a:solidFill>
                            <a:srgbClr val="CC0D0F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✗</a:t>
                      </a:r>
                      <a:endParaRPr lang="en-US" sz="1100"/>
                    </a:p>
                  </a:txBody>
                  <a:tcPr marL="73152" marR="73152" marT="73152" marB="73152" anchor="ctr">
                    <a:lnL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6350">
                      <a:solidFill>
                        <a:srgbClr val="E1E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760"/>
                        </a:lnSpc>
                        <a:defRPr/>
                      </a:pPr>
                      <a:r>
                        <a:rPr lang="en-US" sz="2300" b="true">
                          <a:solidFill>
                            <a:srgbClr val="2E5634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✓</a:t>
                      </a:r>
                      <a:endParaRPr lang="en-US" sz="1100"/>
                    </a:p>
                  </a:txBody>
                  <a:tcPr marL="73152" marR="73152" marT="73152" marB="73152" anchor="ctr">
                    <a:lnL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6350">
                      <a:solidFill>
                        <a:srgbClr val="E1E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72560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760"/>
                        </a:lnSpc>
                        <a:defRPr/>
                      </a:pPr>
                      <a:r>
                        <a:rPr lang="en-US" sz="2300" b="true">
                          <a:solidFill>
                            <a:srgbClr val="000000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Registrar relatos de avistamento com localização</a:t>
                      </a:r>
                      <a:endParaRPr lang="en-US" sz="1100"/>
                    </a:p>
                  </a:txBody>
                  <a:tcPr marL="73152" marR="73152" marT="73152" marB="73152" anchor="ctr">
                    <a:lnL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6350">
                      <a:solidFill>
                        <a:srgbClr val="E1E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760"/>
                        </a:lnSpc>
                        <a:defRPr/>
                      </a:pPr>
                      <a:r>
                        <a:rPr lang="en-US" sz="2300" b="true">
                          <a:solidFill>
                            <a:srgbClr val="CC0D0F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✗</a:t>
                      </a:r>
                      <a:endParaRPr lang="en-US" sz="1100"/>
                    </a:p>
                  </a:txBody>
                  <a:tcPr marL="73152" marR="73152" marT="73152" marB="73152" anchor="ctr">
                    <a:lnL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6350">
                      <a:solidFill>
                        <a:srgbClr val="E1E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760"/>
                        </a:lnSpc>
                        <a:defRPr/>
                      </a:pPr>
                      <a:r>
                        <a:rPr lang="en-US" sz="2300" b="true">
                          <a:solidFill>
                            <a:srgbClr val="CC0D0F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✗</a:t>
                      </a:r>
                      <a:endParaRPr lang="en-US" sz="1100"/>
                    </a:p>
                  </a:txBody>
                  <a:tcPr marL="73152" marR="73152" marT="73152" marB="73152" anchor="ctr">
                    <a:lnL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6350">
                      <a:solidFill>
                        <a:srgbClr val="E1E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760"/>
                        </a:lnSpc>
                        <a:defRPr/>
                      </a:pPr>
                      <a:r>
                        <a:rPr lang="en-US" sz="2300" b="true">
                          <a:solidFill>
                            <a:srgbClr val="CC0D0F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✗</a:t>
                      </a:r>
                      <a:endParaRPr lang="en-US" sz="1100"/>
                    </a:p>
                  </a:txBody>
                  <a:tcPr marL="73152" marR="73152" marT="73152" marB="73152" anchor="ctr">
                    <a:lnL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6350">
                      <a:solidFill>
                        <a:srgbClr val="E1E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760"/>
                        </a:lnSpc>
                        <a:defRPr/>
                      </a:pPr>
                      <a:r>
                        <a:rPr lang="en-US" sz="2300" b="true">
                          <a:solidFill>
                            <a:srgbClr val="CC0D0F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✗</a:t>
                      </a:r>
                      <a:endParaRPr lang="en-US" sz="1100"/>
                    </a:p>
                  </a:txBody>
                  <a:tcPr marL="73152" marR="73152" marT="73152" marB="73152" anchor="ctr">
                    <a:lnL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6350">
                      <a:solidFill>
                        <a:srgbClr val="E1E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760"/>
                        </a:lnSpc>
                        <a:defRPr/>
                      </a:pPr>
                      <a:r>
                        <a:rPr lang="en-US" sz="2300" b="true">
                          <a:solidFill>
                            <a:srgbClr val="2E5634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✓</a:t>
                      </a:r>
                      <a:endParaRPr lang="en-US" sz="1100"/>
                    </a:p>
                  </a:txBody>
                  <a:tcPr marL="73152" marR="73152" marT="73152" marB="73152" anchor="ctr">
                    <a:lnL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6350">
                      <a:solidFill>
                        <a:srgbClr val="E1E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72560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760"/>
                        </a:lnSpc>
                        <a:defRPr/>
                      </a:pPr>
                      <a:r>
                        <a:rPr lang="en-US" sz="2300">
                          <a:solidFill>
                            <a:srgbClr val="000000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Permitir comunicação privada entre usuários</a:t>
                      </a:r>
                      <a:endParaRPr lang="en-US" sz="1100"/>
                    </a:p>
                  </a:txBody>
                  <a:tcPr marL="73152" marR="73152" marT="73152" marB="73152" anchor="ctr">
                    <a:lnL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6350">
                      <a:solidFill>
                        <a:srgbClr val="E1E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760"/>
                        </a:lnSpc>
                        <a:defRPr/>
                      </a:pPr>
                      <a:r>
                        <a:rPr lang="en-US" sz="2300" b="true">
                          <a:solidFill>
                            <a:srgbClr val="CC0D0F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✗</a:t>
                      </a:r>
                      <a:endParaRPr lang="en-US" sz="1100"/>
                    </a:p>
                  </a:txBody>
                  <a:tcPr marL="73152" marR="73152" marT="73152" marB="73152" anchor="ctr">
                    <a:lnL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6350">
                      <a:solidFill>
                        <a:srgbClr val="E1E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760"/>
                        </a:lnSpc>
                        <a:defRPr/>
                      </a:pPr>
                      <a:r>
                        <a:rPr lang="en-US" sz="2300" b="true">
                          <a:solidFill>
                            <a:srgbClr val="CC0D0F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✗</a:t>
                      </a:r>
                      <a:endParaRPr lang="en-US" sz="1100"/>
                    </a:p>
                  </a:txBody>
                  <a:tcPr marL="73152" marR="73152" marT="73152" marB="73152" anchor="ctr">
                    <a:lnL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6350">
                      <a:solidFill>
                        <a:srgbClr val="E1E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760"/>
                        </a:lnSpc>
                        <a:defRPr/>
                      </a:pPr>
                      <a:r>
                        <a:rPr lang="en-US" sz="2300" b="true">
                          <a:solidFill>
                            <a:srgbClr val="CC0D0F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✗</a:t>
                      </a:r>
                      <a:endParaRPr lang="en-US" sz="1100"/>
                    </a:p>
                  </a:txBody>
                  <a:tcPr marL="73152" marR="73152" marT="73152" marB="73152" anchor="ctr">
                    <a:lnL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6350">
                      <a:solidFill>
                        <a:srgbClr val="E1E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760"/>
                        </a:lnSpc>
                        <a:defRPr/>
                      </a:pPr>
                      <a:r>
                        <a:rPr lang="en-US" sz="2300" b="true">
                          <a:solidFill>
                            <a:srgbClr val="3C5D40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✓</a:t>
                      </a:r>
                      <a:endParaRPr lang="en-US" sz="1100"/>
                    </a:p>
                  </a:txBody>
                  <a:tcPr marL="73152" marR="73152" marT="73152" marB="73152" anchor="ctr">
                    <a:lnL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6350">
                      <a:solidFill>
                        <a:srgbClr val="E1E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760"/>
                        </a:lnSpc>
                        <a:defRPr/>
                      </a:pPr>
                      <a:r>
                        <a:rPr lang="en-US" sz="2300" b="true">
                          <a:solidFill>
                            <a:srgbClr val="2E5634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✓</a:t>
                      </a:r>
                      <a:endParaRPr lang="en-US" sz="1100"/>
                    </a:p>
                  </a:txBody>
                  <a:tcPr marL="73152" marR="73152" marT="73152" marB="73152" anchor="ctr">
                    <a:lnL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6350">
                      <a:solidFill>
                        <a:srgbClr val="E1E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72560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760"/>
                        </a:lnSpc>
                        <a:defRPr/>
                      </a:pPr>
                      <a:r>
                        <a:rPr lang="en-US" sz="2300" b="true">
                          <a:solidFill>
                            <a:srgbClr val="000000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Traçar rota até o local informado na publicação</a:t>
                      </a:r>
                      <a:endParaRPr lang="en-US" sz="1100"/>
                    </a:p>
                  </a:txBody>
                  <a:tcPr marL="73152" marR="73152" marT="73152" marB="73152" anchor="ctr">
                    <a:lnL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6350">
                      <a:solidFill>
                        <a:srgbClr val="E1E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760"/>
                        </a:lnSpc>
                        <a:defRPr/>
                      </a:pPr>
                      <a:r>
                        <a:rPr lang="en-US" sz="2300" b="true">
                          <a:solidFill>
                            <a:srgbClr val="CC0D0F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✗</a:t>
                      </a:r>
                      <a:endParaRPr lang="en-US" sz="1100"/>
                    </a:p>
                  </a:txBody>
                  <a:tcPr marL="73152" marR="73152" marT="73152" marB="73152" anchor="ctr">
                    <a:lnL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6350">
                      <a:solidFill>
                        <a:srgbClr val="E1E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760"/>
                        </a:lnSpc>
                        <a:defRPr/>
                      </a:pPr>
                      <a:r>
                        <a:rPr lang="en-US" sz="2300" b="true">
                          <a:solidFill>
                            <a:srgbClr val="CC0D0F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✗</a:t>
                      </a:r>
                      <a:endParaRPr lang="en-US" sz="1100"/>
                    </a:p>
                  </a:txBody>
                  <a:tcPr marL="73152" marR="73152" marT="73152" marB="73152" anchor="ctr">
                    <a:lnL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6350">
                      <a:solidFill>
                        <a:srgbClr val="E1E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760"/>
                        </a:lnSpc>
                        <a:defRPr/>
                      </a:pPr>
                      <a:r>
                        <a:rPr lang="en-US" sz="2300" b="true">
                          <a:solidFill>
                            <a:srgbClr val="CC0D0F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✗</a:t>
                      </a:r>
                      <a:endParaRPr lang="en-US" sz="1100"/>
                    </a:p>
                  </a:txBody>
                  <a:tcPr marL="73152" marR="73152" marT="73152" marB="73152" anchor="ctr">
                    <a:lnL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6350">
                      <a:solidFill>
                        <a:srgbClr val="E1E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760"/>
                        </a:lnSpc>
                        <a:defRPr/>
                      </a:pPr>
                      <a:r>
                        <a:rPr lang="en-US" sz="2300" b="true">
                          <a:solidFill>
                            <a:srgbClr val="CC0D0F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✗</a:t>
                      </a:r>
                      <a:endParaRPr lang="en-US" sz="1100"/>
                    </a:p>
                  </a:txBody>
                  <a:tcPr marL="73152" marR="73152" marT="73152" marB="73152" anchor="ctr">
                    <a:lnL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6350">
                      <a:solidFill>
                        <a:srgbClr val="E1E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760"/>
                        </a:lnSpc>
                        <a:defRPr/>
                      </a:pPr>
                      <a:r>
                        <a:rPr lang="en-US" sz="2300" b="true">
                          <a:solidFill>
                            <a:srgbClr val="2E5634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✓</a:t>
                      </a:r>
                      <a:endParaRPr lang="en-US" sz="1100"/>
                    </a:p>
                  </a:txBody>
                  <a:tcPr marL="73152" marR="73152" marT="73152" marB="73152" anchor="ctr">
                    <a:lnL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6350">
                      <a:solidFill>
                        <a:srgbClr val="E1E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74776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760"/>
                        </a:lnSpc>
                        <a:defRPr/>
                      </a:pPr>
                      <a:r>
                        <a:rPr lang="en-US" sz="2300" b="true">
                          <a:solidFill>
                            <a:srgbClr val="000000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Sugerir correspondências entre animais perdidos e encontrados</a:t>
                      </a:r>
                      <a:endParaRPr lang="en-US" sz="1100"/>
                    </a:p>
                  </a:txBody>
                  <a:tcPr marL="73152" marR="73152" marT="73152" marB="73152" anchor="ctr">
                    <a:lnL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6350">
                      <a:solidFill>
                        <a:srgbClr val="E1E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760"/>
                        </a:lnSpc>
                        <a:defRPr/>
                      </a:pPr>
                      <a:r>
                        <a:rPr lang="en-US" sz="2300" b="true">
                          <a:solidFill>
                            <a:srgbClr val="CC0D0F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✗</a:t>
                      </a:r>
                      <a:endParaRPr lang="en-US" sz="1100"/>
                    </a:p>
                  </a:txBody>
                  <a:tcPr marL="73152" marR="73152" marT="73152" marB="73152" anchor="ctr">
                    <a:lnL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6350">
                      <a:solidFill>
                        <a:srgbClr val="E1E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760"/>
                        </a:lnSpc>
                        <a:defRPr/>
                      </a:pPr>
                      <a:r>
                        <a:rPr lang="en-US" sz="2300" b="true">
                          <a:solidFill>
                            <a:srgbClr val="CC0D0F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✗</a:t>
                      </a:r>
                      <a:endParaRPr lang="en-US" sz="1100"/>
                    </a:p>
                  </a:txBody>
                  <a:tcPr marL="73152" marR="73152" marT="73152" marB="73152" anchor="ctr">
                    <a:lnL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6350">
                      <a:solidFill>
                        <a:srgbClr val="E1E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760"/>
                        </a:lnSpc>
                        <a:defRPr/>
                      </a:pPr>
                      <a:r>
                        <a:rPr lang="en-US" sz="2300" b="true">
                          <a:solidFill>
                            <a:srgbClr val="CC0D0F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✗</a:t>
                      </a:r>
                      <a:endParaRPr lang="en-US" sz="1100"/>
                    </a:p>
                  </a:txBody>
                  <a:tcPr marL="73152" marR="73152" marT="73152" marB="73152" anchor="ctr">
                    <a:lnL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6350">
                      <a:solidFill>
                        <a:srgbClr val="E1E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760"/>
                        </a:lnSpc>
                        <a:defRPr/>
                      </a:pPr>
                      <a:r>
                        <a:rPr lang="en-US" sz="2300" b="true">
                          <a:solidFill>
                            <a:srgbClr val="CC0D0F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✗</a:t>
                      </a:r>
                      <a:endParaRPr lang="en-US" sz="1100"/>
                    </a:p>
                  </a:txBody>
                  <a:tcPr marL="73152" marR="73152" marT="73152" marB="73152" anchor="ctr">
                    <a:lnL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6350">
                      <a:solidFill>
                        <a:srgbClr val="E1E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760"/>
                        </a:lnSpc>
                        <a:defRPr/>
                      </a:pPr>
                      <a:r>
                        <a:rPr lang="en-US" sz="2300" b="true">
                          <a:solidFill>
                            <a:srgbClr val="2E5634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✓</a:t>
                      </a:r>
                      <a:endParaRPr lang="en-US" sz="1100"/>
                    </a:p>
                  </a:txBody>
                  <a:tcPr marL="73152" marR="73152" marT="73152" marB="73152" anchor="ctr">
                    <a:lnL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6350">
                      <a:solidFill>
                        <a:srgbClr val="E1E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name="TextBox 18" id="18"/>
          <p:cNvSpPr txBox="true"/>
          <p:nvPr/>
        </p:nvSpPr>
        <p:spPr>
          <a:xfrm rot="0">
            <a:off x="16459200" y="9471660"/>
            <a:ext cx="914400" cy="3810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400"/>
              </a:lnSpc>
            </a:pPr>
            <a:r>
              <a:rPr lang="en-US" sz="2000">
                <a:solidFill>
                  <a:srgbClr val="5B6B5F"/>
                </a:solidFill>
                <a:latin typeface="Calibri (MS)"/>
                <a:ea typeface="Calibri (MS)"/>
                <a:cs typeface="Calibri (MS)"/>
                <a:sym typeface="Calibri (MS)"/>
              </a:rPr>
              <a:t>11</a:t>
            </a:r>
          </a:p>
        </p:txBody>
      </p:sp>
      <p:grpSp>
        <p:nvGrpSpPr>
          <p:cNvPr name="Group 19" id="19"/>
          <p:cNvGrpSpPr/>
          <p:nvPr/>
        </p:nvGrpSpPr>
        <p:grpSpPr>
          <a:xfrm rot="0">
            <a:off x="822960" y="9572625"/>
            <a:ext cx="8229600" cy="440055"/>
            <a:chOff x="0" y="0"/>
            <a:chExt cx="10972800" cy="586740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10972800" cy="586740"/>
            </a:xfrm>
            <a:custGeom>
              <a:avLst/>
              <a:gdLst/>
              <a:ahLst/>
              <a:cxnLst/>
              <a:rect r="r" b="b" t="t" l="l"/>
              <a:pathLst>
                <a:path h="5867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586740"/>
                  </a:lnTo>
                  <a:lnTo>
                    <a:pt x="0" y="5867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314142" r="0" b="-314140"/>
              </a:stretch>
            </a:blipFill>
          </p:spPr>
        </p:sp>
      </p:grpSp>
      <p:grpSp>
        <p:nvGrpSpPr>
          <p:cNvPr name="Group 21" id="21"/>
          <p:cNvGrpSpPr/>
          <p:nvPr/>
        </p:nvGrpSpPr>
        <p:grpSpPr>
          <a:xfrm rot="0">
            <a:off x="822960" y="9544050"/>
            <a:ext cx="8229600" cy="468630"/>
            <a:chOff x="0" y="0"/>
            <a:chExt cx="10972800" cy="624840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10972800" cy="624840"/>
            </a:xfrm>
            <a:custGeom>
              <a:avLst/>
              <a:gdLst/>
              <a:ahLst/>
              <a:cxnLst/>
              <a:rect r="r" b="b" t="t" l="l"/>
              <a:pathLst>
                <a:path h="6248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624840"/>
                  </a:lnTo>
                  <a:lnTo>
                    <a:pt x="0" y="6248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91939" r="0" b="-291936"/>
              </a:stretch>
            </a:blipFill>
          </p:spPr>
        </p:sp>
      </p:grpSp>
      <p:grpSp>
        <p:nvGrpSpPr>
          <p:cNvPr name="Group 23" id="23"/>
          <p:cNvGrpSpPr/>
          <p:nvPr/>
        </p:nvGrpSpPr>
        <p:grpSpPr>
          <a:xfrm rot="0">
            <a:off x="822960" y="9515475"/>
            <a:ext cx="8229600" cy="497205"/>
            <a:chOff x="0" y="0"/>
            <a:chExt cx="10972800" cy="662940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10972800" cy="662940"/>
            </a:xfrm>
            <a:custGeom>
              <a:avLst/>
              <a:gdLst/>
              <a:ahLst/>
              <a:cxnLst/>
              <a:rect r="r" b="b" t="t" l="l"/>
              <a:pathLst>
                <a:path h="6629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662940"/>
                  </a:lnTo>
                  <a:lnTo>
                    <a:pt x="0" y="66294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72287" r="0" b="-272285"/>
              </a:stretch>
            </a:blipFill>
          </p:spPr>
        </p:sp>
      </p:grpSp>
      <p:grpSp>
        <p:nvGrpSpPr>
          <p:cNvPr name="Group 25" id="25"/>
          <p:cNvGrpSpPr/>
          <p:nvPr/>
        </p:nvGrpSpPr>
        <p:grpSpPr>
          <a:xfrm rot="0">
            <a:off x="822960" y="9486900"/>
            <a:ext cx="8229600" cy="525780"/>
            <a:chOff x="0" y="0"/>
            <a:chExt cx="10972800" cy="701040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10972800" cy="701040"/>
            </a:xfrm>
            <a:custGeom>
              <a:avLst/>
              <a:gdLst/>
              <a:ahLst/>
              <a:cxnLst/>
              <a:rect r="r" b="b" t="t" l="l"/>
              <a:pathLst>
                <a:path h="7010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701040"/>
                  </a:lnTo>
                  <a:lnTo>
                    <a:pt x="0" y="701040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254771" r="0" b="-254769"/>
              </a:stretch>
            </a:blipFill>
          </p:spPr>
        </p:sp>
      </p:grpSp>
      <p:grpSp>
        <p:nvGrpSpPr>
          <p:cNvPr name="Group 27" id="27"/>
          <p:cNvGrpSpPr/>
          <p:nvPr/>
        </p:nvGrpSpPr>
        <p:grpSpPr>
          <a:xfrm rot="0">
            <a:off x="822960" y="9458325"/>
            <a:ext cx="8229600" cy="554355"/>
            <a:chOff x="0" y="0"/>
            <a:chExt cx="10972800" cy="739140"/>
          </a:xfrm>
        </p:grpSpPr>
        <p:sp>
          <p:nvSpPr>
            <p:cNvPr name="Freeform 28" id="28"/>
            <p:cNvSpPr/>
            <p:nvPr/>
          </p:nvSpPr>
          <p:spPr>
            <a:xfrm flipH="false" flipV="false" rot="0">
              <a:off x="0" y="0"/>
              <a:ext cx="10972800" cy="739140"/>
            </a:xfrm>
            <a:custGeom>
              <a:avLst/>
              <a:gdLst/>
              <a:ahLst/>
              <a:cxnLst/>
              <a:rect r="r" b="b" t="t" l="l"/>
              <a:pathLst>
                <a:path h="7391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739140"/>
                  </a:lnTo>
                  <a:lnTo>
                    <a:pt x="0" y="739140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l="0" t="-239061" r="0" b="-239060"/>
              </a:stretch>
            </a:blipFill>
          </p:spPr>
        </p:sp>
      </p:grpSp>
      <p:grpSp>
        <p:nvGrpSpPr>
          <p:cNvPr name="Group 29" id="29"/>
          <p:cNvGrpSpPr/>
          <p:nvPr/>
        </p:nvGrpSpPr>
        <p:grpSpPr>
          <a:xfrm rot="0">
            <a:off x="822960" y="9429750"/>
            <a:ext cx="8229600" cy="582930"/>
            <a:chOff x="0" y="0"/>
            <a:chExt cx="10972800" cy="777240"/>
          </a:xfrm>
        </p:grpSpPr>
        <p:sp>
          <p:nvSpPr>
            <p:cNvPr name="Freeform 30" id="30"/>
            <p:cNvSpPr/>
            <p:nvPr/>
          </p:nvSpPr>
          <p:spPr>
            <a:xfrm flipH="false" flipV="false" rot="0">
              <a:off x="0" y="0"/>
              <a:ext cx="10972800" cy="777240"/>
            </a:xfrm>
            <a:custGeom>
              <a:avLst/>
              <a:gdLst/>
              <a:ahLst/>
              <a:cxnLst/>
              <a:rect r="r" b="b" t="t" l="l"/>
              <a:pathLst>
                <a:path h="7772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777240"/>
                  </a:lnTo>
                  <a:lnTo>
                    <a:pt x="0" y="777240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0" t="-224892" r="0" b="-224890"/>
              </a:stretch>
            </a:blipFill>
          </p:spPr>
        </p:sp>
      </p:grpSp>
      <p:grpSp>
        <p:nvGrpSpPr>
          <p:cNvPr name="Group 31" id="31"/>
          <p:cNvGrpSpPr/>
          <p:nvPr/>
        </p:nvGrpSpPr>
        <p:grpSpPr>
          <a:xfrm rot="0">
            <a:off x="822960" y="9401175"/>
            <a:ext cx="8229600" cy="611505"/>
            <a:chOff x="0" y="0"/>
            <a:chExt cx="10972800" cy="815340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0" y="0"/>
              <a:ext cx="10972800" cy="815340"/>
            </a:xfrm>
            <a:custGeom>
              <a:avLst/>
              <a:gdLst/>
              <a:ahLst/>
              <a:cxnLst/>
              <a:rect r="r" b="b" t="t" l="l"/>
              <a:pathLst>
                <a:path h="8153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815340"/>
                  </a:lnTo>
                  <a:lnTo>
                    <a:pt x="0" y="815340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0" t="-212228" r="0" b="-212228"/>
              </a:stretch>
            </a:blipFill>
          </p:spPr>
        </p:sp>
        <p:sp>
          <p:nvSpPr>
            <p:cNvPr name="TextBox 33" id="33"/>
            <p:cNvSpPr txBox="true"/>
            <p:nvPr/>
          </p:nvSpPr>
          <p:spPr>
            <a:xfrm>
              <a:off x="0" y="-38100"/>
              <a:ext cx="10972800" cy="8534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6B728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WeFIND  |  TCC  |  IFSul Campus Pelotas</a:t>
              </a:r>
            </a:p>
          </p:txBody>
        </p:sp>
      </p:grpSp>
      <p:sp>
        <p:nvSpPr>
          <p:cNvPr name="TextBox 34" id="34"/>
          <p:cNvSpPr txBox="true"/>
          <p:nvPr/>
        </p:nvSpPr>
        <p:spPr>
          <a:xfrm rot="0">
            <a:off x="914400" y="207264"/>
            <a:ext cx="6858000" cy="3429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00"/>
              </a:lnSpc>
            </a:pPr>
            <a:r>
              <a:rPr lang="en-US" b="true" sz="2000" spc="400">
                <a:solidFill>
                  <a:srgbClr val="B1734A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02  MÉTODO E PESQUISA</a:t>
            </a:r>
          </a:p>
        </p:txBody>
      </p:sp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>
  <p:cSld>
    <p:bg>
      <p:bgPr>
        <a:solidFill>
          <a:srgbClr val="2E56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463040" y="2274570"/>
            <a:ext cx="9144000" cy="78574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38"/>
              </a:lnSpc>
            </a:pPr>
            <a:r>
              <a:rPr lang="en-US" b="true" sz="2199" spc="599">
                <a:solidFill>
                  <a:srgbClr val="E3B58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A SEGUIR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1463040" y="2960370"/>
            <a:ext cx="6400800" cy="24571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00"/>
              </a:lnSpc>
            </a:pPr>
            <a:r>
              <a:rPr lang="en-US" sz="15000" b="true">
                <a:solidFill>
                  <a:srgbClr val="E3B58F"/>
                </a:solidFill>
                <a:latin typeface="Cambria Bold"/>
                <a:ea typeface="Cambria Bold"/>
                <a:cs typeface="Cambria Bold"/>
                <a:sym typeface="Cambria Bold"/>
              </a:rPr>
              <a:t>03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463040" y="5463540"/>
            <a:ext cx="15544800" cy="121430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920"/>
              </a:lnSpc>
            </a:pPr>
            <a:r>
              <a:rPr lang="en-US" sz="6600" b="true">
                <a:solidFill>
                  <a:srgbClr val="FFFFFF"/>
                </a:solidFill>
                <a:latin typeface="Cambria Bold"/>
                <a:ea typeface="Cambria Bold"/>
                <a:cs typeface="Cambria Bold"/>
                <a:sym typeface="Cambria Bold"/>
              </a:rPr>
              <a:t>Requisitos e modelagem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463040" y="6366510"/>
            <a:ext cx="15544800" cy="8191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7"/>
              </a:lnSpc>
            </a:pPr>
            <a:r>
              <a:rPr lang="en-US" sz="2799">
                <a:solidFill>
                  <a:srgbClr val="C9D8CB"/>
                </a:solidFill>
                <a:latin typeface="Calibri (MS)"/>
                <a:ea typeface="Calibri (MS)"/>
                <a:cs typeface="Calibri (MS)"/>
                <a:sym typeface="Calibri (MS)"/>
              </a:rPr>
              <a:t>Requisitos, regras de negócio e UML</a:t>
            </a:r>
          </a:p>
        </p:txBody>
      </p:sp>
      <p:grpSp>
        <p:nvGrpSpPr>
          <p:cNvPr name="Group 6" id="6"/>
          <p:cNvGrpSpPr/>
          <p:nvPr/>
        </p:nvGrpSpPr>
        <p:grpSpPr>
          <a:xfrm rot="0">
            <a:off x="1463040" y="8869680"/>
            <a:ext cx="1645920" cy="91440"/>
            <a:chOff x="0" y="0"/>
            <a:chExt cx="2194560" cy="12192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194560" cy="121920"/>
            </a:xfrm>
            <a:custGeom>
              <a:avLst/>
              <a:gdLst/>
              <a:ahLst/>
              <a:cxnLst/>
              <a:rect r="r" b="b" t="t" l="l"/>
              <a:pathLst>
                <a:path h="121920" w="2194560">
                  <a:moveTo>
                    <a:pt x="0" y="60960"/>
                  </a:moveTo>
                  <a:cubicBezTo>
                    <a:pt x="0" y="27305"/>
                    <a:pt x="27305" y="0"/>
                    <a:pt x="60960" y="0"/>
                  </a:cubicBezTo>
                  <a:lnTo>
                    <a:pt x="2133600" y="0"/>
                  </a:lnTo>
                  <a:cubicBezTo>
                    <a:pt x="2167255" y="0"/>
                    <a:pt x="2194560" y="27305"/>
                    <a:pt x="2194560" y="60960"/>
                  </a:cubicBezTo>
                  <a:cubicBezTo>
                    <a:pt x="2194560" y="94615"/>
                    <a:pt x="2167255" y="121920"/>
                    <a:pt x="2133600" y="121920"/>
                  </a:cubicBezTo>
                  <a:lnTo>
                    <a:pt x="60960" y="121920"/>
                  </a:lnTo>
                  <a:cubicBezTo>
                    <a:pt x="27305" y="121920"/>
                    <a:pt x="0" y="94615"/>
                    <a:pt x="0" y="60960"/>
                  </a:cubicBezTo>
                  <a:close/>
                </a:path>
              </a:pathLst>
            </a:custGeom>
            <a:solidFill>
              <a:srgbClr val="C9D8CB"/>
            </a:solidFill>
          </p:spPr>
        </p:sp>
      </p:grpSp>
      <p:sp>
        <p:nvSpPr>
          <p:cNvPr name="TextBox 8" id="8"/>
          <p:cNvSpPr txBox="true"/>
          <p:nvPr/>
        </p:nvSpPr>
        <p:spPr>
          <a:xfrm rot="0">
            <a:off x="1463040" y="8999220"/>
            <a:ext cx="1645920" cy="57145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19"/>
              </a:lnSpc>
            </a:pPr>
            <a:r>
              <a:rPr lang="en-US" sz="1599" b="true">
                <a:solidFill>
                  <a:srgbClr val="C9D8CB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01</a:t>
            </a:r>
          </a:p>
        </p:txBody>
      </p:sp>
      <p:grpSp>
        <p:nvGrpSpPr>
          <p:cNvPr name="Group 9" id="9"/>
          <p:cNvGrpSpPr/>
          <p:nvPr/>
        </p:nvGrpSpPr>
        <p:grpSpPr>
          <a:xfrm rot="0">
            <a:off x="3291840" y="8869680"/>
            <a:ext cx="1645920" cy="91440"/>
            <a:chOff x="0" y="0"/>
            <a:chExt cx="2194560" cy="121920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2194560" cy="121920"/>
            </a:xfrm>
            <a:custGeom>
              <a:avLst/>
              <a:gdLst/>
              <a:ahLst/>
              <a:cxnLst/>
              <a:rect r="r" b="b" t="t" l="l"/>
              <a:pathLst>
                <a:path h="121920" w="2194560">
                  <a:moveTo>
                    <a:pt x="0" y="60960"/>
                  </a:moveTo>
                  <a:cubicBezTo>
                    <a:pt x="0" y="27305"/>
                    <a:pt x="27305" y="0"/>
                    <a:pt x="60960" y="0"/>
                  </a:cubicBezTo>
                  <a:lnTo>
                    <a:pt x="2133600" y="0"/>
                  </a:lnTo>
                  <a:cubicBezTo>
                    <a:pt x="2167255" y="0"/>
                    <a:pt x="2194560" y="27305"/>
                    <a:pt x="2194560" y="60960"/>
                  </a:cubicBezTo>
                  <a:cubicBezTo>
                    <a:pt x="2194560" y="94615"/>
                    <a:pt x="2167255" y="121920"/>
                    <a:pt x="2133600" y="121920"/>
                  </a:cubicBezTo>
                  <a:lnTo>
                    <a:pt x="60960" y="121920"/>
                  </a:lnTo>
                  <a:cubicBezTo>
                    <a:pt x="27305" y="121920"/>
                    <a:pt x="0" y="94615"/>
                    <a:pt x="0" y="60960"/>
                  </a:cubicBezTo>
                  <a:close/>
                </a:path>
              </a:pathLst>
            </a:custGeom>
            <a:solidFill>
              <a:srgbClr val="C9D8CB"/>
            </a:solidFill>
          </p:spPr>
        </p:sp>
      </p:grpSp>
      <p:sp>
        <p:nvSpPr>
          <p:cNvPr name="TextBox 11" id="11"/>
          <p:cNvSpPr txBox="true"/>
          <p:nvPr/>
        </p:nvSpPr>
        <p:spPr>
          <a:xfrm rot="0">
            <a:off x="3291840" y="8999220"/>
            <a:ext cx="1645920" cy="57145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19"/>
              </a:lnSpc>
            </a:pPr>
            <a:r>
              <a:rPr lang="en-US" sz="1599" b="true">
                <a:solidFill>
                  <a:srgbClr val="C9D8CB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02</a:t>
            </a:r>
          </a:p>
        </p:txBody>
      </p:sp>
      <p:grpSp>
        <p:nvGrpSpPr>
          <p:cNvPr name="Group 12" id="12"/>
          <p:cNvGrpSpPr/>
          <p:nvPr/>
        </p:nvGrpSpPr>
        <p:grpSpPr>
          <a:xfrm rot="0">
            <a:off x="5120640" y="8869680"/>
            <a:ext cx="1645920" cy="91440"/>
            <a:chOff x="0" y="0"/>
            <a:chExt cx="2194560" cy="12192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2194560" cy="121920"/>
            </a:xfrm>
            <a:custGeom>
              <a:avLst/>
              <a:gdLst/>
              <a:ahLst/>
              <a:cxnLst/>
              <a:rect r="r" b="b" t="t" l="l"/>
              <a:pathLst>
                <a:path h="121920" w="2194560">
                  <a:moveTo>
                    <a:pt x="0" y="60960"/>
                  </a:moveTo>
                  <a:cubicBezTo>
                    <a:pt x="0" y="27305"/>
                    <a:pt x="27305" y="0"/>
                    <a:pt x="60960" y="0"/>
                  </a:cubicBezTo>
                  <a:lnTo>
                    <a:pt x="2133600" y="0"/>
                  </a:lnTo>
                  <a:cubicBezTo>
                    <a:pt x="2167255" y="0"/>
                    <a:pt x="2194560" y="27305"/>
                    <a:pt x="2194560" y="60960"/>
                  </a:cubicBezTo>
                  <a:cubicBezTo>
                    <a:pt x="2194560" y="94615"/>
                    <a:pt x="2167255" y="121920"/>
                    <a:pt x="2133600" y="121920"/>
                  </a:cubicBezTo>
                  <a:lnTo>
                    <a:pt x="60960" y="121920"/>
                  </a:lnTo>
                  <a:cubicBezTo>
                    <a:pt x="27305" y="121920"/>
                    <a:pt x="0" y="94615"/>
                    <a:pt x="0" y="60960"/>
                  </a:cubicBezTo>
                  <a:close/>
                </a:path>
              </a:pathLst>
            </a:custGeom>
            <a:solidFill>
              <a:srgbClr val="E3B58F"/>
            </a:solidFill>
          </p:spPr>
        </p:sp>
      </p:grpSp>
      <p:sp>
        <p:nvSpPr>
          <p:cNvPr name="TextBox 14" id="14"/>
          <p:cNvSpPr txBox="true"/>
          <p:nvPr/>
        </p:nvSpPr>
        <p:spPr>
          <a:xfrm rot="0">
            <a:off x="5120640" y="8999220"/>
            <a:ext cx="1645920" cy="57145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19"/>
              </a:lnSpc>
            </a:pPr>
            <a:r>
              <a:rPr lang="en-US" sz="1599" b="true">
                <a:solidFill>
                  <a:srgbClr val="E3B58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03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6949440" y="8869680"/>
            <a:ext cx="1645920" cy="91440"/>
            <a:chOff x="0" y="0"/>
            <a:chExt cx="2194560" cy="12192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2194560" cy="121920"/>
            </a:xfrm>
            <a:custGeom>
              <a:avLst/>
              <a:gdLst/>
              <a:ahLst/>
              <a:cxnLst/>
              <a:rect r="r" b="b" t="t" l="l"/>
              <a:pathLst>
                <a:path h="121920" w="2194560">
                  <a:moveTo>
                    <a:pt x="0" y="60960"/>
                  </a:moveTo>
                  <a:cubicBezTo>
                    <a:pt x="0" y="27305"/>
                    <a:pt x="27305" y="0"/>
                    <a:pt x="60960" y="0"/>
                  </a:cubicBezTo>
                  <a:lnTo>
                    <a:pt x="2133600" y="0"/>
                  </a:lnTo>
                  <a:cubicBezTo>
                    <a:pt x="2167255" y="0"/>
                    <a:pt x="2194560" y="27305"/>
                    <a:pt x="2194560" y="60960"/>
                  </a:cubicBezTo>
                  <a:cubicBezTo>
                    <a:pt x="2194560" y="94615"/>
                    <a:pt x="2167255" y="121920"/>
                    <a:pt x="2133600" y="121920"/>
                  </a:cubicBezTo>
                  <a:lnTo>
                    <a:pt x="60960" y="121920"/>
                  </a:lnTo>
                  <a:cubicBezTo>
                    <a:pt x="27305" y="121920"/>
                    <a:pt x="0" y="94615"/>
                    <a:pt x="0" y="60960"/>
                  </a:cubicBezTo>
                  <a:close/>
                </a:path>
              </a:pathLst>
            </a:custGeom>
            <a:solidFill>
              <a:srgbClr val="5E8063"/>
            </a:solidFill>
          </p:spPr>
        </p:sp>
      </p:grpSp>
      <p:sp>
        <p:nvSpPr>
          <p:cNvPr name="TextBox 17" id="17"/>
          <p:cNvSpPr txBox="true"/>
          <p:nvPr/>
        </p:nvSpPr>
        <p:spPr>
          <a:xfrm rot="0">
            <a:off x="6949440" y="8999220"/>
            <a:ext cx="1645920" cy="57145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19"/>
              </a:lnSpc>
            </a:pPr>
            <a:r>
              <a:rPr lang="en-US" sz="1599" b="true">
                <a:solidFill>
                  <a:srgbClr val="5E8063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04</a:t>
            </a:r>
          </a:p>
        </p:txBody>
      </p:sp>
      <p:grpSp>
        <p:nvGrpSpPr>
          <p:cNvPr name="Group 18" id="18"/>
          <p:cNvGrpSpPr/>
          <p:nvPr/>
        </p:nvGrpSpPr>
        <p:grpSpPr>
          <a:xfrm rot="0">
            <a:off x="8778240" y="8869680"/>
            <a:ext cx="1645920" cy="91440"/>
            <a:chOff x="0" y="0"/>
            <a:chExt cx="2194560" cy="121920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2194560" cy="121920"/>
            </a:xfrm>
            <a:custGeom>
              <a:avLst/>
              <a:gdLst/>
              <a:ahLst/>
              <a:cxnLst/>
              <a:rect r="r" b="b" t="t" l="l"/>
              <a:pathLst>
                <a:path h="121920" w="2194560">
                  <a:moveTo>
                    <a:pt x="0" y="60960"/>
                  </a:moveTo>
                  <a:cubicBezTo>
                    <a:pt x="0" y="27305"/>
                    <a:pt x="27305" y="0"/>
                    <a:pt x="60960" y="0"/>
                  </a:cubicBezTo>
                  <a:lnTo>
                    <a:pt x="2133600" y="0"/>
                  </a:lnTo>
                  <a:cubicBezTo>
                    <a:pt x="2167255" y="0"/>
                    <a:pt x="2194560" y="27305"/>
                    <a:pt x="2194560" y="60960"/>
                  </a:cubicBezTo>
                  <a:cubicBezTo>
                    <a:pt x="2194560" y="94615"/>
                    <a:pt x="2167255" y="121920"/>
                    <a:pt x="2133600" y="121920"/>
                  </a:cubicBezTo>
                  <a:lnTo>
                    <a:pt x="60960" y="121920"/>
                  </a:lnTo>
                  <a:cubicBezTo>
                    <a:pt x="27305" y="121920"/>
                    <a:pt x="0" y="94615"/>
                    <a:pt x="0" y="60960"/>
                  </a:cubicBezTo>
                  <a:close/>
                </a:path>
              </a:pathLst>
            </a:custGeom>
            <a:solidFill>
              <a:srgbClr val="5E8063"/>
            </a:solidFill>
          </p:spPr>
        </p:sp>
      </p:grpSp>
      <p:sp>
        <p:nvSpPr>
          <p:cNvPr name="TextBox 20" id="20"/>
          <p:cNvSpPr txBox="true"/>
          <p:nvPr/>
        </p:nvSpPr>
        <p:spPr>
          <a:xfrm rot="0">
            <a:off x="8778240" y="8999220"/>
            <a:ext cx="1645920" cy="57145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19"/>
              </a:lnSpc>
            </a:pPr>
            <a:r>
              <a:rPr lang="en-US" sz="1599" b="true">
                <a:solidFill>
                  <a:srgbClr val="5E8063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05</a:t>
            </a:r>
          </a:p>
        </p:txBody>
      </p:sp>
      <p:grpSp>
        <p:nvGrpSpPr>
          <p:cNvPr name="Group 21" id="21"/>
          <p:cNvGrpSpPr/>
          <p:nvPr/>
        </p:nvGrpSpPr>
        <p:grpSpPr>
          <a:xfrm rot="0">
            <a:off x="10607040" y="8869680"/>
            <a:ext cx="1645920" cy="91440"/>
            <a:chOff x="0" y="0"/>
            <a:chExt cx="2194560" cy="121920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2194560" cy="121920"/>
            </a:xfrm>
            <a:custGeom>
              <a:avLst/>
              <a:gdLst/>
              <a:ahLst/>
              <a:cxnLst/>
              <a:rect r="r" b="b" t="t" l="l"/>
              <a:pathLst>
                <a:path h="121920" w="2194560">
                  <a:moveTo>
                    <a:pt x="0" y="60960"/>
                  </a:moveTo>
                  <a:cubicBezTo>
                    <a:pt x="0" y="27305"/>
                    <a:pt x="27305" y="0"/>
                    <a:pt x="60960" y="0"/>
                  </a:cubicBezTo>
                  <a:lnTo>
                    <a:pt x="2133600" y="0"/>
                  </a:lnTo>
                  <a:cubicBezTo>
                    <a:pt x="2167255" y="0"/>
                    <a:pt x="2194560" y="27305"/>
                    <a:pt x="2194560" y="60960"/>
                  </a:cubicBezTo>
                  <a:cubicBezTo>
                    <a:pt x="2194560" y="94615"/>
                    <a:pt x="2167255" y="121920"/>
                    <a:pt x="2133600" y="121920"/>
                  </a:cubicBezTo>
                  <a:lnTo>
                    <a:pt x="60960" y="121920"/>
                  </a:lnTo>
                  <a:cubicBezTo>
                    <a:pt x="27305" y="121920"/>
                    <a:pt x="0" y="94615"/>
                    <a:pt x="0" y="60960"/>
                  </a:cubicBezTo>
                  <a:close/>
                </a:path>
              </a:pathLst>
            </a:custGeom>
            <a:solidFill>
              <a:srgbClr val="5E8063"/>
            </a:solidFill>
          </p:spPr>
        </p:sp>
      </p:grpSp>
      <p:sp>
        <p:nvSpPr>
          <p:cNvPr name="TextBox 23" id="23"/>
          <p:cNvSpPr txBox="true"/>
          <p:nvPr/>
        </p:nvSpPr>
        <p:spPr>
          <a:xfrm rot="0">
            <a:off x="10607040" y="8999220"/>
            <a:ext cx="1645920" cy="57145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19"/>
              </a:lnSpc>
            </a:pPr>
            <a:r>
              <a:rPr lang="en-US" sz="1599" b="true">
                <a:solidFill>
                  <a:srgbClr val="5E8063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06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16459200" y="9471660"/>
            <a:ext cx="914400" cy="3810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400"/>
              </a:lnSpc>
            </a:pPr>
            <a:r>
              <a:rPr lang="en-US" sz="2000">
                <a:solidFill>
                  <a:srgbClr val="C9D8CB"/>
                </a:solidFill>
                <a:latin typeface="Calibri (MS)"/>
                <a:ea typeface="Calibri (MS)"/>
                <a:cs typeface="Calibri (MS)"/>
                <a:sym typeface="Calibri (MS)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822960" y="9601200"/>
            <a:ext cx="8229600" cy="411480"/>
            <a:chOff x="0" y="0"/>
            <a:chExt cx="10972800" cy="54864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0972800" cy="548640"/>
            </a:xfrm>
            <a:custGeom>
              <a:avLst/>
              <a:gdLst/>
              <a:ahLst/>
              <a:cxnLst/>
              <a:rect r="r" b="b" t="t" l="l"/>
              <a:pathLst>
                <a:path h="5486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339430" r="0" b="-339428"/>
              </a:stretch>
            </a:blipFill>
          </p:spPr>
        </p:sp>
      </p:grpSp>
      <p:grpSp>
        <p:nvGrpSpPr>
          <p:cNvPr name="Group 4" id="4"/>
          <p:cNvGrpSpPr/>
          <p:nvPr/>
        </p:nvGrpSpPr>
        <p:grpSpPr>
          <a:xfrm rot="0">
            <a:off x="822960" y="9572625"/>
            <a:ext cx="8229600" cy="440055"/>
            <a:chOff x="0" y="0"/>
            <a:chExt cx="10972800" cy="58674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0972800" cy="586740"/>
            </a:xfrm>
            <a:custGeom>
              <a:avLst/>
              <a:gdLst/>
              <a:ahLst/>
              <a:cxnLst/>
              <a:rect r="r" b="b" t="t" l="l"/>
              <a:pathLst>
                <a:path h="5867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586740"/>
                  </a:lnTo>
                  <a:lnTo>
                    <a:pt x="0" y="5867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14142" r="0" b="-314140"/>
              </a:stretch>
            </a:blipFill>
          </p:spPr>
        </p:sp>
      </p:grpSp>
      <p:grpSp>
        <p:nvGrpSpPr>
          <p:cNvPr name="Group 6" id="6"/>
          <p:cNvGrpSpPr/>
          <p:nvPr/>
        </p:nvGrpSpPr>
        <p:grpSpPr>
          <a:xfrm rot="0">
            <a:off x="822960" y="9544050"/>
            <a:ext cx="8229600" cy="468630"/>
            <a:chOff x="0" y="0"/>
            <a:chExt cx="10972800" cy="62484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10972800" cy="624840"/>
            </a:xfrm>
            <a:custGeom>
              <a:avLst/>
              <a:gdLst/>
              <a:ahLst/>
              <a:cxnLst/>
              <a:rect r="r" b="b" t="t" l="l"/>
              <a:pathLst>
                <a:path h="6248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624840"/>
                  </a:lnTo>
                  <a:lnTo>
                    <a:pt x="0" y="62484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91939" r="0" b="-291936"/>
              </a:stretch>
            </a:blipFill>
          </p:spPr>
        </p:sp>
      </p:grpSp>
      <p:grpSp>
        <p:nvGrpSpPr>
          <p:cNvPr name="Group 8" id="8"/>
          <p:cNvGrpSpPr/>
          <p:nvPr/>
        </p:nvGrpSpPr>
        <p:grpSpPr>
          <a:xfrm rot="0">
            <a:off x="822960" y="9515475"/>
            <a:ext cx="8229600" cy="497205"/>
            <a:chOff x="0" y="0"/>
            <a:chExt cx="10972800" cy="66294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0972800" cy="662940"/>
            </a:xfrm>
            <a:custGeom>
              <a:avLst/>
              <a:gdLst/>
              <a:ahLst/>
              <a:cxnLst/>
              <a:rect r="r" b="b" t="t" l="l"/>
              <a:pathLst>
                <a:path h="6629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662940"/>
                  </a:lnTo>
                  <a:lnTo>
                    <a:pt x="0" y="662940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272287" r="0" b="-272285"/>
              </a:stretch>
            </a:blipFill>
          </p:spPr>
        </p:sp>
      </p:grpSp>
      <p:grpSp>
        <p:nvGrpSpPr>
          <p:cNvPr name="Group 10" id="10"/>
          <p:cNvGrpSpPr/>
          <p:nvPr/>
        </p:nvGrpSpPr>
        <p:grpSpPr>
          <a:xfrm rot="0">
            <a:off x="822960" y="9486900"/>
            <a:ext cx="8229600" cy="525780"/>
            <a:chOff x="0" y="0"/>
            <a:chExt cx="10972800" cy="70104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0972800" cy="701040"/>
            </a:xfrm>
            <a:custGeom>
              <a:avLst/>
              <a:gdLst/>
              <a:ahLst/>
              <a:cxnLst/>
              <a:rect r="r" b="b" t="t" l="l"/>
              <a:pathLst>
                <a:path h="7010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701040"/>
                  </a:lnTo>
                  <a:lnTo>
                    <a:pt x="0" y="701040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l="0" t="-254771" r="0" b="-254769"/>
              </a:stretch>
            </a:blipFill>
          </p:spPr>
        </p:sp>
      </p:grpSp>
      <p:grpSp>
        <p:nvGrpSpPr>
          <p:cNvPr name="Group 12" id="12"/>
          <p:cNvGrpSpPr/>
          <p:nvPr/>
        </p:nvGrpSpPr>
        <p:grpSpPr>
          <a:xfrm rot="0">
            <a:off x="822960" y="9458325"/>
            <a:ext cx="8229600" cy="554355"/>
            <a:chOff x="0" y="0"/>
            <a:chExt cx="10972800" cy="73914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10972800" cy="739140"/>
            </a:xfrm>
            <a:custGeom>
              <a:avLst/>
              <a:gdLst/>
              <a:ahLst/>
              <a:cxnLst/>
              <a:rect r="r" b="b" t="t" l="l"/>
              <a:pathLst>
                <a:path h="7391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739140"/>
                  </a:lnTo>
                  <a:lnTo>
                    <a:pt x="0" y="739140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0" t="-239061" r="0" b="-239060"/>
              </a:stretch>
            </a:blipFill>
          </p:spPr>
        </p:sp>
      </p:grpSp>
      <p:grpSp>
        <p:nvGrpSpPr>
          <p:cNvPr name="Group 14" id="14"/>
          <p:cNvGrpSpPr/>
          <p:nvPr/>
        </p:nvGrpSpPr>
        <p:grpSpPr>
          <a:xfrm rot="0">
            <a:off x="822960" y="9429750"/>
            <a:ext cx="8229600" cy="582930"/>
            <a:chOff x="0" y="0"/>
            <a:chExt cx="10972800" cy="77724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10972800" cy="777240"/>
            </a:xfrm>
            <a:custGeom>
              <a:avLst/>
              <a:gdLst/>
              <a:ahLst/>
              <a:cxnLst/>
              <a:rect r="r" b="b" t="t" l="l"/>
              <a:pathLst>
                <a:path h="7772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777240"/>
                  </a:lnTo>
                  <a:lnTo>
                    <a:pt x="0" y="777240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0" t="-224892" r="0" b="-224890"/>
              </a:stretch>
            </a:blipFill>
          </p:spPr>
        </p:sp>
      </p:grpSp>
      <p:grpSp>
        <p:nvGrpSpPr>
          <p:cNvPr name="Group 16" id="16"/>
          <p:cNvGrpSpPr/>
          <p:nvPr/>
        </p:nvGrpSpPr>
        <p:grpSpPr>
          <a:xfrm rot="0">
            <a:off x="822960" y="9401175"/>
            <a:ext cx="8229600" cy="611505"/>
            <a:chOff x="0" y="0"/>
            <a:chExt cx="10972800" cy="81534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10972800" cy="815340"/>
            </a:xfrm>
            <a:custGeom>
              <a:avLst/>
              <a:gdLst/>
              <a:ahLst/>
              <a:cxnLst/>
              <a:rect r="r" b="b" t="t" l="l"/>
              <a:pathLst>
                <a:path h="8153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815340"/>
                  </a:lnTo>
                  <a:lnTo>
                    <a:pt x="0" y="815340"/>
                  </a:lnTo>
                  <a:close/>
                </a:path>
              </a:pathLst>
            </a:custGeom>
            <a:blipFill>
              <a:blip r:embed="rId9">
                <a:alphaModFix amt="0"/>
              </a:blip>
              <a:stretch>
                <a:fillRect l="0" t="-212228" r="0" b="-212228"/>
              </a:stretch>
            </a:blipFill>
          </p:spPr>
        </p:sp>
        <p:sp>
          <p:nvSpPr>
            <p:cNvPr name="TextBox 18" id="18"/>
            <p:cNvSpPr txBox="true"/>
            <p:nvPr/>
          </p:nvSpPr>
          <p:spPr>
            <a:xfrm>
              <a:off x="0" y="-38100"/>
              <a:ext cx="10972800" cy="8534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6B728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WeFIND  |  TCC  |  IFSul Campus Pelotas</a:t>
              </a:r>
            </a:p>
          </p:txBody>
        </p:sp>
      </p:grpSp>
      <p:grpSp>
        <p:nvGrpSpPr>
          <p:cNvPr name="Group 19" id="19"/>
          <p:cNvGrpSpPr/>
          <p:nvPr/>
        </p:nvGrpSpPr>
        <p:grpSpPr>
          <a:xfrm rot="0">
            <a:off x="822960" y="850392"/>
            <a:ext cx="16596360" cy="1234440"/>
            <a:chOff x="0" y="0"/>
            <a:chExt cx="22128480" cy="1645920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22128480" cy="1645920"/>
            </a:xfrm>
            <a:custGeom>
              <a:avLst/>
              <a:gdLst/>
              <a:ahLst/>
              <a:cxnLst/>
              <a:rect r="r" b="b" t="t" l="l"/>
              <a:pathLst>
                <a:path h="1645920" w="22128480">
                  <a:moveTo>
                    <a:pt x="0" y="0"/>
                  </a:moveTo>
                  <a:lnTo>
                    <a:pt x="22128480" y="0"/>
                  </a:lnTo>
                  <a:lnTo>
                    <a:pt x="22128480" y="1645920"/>
                  </a:lnTo>
                  <a:lnTo>
                    <a:pt x="0" y="164592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211783" r="0" b="-211783"/>
              </a:stretch>
            </a:blipFill>
          </p:spPr>
        </p:sp>
      </p:grpSp>
      <p:grpSp>
        <p:nvGrpSpPr>
          <p:cNvPr name="Group 21" id="21"/>
          <p:cNvGrpSpPr/>
          <p:nvPr/>
        </p:nvGrpSpPr>
        <p:grpSpPr>
          <a:xfrm rot="0">
            <a:off x="822960" y="843248"/>
            <a:ext cx="16596360" cy="1241584"/>
            <a:chOff x="0" y="0"/>
            <a:chExt cx="22128480" cy="1655445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22128480" cy="1655445"/>
            </a:xfrm>
            <a:custGeom>
              <a:avLst/>
              <a:gdLst/>
              <a:ahLst/>
              <a:cxnLst/>
              <a:rect r="r" b="b" t="t" l="l"/>
              <a:pathLst>
                <a:path h="1655445" w="22128480">
                  <a:moveTo>
                    <a:pt x="0" y="0"/>
                  </a:moveTo>
                  <a:lnTo>
                    <a:pt x="22128480" y="0"/>
                  </a:lnTo>
                  <a:lnTo>
                    <a:pt x="22128480" y="1655445"/>
                  </a:lnTo>
                  <a:lnTo>
                    <a:pt x="0" y="1655445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10276" r="0" b="-210276"/>
              </a:stretch>
            </a:blipFill>
          </p:spPr>
        </p:sp>
      </p:grpSp>
      <p:grpSp>
        <p:nvGrpSpPr>
          <p:cNvPr name="Group 23" id="23"/>
          <p:cNvGrpSpPr/>
          <p:nvPr/>
        </p:nvGrpSpPr>
        <p:grpSpPr>
          <a:xfrm rot="0">
            <a:off x="822960" y="836105"/>
            <a:ext cx="16596360" cy="1248727"/>
            <a:chOff x="0" y="0"/>
            <a:chExt cx="22128480" cy="1664970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22128480" cy="1664970"/>
            </a:xfrm>
            <a:custGeom>
              <a:avLst/>
              <a:gdLst/>
              <a:ahLst/>
              <a:cxnLst/>
              <a:rect r="r" b="b" t="t" l="l"/>
              <a:pathLst>
                <a:path h="1664970" w="22128480">
                  <a:moveTo>
                    <a:pt x="0" y="0"/>
                  </a:moveTo>
                  <a:lnTo>
                    <a:pt x="22128480" y="0"/>
                  </a:lnTo>
                  <a:lnTo>
                    <a:pt x="22128480" y="1664970"/>
                  </a:lnTo>
                  <a:lnTo>
                    <a:pt x="0" y="166497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08787" r="0" b="-208787"/>
              </a:stretch>
            </a:blipFill>
          </p:spPr>
        </p:sp>
      </p:grpSp>
      <p:grpSp>
        <p:nvGrpSpPr>
          <p:cNvPr name="Group 25" id="25"/>
          <p:cNvGrpSpPr/>
          <p:nvPr/>
        </p:nvGrpSpPr>
        <p:grpSpPr>
          <a:xfrm rot="0">
            <a:off x="822960" y="828961"/>
            <a:ext cx="16596360" cy="1255871"/>
            <a:chOff x="0" y="0"/>
            <a:chExt cx="22128480" cy="1674495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22128480" cy="1674495"/>
            </a:xfrm>
            <a:custGeom>
              <a:avLst/>
              <a:gdLst/>
              <a:ahLst/>
              <a:cxnLst/>
              <a:rect r="r" b="b" t="t" l="l"/>
              <a:pathLst>
                <a:path h="1674495" w="22128480">
                  <a:moveTo>
                    <a:pt x="0" y="0"/>
                  </a:moveTo>
                  <a:lnTo>
                    <a:pt x="22128480" y="0"/>
                  </a:lnTo>
                  <a:lnTo>
                    <a:pt x="22128480" y="1674495"/>
                  </a:lnTo>
                  <a:lnTo>
                    <a:pt x="0" y="1674495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207315" r="0" b="-207315"/>
              </a:stretch>
            </a:blipFill>
          </p:spPr>
        </p:sp>
      </p:grpSp>
      <p:grpSp>
        <p:nvGrpSpPr>
          <p:cNvPr name="Group 27" id="27"/>
          <p:cNvGrpSpPr/>
          <p:nvPr/>
        </p:nvGrpSpPr>
        <p:grpSpPr>
          <a:xfrm rot="0">
            <a:off x="822960" y="821817"/>
            <a:ext cx="16596360" cy="1263015"/>
            <a:chOff x="0" y="0"/>
            <a:chExt cx="22128480" cy="1684020"/>
          </a:xfrm>
        </p:grpSpPr>
        <p:sp>
          <p:nvSpPr>
            <p:cNvPr name="Freeform 28" id="28"/>
            <p:cNvSpPr/>
            <p:nvPr/>
          </p:nvSpPr>
          <p:spPr>
            <a:xfrm flipH="false" flipV="false" rot="0">
              <a:off x="0" y="0"/>
              <a:ext cx="22128480" cy="1684020"/>
            </a:xfrm>
            <a:custGeom>
              <a:avLst/>
              <a:gdLst/>
              <a:ahLst/>
              <a:cxnLst/>
              <a:rect r="r" b="b" t="t" l="l"/>
              <a:pathLst>
                <a:path h="1684020" w="22128480">
                  <a:moveTo>
                    <a:pt x="0" y="0"/>
                  </a:moveTo>
                  <a:lnTo>
                    <a:pt x="22128480" y="0"/>
                  </a:lnTo>
                  <a:lnTo>
                    <a:pt x="22128480" y="1684020"/>
                  </a:lnTo>
                  <a:lnTo>
                    <a:pt x="0" y="1684020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l="0" t="-205860" r="0" b="-205860"/>
              </a:stretch>
            </a:blipFill>
          </p:spPr>
        </p:sp>
      </p:grpSp>
      <p:grpSp>
        <p:nvGrpSpPr>
          <p:cNvPr name="Group 29" id="29"/>
          <p:cNvGrpSpPr/>
          <p:nvPr/>
        </p:nvGrpSpPr>
        <p:grpSpPr>
          <a:xfrm rot="0">
            <a:off x="822960" y="814673"/>
            <a:ext cx="16596360" cy="1270159"/>
            <a:chOff x="0" y="0"/>
            <a:chExt cx="22128480" cy="1693545"/>
          </a:xfrm>
        </p:grpSpPr>
        <p:sp>
          <p:nvSpPr>
            <p:cNvPr name="Freeform 30" id="30"/>
            <p:cNvSpPr/>
            <p:nvPr/>
          </p:nvSpPr>
          <p:spPr>
            <a:xfrm flipH="false" flipV="false" rot="0">
              <a:off x="0" y="0"/>
              <a:ext cx="22128480" cy="1693545"/>
            </a:xfrm>
            <a:custGeom>
              <a:avLst/>
              <a:gdLst/>
              <a:ahLst/>
              <a:cxnLst/>
              <a:rect r="r" b="b" t="t" l="l"/>
              <a:pathLst>
                <a:path h="1693545" w="22128480">
                  <a:moveTo>
                    <a:pt x="0" y="0"/>
                  </a:moveTo>
                  <a:lnTo>
                    <a:pt x="22128480" y="0"/>
                  </a:lnTo>
                  <a:lnTo>
                    <a:pt x="22128480" y="1693545"/>
                  </a:lnTo>
                  <a:lnTo>
                    <a:pt x="0" y="1693545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0" t="-204421" r="0" b="-204421"/>
              </a:stretch>
            </a:blipFill>
          </p:spPr>
        </p:sp>
      </p:grpSp>
      <p:grpSp>
        <p:nvGrpSpPr>
          <p:cNvPr name="Group 31" id="31"/>
          <p:cNvGrpSpPr/>
          <p:nvPr/>
        </p:nvGrpSpPr>
        <p:grpSpPr>
          <a:xfrm rot="0">
            <a:off x="822960" y="807530"/>
            <a:ext cx="16596360" cy="1277302"/>
            <a:chOff x="0" y="0"/>
            <a:chExt cx="22128480" cy="1703070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0" y="0"/>
              <a:ext cx="22128480" cy="1703070"/>
            </a:xfrm>
            <a:custGeom>
              <a:avLst/>
              <a:gdLst/>
              <a:ahLst/>
              <a:cxnLst/>
              <a:rect r="r" b="b" t="t" l="l"/>
              <a:pathLst>
                <a:path h="1703070" w="22128480">
                  <a:moveTo>
                    <a:pt x="0" y="0"/>
                  </a:moveTo>
                  <a:lnTo>
                    <a:pt x="22128480" y="0"/>
                  </a:lnTo>
                  <a:lnTo>
                    <a:pt x="22128480" y="1703070"/>
                  </a:lnTo>
                  <a:lnTo>
                    <a:pt x="0" y="1703070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0" t="-202998" r="0" b="-202998"/>
              </a:stretch>
            </a:blipFill>
          </p:spPr>
        </p:sp>
      </p:grpSp>
      <p:grpSp>
        <p:nvGrpSpPr>
          <p:cNvPr name="Group 33" id="33"/>
          <p:cNvGrpSpPr/>
          <p:nvPr/>
        </p:nvGrpSpPr>
        <p:grpSpPr>
          <a:xfrm rot="0">
            <a:off x="822960" y="800386"/>
            <a:ext cx="16596360" cy="1284446"/>
            <a:chOff x="0" y="0"/>
            <a:chExt cx="22128480" cy="1712595"/>
          </a:xfrm>
        </p:grpSpPr>
        <p:sp>
          <p:nvSpPr>
            <p:cNvPr name="Freeform 34" id="34"/>
            <p:cNvSpPr/>
            <p:nvPr/>
          </p:nvSpPr>
          <p:spPr>
            <a:xfrm flipH="false" flipV="false" rot="0">
              <a:off x="0" y="0"/>
              <a:ext cx="22128480" cy="1712594"/>
            </a:xfrm>
            <a:custGeom>
              <a:avLst/>
              <a:gdLst/>
              <a:ahLst/>
              <a:cxnLst/>
              <a:rect r="r" b="b" t="t" l="l"/>
              <a:pathLst>
                <a:path h="1712594" w="22128480">
                  <a:moveTo>
                    <a:pt x="0" y="0"/>
                  </a:moveTo>
                  <a:lnTo>
                    <a:pt x="22128480" y="0"/>
                  </a:lnTo>
                  <a:lnTo>
                    <a:pt x="22128480" y="1712594"/>
                  </a:lnTo>
                  <a:lnTo>
                    <a:pt x="0" y="1712594"/>
                  </a:lnTo>
                  <a:close/>
                </a:path>
              </a:pathLst>
            </a:custGeom>
            <a:blipFill>
              <a:blip r:embed="rId9">
                <a:alphaModFix amt="0"/>
              </a:blip>
              <a:stretch>
                <a:fillRect l="0" t="-201766" r="0" b="-201766"/>
              </a:stretch>
            </a:blipFill>
          </p:spPr>
        </p:sp>
        <p:sp>
          <p:nvSpPr>
            <p:cNvPr name="TextBox 35" id="35"/>
            <p:cNvSpPr txBox="true"/>
            <p:nvPr/>
          </p:nvSpPr>
          <p:spPr>
            <a:xfrm>
              <a:off x="0" y="-9525"/>
              <a:ext cx="22128480" cy="172212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6120"/>
                </a:lnSpc>
              </a:pPr>
              <a:r>
                <a:rPr lang="en-US" sz="5100" b="true">
                  <a:solidFill>
                    <a:srgbClr val="2E5634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21 requisitos funcionais centrais</a:t>
              </a:r>
            </a:p>
          </p:txBody>
        </p:sp>
      </p:grpSp>
      <p:sp>
        <p:nvSpPr>
          <p:cNvPr name="Freeform 36" id="36"/>
          <p:cNvSpPr/>
          <p:nvPr/>
        </p:nvSpPr>
        <p:spPr>
          <a:xfrm flipH="false" flipV="false" rot="0">
            <a:off x="810454" y="2240280"/>
            <a:ext cx="5374243" cy="1554480"/>
          </a:xfrm>
          <a:custGeom>
            <a:avLst/>
            <a:gdLst/>
            <a:ahLst/>
            <a:cxnLst/>
            <a:rect r="r" b="b" t="t" l="l"/>
            <a:pathLst>
              <a:path h="1554480" w="5374243">
                <a:moveTo>
                  <a:pt x="0" y="0"/>
                </a:moveTo>
                <a:lnTo>
                  <a:pt x="5374243" y="0"/>
                </a:lnTo>
                <a:lnTo>
                  <a:pt x="5374243" y="1554480"/>
                </a:lnTo>
                <a:lnTo>
                  <a:pt x="0" y="1554480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-19145" r="0" b="-19145"/>
            </a:stretch>
          </a:blipFill>
        </p:spPr>
      </p:sp>
      <p:sp>
        <p:nvSpPr>
          <p:cNvPr name="Freeform 37" id="37"/>
          <p:cNvSpPr/>
          <p:nvPr/>
        </p:nvSpPr>
        <p:spPr>
          <a:xfrm flipH="false" flipV="false" rot="0">
            <a:off x="1080611" y="2510438"/>
            <a:ext cx="993457" cy="993457"/>
          </a:xfrm>
          <a:custGeom>
            <a:avLst/>
            <a:gdLst/>
            <a:ahLst/>
            <a:cxnLst/>
            <a:rect r="r" b="b" t="t" l="l"/>
            <a:pathLst>
              <a:path h="993457" w="993457">
                <a:moveTo>
                  <a:pt x="0" y="0"/>
                </a:moveTo>
                <a:lnTo>
                  <a:pt x="993458" y="0"/>
                </a:lnTo>
                <a:lnTo>
                  <a:pt x="993458" y="993457"/>
                </a:lnTo>
                <a:lnTo>
                  <a:pt x="0" y="993457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38" id="38"/>
          <p:cNvGrpSpPr/>
          <p:nvPr/>
        </p:nvGrpSpPr>
        <p:grpSpPr>
          <a:xfrm rot="0">
            <a:off x="1346911" y="2776738"/>
            <a:ext cx="460820" cy="460820"/>
            <a:chOff x="0" y="0"/>
            <a:chExt cx="614426" cy="614426"/>
          </a:xfrm>
        </p:grpSpPr>
        <p:sp>
          <p:nvSpPr>
            <p:cNvPr name="Freeform 39" id="39" descr="icone"/>
            <p:cNvSpPr/>
            <p:nvPr/>
          </p:nvSpPr>
          <p:spPr>
            <a:xfrm flipH="false" flipV="false" rot="0">
              <a:off x="0" y="0"/>
              <a:ext cx="614426" cy="614426"/>
            </a:xfrm>
            <a:custGeom>
              <a:avLst/>
              <a:gdLst/>
              <a:ahLst/>
              <a:cxnLst/>
              <a:rect r="r" b="b" t="t" l="l"/>
              <a:pathLst>
                <a:path h="614426" w="614426">
                  <a:moveTo>
                    <a:pt x="0" y="0"/>
                  </a:moveTo>
                  <a:lnTo>
                    <a:pt x="614426" y="0"/>
                  </a:lnTo>
                  <a:lnTo>
                    <a:pt x="614426" y="614426"/>
                  </a:lnTo>
                  <a:lnTo>
                    <a:pt x="0" y="61442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/>
              <a:stretch>
                <a:fillRect l="0" t="0" r="0" b="0"/>
              </a:stretch>
            </a:blipFill>
          </p:spPr>
        </p:sp>
      </p:grpSp>
      <p:sp>
        <p:nvSpPr>
          <p:cNvPr name="TextBox 40" id="40"/>
          <p:cNvSpPr txBox="true"/>
          <p:nvPr/>
        </p:nvSpPr>
        <p:spPr>
          <a:xfrm rot="0">
            <a:off x="2331720" y="2184206"/>
            <a:ext cx="3703320" cy="9372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40"/>
              </a:lnSpc>
            </a:pPr>
            <a:r>
              <a:rPr lang="en-US" sz="2700" b="true">
                <a:solidFill>
                  <a:srgbClr val="0F172A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Conta e perfil</a:t>
            </a:r>
          </a:p>
        </p:txBody>
      </p:sp>
      <p:sp>
        <p:nvSpPr>
          <p:cNvPr name="TextBox 41" id="41"/>
          <p:cNvSpPr txBox="true"/>
          <p:nvPr/>
        </p:nvSpPr>
        <p:spPr>
          <a:xfrm rot="0">
            <a:off x="2331720" y="2740466"/>
            <a:ext cx="3703320" cy="76504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0"/>
              </a:lnSpc>
            </a:pPr>
            <a:r>
              <a:rPr lang="en-US" sz="1950" b="true">
                <a:solidFill>
                  <a:srgbClr val="B1734A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RF01 e RF02</a:t>
            </a:r>
          </a:p>
        </p:txBody>
      </p:sp>
      <p:sp>
        <p:nvSpPr>
          <p:cNvPr name="Freeform 42" id="42"/>
          <p:cNvSpPr/>
          <p:nvPr/>
        </p:nvSpPr>
        <p:spPr>
          <a:xfrm flipH="false" flipV="false" rot="0">
            <a:off x="6434014" y="2240280"/>
            <a:ext cx="5374243" cy="1554480"/>
          </a:xfrm>
          <a:custGeom>
            <a:avLst/>
            <a:gdLst/>
            <a:ahLst/>
            <a:cxnLst/>
            <a:rect r="r" b="b" t="t" l="l"/>
            <a:pathLst>
              <a:path h="1554480" w="5374243">
                <a:moveTo>
                  <a:pt x="0" y="0"/>
                </a:moveTo>
                <a:lnTo>
                  <a:pt x="5374243" y="0"/>
                </a:lnTo>
                <a:lnTo>
                  <a:pt x="5374243" y="1554480"/>
                </a:lnTo>
                <a:lnTo>
                  <a:pt x="0" y="1554480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-19145" r="0" b="-19145"/>
            </a:stretch>
          </a:blipFill>
        </p:spPr>
      </p:sp>
      <p:sp>
        <p:nvSpPr>
          <p:cNvPr name="Freeform 43" id="43"/>
          <p:cNvSpPr/>
          <p:nvPr/>
        </p:nvSpPr>
        <p:spPr>
          <a:xfrm flipH="false" flipV="false" rot="0">
            <a:off x="6704171" y="2510438"/>
            <a:ext cx="993458" cy="993457"/>
          </a:xfrm>
          <a:custGeom>
            <a:avLst/>
            <a:gdLst/>
            <a:ahLst/>
            <a:cxnLst/>
            <a:rect r="r" b="b" t="t" l="l"/>
            <a:pathLst>
              <a:path h="993457" w="993458">
                <a:moveTo>
                  <a:pt x="0" y="0"/>
                </a:moveTo>
                <a:lnTo>
                  <a:pt x="993458" y="0"/>
                </a:lnTo>
                <a:lnTo>
                  <a:pt x="993458" y="993457"/>
                </a:lnTo>
                <a:lnTo>
                  <a:pt x="0" y="993457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44" id="44"/>
          <p:cNvGrpSpPr/>
          <p:nvPr/>
        </p:nvGrpSpPr>
        <p:grpSpPr>
          <a:xfrm rot="0">
            <a:off x="6970471" y="2776738"/>
            <a:ext cx="460820" cy="460820"/>
            <a:chOff x="0" y="0"/>
            <a:chExt cx="614426" cy="614426"/>
          </a:xfrm>
        </p:grpSpPr>
        <p:sp>
          <p:nvSpPr>
            <p:cNvPr name="Freeform 45" id="45" descr="icone"/>
            <p:cNvSpPr/>
            <p:nvPr/>
          </p:nvSpPr>
          <p:spPr>
            <a:xfrm flipH="false" flipV="false" rot="0">
              <a:off x="0" y="0"/>
              <a:ext cx="614426" cy="614426"/>
            </a:xfrm>
            <a:custGeom>
              <a:avLst/>
              <a:gdLst/>
              <a:ahLst/>
              <a:cxnLst/>
              <a:rect r="r" b="b" t="t" l="l"/>
              <a:pathLst>
                <a:path h="614426" w="614426">
                  <a:moveTo>
                    <a:pt x="0" y="0"/>
                  </a:moveTo>
                  <a:lnTo>
                    <a:pt x="614426" y="0"/>
                  </a:lnTo>
                  <a:lnTo>
                    <a:pt x="614426" y="614426"/>
                  </a:lnTo>
                  <a:lnTo>
                    <a:pt x="0" y="61442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5"/>
              <a:stretch>
                <a:fillRect l="0" t="0" r="0" b="0"/>
              </a:stretch>
            </a:blipFill>
          </p:spPr>
        </p:sp>
      </p:grpSp>
      <p:sp>
        <p:nvSpPr>
          <p:cNvPr name="TextBox 46" id="46"/>
          <p:cNvSpPr txBox="true"/>
          <p:nvPr/>
        </p:nvSpPr>
        <p:spPr>
          <a:xfrm rot="0">
            <a:off x="7955280" y="2184206"/>
            <a:ext cx="3703320" cy="9372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40"/>
              </a:lnSpc>
            </a:pPr>
            <a:r>
              <a:rPr lang="en-US" sz="2700" b="true">
                <a:solidFill>
                  <a:srgbClr val="0F172A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Publicações</a:t>
            </a:r>
          </a:p>
        </p:txBody>
      </p:sp>
      <p:sp>
        <p:nvSpPr>
          <p:cNvPr name="TextBox 47" id="47"/>
          <p:cNvSpPr txBox="true"/>
          <p:nvPr/>
        </p:nvSpPr>
        <p:spPr>
          <a:xfrm rot="0">
            <a:off x="7955280" y="2740466"/>
            <a:ext cx="3703320" cy="76504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0"/>
              </a:lnSpc>
            </a:pPr>
            <a:r>
              <a:rPr lang="en-US" sz="1950" b="true">
                <a:solidFill>
                  <a:srgbClr val="B1734A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RF03 a RF05</a:t>
            </a:r>
          </a:p>
        </p:txBody>
      </p:sp>
      <p:sp>
        <p:nvSpPr>
          <p:cNvPr name="Freeform 48" id="48"/>
          <p:cNvSpPr/>
          <p:nvPr/>
        </p:nvSpPr>
        <p:spPr>
          <a:xfrm flipH="false" flipV="false" rot="0">
            <a:off x="12057574" y="2240280"/>
            <a:ext cx="5374243" cy="1554480"/>
          </a:xfrm>
          <a:custGeom>
            <a:avLst/>
            <a:gdLst/>
            <a:ahLst/>
            <a:cxnLst/>
            <a:rect r="r" b="b" t="t" l="l"/>
            <a:pathLst>
              <a:path h="1554480" w="5374243">
                <a:moveTo>
                  <a:pt x="0" y="0"/>
                </a:moveTo>
                <a:lnTo>
                  <a:pt x="5374243" y="0"/>
                </a:lnTo>
                <a:lnTo>
                  <a:pt x="5374243" y="1554480"/>
                </a:lnTo>
                <a:lnTo>
                  <a:pt x="0" y="1554480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-19145" r="0" b="-19145"/>
            </a:stretch>
          </a:blipFill>
        </p:spPr>
      </p:sp>
      <p:sp>
        <p:nvSpPr>
          <p:cNvPr name="Freeform 49" id="49"/>
          <p:cNvSpPr/>
          <p:nvPr/>
        </p:nvSpPr>
        <p:spPr>
          <a:xfrm flipH="false" flipV="false" rot="0">
            <a:off x="12327731" y="2510438"/>
            <a:ext cx="993457" cy="993457"/>
          </a:xfrm>
          <a:custGeom>
            <a:avLst/>
            <a:gdLst/>
            <a:ahLst/>
            <a:cxnLst/>
            <a:rect r="r" b="b" t="t" l="l"/>
            <a:pathLst>
              <a:path h="993457" w="993457">
                <a:moveTo>
                  <a:pt x="0" y="0"/>
                </a:moveTo>
                <a:lnTo>
                  <a:pt x="993458" y="0"/>
                </a:lnTo>
                <a:lnTo>
                  <a:pt x="993458" y="993457"/>
                </a:lnTo>
                <a:lnTo>
                  <a:pt x="0" y="993457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50" id="50"/>
          <p:cNvGrpSpPr/>
          <p:nvPr/>
        </p:nvGrpSpPr>
        <p:grpSpPr>
          <a:xfrm rot="0">
            <a:off x="12594031" y="2776738"/>
            <a:ext cx="460820" cy="460820"/>
            <a:chOff x="0" y="0"/>
            <a:chExt cx="614426" cy="614426"/>
          </a:xfrm>
        </p:grpSpPr>
        <p:sp>
          <p:nvSpPr>
            <p:cNvPr name="Freeform 51" id="51" descr="icone"/>
            <p:cNvSpPr/>
            <p:nvPr/>
          </p:nvSpPr>
          <p:spPr>
            <a:xfrm flipH="false" flipV="false" rot="0">
              <a:off x="0" y="0"/>
              <a:ext cx="614426" cy="614426"/>
            </a:xfrm>
            <a:custGeom>
              <a:avLst/>
              <a:gdLst/>
              <a:ahLst/>
              <a:cxnLst/>
              <a:rect r="r" b="b" t="t" l="l"/>
              <a:pathLst>
                <a:path h="614426" w="614426">
                  <a:moveTo>
                    <a:pt x="0" y="0"/>
                  </a:moveTo>
                  <a:lnTo>
                    <a:pt x="614426" y="0"/>
                  </a:lnTo>
                  <a:lnTo>
                    <a:pt x="614426" y="614426"/>
                  </a:lnTo>
                  <a:lnTo>
                    <a:pt x="0" y="61442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/>
              <a:stretch>
                <a:fillRect l="0" t="0" r="0" b="0"/>
              </a:stretch>
            </a:blipFill>
          </p:spPr>
        </p:sp>
      </p:grpSp>
      <p:sp>
        <p:nvSpPr>
          <p:cNvPr name="TextBox 52" id="52"/>
          <p:cNvSpPr txBox="true"/>
          <p:nvPr/>
        </p:nvSpPr>
        <p:spPr>
          <a:xfrm rot="0">
            <a:off x="13578840" y="2184206"/>
            <a:ext cx="3703320" cy="9372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40"/>
              </a:lnSpc>
            </a:pPr>
            <a:r>
              <a:rPr lang="en-US" sz="2700" b="true">
                <a:solidFill>
                  <a:srgbClr val="0F172A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Mapa e busca</a:t>
            </a:r>
          </a:p>
        </p:txBody>
      </p:sp>
      <p:sp>
        <p:nvSpPr>
          <p:cNvPr name="TextBox 53" id="53"/>
          <p:cNvSpPr txBox="true"/>
          <p:nvPr/>
        </p:nvSpPr>
        <p:spPr>
          <a:xfrm rot="0">
            <a:off x="13578840" y="2740466"/>
            <a:ext cx="3703320" cy="76504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0"/>
              </a:lnSpc>
            </a:pPr>
            <a:r>
              <a:rPr lang="en-US" sz="1950" b="true">
                <a:solidFill>
                  <a:srgbClr val="B1734A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RF06 a RF08</a:t>
            </a:r>
          </a:p>
        </p:txBody>
      </p:sp>
      <p:sp>
        <p:nvSpPr>
          <p:cNvPr name="Freeform 54" id="54"/>
          <p:cNvSpPr/>
          <p:nvPr/>
        </p:nvSpPr>
        <p:spPr>
          <a:xfrm flipH="false" flipV="false" rot="0">
            <a:off x="810454" y="4069080"/>
            <a:ext cx="5374243" cy="1554480"/>
          </a:xfrm>
          <a:custGeom>
            <a:avLst/>
            <a:gdLst/>
            <a:ahLst/>
            <a:cxnLst/>
            <a:rect r="r" b="b" t="t" l="l"/>
            <a:pathLst>
              <a:path h="1554480" w="5374243">
                <a:moveTo>
                  <a:pt x="0" y="0"/>
                </a:moveTo>
                <a:lnTo>
                  <a:pt x="5374243" y="0"/>
                </a:lnTo>
                <a:lnTo>
                  <a:pt x="5374243" y="1554480"/>
                </a:lnTo>
                <a:lnTo>
                  <a:pt x="0" y="1554480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-19145" r="0" b="-19145"/>
            </a:stretch>
          </a:blipFill>
        </p:spPr>
      </p:sp>
      <p:sp>
        <p:nvSpPr>
          <p:cNvPr name="Freeform 55" id="55"/>
          <p:cNvSpPr/>
          <p:nvPr/>
        </p:nvSpPr>
        <p:spPr>
          <a:xfrm flipH="false" flipV="false" rot="0">
            <a:off x="1080611" y="4339238"/>
            <a:ext cx="993457" cy="993458"/>
          </a:xfrm>
          <a:custGeom>
            <a:avLst/>
            <a:gdLst/>
            <a:ahLst/>
            <a:cxnLst/>
            <a:rect r="r" b="b" t="t" l="l"/>
            <a:pathLst>
              <a:path h="993458" w="993457">
                <a:moveTo>
                  <a:pt x="0" y="0"/>
                </a:moveTo>
                <a:lnTo>
                  <a:pt x="993458" y="0"/>
                </a:lnTo>
                <a:lnTo>
                  <a:pt x="993458" y="993457"/>
                </a:lnTo>
                <a:lnTo>
                  <a:pt x="0" y="993457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56" id="56"/>
          <p:cNvGrpSpPr/>
          <p:nvPr/>
        </p:nvGrpSpPr>
        <p:grpSpPr>
          <a:xfrm rot="0">
            <a:off x="1346911" y="4605538"/>
            <a:ext cx="460820" cy="460820"/>
            <a:chOff x="0" y="0"/>
            <a:chExt cx="614426" cy="614426"/>
          </a:xfrm>
        </p:grpSpPr>
        <p:sp>
          <p:nvSpPr>
            <p:cNvPr name="Freeform 57" id="57" descr="icone"/>
            <p:cNvSpPr/>
            <p:nvPr/>
          </p:nvSpPr>
          <p:spPr>
            <a:xfrm flipH="false" flipV="false" rot="0">
              <a:off x="0" y="0"/>
              <a:ext cx="614426" cy="614426"/>
            </a:xfrm>
            <a:custGeom>
              <a:avLst/>
              <a:gdLst/>
              <a:ahLst/>
              <a:cxnLst/>
              <a:rect r="r" b="b" t="t" l="l"/>
              <a:pathLst>
                <a:path h="614426" w="614426">
                  <a:moveTo>
                    <a:pt x="0" y="0"/>
                  </a:moveTo>
                  <a:lnTo>
                    <a:pt x="614426" y="0"/>
                  </a:lnTo>
                  <a:lnTo>
                    <a:pt x="614426" y="614426"/>
                  </a:lnTo>
                  <a:lnTo>
                    <a:pt x="0" y="61442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7"/>
              <a:stretch>
                <a:fillRect l="0" t="0" r="0" b="0"/>
              </a:stretch>
            </a:blipFill>
          </p:spPr>
        </p:sp>
      </p:grpSp>
      <p:sp>
        <p:nvSpPr>
          <p:cNvPr name="TextBox 58" id="58"/>
          <p:cNvSpPr txBox="true"/>
          <p:nvPr/>
        </p:nvSpPr>
        <p:spPr>
          <a:xfrm rot="0">
            <a:off x="2331720" y="4013006"/>
            <a:ext cx="3703320" cy="9372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40"/>
              </a:lnSpc>
            </a:pPr>
            <a:r>
              <a:rPr lang="en-US" sz="2700" b="true">
                <a:solidFill>
                  <a:srgbClr val="0F172A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Avistamentos</a:t>
            </a:r>
          </a:p>
        </p:txBody>
      </p:sp>
      <p:sp>
        <p:nvSpPr>
          <p:cNvPr name="TextBox 59" id="59"/>
          <p:cNvSpPr txBox="true"/>
          <p:nvPr/>
        </p:nvSpPr>
        <p:spPr>
          <a:xfrm rot="0">
            <a:off x="2331720" y="4569266"/>
            <a:ext cx="3703320" cy="76504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0"/>
              </a:lnSpc>
            </a:pPr>
            <a:r>
              <a:rPr lang="en-US" sz="1950" b="true">
                <a:solidFill>
                  <a:srgbClr val="B1734A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RF09 e RF10</a:t>
            </a:r>
          </a:p>
        </p:txBody>
      </p:sp>
      <p:sp>
        <p:nvSpPr>
          <p:cNvPr name="Freeform 60" id="60"/>
          <p:cNvSpPr/>
          <p:nvPr/>
        </p:nvSpPr>
        <p:spPr>
          <a:xfrm flipH="false" flipV="false" rot="0">
            <a:off x="6434014" y="4069080"/>
            <a:ext cx="5374243" cy="1554480"/>
          </a:xfrm>
          <a:custGeom>
            <a:avLst/>
            <a:gdLst/>
            <a:ahLst/>
            <a:cxnLst/>
            <a:rect r="r" b="b" t="t" l="l"/>
            <a:pathLst>
              <a:path h="1554480" w="5374243">
                <a:moveTo>
                  <a:pt x="0" y="0"/>
                </a:moveTo>
                <a:lnTo>
                  <a:pt x="5374243" y="0"/>
                </a:lnTo>
                <a:lnTo>
                  <a:pt x="5374243" y="1554480"/>
                </a:lnTo>
                <a:lnTo>
                  <a:pt x="0" y="1554480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-19145" r="0" b="-19145"/>
            </a:stretch>
          </a:blipFill>
        </p:spPr>
      </p:sp>
      <p:sp>
        <p:nvSpPr>
          <p:cNvPr name="Freeform 61" id="61"/>
          <p:cNvSpPr/>
          <p:nvPr/>
        </p:nvSpPr>
        <p:spPr>
          <a:xfrm flipH="false" flipV="false" rot="0">
            <a:off x="6704171" y="4339238"/>
            <a:ext cx="993458" cy="993458"/>
          </a:xfrm>
          <a:custGeom>
            <a:avLst/>
            <a:gdLst/>
            <a:ahLst/>
            <a:cxnLst/>
            <a:rect r="r" b="b" t="t" l="l"/>
            <a:pathLst>
              <a:path h="993458" w="993458">
                <a:moveTo>
                  <a:pt x="0" y="0"/>
                </a:moveTo>
                <a:lnTo>
                  <a:pt x="993458" y="0"/>
                </a:lnTo>
                <a:lnTo>
                  <a:pt x="993458" y="993457"/>
                </a:lnTo>
                <a:lnTo>
                  <a:pt x="0" y="993457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62" id="62"/>
          <p:cNvGrpSpPr/>
          <p:nvPr/>
        </p:nvGrpSpPr>
        <p:grpSpPr>
          <a:xfrm rot="0">
            <a:off x="6970471" y="4605538"/>
            <a:ext cx="460820" cy="460820"/>
            <a:chOff x="0" y="0"/>
            <a:chExt cx="614426" cy="614426"/>
          </a:xfrm>
        </p:grpSpPr>
        <p:sp>
          <p:nvSpPr>
            <p:cNvPr name="Freeform 63" id="63" descr="icone"/>
            <p:cNvSpPr/>
            <p:nvPr/>
          </p:nvSpPr>
          <p:spPr>
            <a:xfrm flipH="false" flipV="false" rot="0">
              <a:off x="0" y="0"/>
              <a:ext cx="614426" cy="614426"/>
            </a:xfrm>
            <a:custGeom>
              <a:avLst/>
              <a:gdLst/>
              <a:ahLst/>
              <a:cxnLst/>
              <a:rect r="r" b="b" t="t" l="l"/>
              <a:pathLst>
                <a:path h="614426" w="614426">
                  <a:moveTo>
                    <a:pt x="0" y="0"/>
                  </a:moveTo>
                  <a:lnTo>
                    <a:pt x="614426" y="0"/>
                  </a:lnTo>
                  <a:lnTo>
                    <a:pt x="614426" y="614426"/>
                  </a:lnTo>
                  <a:lnTo>
                    <a:pt x="0" y="61442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/>
              <a:stretch>
                <a:fillRect l="0" t="0" r="0" b="0"/>
              </a:stretch>
            </a:blipFill>
          </p:spPr>
        </p:sp>
      </p:grpSp>
      <p:sp>
        <p:nvSpPr>
          <p:cNvPr name="TextBox 64" id="64"/>
          <p:cNvSpPr txBox="true"/>
          <p:nvPr/>
        </p:nvSpPr>
        <p:spPr>
          <a:xfrm rot="0">
            <a:off x="7955280" y="4013006"/>
            <a:ext cx="3703320" cy="9372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40"/>
              </a:lnSpc>
            </a:pPr>
            <a:r>
              <a:rPr lang="en-US" sz="2700" b="true">
                <a:solidFill>
                  <a:srgbClr val="0F172A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Comunicação</a:t>
            </a:r>
          </a:p>
        </p:txBody>
      </p:sp>
      <p:sp>
        <p:nvSpPr>
          <p:cNvPr name="TextBox 65" id="65"/>
          <p:cNvSpPr txBox="true"/>
          <p:nvPr/>
        </p:nvSpPr>
        <p:spPr>
          <a:xfrm rot="0">
            <a:off x="7955280" y="4569266"/>
            <a:ext cx="3703320" cy="76504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0"/>
              </a:lnSpc>
            </a:pPr>
            <a:r>
              <a:rPr lang="en-US" sz="1950" b="true">
                <a:solidFill>
                  <a:srgbClr val="B1734A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RF11 e RF12</a:t>
            </a:r>
          </a:p>
        </p:txBody>
      </p:sp>
      <p:sp>
        <p:nvSpPr>
          <p:cNvPr name="Freeform 66" id="66"/>
          <p:cNvSpPr/>
          <p:nvPr/>
        </p:nvSpPr>
        <p:spPr>
          <a:xfrm flipH="false" flipV="false" rot="0">
            <a:off x="12057574" y="4069080"/>
            <a:ext cx="5374243" cy="1554480"/>
          </a:xfrm>
          <a:custGeom>
            <a:avLst/>
            <a:gdLst/>
            <a:ahLst/>
            <a:cxnLst/>
            <a:rect r="r" b="b" t="t" l="l"/>
            <a:pathLst>
              <a:path h="1554480" w="5374243">
                <a:moveTo>
                  <a:pt x="0" y="0"/>
                </a:moveTo>
                <a:lnTo>
                  <a:pt x="5374243" y="0"/>
                </a:lnTo>
                <a:lnTo>
                  <a:pt x="5374243" y="1554480"/>
                </a:lnTo>
                <a:lnTo>
                  <a:pt x="0" y="1554480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-19145" r="0" b="-19145"/>
            </a:stretch>
          </a:blipFill>
        </p:spPr>
      </p:sp>
      <p:sp>
        <p:nvSpPr>
          <p:cNvPr name="Freeform 67" id="67"/>
          <p:cNvSpPr/>
          <p:nvPr/>
        </p:nvSpPr>
        <p:spPr>
          <a:xfrm flipH="false" flipV="false" rot="0">
            <a:off x="12327731" y="4339238"/>
            <a:ext cx="993457" cy="993458"/>
          </a:xfrm>
          <a:custGeom>
            <a:avLst/>
            <a:gdLst/>
            <a:ahLst/>
            <a:cxnLst/>
            <a:rect r="r" b="b" t="t" l="l"/>
            <a:pathLst>
              <a:path h="993458" w="993457">
                <a:moveTo>
                  <a:pt x="0" y="0"/>
                </a:moveTo>
                <a:lnTo>
                  <a:pt x="993458" y="0"/>
                </a:lnTo>
                <a:lnTo>
                  <a:pt x="993458" y="993457"/>
                </a:lnTo>
                <a:lnTo>
                  <a:pt x="0" y="993457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68" id="68"/>
          <p:cNvGrpSpPr/>
          <p:nvPr/>
        </p:nvGrpSpPr>
        <p:grpSpPr>
          <a:xfrm rot="0">
            <a:off x="12594031" y="4605538"/>
            <a:ext cx="460820" cy="460820"/>
            <a:chOff x="0" y="0"/>
            <a:chExt cx="614426" cy="614426"/>
          </a:xfrm>
        </p:grpSpPr>
        <p:sp>
          <p:nvSpPr>
            <p:cNvPr name="Freeform 69" id="69" descr="icone"/>
            <p:cNvSpPr/>
            <p:nvPr/>
          </p:nvSpPr>
          <p:spPr>
            <a:xfrm flipH="false" flipV="false" rot="0">
              <a:off x="0" y="0"/>
              <a:ext cx="614426" cy="614426"/>
            </a:xfrm>
            <a:custGeom>
              <a:avLst/>
              <a:gdLst/>
              <a:ahLst/>
              <a:cxnLst/>
              <a:rect r="r" b="b" t="t" l="l"/>
              <a:pathLst>
                <a:path h="614426" w="614426">
                  <a:moveTo>
                    <a:pt x="0" y="0"/>
                  </a:moveTo>
                  <a:lnTo>
                    <a:pt x="614426" y="0"/>
                  </a:lnTo>
                  <a:lnTo>
                    <a:pt x="614426" y="614426"/>
                  </a:lnTo>
                  <a:lnTo>
                    <a:pt x="0" y="61442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9"/>
              <a:stretch>
                <a:fillRect l="0" t="0" r="0" b="0"/>
              </a:stretch>
            </a:blipFill>
          </p:spPr>
        </p:sp>
      </p:grpSp>
      <p:sp>
        <p:nvSpPr>
          <p:cNvPr name="TextBox 70" id="70"/>
          <p:cNvSpPr txBox="true"/>
          <p:nvPr/>
        </p:nvSpPr>
        <p:spPr>
          <a:xfrm rot="0">
            <a:off x="13578840" y="4013006"/>
            <a:ext cx="3703320" cy="9372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40"/>
              </a:lnSpc>
            </a:pPr>
            <a:r>
              <a:rPr lang="en-US" sz="2700" b="true">
                <a:solidFill>
                  <a:srgbClr val="0F172A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Moderação</a:t>
            </a:r>
          </a:p>
        </p:txBody>
      </p:sp>
      <p:sp>
        <p:nvSpPr>
          <p:cNvPr name="TextBox 71" id="71"/>
          <p:cNvSpPr txBox="true"/>
          <p:nvPr/>
        </p:nvSpPr>
        <p:spPr>
          <a:xfrm rot="0">
            <a:off x="13578840" y="4569266"/>
            <a:ext cx="3703320" cy="76504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0"/>
              </a:lnSpc>
            </a:pPr>
            <a:r>
              <a:rPr lang="en-US" sz="1950" b="true">
                <a:solidFill>
                  <a:srgbClr val="B1734A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RF13 e RF14</a:t>
            </a:r>
          </a:p>
        </p:txBody>
      </p:sp>
      <p:sp>
        <p:nvSpPr>
          <p:cNvPr name="TextBox 72" id="72"/>
          <p:cNvSpPr txBox="true"/>
          <p:nvPr/>
        </p:nvSpPr>
        <p:spPr>
          <a:xfrm rot="0">
            <a:off x="914400" y="207264"/>
            <a:ext cx="6858000" cy="6705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00"/>
              </a:lnSpc>
            </a:pPr>
            <a:r>
              <a:rPr lang="en-US" b="true" sz="2000" spc="200">
                <a:solidFill>
                  <a:srgbClr val="B1734A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03  REQUISITOS E MODELAGEM</a:t>
            </a:r>
          </a:p>
        </p:txBody>
      </p:sp>
      <p:sp>
        <p:nvSpPr>
          <p:cNvPr name="TextBox 73" id="73"/>
          <p:cNvSpPr txBox="true"/>
          <p:nvPr/>
        </p:nvSpPr>
        <p:spPr>
          <a:xfrm rot="0">
            <a:off x="16459200" y="9433560"/>
            <a:ext cx="914400" cy="3810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400"/>
              </a:lnSpc>
            </a:pPr>
            <a:r>
              <a:rPr lang="en-US" sz="2000">
                <a:solidFill>
                  <a:srgbClr val="5B6B5F"/>
                </a:solidFill>
                <a:latin typeface="Calibri (MS)"/>
                <a:ea typeface="Calibri (MS)"/>
                <a:cs typeface="Calibri (MS)"/>
                <a:sym typeface="Calibri (MS)"/>
              </a:rPr>
              <a:t>13</a:t>
            </a:r>
          </a:p>
        </p:txBody>
      </p:sp>
      <p:grpSp>
        <p:nvGrpSpPr>
          <p:cNvPr name="Group 74" id="74"/>
          <p:cNvGrpSpPr/>
          <p:nvPr/>
        </p:nvGrpSpPr>
        <p:grpSpPr>
          <a:xfrm rot="0">
            <a:off x="813816" y="5943600"/>
            <a:ext cx="5376672" cy="1143000"/>
            <a:chOff x="0" y="0"/>
            <a:chExt cx="7168896" cy="1524000"/>
          </a:xfrm>
        </p:grpSpPr>
        <p:sp>
          <p:nvSpPr>
            <p:cNvPr name="Freeform 75" id="75"/>
            <p:cNvSpPr/>
            <p:nvPr/>
          </p:nvSpPr>
          <p:spPr>
            <a:xfrm flipH="false" flipV="false" rot="0">
              <a:off x="0" y="0"/>
              <a:ext cx="7168897" cy="1524000"/>
            </a:xfrm>
            <a:custGeom>
              <a:avLst/>
              <a:gdLst/>
              <a:ahLst/>
              <a:cxnLst/>
              <a:rect r="r" b="b" t="t" l="l"/>
              <a:pathLst>
                <a:path h="1524000" w="7168897">
                  <a:moveTo>
                    <a:pt x="0" y="182880"/>
                  </a:moveTo>
                  <a:cubicBezTo>
                    <a:pt x="0" y="81915"/>
                    <a:pt x="81915" y="0"/>
                    <a:pt x="182880" y="0"/>
                  </a:cubicBezTo>
                  <a:lnTo>
                    <a:pt x="6986016" y="0"/>
                  </a:lnTo>
                  <a:cubicBezTo>
                    <a:pt x="7086981" y="0"/>
                    <a:pt x="7168897" y="81915"/>
                    <a:pt x="7168897" y="182880"/>
                  </a:cubicBezTo>
                  <a:lnTo>
                    <a:pt x="7168897" y="1341120"/>
                  </a:lnTo>
                  <a:cubicBezTo>
                    <a:pt x="7168897" y="1442085"/>
                    <a:pt x="7086981" y="1524000"/>
                    <a:pt x="6986016" y="1524000"/>
                  </a:cubicBezTo>
                  <a:lnTo>
                    <a:pt x="182880" y="1524000"/>
                  </a:lnTo>
                  <a:cubicBezTo>
                    <a:pt x="81915" y="1524000"/>
                    <a:pt x="0" y="1442085"/>
                    <a:pt x="0" y="1341120"/>
                  </a:cubicBezTo>
                  <a:close/>
                </a:path>
              </a:pathLst>
            </a:custGeom>
            <a:solidFill>
              <a:srgbClr val="F3E7DB"/>
            </a:solidFill>
          </p:spPr>
        </p:sp>
      </p:grpSp>
      <p:sp>
        <p:nvSpPr>
          <p:cNvPr name="TextBox 76" id="76"/>
          <p:cNvSpPr txBox="true"/>
          <p:nvPr/>
        </p:nvSpPr>
        <p:spPr>
          <a:xfrm rot="0">
            <a:off x="1161288" y="5932170"/>
            <a:ext cx="4754880" cy="88925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60"/>
              </a:lnSpc>
            </a:pPr>
            <a:r>
              <a:rPr lang="en-US" sz="2400" b="true">
                <a:solidFill>
                  <a:srgbClr val="2E5634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RF15  Cartaz com QR</a:t>
            </a:r>
          </a:p>
        </p:txBody>
      </p:sp>
      <p:grpSp>
        <p:nvGrpSpPr>
          <p:cNvPr name="Group 77" id="77"/>
          <p:cNvGrpSpPr/>
          <p:nvPr/>
        </p:nvGrpSpPr>
        <p:grpSpPr>
          <a:xfrm rot="0">
            <a:off x="6437376" y="5943600"/>
            <a:ext cx="5376672" cy="1143000"/>
            <a:chOff x="0" y="0"/>
            <a:chExt cx="7168896" cy="1524000"/>
          </a:xfrm>
        </p:grpSpPr>
        <p:sp>
          <p:nvSpPr>
            <p:cNvPr name="Freeform 78" id="78"/>
            <p:cNvSpPr/>
            <p:nvPr/>
          </p:nvSpPr>
          <p:spPr>
            <a:xfrm flipH="false" flipV="false" rot="0">
              <a:off x="0" y="0"/>
              <a:ext cx="7168897" cy="1524000"/>
            </a:xfrm>
            <a:custGeom>
              <a:avLst/>
              <a:gdLst/>
              <a:ahLst/>
              <a:cxnLst/>
              <a:rect r="r" b="b" t="t" l="l"/>
              <a:pathLst>
                <a:path h="1524000" w="7168897">
                  <a:moveTo>
                    <a:pt x="0" y="182880"/>
                  </a:moveTo>
                  <a:cubicBezTo>
                    <a:pt x="0" y="81915"/>
                    <a:pt x="81915" y="0"/>
                    <a:pt x="182880" y="0"/>
                  </a:cubicBezTo>
                  <a:lnTo>
                    <a:pt x="6986016" y="0"/>
                  </a:lnTo>
                  <a:cubicBezTo>
                    <a:pt x="7086981" y="0"/>
                    <a:pt x="7168897" y="81915"/>
                    <a:pt x="7168897" y="182880"/>
                  </a:cubicBezTo>
                  <a:lnTo>
                    <a:pt x="7168897" y="1341120"/>
                  </a:lnTo>
                  <a:cubicBezTo>
                    <a:pt x="7168897" y="1442085"/>
                    <a:pt x="7086981" y="1524000"/>
                    <a:pt x="6986016" y="1524000"/>
                  </a:cubicBezTo>
                  <a:lnTo>
                    <a:pt x="182880" y="1524000"/>
                  </a:lnTo>
                  <a:cubicBezTo>
                    <a:pt x="81915" y="1524000"/>
                    <a:pt x="0" y="1442085"/>
                    <a:pt x="0" y="1341120"/>
                  </a:cubicBezTo>
                  <a:close/>
                </a:path>
              </a:pathLst>
            </a:custGeom>
            <a:solidFill>
              <a:srgbClr val="F3E7DB"/>
            </a:solidFill>
          </p:spPr>
        </p:sp>
      </p:grpSp>
      <p:sp>
        <p:nvSpPr>
          <p:cNvPr name="TextBox 79" id="79"/>
          <p:cNvSpPr txBox="true"/>
          <p:nvPr/>
        </p:nvSpPr>
        <p:spPr>
          <a:xfrm rot="0">
            <a:off x="6784848" y="5932170"/>
            <a:ext cx="4754880" cy="10248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60"/>
              </a:lnSpc>
            </a:pPr>
            <a:r>
              <a:rPr lang="en-US" sz="2400" b="true">
                <a:solidFill>
                  <a:srgbClr val="2E5634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RF16  Ciclo de vida da publicação</a:t>
            </a:r>
          </a:p>
        </p:txBody>
      </p:sp>
      <p:grpSp>
        <p:nvGrpSpPr>
          <p:cNvPr name="Group 80" id="80"/>
          <p:cNvGrpSpPr/>
          <p:nvPr/>
        </p:nvGrpSpPr>
        <p:grpSpPr>
          <a:xfrm rot="0">
            <a:off x="12060936" y="5943600"/>
            <a:ext cx="5376672" cy="1143000"/>
            <a:chOff x="0" y="0"/>
            <a:chExt cx="7168896" cy="1524000"/>
          </a:xfrm>
        </p:grpSpPr>
        <p:sp>
          <p:nvSpPr>
            <p:cNvPr name="Freeform 81" id="81"/>
            <p:cNvSpPr/>
            <p:nvPr/>
          </p:nvSpPr>
          <p:spPr>
            <a:xfrm flipH="false" flipV="false" rot="0">
              <a:off x="0" y="0"/>
              <a:ext cx="7168897" cy="1524000"/>
            </a:xfrm>
            <a:custGeom>
              <a:avLst/>
              <a:gdLst/>
              <a:ahLst/>
              <a:cxnLst/>
              <a:rect r="r" b="b" t="t" l="l"/>
              <a:pathLst>
                <a:path h="1524000" w="7168897">
                  <a:moveTo>
                    <a:pt x="0" y="182880"/>
                  </a:moveTo>
                  <a:cubicBezTo>
                    <a:pt x="0" y="81915"/>
                    <a:pt x="81915" y="0"/>
                    <a:pt x="182880" y="0"/>
                  </a:cubicBezTo>
                  <a:lnTo>
                    <a:pt x="6986016" y="0"/>
                  </a:lnTo>
                  <a:cubicBezTo>
                    <a:pt x="7086981" y="0"/>
                    <a:pt x="7168897" y="81915"/>
                    <a:pt x="7168897" y="182880"/>
                  </a:cubicBezTo>
                  <a:lnTo>
                    <a:pt x="7168897" y="1341120"/>
                  </a:lnTo>
                  <a:cubicBezTo>
                    <a:pt x="7168897" y="1442085"/>
                    <a:pt x="7086981" y="1524000"/>
                    <a:pt x="6986016" y="1524000"/>
                  </a:cubicBezTo>
                  <a:lnTo>
                    <a:pt x="182880" y="1524000"/>
                  </a:lnTo>
                  <a:cubicBezTo>
                    <a:pt x="81915" y="1524000"/>
                    <a:pt x="0" y="1442085"/>
                    <a:pt x="0" y="1341120"/>
                  </a:cubicBezTo>
                  <a:close/>
                </a:path>
              </a:pathLst>
            </a:custGeom>
            <a:solidFill>
              <a:srgbClr val="F3E7DB"/>
            </a:solidFill>
          </p:spPr>
        </p:sp>
      </p:grpSp>
      <p:sp>
        <p:nvSpPr>
          <p:cNvPr name="TextBox 82" id="82"/>
          <p:cNvSpPr txBox="true"/>
          <p:nvPr/>
        </p:nvSpPr>
        <p:spPr>
          <a:xfrm rot="0">
            <a:off x="12408408" y="5932170"/>
            <a:ext cx="4754880" cy="88925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60"/>
              </a:lnSpc>
            </a:pPr>
            <a:r>
              <a:rPr lang="en-US" sz="2400" b="true">
                <a:solidFill>
                  <a:srgbClr val="2E5634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RF17  Correspondências</a:t>
            </a:r>
          </a:p>
        </p:txBody>
      </p:sp>
      <p:grpSp>
        <p:nvGrpSpPr>
          <p:cNvPr name="Group 83" id="83"/>
          <p:cNvGrpSpPr/>
          <p:nvPr/>
        </p:nvGrpSpPr>
        <p:grpSpPr>
          <a:xfrm rot="0">
            <a:off x="813816" y="7315200"/>
            <a:ext cx="5376672" cy="1143000"/>
            <a:chOff x="0" y="0"/>
            <a:chExt cx="7168896" cy="1524000"/>
          </a:xfrm>
        </p:grpSpPr>
        <p:sp>
          <p:nvSpPr>
            <p:cNvPr name="Freeform 84" id="84"/>
            <p:cNvSpPr/>
            <p:nvPr/>
          </p:nvSpPr>
          <p:spPr>
            <a:xfrm flipH="false" flipV="false" rot="0">
              <a:off x="0" y="0"/>
              <a:ext cx="7168897" cy="1524000"/>
            </a:xfrm>
            <a:custGeom>
              <a:avLst/>
              <a:gdLst/>
              <a:ahLst/>
              <a:cxnLst/>
              <a:rect r="r" b="b" t="t" l="l"/>
              <a:pathLst>
                <a:path h="1524000" w="7168897">
                  <a:moveTo>
                    <a:pt x="0" y="182880"/>
                  </a:moveTo>
                  <a:cubicBezTo>
                    <a:pt x="0" y="81915"/>
                    <a:pt x="81915" y="0"/>
                    <a:pt x="182880" y="0"/>
                  </a:cubicBezTo>
                  <a:lnTo>
                    <a:pt x="6986016" y="0"/>
                  </a:lnTo>
                  <a:cubicBezTo>
                    <a:pt x="7086981" y="0"/>
                    <a:pt x="7168897" y="81915"/>
                    <a:pt x="7168897" y="182880"/>
                  </a:cubicBezTo>
                  <a:lnTo>
                    <a:pt x="7168897" y="1341120"/>
                  </a:lnTo>
                  <a:cubicBezTo>
                    <a:pt x="7168897" y="1442085"/>
                    <a:pt x="7086981" y="1524000"/>
                    <a:pt x="6986016" y="1524000"/>
                  </a:cubicBezTo>
                  <a:lnTo>
                    <a:pt x="182880" y="1524000"/>
                  </a:lnTo>
                  <a:cubicBezTo>
                    <a:pt x="81915" y="1524000"/>
                    <a:pt x="0" y="1442085"/>
                    <a:pt x="0" y="1341120"/>
                  </a:cubicBezTo>
                  <a:close/>
                </a:path>
              </a:pathLst>
            </a:custGeom>
            <a:solidFill>
              <a:srgbClr val="F3E7DB"/>
            </a:solidFill>
          </p:spPr>
        </p:sp>
      </p:grpSp>
      <p:sp>
        <p:nvSpPr>
          <p:cNvPr name="TextBox 85" id="85"/>
          <p:cNvSpPr txBox="true"/>
          <p:nvPr/>
        </p:nvSpPr>
        <p:spPr>
          <a:xfrm rot="0">
            <a:off x="1161288" y="7303770"/>
            <a:ext cx="4754880" cy="88925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60"/>
              </a:lnSpc>
            </a:pPr>
            <a:r>
              <a:rPr lang="en-US" sz="2400" b="true">
                <a:solidFill>
                  <a:srgbClr val="2E5634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RF18  Tutela e encontro</a:t>
            </a:r>
          </a:p>
        </p:txBody>
      </p:sp>
      <p:grpSp>
        <p:nvGrpSpPr>
          <p:cNvPr name="Group 86" id="86"/>
          <p:cNvGrpSpPr/>
          <p:nvPr/>
        </p:nvGrpSpPr>
        <p:grpSpPr>
          <a:xfrm rot="0">
            <a:off x="6437376" y="7315200"/>
            <a:ext cx="5376672" cy="1143000"/>
            <a:chOff x="0" y="0"/>
            <a:chExt cx="7168896" cy="1524000"/>
          </a:xfrm>
        </p:grpSpPr>
        <p:sp>
          <p:nvSpPr>
            <p:cNvPr name="Freeform 87" id="87"/>
            <p:cNvSpPr/>
            <p:nvPr/>
          </p:nvSpPr>
          <p:spPr>
            <a:xfrm flipH="false" flipV="false" rot="0">
              <a:off x="0" y="0"/>
              <a:ext cx="7168897" cy="1524000"/>
            </a:xfrm>
            <a:custGeom>
              <a:avLst/>
              <a:gdLst/>
              <a:ahLst/>
              <a:cxnLst/>
              <a:rect r="r" b="b" t="t" l="l"/>
              <a:pathLst>
                <a:path h="1524000" w="7168897">
                  <a:moveTo>
                    <a:pt x="0" y="182880"/>
                  </a:moveTo>
                  <a:cubicBezTo>
                    <a:pt x="0" y="81915"/>
                    <a:pt x="81915" y="0"/>
                    <a:pt x="182880" y="0"/>
                  </a:cubicBezTo>
                  <a:lnTo>
                    <a:pt x="6986016" y="0"/>
                  </a:lnTo>
                  <a:cubicBezTo>
                    <a:pt x="7086981" y="0"/>
                    <a:pt x="7168897" y="81915"/>
                    <a:pt x="7168897" y="182880"/>
                  </a:cubicBezTo>
                  <a:lnTo>
                    <a:pt x="7168897" y="1341120"/>
                  </a:lnTo>
                  <a:cubicBezTo>
                    <a:pt x="7168897" y="1442085"/>
                    <a:pt x="7086981" y="1524000"/>
                    <a:pt x="6986016" y="1524000"/>
                  </a:cubicBezTo>
                  <a:lnTo>
                    <a:pt x="182880" y="1524000"/>
                  </a:lnTo>
                  <a:cubicBezTo>
                    <a:pt x="81915" y="1524000"/>
                    <a:pt x="0" y="1442085"/>
                    <a:pt x="0" y="1341120"/>
                  </a:cubicBezTo>
                  <a:close/>
                </a:path>
              </a:pathLst>
            </a:custGeom>
            <a:solidFill>
              <a:srgbClr val="F3E7DB"/>
            </a:solidFill>
          </p:spPr>
        </p:sp>
      </p:grpSp>
      <p:sp>
        <p:nvSpPr>
          <p:cNvPr name="TextBox 88" id="88"/>
          <p:cNvSpPr txBox="true"/>
          <p:nvPr/>
        </p:nvSpPr>
        <p:spPr>
          <a:xfrm rot="0">
            <a:off x="6784848" y="7303770"/>
            <a:ext cx="4754880" cy="88925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60"/>
              </a:lnSpc>
            </a:pPr>
            <a:r>
              <a:rPr lang="en-US" sz="2400" b="true">
                <a:solidFill>
                  <a:srgbClr val="2E5634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RF19 e RF20  Meus pets e adoção</a:t>
            </a:r>
          </a:p>
        </p:txBody>
      </p:sp>
      <p:grpSp>
        <p:nvGrpSpPr>
          <p:cNvPr name="Group 89" id="89"/>
          <p:cNvGrpSpPr/>
          <p:nvPr/>
        </p:nvGrpSpPr>
        <p:grpSpPr>
          <a:xfrm rot="0">
            <a:off x="12060936" y="7315200"/>
            <a:ext cx="5376672" cy="1143000"/>
            <a:chOff x="0" y="0"/>
            <a:chExt cx="7168896" cy="1524000"/>
          </a:xfrm>
        </p:grpSpPr>
        <p:sp>
          <p:nvSpPr>
            <p:cNvPr name="Freeform 90" id="90"/>
            <p:cNvSpPr/>
            <p:nvPr/>
          </p:nvSpPr>
          <p:spPr>
            <a:xfrm flipH="false" flipV="false" rot="0">
              <a:off x="0" y="0"/>
              <a:ext cx="7168897" cy="1524000"/>
            </a:xfrm>
            <a:custGeom>
              <a:avLst/>
              <a:gdLst/>
              <a:ahLst/>
              <a:cxnLst/>
              <a:rect r="r" b="b" t="t" l="l"/>
              <a:pathLst>
                <a:path h="1524000" w="7168897">
                  <a:moveTo>
                    <a:pt x="0" y="182880"/>
                  </a:moveTo>
                  <a:cubicBezTo>
                    <a:pt x="0" y="81915"/>
                    <a:pt x="81915" y="0"/>
                    <a:pt x="182880" y="0"/>
                  </a:cubicBezTo>
                  <a:lnTo>
                    <a:pt x="6986016" y="0"/>
                  </a:lnTo>
                  <a:cubicBezTo>
                    <a:pt x="7086981" y="0"/>
                    <a:pt x="7168897" y="81915"/>
                    <a:pt x="7168897" y="182880"/>
                  </a:cubicBezTo>
                  <a:lnTo>
                    <a:pt x="7168897" y="1341120"/>
                  </a:lnTo>
                  <a:cubicBezTo>
                    <a:pt x="7168897" y="1442085"/>
                    <a:pt x="7086981" y="1524000"/>
                    <a:pt x="6986016" y="1524000"/>
                  </a:cubicBezTo>
                  <a:lnTo>
                    <a:pt x="182880" y="1524000"/>
                  </a:lnTo>
                  <a:cubicBezTo>
                    <a:pt x="81915" y="1524000"/>
                    <a:pt x="0" y="1442085"/>
                    <a:pt x="0" y="1341120"/>
                  </a:cubicBezTo>
                  <a:close/>
                </a:path>
              </a:pathLst>
            </a:custGeom>
            <a:solidFill>
              <a:srgbClr val="F3E7DB"/>
            </a:solidFill>
          </p:spPr>
        </p:sp>
      </p:grpSp>
      <p:sp>
        <p:nvSpPr>
          <p:cNvPr name="TextBox 91" id="91"/>
          <p:cNvSpPr txBox="true"/>
          <p:nvPr/>
        </p:nvSpPr>
        <p:spPr>
          <a:xfrm rot="0">
            <a:off x="12408408" y="7303770"/>
            <a:ext cx="4754880" cy="88925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60"/>
              </a:lnSpc>
            </a:pPr>
            <a:r>
              <a:rPr lang="en-US" sz="2400" b="true">
                <a:solidFill>
                  <a:srgbClr val="2E5634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RF21  Classificação de membros</a:t>
            </a:r>
          </a:p>
        </p:txBody>
      </p:sp>
    </p:spTree>
  </p:cSld>
  <p:clrMapOvr>
    <a:masterClrMapping/>
  </p:clrMapOvr>
</p:sld>
</file>

<file path=ppt/slides/slide1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822960" y="9601200"/>
            <a:ext cx="8229600" cy="411480"/>
            <a:chOff x="0" y="0"/>
            <a:chExt cx="10972800" cy="54864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0972800" cy="548640"/>
            </a:xfrm>
            <a:custGeom>
              <a:avLst/>
              <a:gdLst/>
              <a:ahLst/>
              <a:cxnLst/>
              <a:rect r="r" b="b" t="t" l="l"/>
              <a:pathLst>
                <a:path h="5486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339430" r="0" b="-339428"/>
              </a:stretch>
            </a:blipFill>
          </p:spPr>
        </p:sp>
      </p:grpSp>
      <p:grpSp>
        <p:nvGrpSpPr>
          <p:cNvPr name="Group 4" id="4"/>
          <p:cNvGrpSpPr/>
          <p:nvPr/>
        </p:nvGrpSpPr>
        <p:grpSpPr>
          <a:xfrm rot="0">
            <a:off x="822960" y="9572625"/>
            <a:ext cx="8229600" cy="440055"/>
            <a:chOff x="0" y="0"/>
            <a:chExt cx="10972800" cy="58674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0972800" cy="586740"/>
            </a:xfrm>
            <a:custGeom>
              <a:avLst/>
              <a:gdLst/>
              <a:ahLst/>
              <a:cxnLst/>
              <a:rect r="r" b="b" t="t" l="l"/>
              <a:pathLst>
                <a:path h="5867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586740"/>
                  </a:lnTo>
                  <a:lnTo>
                    <a:pt x="0" y="5867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14142" r="0" b="-314140"/>
              </a:stretch>
            </a:blipFill>
          </p:spPr>
        </p:sp>
      </p:grpSp>
      <p:grpSp>
        <p:nvGrpSpPr>
          <p:cNvPr name="Group 6" id="6"/>
          <p:cNvGrpSpPr/>
          <p:nvPr/>
        </p:nvGrpSpPr>
        <p:grpSpPr>
          <a:xfrm rot="0">
            <a:off x="822960" y="9544050"/>
            <a:ext cx="8229600" cy="468630"/>
            <a:chOff x="0" y="0"/>
            <a:chExt cx="10972800" cy="62484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10972800" cy="624840"/>
            </a:xfrm>
            <a:custGeom>
              <a:avLst/>
              <a:gdLst/>
              <a:ahLst/>
              <a:cxnLst/>
              <a:rect r="r" b="b" t="t" l="l"/>
              <a:pathLst>
                <a:path h="6248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624840"/>
                  </a:lnTo>
                  <a:lnTo>
                    <a:pt x="0" y="62484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91939" r="0" b="-291936"/>
              </a:stretch>
            </a:blipFill>
          </p:spPr>
        </p:sp>
      </p:grpSp>
      <p:grpSp>
        <p:nvGrpSpPr>
          <p:cNvPr name="Group 8" id="8"/>
          <p:cNvGrpSpPr/>
          <p:nvPr/>
        </p:nvGrpSpPr>
        <p:grpSpPr>
          <a:xfrm rot="0">
            <a:off x="822960" y="9515475"/>
            <a:ext cx="8229600" cy="497205"/>
            <a:chOff x="0" y="0"/>
            <a:chExt cx="10972800" cy="66294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0972800" cy="662940"/>
            </a:xfrm>
            <a:custGeom>
              <a:avLst/>
              <a:gdLst/>
              <a:ahLst/>
              <a:cxnLst/>
              <a:rect r="r" b="b" t="t" l="l"/>
              <a:pathLst>
                <a:path h="6629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662940"/>
                  </a:lnTo>
                  <a:lnTo>
                    <a:pt x="0" y="662940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272287" r="0" b="-272285"/>
              </a:stretch>
            </a:blipFill>
          </p:spPr>
        </p:sp>
      </p:grpSp>
      <p:grpSp>
        <p:nvGrpSpPr>
          <p:cNvPr name="Group 10" id="10"/>
          <p:cNvGrpSpPr/>
          <p:nvPr/>
        </p:nvGrpSpPr>
        <p:grpSpPr>
          <a:xfrm rot="0">
            <a:off x="822960" y="9486900"/>
            <a:ext cx="8229600" cy="525780"/>
            <a:chOff x="0" y="0"/>
            <a:chExt cx="10972800" cy="70104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0972800" cy="701040"/>
            </a:xfrm>
            <a:custGeom>
              <a:avLst/>
              <a:gdLst/>
              <a:ahLst/>
              <a:cxnLst/>
              <a:rect r="r" b="b" t="t" l="l"/>
              <a:pathLst>
                <a:path h="7010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701040"/>
                  </a:lnTo>
                  <a:lnTo>
                    <a:pt x="0" y="701040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l="0" t="-254771" r="0" b="-254769"/>
              </a:stretch>
            </a:blipFill>
          </p:spPr>
        </p:sp>
      </p:grpSp>
      <p:grpSp>
        <p:nvGrpSpPr>
          <p:cNvPr name="Group 12" id="12"/>
          <p:cNvGrpSpPr/>
          <p:nvPr/>
        </p:nvGrpSpPr>
        <p:grpSpPr>
          <a:xfrm rot="0">
            <a:off x="822960" y="9458325"/>
            <a:ext cx="8229600" cy="554355"/>
            <a:chOff x="0" y="0"/>
            <a:chExt cx="10972800" cy="73914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10972800" cy="739140"/>
            </a:xfrm>
            <a:custGeom>
              <a:avLst/>
              <a:gdLst/>
              <a:ahLst/>
              <a:cxnLst/>
              <a:rect r="r" b="b" t="t" l="l"/>
              <a:pathLst>
                <a:path h="7391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739140"/>
                  </a:lnTo>
                  <a:lnTo>
                    <a:pt x="0" y="739140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0" t="-239061" r="0" b="-239060"/>
              </a:stretch>
            </a:blipFill>
          </p:spPr>
        </p:sp>
      </p:grpSp>
      <p:grpSp>
        <p:nvGrpSpPr>
          <p:cNvPr name="Group 14" id="14"/>
          <p:cNvGrpSpPr/>
          <p:nvPr/>
        </p:nvGrpSpPr>
        <p:grpSpPr>
          <a:xfrm rot="0">
            <a:off x="822960" y="9429750"/>
            <a:ext cx="8229600" cy="582930"/>
            <a:chOff x="0" y="0"/>
            <a:chExt cx="10972800" cy="77724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10972800" cy="777240"/>
            </a:xfrm>
            <a:custGeom>
              <a:avLst/>
              <a:gdLst/>
              <a:ahLst/>
              <a:cxnLst/>
              <a:rect r="r" b="b" t="t" l="l"/>
              <a:pathLst>
                <a:path h="7772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777240"/>
                  </a:lnTo>
                  <a:lnTo>
                    <a:pt x="0" y="777240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0" t="-225082" r="0" b="-225082"/>
              </a:stretch>
            </a:blipFill>
          </p:spPr>
        </p:sp>
        <p:sp>
          <p:nvSpPr>
            <p:cNvPr name="TextBox 16" id="16"/>
            <p:cNvSpPr txBox="true"/>
            <p:nvPr/>
          </p:nvSpPr>
          <p:spPr>
            <a:xfrm>
              <a:off x="0" y="-38100"/>
              <a:ext cx="10972800" cy="8153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6B728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WeFIND  |  TCC  |  IFSul Campus Pelotas</a:t>
              </a: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822960" y="850392"/>
            <a:ext cx="16596360" cy="1234440"/>
            <a:chOff x="0" y="0"/>
            <a:chExt cx="22128480" cy="164592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22128480" cy="1645920"/>
            </a:xfrm>
            <a:custGeom>
              <a:avLst/>
              <a:gdLst/>
              <a:ahLst/>
              <a:cxnLst/>
              <a:rect r="r" b="b" t="t" l="l"/>
              <a:pathLst>
                <a:path h="1645920" w="22128480">
                  <a:moveTo>
                    <a:pt x="0" y="0"/>
                  </a:moveTo>
                  <a:lnTo>
                    <a:pt x="22128480" y="0"/>
                  </a:lnTo>
                  <a:lnTo>
                    <a:pt x="22128480" y="1645920"/>
                  </a:lnTo>
                  <a:lnTo>
                    <a:pt x="0" y="164592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211783" r="0" b="-211783"/>
              </a:stretch>
            </a:blipFill>
          </p:spPr>
        </p:sp>
      </p:grpSp>
      <p:grpSp>
        <p:nvGrpSpPr>
          <p:cNvPr name="Group 19" id="19"/>
          <p:cNvGrpSpPr/>
          <p:nvPr/>
        </p:nvGrpSpPr>
        <p:grpSpPr>
          <a:xfrm rot="0">
            <a:off x="822960" y="843248"/>
            <a:ext cx="16596360" cy="1241584"/>
            <a:chOff x="0" y="0"/>
            <a:chExt cx="22128480" cy="1655445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22128480" cy="1655445"/>
            </a:xfrm>
            <a:custGeom>
              <a:avLst/>
              <a:gdLst/>
              <a:ahLst/>
              <a:cxnLst/>
              <a:rect r="r" b="b" t="t" l="l"/>
              <a:pathLst>
                <a:path h="1655445" w="22128480">
                  <a:moveTo>
                    <a:pt x="0" y="0"/>
                  </a:moveTo>
                  <a:lnTo>
                    <a:pt x="22128480" y="0"/>
                  </a:lnTo>
                  <a:lnTo>
                    <a:pt x="22128480" y="1655445"/>
                  </a:lnTo>
                  <a:lnTo>
                    <a:pt x="0" y="1655445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10276" r="0" b="-210276"/>
              </a:stretch>
            </a:blipFill>
          </p:spPr>
        </p:sp>
      </p:grpSp>
      <p:grpSp>
        <p:nvGrpSpPr>
          <p:cNvPr name="Group 21" id="21"/>
          <p:cNvGrpSpPr/>
          <p:nvPr/>
        </p:nvGrpSpPr>
        <p:grpSpPr>
          <a:xfrm rot="0">
            <a:off x="822960" y="836105"/>
            <a:ext cx="16596360" cy="1248727"/>
            <a:chOff x="0" y="0"/>
            <a:chExt cx="22128480" cy="1664970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22128480" cy="1664970"/>
            </a:xfrm>
            <a:custGeom>
              <a:avLst/>
              <a:gdLst/>
              <a:ahLst/>
              <a:cxnLst/>
              <a:rect r="r" b="b" t="t" l="l"/>
              <a:pathLst>
                <a:path h="1664970" w="22128480">
                  <a:moveTo>
                    <a:pt x="0" y="0"/>
                  </a:moveTo>
                  <a:lnTo>
                    <a:pt x="22128480" y="0"/>
                  </a:lnTo>
                  <a:lnTo>
                    <a:pt x="22128480" y="1664970"/>
                  </a:lnTo>
                  <a:lnTo>
                    <a:pt x="0" y="166497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08787" r="0" b="-208787"/>
              </a:stretch>
            </a:blipFill>
          </p:spPr>
        </p:sp>
      </p:grpSp>
      <p:grpSp>
        <p:nvGrpSpPr>
          <p:cNvPr name="Group 23" id="23"/>
          <p:cNvGrpSpPr/>
          <p:nvPr/>
        </p:nvGrpSpPr>
        <p:grpSpPr>
          <a:xfrm rot="0">
            <a:off x="822960" y="828961"/>
            <a:ext cx="16596360" cy="1255871"/>
            <a:chOff x="0" y="0"/>
            <a:chExt cx="22128480" cy="1674495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22128480" cy="1674495"/>
            </a:xfrm>
            <a:custGeom>
              <a:avLst/>
              <a:gdLst/>
              <a:ahLst/>
              <a:cxnLst/>
              <a:rect r="r" b="b" t="t" l="l"/>
              <a:pathLst>
                <a:path h="1674495" w="22128480">
                  <a:moveTo>
                    <a:pt x="0" y="0"/>
                  </a:moveTo>
                  <a:lnTo>
                    <a:pt x="22128480" y="0"/>
                  </a:lnTo>
                  <a:lnTo>
                    <a:pt x="22128480" y="1674495"/>
                  </a:lnTo>
                  <a:lnTo>
                    <a:pt x="0" y="1674495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207315" r="0" b="-207315"/>
              </a:stretch>
            </a:blipFill>
          </p:spPr>
        </p:sp>
      </p:grpSp>
      <p:grpSp>
        <p:nvGrpSpPr>
          <p:cNvPr name="Group 25" id="25"/>
          <p:cNvGrpSpPr/>
          <p:nvPr/>
        </p:nvGrpSpPr>
        <p:grpSpPr>
          <a:xfrm rot="0">
            <a:off x="822960" y="821817"/>
            <a:ext cx="16596360" cy="1263015"/>
            <a:chOff x="0" y="0"/>
            <a:chExt cx="22128480" cy="1684020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22128480" cy="1684020"/>
            </a:xfrm>
            <a:custGeom>
              <a:avLst/>
              <a:gdLst/>
              <a:ahLst/>
              <a:cxnLst/>
              <a:rect r="r" b="b" t="t" l="l"/>
              <a:pathLst>
                <a:path h="1684020" w="22128480">
                  <a:moveTo>
                    <a:pt x="0" y="0"/>
                  </a:moveTo>
                  <a:lnTo>
                    <a:pt x="22128480" y="0"/>
                  </a:lnTo>
                  <a:lnTo>
                    <a:pt x="22128480" y="1684020"/>
                  </a:lnTo>
                  <a:lnTo>
                    <a:pt x="0" y="1684020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l="0" t="-205860" r="0" b="-205860"/>
              </a:stretch>
            </a:blipFill>
          </p:spPr>
        </p:sp>
      </p:grpSp>
      <p:grpSp>
        <p:nvGrpSpPr>
          <p:cNvPr name="Group 27" id="27"/>
          <p:cNvGrpSpPr/>
          <p:nvPr/>
        </p:nvGrpSpPr>
        <p:grpSpPr>
          <a:xfrm rot="0">
            <a:off x="822960" y="814673"/>
            <a:ext cx="16596360" cy="1270159"/>
            <a:chOff x="0" y="0"/>
            <a:chExt cx="22128480" cy="1693545"/>
          </a:xfrm>
        </p:grpSpPr>
        <p:sp>
          <p:nvSpPr>
            <p:cNvPr name="Freeform 28" id="28"/>
            <p:cNvSpPr/>
            <p:nvPr/>
          </p:nvSpPr>
          <p:spPr>
            <a:xfrm flipH="false" flipV="false" rot="0">
              <a:off x="0" y="0"/>
              <a:ext cx="22128480" cy="1693545"/>
            </a:xfrm>
            <a:custGeom>
              <a:avLst/>
              <a:gdLst/>
              <a:ahLst/>
              <a:cxnLst/>
              <a:rect r="r" b="b" t="t" l="l"/>
              <a:pathLst>
                <a:path h="1693545" w="22128480">
                  <a:moveTo>
                    <a:pt x="0" y="0"/>
                  </a:moveTo>
                  <a:lnTo>
                    <a:pt x="22128480" y="0"/>
                  </a:lnTo>
                  <a:lnTo>
                    <a:pt x="22128480" y="1693545"/>
                  </a:lnTo>
                  <a:lnTo>
                    <a:pt x="0" y="1693545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0" t="-204421" r="0" b="-204421"/>
              </a:stretch>
            </a:blipFill>
          </p:spPr>
        </p:sp>
      </p:grpSp>
      <p:grpSp>
        <p:nvGrpSpPr>
          <p:cNvPr name="Group 29" id="29"/>
          <p:cNvGrpSpPr/>
          <p:nvPr/>
        </p:nvGrpSpPr>
        <p:grpSpPr>
          <a:xfrm rot="0">
            <a:off x="822960" y="807530"/>
            <a:ext cx="16596360" cy="1277302"/>
            <a:chOff x="0" y="0"/>
            <a:chExt cx="22128480" cy="1703070"/>
          </a:xfrm>
        </p:grpSpPr>
        <p:sp>
          <p:nvSpPr>
            <p:cNvPr name="Freeform 30" id="30"/>
            <p:cNvSpPr/>
            <p:nvPr/>
          </p:nvSpPr>
          <p:spPr>
            <a:xfrm flipH="false" flipV="false" rot="0">
              <a:off x="0" y="0"/>
              <a:ext cx="22128480" cy="1703070"/>
            </a:xfrm>
            <a:custGeom>
              <a:avLst/>
              <a:gdLst/>
              <a:ahLst/>
              <a:cxnLst/>
              <a:rect r="r" b="b" t="t" l="l"/>
              <a:pathLst>
                <a:path h="1703070" w="22128480">
                  <a:moveTo>
                    <a:pt x="0" y="0"/>
                  </a:moveTo>
                  <a:lnTo>
                    <a:pt x="22128480" y="0"/>
                  </a:lnTo>
                  <a:lnTo>
                    <a:pt x="22128480" y="1703070"/>
                  </a:lnTo>
                  <a:lnTo>
                    <a:pt x="0" y="1703070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0" t="-203174" r="0" b="-203174"/>
              </a:stretch>
            </a:blipFill>
          </p:spPr>
        </p:sp>
        <p:sp>
          <p:nvSpPr>
            <p:cNvPr name="TextBox 31" id="31"/>
            <p:cNvSpPr txBox="true"/>
            <p:nvPr/>
          </p:nvSpPr>
          <p:spPr>
            <a:xfrm>
              <a:off x="0" y="-9525"/>
              <a:ext cx="22128480" cy="171259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6120"/>
                </a:lnSpc>
              </a:pPr>
              <a:r>
                <a:rPr lang="en-US" sz="5100" b="true">
                  <a:solidFill>
                    <a:srgbClr val="2E5634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Qualidade: acesso, privacidade e imagens</a:t>
              </a:r>
            </a:p>
          </p:txBody>
        </p:sp>
      </p:grpSp>
      <p:sp>
        <p:nvSpPr>
          <p:cNvPr name="Freeform 32" id="32"/>
          <p:cNvSpPr/>
          <p:nvPr/>
        </p:nvSpPr>
        <p:spPr>
          <a:xfrm flipH="false" flipV="false" rot="0">
            <a:off x="810454" y="2387794"/>
            <a:ext cx="8186023" cy="2905363"/>
          </a:xfrm>
          <a:custGeom>
            <a:avLst/>
            <a:gdLst/>
            <a:ahLst/>
            <a:cxnLst/>
            <a:rect r="r" b="b" t="t" l="l"/>
            <a:pathLst>
              <a:path h="2905363" w="8186023">
                <a:moveTo>
                  <a:pt x="0" y="0"/>
                </a:moveTo>
                <a:lnTo>
                  <a:pt x="8186023" y="0"/>
                </a:lnTo>
                <a:lnTo>
                  <a:pt x="8186023" y="2905363"/>
                </a:lnTo>
                <a:lnTo>
                  <a:pt x="0" y="2905363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-126" r="0" b="-126"/>
            </a:stretch>
          </a:blipFill>
        </p:spPr>
      </p:sp>
      <p:sp>
        <p:nvSpPr>
          <p:cNvPr name="Freeform 33" id="33"/>
          <p:cNvSpPr/>
          <p:nvPr/>
        </p:nvSpPr>
        <p:spPr>
          <a:xfrm flipH="false" flipV="false" rot="0">
            <a:off x="1217771" y="2863691"/>
            <a:ext cx="1267777" cy="1267778"/>
          </a:xfrm>
          <a:custGeom>
            <a:avLst/>
            <a:gdLst/>
            <a:ahLst/>
            <a:cxnLst/>
            <a:rect r="r" b="b" t="t" l="l"/>
            <a:pathLst>
              <a:path h="1267778" w="1267777">
                <a:moveTo>
                  <a:pt x="0" y="0"/>
                </a:moveTo>
                <a:lnTo>
                  <a:pt x="1267778" y="0"/>
                </a:lnTo>
                <a:lnTo>
                  <a:pt x="1267778" y="1267778"/>
                </a:lnTo>
                <a:lnTo>
                  <a:pt x="0" y="1267778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34" id="34"/>
          <p:cNvGrpSpPr/>
          <p:nvPr/>
        </p:nvGrpSpPr>
        <p:grpSpPr>
          <a:xfrm rot="0">
            <a:off x="1555394" y="3201314"/>
            <a:ext cx="592550" cy="592550"/>
            <a:chOff x="0" y="0"/>
            <a:chExt cx="790067" cy="790067"/>
          </a:xfrm>
        </p:grpSpPr>
        <p:sp>
          <p:nvSpPr>
            <p:cNvPr name="Freeform 35" id="35" descr="icone"/>
            <p:cNvSpPr/>
            <p:nvPr/>
          </p:nvSpPr>
          <p:spPr>
            <a:xfrm flipH="false" flipV="false" rot="0">
              <a:off x="0" y="0"/>
              <a:ext cx="790067" cy="790067"/>
            </a:xfrm>
            <a:custGeom>
              <a:avLst/>
              <a:gdLst/>
              <a:ahLst/>
              <a:cxnLst/>
              <a:rect r="r" b="b" t="t" l="l"/>
              <a:pathLst>
                <a:path h="790067" w="790067">
                  <a:moveTo>
                    <a:pt x="0" y="0"/>
                  </a:moveTo>
                  <a:lnTo>
                    <a:pt x="790067" y="0"/>
                  </a:lnTo>
                  <a:lnTo>
                    <a:pt x="790067" y="790067"/>
                  </a:lnTo>
                  <a:lnTo>
                    <a:pt x="0" y="79006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3"/>
              <a:stretch>
                <a:fillRect l="0" t="0" r="0" b="0"/>
              </a:stretch>
            </a:blipFill>
          </p:spPr>
        </p:sp>
      </p:grpSp>
      <p:sp>
        <p:nvSpPr>
          <p:cNvPr name="TextBox 36" id="36"/>
          <p:cNvSpPr txBox="true"/>
          <p:nvPr/>
        </p:nvSpPr>
        <p:spPr>
          <a:xfrm rot="0">
            <a:off x="2880360" y="2345055"/>
            <a:ext cx="5760720" cy="10839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600"/>
              </a:lnSpc>
            </a:pPr>
            <a:r>
              <a:rPr lang="en-US" sz="3000" b="true">
                <a:solidFill>
                  <a:srgbClr val="0F172A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RNF01  Autenticação e acesso</a:t>
            </a:r>
          </a:p>
        </p:txBody>
      </p:sp>
      <p:sp>
        <p:nvSpPr>
          <p:cNvPr name="TextBox 37" id="37"/>
          <p:cNvSpPr txBox="true"/>
          <p:nvPr/>
        </p:nvSpPr>
        <p:spPr>
          <a:xfrm rot="0">
            <a:off x="2880360" y="3299460"/>
            <a:ext cx="5760720" cy="18440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78"/>
              </a:lnSpc>
            </a:pPr>
            <a:r>
              <a:rPr lang="en-US" sz="2400">
                <a:solidFill>
                  <a:srgbClr val="0F172A"/>
                </a:solidFill>
                <a:latin typeface="Calibri (MS)"/>
                <a:ea typeface="Calibri (MS)"/>
                <a:cs typeface="Calibri (MS)"/>
                <a:sym typeface="Calibri (MS)"/>
              </a:rPr>
              <a:t>Supabase Auth e políticas RLS: ninguém altera ou exclui dados de outra conta.</a:t>
            </a:r>
          </a:p>
        </p:txBody>
      </p:sp>
      <p:sp>
        <p:nvSpPr>
          <p:cNvPr name="Freeform 38" id="38"/>
          <p:cNvSpPr/>
          <p:nvPr/>
        </p:nvSpPr>
        <p:spPr>
          <a:xfrm flipH="false" flipV="false" rot="0">
            <a:off x="9245794" y="2387794"/>
            <a:ext cx="8186023" cy="2905363"/>
          </a:xfrm>
          <a:custGeom>
            <a:avLst/>
            <a:gdLst/>
            <a:ahLst/>
            <a:cxnLst/>
            <a:rect r="r" b="b" t="t" l="l"/>
            <a:pathLst>
              <a:path h="2905363" w="8186023">
                <a:moveTo>
                  <a:pt x="0" y="0"/>
                </a:moveTo>
                <a:lnTo>
                  <a:pt x="8186023" y="0"/>
                </a:lnTo>
                <a:lnTo>
                  <a:pt x="8186023" y="2905363"/>
                </a:lnTo>
                <a:lnTo>
                  <a:pt x="0" y="2905363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-126" r="0" b="-126"/>
            </a:stretch>
          </a:blipFill>
        </p:spPr>
      </p:sp>
      <p:sp>
        <p:nvSpPr>
          <p:cNvPr name="Freeform 39" id="39"/>
          <p:cNvSpPr/>
          <p:nvPr/>
        </p:nvSpPr>
        <p:spPr>
          <a:xfrm flipH="false" flipV="false" rot="0">
            <a:off x="9653111" y="2863691"/>
            <a:ext cx="1267778" cy="1267778"/>
          </a:xfrm>
          <a:custGeom>
            <a:avLst/>
            <a:gdLst/>
            <a:ahLst/>
            <a:cxnLst/>
            <a:rect r="r" b="b" t="t" l="l"/>
            <a:pathLst>
              <a:path h="1267778" w="1267778">
                <a:moveTo>
                  <a:pt x="0" y="0"/>
                </a:moveTo>
                <a:lnTo>
                  <a:pt x="1267778" y="0"/>
                </a:lnTo>
                <a:lnTo>
                  <a:pt x="1267778" y="1267778"/>
                </a:lnTo>
                <a:lnTo>
                  <a:pt x="0" y="1267778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40" id="40"/>
          <p:cNvGrpSpPr/>
          <p:nvPr/>
        </p:nvGrpSpPr>
        <p:grpSpPr>
          <a:xfrm rot="0">
            <a:off x="9990734" y="3201314"/>
            <a:ext cx="592550" cy="592550"/>
            <a:chOff x="0" y="0"/>
            <a:chExt cx="790067" cy="790067"/>
          </a:xfrm>
        </p:grpSpPr>
        <p:sp>
          <p:nvSpPr>
            <p:cNvPr name="Freeform 41" id="41" descr="icone"/>
            <p:cNvSpPr/>
            <p:nvPr/>
          </p:nvSpPr>
          <p:spPr>
            <a:xfrm flipH="false" flipV="false" rot="0">
              <a:off x="0" y="0"/>
              <a:ext cx="790067" cy="790067"/>
            </a:xfrm>
            <a:custGeom>
              <a:avLst/>
              <a:gdLst/>
              <a:ahLst/>
              <a:cxnLst/>
              <a:rect r="r" b="b" t="t" l="l"/>
              <a:pathLst>
                <a:path h="790067" w="790067">
                  <a:moveTo>
                    <a:pt x="0" y="0"/>
                  </a:moveTo>
                  <a:lnTo>
                    <a:pt x="790067" y="0"/>
                  </a:lnTo>
                  <a:lnTo>
                    <a:pt x="790067" y="790067"/>
                  </a:lnTo>
                  <a:lnTo>
                    <a:pt x="0" y="79006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/>
              <a:stretch>
                <a:fillRect l="0" t="0" r="0" b="0"/>
              </a:stretch>
            </a:blipFill>
          </p:spPr>
        </p:sp>
      </p:grpSp>
      <p:sp>
        <p:nvSpPr>
          <p:cNvPr name="TextBox 42" id="42"/>
          <p:cNvSpPr txBox="true"/>
          <p:nvPr/>
        </p:nvSpPr>
        <p:spPr>
          <a:xfrm rot="0">
            <a:off x="11315700" y="2345055"/>
            <a:ext cx="5760720" cy="10839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600"/>
              </a:lnSpc>
            </a:pPr>
            <a:r>
              <a:rPr lang="en-US" sz="3000" b="true">
                <a:solidFill>
                  <a:srgbClr val="0F172A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RNF02  Privacidade da localização</a:t>
            </a:r>
          </a:p>
        </p:txBody>
      </p:sp>
      <p:sp>
        <p:nvSpPr>
          <p:cNvPr name="TextBox 43" id="43"/>
          <p:cNvSpPr txBox="true"/>
          <p:nvPr/>
        </p:nvSpPr>
        <p:spPr>
          <a:xfrm rot="0">
            <a:off x="11315700" y="3299460"/>
            <a:ext cx="5760720" cy="18440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78"/>
              </a:lnSpc>
            </a:pPr>
            <a:r>
              <a:rPr lang="en-US" sz="2400">
                <a:solidFill>
                  <a:srgbClr val="0F172A"/>
                </a:solidFill>
                <a:latin typeface="Calibri (MS)"/>
                <a:ea typeface="Calibri (MS)"/>
                <a:cs typeface="Calibri (MS)"/>
                <a:sym typeface="Calibri (MS)"/>
              </a:rPr>
              <a:t>Telas públicas mostram o endereço de forma aproximada (nenhum dos 48 participantes exibiria o endereço completo).</a:t>
            </a:r>
          </a:p>
        </p:txBody>
      </p:sp>
      <p:sp>
        <p:nvSpPr>
          <p:cNvPr name="Freeform 44" id="44"/>
          <p:cNvSpPr/>
          <p:nvPr/>
        </p:nvSpPr>
        <p:spPr>
          <a:xfrm flipH="false" flipV="false" rot="0">
            <a:off x="810454" y="5542474"/>
            <a:ext cx="8186023" cy="2905363"/>
          </a:xfrm>
          <a:custGeom>
            <a:avLst/>
            <a:gdLst/>
            <a:ahLst/>
            <a:cxnLst/>
            <a:rect r="r" b="b" t="t" l="l"/>
            <a:pathLst>
              <a:path h="2905363" w="8186023">
                <a:moveTo>
                  <a:pt x="0" y="0"/>
                </a:moveTo>
                <a:lnTo>
                  <a:pt x="8186023" y="0"/>
                </a:lnTo>
                <a:lnTo>
                  <a:pt x="8186023" y="2905363"/>
                </a:lnTo>
                <a:lnTo>
                  <a:pt x="0" y="2905363"/>
                </a:lnTo>
                <a:lnTo>
                  <a:pt x="0" y="0"/>
                </a:lnTo>
                <a:close/>
              </a:path>
            </a:pathLst>
          </a:custGeom>
          <a:blipFill>
            <a:blip r:embed="rId15">
              <a:extLs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tretch>
              <a:fillRect l="0" t="-126" r="0" b="-126"/>
            </a:stretch>
          </a:blipFill>
        </p:spPr>
      </p:sp>
      <p:sp>
        <p:nvSpPr>
          <p:cNvPr name="Freeform 45" id="45"/>
          <p:cNvSpPr/>
          <p:nvPr/>
        </p:nvSpPr>
        <p:spPr>
          <a:xfrm flipH="false" flipV="false" rot="0">
            <a:off x="1217771" y="6018371"/>
            <a:ext cx="1267777" cy="1267778"/>
          </a:xfrm>
          <a:custGeom>
            <a:avLst/>
            <a:gdLst/>
            <a:ahLst/>
            <a:cxnLst/>
            <a:rect r="r" b="b" t="t" l="l"/>
            <a:pathLst>
              <a:path h="1267778" w="1267777">
                <a:moveTo>
                  <a:pt x="0" y="0"/>
                </a:moveTo>
                <a:lnTo>
                  <a:pt x="1267778" y="0"/>
                </a:lnTo>
                <a:lnTo>
                  <a:pt x="1267778" y="1267778"/>
                </a:lnTo>
                <a:lnTo>
                  <a:pt x="0" y="1267778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46" id="46"/>
          <p:cNvGrpSpPr/>
          <p:nvPr/>
        </p:nvGrpSpPr>
        <p:grpSpPr>
          <a:xfrm rot="0">
            <a:off x="1555394" y="6355994"/>
            <a:ext cx="592550" cy="592550"/>
            <a:chOff x="0" y="0"/>
            <a:chExt cx="790067" cy="790067"/>
          </a:xfrm>
        </p:grpSpPr>
        <p:sp>
          <p:nvSpPr>
            <p:cNvPr name="Freeform 47" id="47" descr="icone"/>
            <p:cNvSpPr/>
            <p:nvPr/>
          </p:nvSpPr>
          <p:spPr>
            <a:xfrm flipH="false" flipV="false" rot="0">
              <a:off x="0" y="0"/>
              <a:ext cx="790067" cy="790067"/>
            </a:xfrm>
            <a:custGeom>
              <a:avLst/>
              <a:gdLst/>
              <a:ahLst/>
              <a:cxnLst/>
              <a:rect r="r" b="b" t="t" l="l"/>
              <a:pathLst>
                <a:path h="790067" w="790067">
                  <a:moveTo>
                    <a:pt x="0" y="0"/>
                  </a:moveTo>
                  <a:lnTo>
                    <a:pt x="790067" y="0"/>
                  </a:lnTo>
                  <a:lnTo>
                    <a:pt x="790067" y="790067"/>
                  </a:lnTo>
                  <a:lnTo>
                    <a:pt x="0" y="79006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7"/>
              <a:stretch>
                <a:fillRect l="0" t="0" r="0" b="0"/>
              </a:stretch>
            </a:blipFill>
          </p:spPr>
        </p:sp>
      </p:grpSp>
      <p:sp>
        <p:nvSpPr>
          <p:cNvPr name="TextBox 48" id="48"/>
          <p:cNvSpPr txBox="true"/>
          <p:nvPr/>
        </p:nvSpPr>
        <p:spPr>
          <a:xfrm rot="0">
            <a:off x="2880360" y="5499735"/>
            <a:ext cx="5760720" cy="10839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600"/>
              </a:lnSpc>
            </a:pPr>
            <a:r>
              <a:rPr lang="en-US" sz="3000" b="true">
                <a:solidFill>
                  <a:srgbClr val="0F172A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RNF03  Comunicação segura</a:t>
            </a:r>
          </a:p>
        </p:txBody>
      </p:sp>
      <p:sp>
        <p:nvSpPr>
          <p:cNvPr name="TextBox 49" id="49"/>
          <p:cNvSpPr txBox="true"/>
          <p:nvPr/>
        </p:nvSpPr>
        <p:spPr>
          <a:xfrm rot="0">
            <a:off x="2880360" y="6454140"/>
            <a:ext cx="5760720" cy="18440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78"/>
              </a:lnSpc>
            </a:pPr>
            <a:r>
              <a:rPr lang="en-US" sz="2400">
                <a:solidFill>
                  <a:srgbClr val="0F172A"/>
                </a:solidFill>
                <a:latin typeface="Calibri (MS)"/>
                <a:ea typeface="Calibri (MS)"/>
                <a:cs typeface="Calibri (MS)"/>
                <a:sym typeface="Calibri (MS)"/>
              </a:rPr>
              <a:t>Todas as requisições entre o aplicativo e a nuvem usam HTTPS.</a:t>
            </a:r>
          </a:p>
        </p:txBody>
      </p:sp>
      <p:sp>
        <p:nvSpPr>
          <p:cNvPr name="Freeform 50" id="50"/>
          <p:cNvSpPr/>
          <p:nvPr/>
        </p:nvSpPr>
        <p:spPr>
          <a:xfrm flipH="false" flipV="false" rot="0">
            <a:off x="9245794" y="5542474"/>
            <a:ext cx="8186023" cy="2905363"/>
          </a:xfrm>
          <a:custGeom>
            <a:avLst/>
            <a:gdLst/>
            <a:ahLst/>
            <a:cxnLst/>
            <a:rect r="r" b="b" t="t" l="l"/>
            <a:pathLst>
              <a:path h="2905363" w="8186023">
                <a:moveTo>
                  <a:pt x="0" y="0"/>
                </a:moveTo>
                <a:lnTo>
                  <a:pt x="8186023" y="0"/>
                </a:lnTo>
                <a:lnTo>
                  <a:pt x="8186023" y="2905363"/>
                </a:lnTo>
                <a:lnTo>
                  <a:pt x="0" y="2905363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-126" r="0" b="-126"/>
            </a:stretch>
          </a:blipFill>
        </p:spPr>
      </p:sp>
      <p:sp>
        <p:nvSpPr>
          <p:cNvPr name="Freeform 51" id="51"/>
          <p:cNvSpPr/>
          <p:nvPr/>
        </p:nvSpPr>
        <p:spPr>
          <a:xfrm flipH="false" flipV="false" rot="0">
            <a:off x="9653111" y="6018371"/>
            <a:ext cx="1267778" cy="1267778"/>
          </a:xfrm>
          <a:custGeom>
            <a:avLst/>
            <a:gdLst/>
            <a:ahLst/>
            <a:cxnLst/>
            <a:rect r="r" b="b" t="t" l="l"/>
            <a:pathLst>
              <a:path h="1267778" w="1267778">
                <a:moveTo>
                  <a:pt x="0" y="0"/>
                </a:moveTo>
                <a:lnTo>
                  <a:pt x="1267778" y="0"/>
                </a:lnTo>
                <a:lnTo>
                  <a:pt x="1267778" y="1267778"/>
                </a:lnTo>
                <a:lnTo>
                  <a:pt x="0" y="1267778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52" id="52"/>
          <p:cNvGrpSpPr/>
          <p:nvPr/>
        </p:nvGrpSpPr>
        <p:grpSpPr>
          <a:xfrm rot="0">
            <a:off x="9990734" y="6355994"/>
            <a:ext cx="592550" cy="592550"/>
            <a:chOff x="0" y="0"/>
            <a:chExt cx="790067" cy="790067"/>
          </a:xfrm>
        </p:grpSpPr>
        <p:sp>
          <p:nvSpPr>
            <p:cNvPr name="Freeform 53" id="53" descr="icone"/>
            <p:cNvSpPr/>
            <p:nvPr/>
          </p:nvSpPr>
          <p:spPr>
            <a:xfrm flipH="false" flipV="false" rot="0">
              <a:off x="0" y="0"/>
              <a:ext cx="790067" cy="790067"/>
            </a:xfrm>
            <a:custGeom>
              <a:avLst/>
              <a:gdLst/>
              <a:ahLst/>
              <a:cxnLst/>
              <a:rect r="r" b="b" t="t" l="l"/>
              <a:pathLst>
                <a:path h="790067" w="790067">
                  <a:moveTo>
                    <a:pt x="0" y="0"/>
                  </a:moveTo>
                  <a:lnTo>
                    <a:pt x="790067" y="0"/>
                  </a:lnTo>
                  <a:lnTo>
                    <a:pt x="790067" y="790067"/>
                  </a:lnTo>
                  <a:lnTo>
                    <a:pt x="0" y="79006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/>
              <a:stretch>
                <a:fillRect l="0" t="0" r="0" b="0"/>
              </a:stretch>
            </a:blipFill>
          </p:spPr>
        </p:sp>
      </p:grpSp>
      <p:sp>
        <p:nvSpPr>
          <p:cNvPr name="TextBox 54" id="54"/>
          <p:cNvSpPr txBox="true"/>
          <p:nvPr/>
        </p:nvSpPr>
        <p:spPr>
          <a:xfrm rot="0">
            <a:off x="11315700" y="5499735"/>
            <a:ext cx="5760720" cy="10839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600"/>
              </a:lnSpc>
            </a:pPr>
            <a:r>
              <a:rPr lang="en-US" sz="3000" b="true">
                <a:solidFill>
                  <a:srgbClr val="0F172A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RNF04  Compressão de imagens</a:t>
            </a:r>
          </a:p>
        </p:txBody>
      </p:sp>
      <p:sp>
        <p:nvSpPr>
          <p:cNvPr name="TextBox 55" id="55"/>
          <p:cNvSpPr txBox="true"/>
          <p:nvPr/>
        </p:nvSpPr>
        <p:spPr>
          <a:xfrm rot="0">
            <a:off x="11315700" y="6454140"/>
            <a:ext cx="5760720" cy="18440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78"/>
              </a:lnSpc>
            </a:pPr>
            <a:r>
              <a:rPr lang="en-US" sz="2400">
                <a:solidFill>
                  <a:srgbClr val="0F172A"/>
                </a:solidFill>
                <a:latin typeface="Calibri (MS)"/>
                <a:ea typeface="Calibri (MS)"/>
                <a:cs typeface="Calibri (MS)"/>
                <a:sym typeface="Calibri (MS)"/>
              </a:rPr>
              <a:t>As fotos são comprimidas no aparelho antes do envio.</a:t>
            </a:r>
          </a:p>
        </p:txBody>
      </p:sp>
      <p:sp>
        <p:nvSpPr>
          <p:cNvPr name="TextBox 56" id="56"/>
          <p:cNvSpPr txBox="true"/>
          <p:nvPr/>
        </p:nvSpPr>
        <p:spPr>
          <a:xfrm rot="0">
            <a:off x="822960" y="8444865"/>
            <a:ext cx="16596360" cy="8820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2100" i="true">
                <a:solidFill>
                  <a:srgbClr val="4B5563"/>
                </a:solidFill>
                <a:latin typeface="Calibri (MS) Italics"/>
                <a:ea typeface="Calibri (MS) Italics"/>
                <a:cs typeface="Calibri (MS) Italics"/>
                <a:sym typeface="Calibri (MS) Italics"/>
              </a:rPr>
              <a:t>Base: ISO/IEC 25010. Verificados por inspeção do código e da configuração, sem medições independentes.</a:t>
            </a:r>
          </a:p>
        </p:txBody>
      </p:sp>
      <p:sp>
        <p:nvSpPr>
          <p:cNvPr name="TextBox 57" id="57"/>
          <p:cNvSpPr txBox="true"/>
          <p:nvPr/>
        </p:nvSpPr>
        <p:spPr>
          <a:xfrm rot="0">
            <a:off x="914400" y="245364"/>
            <a:ext cx="6858000" cy="6324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00"/>
              </a:lnSpc>
            </a:pPr>
            <a:r>
              <a:rPr lang="en-US" b="true" sz="2000" spc="400">
                <a:solidFill>
                  <a:srgbClr val="B1734A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03  REQUISITOS E MODELAGEM</a:t>
            </a:r>
          </a:p>
        </p:txBody>
      </p:sp>
      <p:sp>
        <p:nvSpPr>
          <p:cNvPr name="TextBox 58" id="58"/>
          <p:cNvSpPr txBox="true"/>
          <p:nvPr/>
        </p:nvSpPr>
        <p:spPr>
          <a:xfrm rot="0">
            <a:off x="16459200" y="9471660"/>
            <a:ext cx="914400" cy="3810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400"/>
              </a:lnSpc>
            </a:pPr>
            <a:r>
              <a:rPr lang="en-US" sz="2000">
                <a:solidFill>
                  <a:srgbClr val="5B6B5F"/>
                </a:solidFill>
                <a:latin typeface="Calibri (MS)"/>
                <a:ea typeface="Calibri (MS)"/>
                <a:cs typeface="Calibri (MS)"/>
                <a:sym typeface="Calibri (MS)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914400" y="207264"/>
            <a:ext cx="6858000" cy="6705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00"/>
              </a:lnSpc>
            </a:pPr>
            <a:r>
              <a:rPr lang="en-US" b="true" sz="2000" spc="400">
                <a:solidFill>
                  <a:srgbClr val="B1734A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03  REQUISITOS E MODELAGEM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914400" y="914400"/>
            <a:ext cx="16459200" cy="1097280"/>
            <a:chOff x="0" y="0"/>
            <a:chExt cx="21945600" cy="146304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21945600" cy="1463040"/>
            </a:xfrm>
            <a:custGeom>
              <a:avLst/>
              <a:gdLst/>
              <a:ahLst/>
              <a:cxnLst/>
              <a:rect r="r" b="b" t="t" l="l"/>
              <a:pathLst>
                <a:path h="146304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463040"/>
                  </a:lnTo>
                  <a:lnTo>
                    <a:pt x="0" y="14630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242072" r="0" b="-242072"/>
              </a:stretch>
            </a:blipFill>
          </p:spPr>
        </p:sp>
      </p:grpSp>
      <p:grpSp>
        <p:nvGrpSpPr>
          <p:cNvPr name="Group 5" id="5"/>
          <p:cNvGrpSpPr/>
          <p:nvPr/>
        </p:nvGrpSpPr>
        <p:grpSpPr>
          <a:xfrm rot="0">
            <a:off x="822960" y="-189757"/>
            <a:ext cx="16459200" cy="3814953"/>
            <a:chOff x="0" y="0"/>
            <a:chExt cx="21945600" cy="5086604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21945600" cy="5086604"/>
            </a:xfrm>
            <a:custGeom>
              <a:avLst/>
              <a:gdLst/>
              <a:ahLst/>
              <a:cxnLst/>
              <a:rect r="r" b="b" t="t" l="l"/>
              <a:pathLst>
                <a:path h="5086604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5086604"/>
                  </a:lnTo>
                  <a:lnTo>
                    <a:pt x="0" y="508660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4007" r="0" b="-34007"/>
              </a:stretch>
            </a:blipFill>
          </p:spPr>
        </p:sp>
      </p:grpSp>
      <p:grpSp>
        <p:nvGrpSpPr>
          <p:cNvPr name="Group 7" id="7"/>
          <p:cNvGrpSpPr/>
          <p:nvPr/>
        </p:nvGrpSpPr>
        <p:grpSpPr>
          <a:xfrm rot="0">
            <a:off x="822960" y="-196901"/>
            <a:ext cx="16459200" cy="3822097"/>
            <a:chOff x="0" y="0"/>
            <a:chExt cx="21945600" cy="5096129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21945600" cy="5096129"/>
            </a:xfrm>
            <a:custGeom>
              <a:avLst/>
              <a:gdLst/>
              <a:ahLst/>
              <a:cxnLst/>
              <a:rect r="r" b="b" t="t" l="l"/>
              <a:pathLst>
                <a:path h="5096129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5096129"/>
                  </a:lnTo>
                  <a:lnTo>
                    <a:pt x="0" y="5096129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33850" r="0" b="-33850"/>
              </a:stretch>
            </a:blipFill>
          </p:spPr>
        </p:sp>
      </p:grpSp>
      <p:grpSp>
        <p:nvGrpSpPr>
          <p:cNvPr name="Group 9" id="9"/>
          <p:cNvGrpSpPr/>
          <p:nvPr/>
        </p:nvGrpSpPr>
        <p:grpSpPr>
          <a:xfrm rot="0">
            <a:off x="822960" y="-204045"/>
            <a:ext cx="16459200" cy="3829240"/>
            <a:chOff x="0" y="0"/>
            <a:chExt cx="21945600" cy="5105654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21945600" cy="5105654"/>
            </a:xfrm>
            <a:custGeom>
              <a:avLst/>
              <a:gdLst/>
              <a:ahLst/>
              <a:cxnLst/>
              <a:rect r="r" b="b" t="t" l="l"/>
              <a:pathLst>
                <a:path h="5105654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5105654"/>
                  </a:lnTo>
                  <a:lnTo>
                    <a:pt x="0" y="5105654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33694" r="0" b="-33694"/>
              </a:stretch>
            </a:blipFill>
          </p:spPr>
        </p:sp>
      </p:grpSp>
      <p:grpSp>
        <p:nvGrpSpPr>
          <p:cNvPr name="Group 11" id="11"/>
          <p:cNvGrpSpPr/>
          <p:nvPr/>
        </p:nvGrpSpPr>
        <p:grpSpPr>
          <a:xfrm rot="0">
            <a:off x="822960" y="-211188"/>
            <a:ext cx="16459200" cy="3836384"/>
            <a:chOff x="0" y="0"/>
            <a:chExt cx="21945600" cy="5115179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21945600" cy="5115179"/>
            </a:xfrm>
            <a:custGeom>
              <a:avLst/>
              <a:gdLst/>
              <a:ahLst/>
              <a:cxnLst/>
              <a:rect r="r" b="b" t="t" l="l"/>
              <a:pathLst>
                <a:path h="5115179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5115179"/>
                  </a:lnTo>
                  <a:lnTo>
                    <a:pt x="0" y="5115179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l="0" t="-33538" r="0" b="-33538"/>
              </a:stretch>
            </a:blipFill>
          </p:spPr>
        </p:sp>
      </p:grpSp>
      <p:grpSp>
        <p:nvGrpSpPr>
          <p:cNvPr name="Group 13" id="13"/>
          <p:cNvGrpSpPr/>
          <p:nvPr/>
        </p:nvGrpSpPr>
        <p:grpSpPr>
          <a:xfrm rot="0">
            <a:off x="822960" y="-218332"/>
            <a:ext cx="16459200" cy="3843528"/>
            <a:chOff x="0" y="0"/>
            <a:chExt cx="21945600" cy="5124704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21945600" cy="5124704"/>
            </a:xfrm>
            <a:custGeom>
              <a:avLst/>
              <a:gdLst/>
              <a:ahLst/>
              <a:cxnLst/>
              <a:rect r="r" b="b" t="t" l="l"/>
              <a:pathLst>
                <a:path h="5124704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5124704"/>
                  </a:lnTo>
                  <a:lnTo>
                    <a:pt x="0" y="5124704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0" t="-33382" r="0" b="-33383"/>
              </a:stretch>
            </a:blipFill>
          </p:spPr>
        </p:sp>
      </p:grpSp>
      <p:grpSp>
        <p:nvGrpSpPr>
          <p:cNvPr name="Group 15" id="15"/>
          <p:cNvGrpSpPr/>
          <p:nvPr/>
        </p:nvGrpSpPr>
        <p:grpSpPr>
          <a:xfrm rot="0">
            <a:off x="822960" y="-225476"/>
            <a:ext cx="16459200" cy="3850691"/>
            <a:chOff x="0" y="0"/>
            <a:chExt cx="21945600" cy="5134254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21945600" cy="5134229"/>
            </a:xfrm>
            <a:custGeom>
              <a:avLst/>
              <a:gdLst/>
              <a:ahLst/>
              <a:cxnLst/>
              <a:rect r="r" b="b" t="t" l="l"/>
              <a:pathLst>
                <a:path h="5134229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5134229"/>
                  </a:lnTo>
                  <a:lnTo>
                    <a:pt x="0" y="5134229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0" t="-33228" r="0" b="-33228"/>
              </a:stretch>
            </a:blipFill>
          </p:spPr>
        </p:sp>
      </p:grpSp>
      <p:grpSp>
        <p:nvGrpSpPr>
          <p:cNvPr name="Group 17" id="17"/>
          <p:cNvGrpSpPr/>
          <p:nvPr/>
        </p:nvGrpSpPr>
        <p:grpSpPr>
          <a:xfrm rot="0">
            <a:off x="822960" y="-232620"/>
            <a:ext cx="16459200" cy="3857835"/>
            <a:chOff x="0" y="0"/>
            <a:chExt cx="21945600" cy="5143779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21945600" cy="5143780"/>
            </a:xfrm>
            <a:custGeom>
              <a:avLst/>
              <a:gdLst/>
              <a:ahLst/>
              <a:cxnLst/>
              <a:rect r="r" b="b" t="t" l="l"/>
              <a:pathLst>
                <a:path h="514378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5143780"/>
                  </a:lnTo>
                  <a:lnTo>
                    <a:pt x="0" y="5143780"/>
                  </a:lnTo>
                  <a:close/>
                </a:path>
              </a:pathLst>
            </a:custGeom>
            <a:blipFill>
              <a:blip r:embed="rId9">
                <a:alphaModFix amt="0"/>
              </a:blip>
              <a:stretch>
                <a:fillRect l="0" t="-33131" r="0" b="-33131"/>
              </a:stretch>
            </a:blipFill>
          </p:spPr>
        </p:sp>
        <p:sp>
          <p:nvSpPr>
            <p:cNvPr name="TextBox 19" id="19"/>
            <p:cNvSpPr txBox="true"/>
            <p:nvPr/>
          </p:nvSpPr>
          <p:spPr>
            <a:xfrm>
              <a:off x="0" y="-9525"/>
              <a:ext cx="21945600" cy="515330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6239"/>
                </a:lnSpc>
              </a:pPr>
              <a:r>
                <a:rPr lang="en-US" sz="5198" b="true">
                  <a:solidFill>
                    <a:srgbClr val="2E5634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RF16: ciclo de vida da publicação</a:t>
              </a:r>
            </a:p>
          </p:txBody>
        </p:sp>
      </p:grpSp>
      <p:sp>
        <p:nvSpPr>
          <p:cNvPr name="AutoShape 20" id="20"/>
          <p:cNvSpPr/>
          <p:nvPr/>
        </p:nvSpPr>
        <p:spPr>
          <a:xfrm rot="1980">
            <a:off x="868356" y="2942844"/>
            <a:ext cx="16551297" cy="0"/>
          </a:xfrm>
          <a:prstGeom prst="line">
            <a:avLst/>
          </a:prstGeom>
          <a:ln cap="rnd" w="9525">
            <a:solidFill>
              <a:srgbClr val="D9DFD6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Freeform 21" id="21"/>
          <p:cNvSpPr/>
          <p:nvPr/>
        </p:nvSpPr>
        <p:spPr>
          <a:xfrm flipH="false" flipV="false" rot="0">
            <a:off x="892178" y="2812418"/>
            <a:ext cx="337090" cy="337090"/>
          </a:xfrm>
          <a:custGeom>
            <a:avLst/>
            <a:gdLst/>
            <a:ahLst/>
            <a:cxnLst/>
            <a:rect r="r" b="b" t="t" l="l"/>
            <a:pathLst>
              <a:path h="337090" w="337090">
                <a:moveTo>
                  <a:pt x="0" y="0"/>
                </a:moveTo>
                <a:lnTo>
                  <a:pt x="337090" y="0"/>
                </a:lnTo>
                <a:lnTo>
                  <a:pt x="337090" y="337090"/>
                </a:lnTo>
                <a:lnTo>
                  <a:pt x="0" y="337090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22" id="22"/>
          <p:cNvSpPr txBox="true"/>
          <p:nvPr/>
        </p:nvSpPr>
        <p:spPr>
          <a:xfrm rot="0">
            <a:off x="914400" y="3444240"/>
            <a:ext cx="3840480" cy="6705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00"/>
              </a:lnSpc>
            </a:pPr>
            <a:r>
              <a:rPr lang="en-US" b="true" sz="2000" spc="400">
                <a:solidFill>
                  <a:srgbClr val="5B6B5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ATIVA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914400" y="4130040"/>
            <a:ext cx="3840480" cy="9906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518"/>
              </a:lnSpc>
            </a:pPr>
            <a:r>
              <a:rPr lang="en-US" sz="4599" b="true">
                <a:solidFill>
                  <a:srgbClr val="2E5634"/>
                </a:solidFill>
                <a:latin typeface="Cambria Bold"/>
                <a:ea typeface="Cambria Bold"/>
                <a:cs typeface="Cambria Bold"/>
                <a:sym typeface="Cambria Bold"/>
              </a:rPr>
              <a:t>30 dias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914400" y="4831080"/>
            <a:ext cx="3749040" cy="18440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60"/>
              </a:lnSpc>
            </a:pPr>
            <a:r>
              <a:rPr lang="en-US" sz="2300">
                <a:solidFill>
                  <a:srgbClr val="1B2A1F"/>
                </a:solidFill>
                <a:latin typeface="Calibri (MS)"/>
                <a:ea typeface="Calibri (MS)"/>
                <a:cs typeface="Calibri (MS)"/>
                <a:sym typeface="Calibri (MS)"/>
              </a:rPr>
              <a:t>Contados do cadastro ou da última renovação.</a:t>
            </a:r>
          </a:p>
        </p:txBody>
      </p:sp>
      <p:sp>
        <p:nvSpPr>
          <p:cNvPr name="Freeform 25" id="25"/>
          <p:cNvSpPr/>
          <p:nvPr/>
        </p:nvSpPr>
        <p:spPr>
          <a:xfrm flipH="false" flipV="false" rot="0">
            <a:off x="5098418" y="2812418"/>
            <a:ext cx="337090" cy="337090"/>
          </a:xfrm>
          <a:custGeom>
            <a:avLst/>
            <a:gdLst/>
            <a:ahLst/>
            <a:cxnLst/>
            <a:rect r="r" b="b" t="t" l="l"/>
            <a:pathLst>
              <a:path h="337090" w="337090">
                <a:moveTo>
                  <a:pt x="0" y="0"/>
                </a:moveTo>
                <a:lnTo>
                  <a:pt x="337090" y="0"/>
                </a:lnTo>
                <a:lnTo>
                  <a:pt x="337090" y="337090"/>
                </a:lnTo>
                <a:lnTo>
                  <a:pt x="0" y="337090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26" id="26"/>
          <p:cNvSpPr txBox="true"/>
          <p:nvPr/>
        </p:nvSpPr>
        <p:spPr>
          <a:xfrm rot="0">
            <a:off x="5120640" y="3444240"/>
            <a:ext cx="3840480" cy="6705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00"/>
              </a:lnSpc>
            </a:pPr>
            <a:r>
              <a:rPr lang="en-US" b="true" sz="2000" spc="400">
                <a:solidFill>
                  <a:srgbClr val="5B6B5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AVISO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5120640" y="4130040"/>
            <a:ext cx="3840480" cy="9906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518"/>
              </a:lnSpc>
            </a:pPr>
            <a:r>
              <a:rPr lang="en-US" sz="4599" b="true">
                <a:solidFill>
                  <a:srgbClr val="2E5634"/>
                </a:solidFill>
                <a:latin typeface="Cambria Bold"/>
                <a:ea typeface="Cambria Bold"/>
                <a:cs typeface="Cambria Bold"/>
                <a:sym typeface="Cambria Bold"/>
              </a:rPr>
              <a:t>3 dias antes</a:t>
            </a:r>
          </a:p>
        </p:txBody>
      </p:sp>
      <p:sp>
        <p:nvSpPr>
          <p:cNvPr name="TextBox 28" id="28"/>
          <p:cNvSpPr txBox="true"/>
          <p:nvPr/>
        </p:nvSpPr>
        <p:spPr>
          <a:xfrm rot="0">
            <a:off x="5120640" y="4831080"/>
            <a:ext cx="3749040" cy="18440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60"/>
              </a:lnSpc>
            </a:pPr>
            <a:r>
              <a:rPr lang="en-US" sz="2300">
                <a:solidFill>
                  <a:srgbClr val="1B2A1F"/>
                </a:solidFill>
                <a:latin typeface="Calibri (MS)"/>
                <a:ea typeface="Calibri (MS)"/>
                <a:cs typeface="Calibri (MS)"/>
                <a:sym typeface="Calibri (MS)"/>
              </a:rPr>
              <a:t>O responsável é avisado para renovar o anúncio.</a:t>
            </a:r>
          </a:p>
        </p:txBody>
      </p:sp>
      <p:sp>
        <p:nvSpPr>
          <p:cNvPr name="Freeform 29" id="29"/>
          <p:cNvSpPr/>
          <p:nvPr/>
        </p:nvSpPr>
        <p:spPr>
          <a:xfrm flipH="false" flipV="false" rot="0">
            <a:off x="9304658" y="2812418"/>
            <a:ext cx="337090" cy="337090"/>
          </a:xfrm>
          <a:custGeom>
            <a:avLst/>
            <a:gdLst/>
            <a:ahLst/>
            <a:cxnLst/>
            <a:rect r="r" b="b" t="t" l="l"/>
            <a:pathLst>
              <a:path h="337090" w="337090">
                <a:moveTo>
                  <a:pt x="0" y="0"/>
                </a:moveTo>
                <a:lnTo>
                  <a:pt x="337090" y="0"/>
                </a:lnTo>
                <a:lnTo>
                  <a:pt x="337090" y="337090"/>
                </a:lnTo>
                <a:lnTo>
                  <a:pt x="0" y="337090"/>
                </a:lnTo>
                <a:lnTo>
                  <a:pt x="0" y="0"/>
                </a:lnTo>
                <a:close/>
              </a:path>
            </a:pathLst>
          </a:custGeom>
          <a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30" id="30"/>
          <p:cNvSpPr txBox="true"/>
          <p:nvPr/>
        </p:nvSpPr>
        <p:spPr>
          <a:xfrm rot="0">
            <a:off x="9326880" y="3444240"/>
            <a:ext cx="3840480" cy="6705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00"/>
              </a:lnSpc>
            </a:pPr>
            <a:r>
              <a:rPr lang="en-US" b="true" sz="2000" spc="400">
                <a:solidFill>
                  <a:srgbClr val="5B6B5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CARÊNCIA</a:t>
            </a:r>
          </a:p>
        </p:txBody>
      </p:sp>
      <p:sp>
        <p:nvSpPr>
          <p:cNvPr name="TextBox 31" id="31"/>
          <p:cNvSpPr txBox="true"/>
          <p:nvPr/>
        </p:nvSpPr>
        <p:spPr>
          <a:xfrm rot="0">
            <a:off x="9326880" y="4130040"/>
            <a:ext cx="3840480" cy="9906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518"/>
              </a:lnSpc>
            </a:pPr>
            <a:r>
              <a:rPr lang="en-US" sz="4599" b="true">
                <a:solidFill>
                  <a:srgbClr val="2E5634"/>
                </a:solidFill>
                <a:latin typeface="Cambria Bold"/>
                <a:ea typeface="Cambria Bold"/>
                <a:cs typeface="Cambria Bold"/>
                <a:sym typeface="Cambria Bold"/>
              </a:rPr>
              <a:t>30 dias</a:t>
            </a:r>
          </a:p>
        </p:txBody>
      </p:sp>
      <p:sp>
        <p:nvSpPr>
          <p:cNvPr name="TextBox 32" id="32"/>
          <p:cNvSpPr txBox="true"/>
          <p:nvPr/>
        </p:nvSpPr>
        <p:spPr>
          <a:xfrm rot="0">
            <a:off x="9326880" y="4831080"/>
            <a:ext cx="3749040" cy="18440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60"/>
              </a:lnSpc>
            </a:pPr>
            <a:r>
              <a:rPr lang="en-US" sz="2300">
                <a:solidFill>
                  <a:srgbClr val="1B2A1F"/>
                </a:solidFill>
                <a:latin typeface="Calibri (MS)"/>
                <a:ea typeface="Calibri (MS)"/>
                <a:cs typeface="Calibri (MS)"/>
                <a:sym typeface="Calibri (MS)"/>
              </a:rPr>
              <a:t>Oculta do mural e do mapa; ainda pode ser renovada.</a:t>
            </a:r>
          </a:p>
        </p:txBody>
      </p:sp>
      <p:sp>
        <p:nvSpPr>
          <p:cNvPr name="Freeform 33" id="33"/>
          <p:cNvSpPr/>
          <p:nvPr/>
        </p:nvSpPr>
        <p:spPr>
          <a:xfrm flipH="false" flipV="false" rot="0">
            <a:off x="13510898" y="2812418"/>
            <a:ext cx="337090" cy="337090"/>
          </a:xfrm>
          <a:custGeom>
            <a:avLst/>
            <a:gdLst/>
            <a:ahLst/>
            <a:cxnLst/>
            <a:rect r="r" b="b" t="t" l="l"/>
            <a:pathLst>
              <a:path h="337090" w="337090">
                <a:moveTo>
                  <a:pt x="0" y="0"/>
                </a:moveTo>
                <a:lnTo>
                  <a:pt x="337090" y="0"/>
                </a:lnTo>
                <a:lnTo>
                  <a:pt x="337090" y="337090"/>
                </a:lnTo>
                <a:lnTo>
                  <a:pt x="0" y="337090"/>
                </a:lnTo>
                <a:lnTo>
                  <a:pt x="0" y="0"/>
                </a:lnTo>
                <a:close/>
              </a:path>
            </a:pathLst>
          </a:custGeom>
          <a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34" id="34"/>
          <p:cNvSpPr txBox="true"/>
          <p:nvPr/>
        </p:nvSpPr>
        <p:spPr>
          <a:xfrm rot="0">
            <a:off x="13533120" y="3444240"/>
            <a:ext cx="3840480" cy="6705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00"/>
              </a:lnSpc>
            </a:pPr>
            <a:r>
              <a:rPr lang="en-US" b="true" sz="2000" spc="400">
                <a:solidFill>
                  <a:srgbClr val="5B6B5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REMOÇÃO</a:t>
            </a:r>
          </a:p>
        </p:txBody>
      </p:sp>
      <p:sp>
        <p:nvSpPr>
          <p:cNvPr name="TextBox 35" id="35"/>
          <p:cNvSpPr txBox="true"/>
          <p:nvPr/>
        </p:nvSpPr>
        <p:spPr>
          <a:xfrm rot="0">
            <a:off x="13533120" y="4130040"/>
            <a:ext cx="3840480" cy="9906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518"/>
              </a:lnSpc>
            </a:pPr>
            <a:r>
              <a:rPr lang="en-US" sz="4599" b="true">
                <a:solidFill>
                  <a:srgbClr val="2E5634"/>
                </a:solidFill>
                <a:latin typeface="Cambria Bold"/>
                <a:ea typeface="Cambria Bold"/>
                <a:cs typeface="Cambria Bold"/>
                <a:sym typeface="Cambria Bold"/>
              </a:rPr>
              <a:t>depois</a:t>
            </a:r>
          </a:p>
        </p:txBody>
      </p:sp>
      <p:sp>
        <p:nvSpPr>
          <p:cNvPr name="TextBox 36" id="36"/>
          <p:cNvSpPr txBox="true"/>
          <p:nvPr/>
        </p:nvSpPr>
        <p:spPr>
          <a:xfrm rot="0">
            <a:off x="13533120" y="4831080"/>
            <a:ext cx="3749040" cy="18440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60"/>
              </a:lnSpc>
            </a:pPr>
            <a:r>
              <a:rPr lang="en-US" sz="2300">
                <a:solidFill>
                  <a:srgbClr val="1B2A1F"/>
                </a:solidFill>
                <a:latin typeface="Calibri (MS)"/>
                <a:ea typeface="Calibri (MS)"/>
                <a:cs typeface="Calibri (MS)"/>
                <a:sym typeface="Calibri (MS)"/>
              </a:rPr>
              <a:t>Rotina de limpeza exclui a publicação e as fotos.</a:t>
            </a:r>
          </a:p>
        </p:txBody>
      </p:sp>
      <p:sp>
        <p:nvSpPr>
          <p:cNvPr name="Freeform 37" id="37"/>
          <p:cNvSpPr/>
          <p:nvPr/>
        </p:nvSpPr>
        <p:spPr>
          <a:xfrm flipH="false" flipV="false" rot="0">
            <a:off x="896112" y="7164962"/>
            <a:ext cx="300514" cy="300514"/>
          </a:xfrm>
          <a:custGeom>
            <a:avLst/>
            <a:gdLst/>
            <a:ahLst/>
            <a:cxnLst/>
            <a:rect r="r" b="b" t="t" l="l"/>
            <a:pathLst>
              <a:path h="300514" w="300514">
                <a:moveTo>
                  <a:pt x="0" y="0"/>
                </a:moveTo>
                <a:lnTo>
                  <a:pt x="300514" y="0"/>
                </a:lnTo>
                <a:lnTo>
                  <a:pt x="300514" y="300514"/>
                </a:lnTo>
                <a:lnTo>
                  <a:pt x="0" y="300514"/>
                </a:lnTo>
                <a:lnTo>
                  <a:pt x="0" y="0"/>
                </a:lnTo>
                <a:close/>
              </a:path>
            </a:pathLst>
          </a:custGeom>
          <a:blipFill>
            <a:blip r:embed="rId18"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38" id="38"/>
          <p:cNvSpPr txBox="true"/>
          <p:nvPr/>
        </p:nvSpPr>
        <p:spPr>
          <a:xfrm rot="0">
            <a:off x="1499616" y="6909816"/>
            <a:ext cx="3383280" cy="6248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7"/>
              </a:lnSpc>
            </a:pPr>
            <a:r>
              <a:rPr lang="en-US" sz="2799" b="true">
                <a:solidFill>
                  <a:srgbClr val="E67E22"/>
                </a:solidFill>
                <a:latin typeface="Cambria Bold"/>
                <a:ea typeface="Cambria Bold"/>
                <a:cs typeface="Cambria Bold"/>
                <a:sym typeface="Cambria Bold"/>
              </a:rPr>
              <a:t>Perdido</a:t>
            </a:r>
          </a:p>
        </p:txBody>
      </p:sp>
      <p:sp>
        <p:nvSpPr>
          <p:cNvPr name="TextBox 39" id="39"/>
          <p:cNvSpPr txBox="true"/>
          <p:nvPr/>
        </p:nvSpPr>
        <p:spPr>
          <a:xfrm rot="0">
            <a:off x="1499616" y="7208520"/>
            <a:ext cx="3383280" cy="14782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60"/>
              </a:lnSpc>
            </a:pPr>
            <a:r>
              <a:rPr lang="en-US" sz="2300">
                <a:solidFill>
                  <a:srgbClr val="1B2A1F"/>
                </a:solidFill>
                <a:latin typeface="Calibri (MS)"/>
                <a:ea typeface="Calibri (MS)"/>
                <a:cs typeface="Calibri (MS)"/>
                <a:sym typeface="Calibri (MS)"/>
              </a:rPr>
              <a:t>O tutor procura o animal.</a:t>
            </a:r>
          </a:p>
        </p:txBody>
      </p:sp>
      <p:sp>
        <p:nvSpPr>
          <p:cNvPr name="Freeform 40" id="40"/>
          <p:cNvSpPr/>
          <p:nvPr/>
        </p:nvSpPr>
        <p:spPr>
          <a:xfrm flipH="false" flipV="false" rot="0">
            <a:off x="5102352" y="7164962"/>
            <a:ext cx="300514" cy="300514"/>
          </a:xfrm>
          <a:custGeom>
            <a:avLst/>
            <a:gdLst/>
            <a:ahLst/>
            <a:cxnLst/>
            <a:rect r="r" b="b" t="t" l="l"/>
            <a:pathLst>
              <a:path h="300514" w="300514">
                <a:moveTo>
                  <a:pt x="0" y="0"/>
                </a:moveTo>
                <a:lnTo>
                  <a:pt x="300514" y="0"/>
                </a:lnTo>
                <a:lnTo>
                  <a:pt x="300514" y="300514"/>
                </a:lnTo>
                <a:lnTo>
                  <a:pt x="0" y="300514"/>
                </a:lnTo>
                <a:lnTo>
                  <a:pt x="0" y="0"/>
                </a:lnTo>
                <a:close/>
              </a:path>
            </a:pathLst>
          </a:custGeom>
          <a:blipFill>
            <a:blip r:embed="rId20">
              <a:extLst>
                <a:ext uri="{96DAC541-7B7A-43D3-8B79-37D633B846F1}">
                  <asvg:svgBlip xmlns:asvg="http://schemas.microsoft.com/office/drawing/2016/SVG/main" r:embed="rId21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41" id="41"/>
          <p:cNvSpPr txBox="true"/>
          <p:nvPr/>
        </p:nvSpPr>
        <p:spPr>
          <a:xfrm rot="0">
            <a:off x="5705856" y="6909816"/>
            <a:ext cx="3383280" cy="6248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7"/>
              </a:lnSpc>
            </a:pPr>
            <a:r>
              <a:rPr lang="en-US" sz="2799" b="true">
                <a:solidFill>
                  <a:srgbClr val="16A34A"/>
                </a:solidFill>
                <a:latin typeface="Cambria Bold"/>
                <a:ea typeface="Cambria Bold"/>
                <a:cs typeface="Cambria Bold"/>
                <a:sym typeface="Cambria Bold"/>
              </a:rPr>
              <a:t>Encontrado</a:t>
            </a:r>
          </a:p>
        </p:txBody>
      </p:sp>
      <p:sp>
        <p:nvSpPr>
          <p:cNvPr name="TextBox 42" id="42"/>
          <p:cNvSpPr txBox="true"/>
          <p:nvPr/>
        </p:nvSpPr>
        <p:spPr>
          <a:xfrm rot="0">
            <a:off x="5705856" y="7208520"/>
            <a:ext cx="3383280" cy="14782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60"/>
              </a:lnSpc>
            </a:pPr>
            <a:r>
              <a:rPr lang="en-US" sz="2300">
                <a:solidFill>
                  <a:srgbClr val="1B2A1F"/>
                </a:solidFill>
                <a:latin typeface="Calibri (MS)"/>
                <a:ea typeface="Calibri (MS)"/>
                <a:cs typeface="Calibri (MS)"/>
                <a:sym typeface="Calibri (MS)"/>
              </a:rPr>
              <a:t>Quem achou ou viu o animal.</a:t>
            </a:r>
          </a:p>
        </p:txBody>
      </p:sp>
      <p:sp>
        <p:nvSpPr>
          <p:cNvPr name="Freeform 43" id="43"/>
          <p:cNvSpPr/>
          <p:nvPr/>
        </p:nvSpPr>
        <p:spPr>
          <a:xfrm flipH="false" flipV="false" rot="0">
            <a:off x="13514832" y="7164962"/>
            <a:ext cx="300514" cy="300514"/>
          </a:xfrm>
          <a:custGeom>
            <a:avLst/>
            <a:gdLst/>
            <a:ahLst/>
            <a:cxnLst/>
            <a:rect r="r" b="b" t="t" l="l"/>
            <a:pathLst>
              <a:path h="300514" w="300514">
                <a:moveTo>
                  <a:pt x="0" y="0"/>
                </a:moveTo>
                <a:lnTo>
                  <a:pt x="300514" y="0"/>
                </a:lnTo>
                <a:lnTo>
                  <a:pt x="300514" y="300514"/>
                </a:lnTo>
                <a:lnTo>
                  <a:pt x="0" y="300514"/>
                </a:lnTo>
                <a:lnTo>
                  <a:pt x="0" y="0"/>
                </a:lnTo>
                <a:close/>
              </a:path>
            </a:pathLst>
          </a:custGeom>
          <a:blipFill>
            <a:blip r:embed="rId22">
              <a:extLst>
                <a:ext uri="{96DAC541-7B7A-43D3-8B79-37D633B846F1}">
                  <asvg:svgBlip xmlns:asvg="http://schemas.microsoft.com/office/drawing/2016/SVG/main" r:embed="rId2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44" id="44"/>
          <p:cNvSpPr txBox="true"/>
          <p:nvPr/>
        </p:nvSpPr>
        <p:spPr>
          <a:xfrm rot="0">
            <a:off x="14118336" y="6909816"/>
            <a:ext cx="3383280" cy="6248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7"/>
              </a:lnSpc>
            </a:pPr>
            <a:r>
              <a:rPr lang="en-US" sz="2799" b="true">
                <a:solidFill>
                  <a:srgbClr val="2E5634"/>
                </a:solidFill>
                <a:latin typeface="Cambria Bold"/>
                <a:ea typeface="Cambria Bold"/>
                <a:cs typeface="Cambria Bold"/>
                <a:sym typeface="Cambria Bold"/>
              </a:rPr>
              <a:t>Reencontrado</a:t>
            </a:r>
          </a:p>
        </p:txBody>
      </p:sp>
      <p:sp>
        <p:nvSpPr>
          <p:cNvPr name="TextBox 45" id="45"/>
          <p:cNvSpPr txBox="true"/>
          <p:nvPr/>
        </p:nvSpPr>
        <p:spPr>
          <a:xfrm rot="0">
            <a:off x="14118336" y="7208520"/>
            <a:ext cx="3383280" cy="14782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60"/>
              </a:lnSpc>
            </a:pPr>
            <a:r>
              <a:rPr lang="en-US" sz="2300">
                <a:solidFill>
                  <a:srgbClr val="1B2A1F"/>
                </a:solidFill>
                <a:latin typeface="Calibri (MS)"/>
                <a:ea typeface="Calibri (MS)"/>
                <a:cs typeface="Calibri (MS)"/>
                <a:sym typeface="Calibri (MS)"/>
              </a:rPr>
              <a:t>Encerra a busca.</a:t>
            </a:r>
          </a:p>
        </p:txBody>
      </p:sp>
      <p:sp>
        <p:nvSpPr>
          <p:cNvPr name="TextBox 46" id="46"/>
          <p:cNvSpPr txBox="true"/>
          <p:nvPr/>
        </p:nvSpPr>
        <p:spPr>
          <a:xfrm rot="0">
            <a:off x="914400" y="8580120"/>
            <a:ext cx="16459200" cy="10210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2100">
                <a:solidFill>
                  <a:srgbClr val="5B6B5F"/>
                </a:solidFill>
                <a:latin typeface="Calibri (MS)"/>
                <a:ea typeface="Calibri (MS)"/>
                <a:cs typeface="Calibri (MS)"/>
                <a:sym typeface="Calibri (MS)"/>
              </a:rPr>
              <a:t>Limite: a limpeza roda ao abrir o mural e só alcança as publicações do próprio usuário.</a:t>
            </a:r>
          </a:p>
        </p:txBody>
      </p:sp>
      <p:sp>
        <p:nvSpPr>
          <p:cNvPr name="TextBox 47" id="47"/>
          <p:cNvSpPr txBox="true"/>
          <p:nvPr/>
        </p:nvSpPr>
        <p:spPr>
          <a:xfrm rot="0">
            <a:off x="16459200" y="9433560"/>
            <a:ext cx="914400" cy="3810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400"/>
              </a:lnSpc>
            </a:pPr>
            <a:r>
              <a:rPr lang="en-US" sz="2000">
                <a:solidFill>
                  <a:srgbClr val="5B6B5F"/>
                </a:solidFill>
                <a:latin typeface="Calibri (MS)"/>
                <a:ea typeface="Calibri (MS)"/>
                <a:cs typeface="Calibri (MS)"/>
                <a:sym typeface="Calibri (MS)"/>
              </a:rPr>
              <a:t>15</a:t>
            </a:r>
          </a:p>
        </p:txBody>
      </p:sp>
      <p:grpSp>
        <p:nvGrpSpPr>
          <p:cNvPr name="Group 48" id="48"/>
          <p:cNvGrpSpPr/>
          <p:nvPr/>
        </p:nvGrpSpPr>
        <p:grpSpPr>
          <a:xfrm rot="0">
            <a:off x="822960" y="9572625"/>
            <a:ext cx="8229600" cy="440055"/>
            <a:chOff x="0" y="0"/>
            <a:chExt cx="10972800" cy="586740"/>
          </a:xfrm>
        </p:grpSpPr>
        <p:sp>
          <p:nvSpPr>
            <p:cNvPr name="Freeform 49" id="49"/>
            <p:cNvSpPr/>
            <p:nvPr/>
          </p:nvSpPr>
          <p:spPr>
            <a:xfrm flipH="false" flipV="false" rot="0">
              <a:off x="0" y="0"/>
              <a:ext cx="10972800" cy="586740"/>
            </a:xfrm>
            <a:custGeom>
              <a:avLst/>
              <a:gdLst/>
              <a:ahLst/>
              <a:cxnLst/>
              <a:rect r="r" b="b" t="t" l="l"/>
              <a:pathLst>
                <a:path h="5867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586740"/>
                  </a:lnTo>
                  <a:lnTo>
                    <a:pt x="0" y="5867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314142" r="0" b="-314140"/>
              </a:stretch>
            </a:blipFill>
          </p:spPr>
        </p:sp>
      </p:grpSp>
      <p:grpSp>
        <p:nvGrpSpPr>
          <p:cNvPr name="Group 50" id="50"/>
          <p:cNvGrpSpPr/>
          <p:nvPr/>
        </p:nvGrpSpPr>
        <p:grpSpPr>
          <a:xfrm rot="0">
            <a:off x="822960" y="9544050"/>
            <a:ext cx="8229600" cy="468630"/>
            <a:chOff x="0" y="0"/>
            <a:chExt cx="10972800" cy="624840"/>
          </a:xfrm>
        </p:grpSpPr>
        <p:sp>
          <p:nvSpPr>
            <p:cNvPr name="Freeform 51" id="51"/>
            <p:cNvSpPr/>
            <p:nvPr/>
          </p:nvSpPr>
          <p:spPr>
            <a:xfrm flipH="false" flipV="false" rot="0">
              <a:off x="0" y="0"/>
              <a:ext cx="10972800" cy="624840"/>
            </a:xfrm>
            <a:custGeom>
              <a:avLst/>
              <a:gdLst/>
              <a:ahLst/>
              <a:cxnLst/>
              <a:rect r="r" b="b" t="t" l="l"/>
              <a:pathLst>
                <a:path h="6248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624840"/>
                  </a:lnTo>
                  <a:lnTo>
                    <a:pt x="0" y="6248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91939" r="0" b="-291936"/>
              </a:stretch>
            </a:blipFill>
          </p:spPr>
        </p:sp>
      </p:grpSp>
      <p:grpSp>
        <p:nvGrpSpPr>
          <p:cNvPr name="Group 52" id="52"/>
          <p:cNvGrpSpPr/>
          <p:nvPr/>
        </p:nvGrpSpPr>
        <p:grpSpPr>
          <a:xfrm rot="0">
            <a:off x="822960" y="9515475"/>
            <a:ext cx="8229600" cy="497205"/>
            <a:chOff x="0" y="0"/>
            <a:chExt cx="10972800" cy="662940"/>
          </a:xfrm>
        </p:grpSpPr>
        <p:sp>
          <p:nvSpPr>
            <p:cNvPr name="Freeform 53" id="53"/>
            <p:cNvSpPr/>
            <p:nvPr/>
          </p:nvSpPr>
          <p:spPr>
            <a:xfrm flipH="false" flipV="false" rot="0">
              <a:off x="0" y="0"/>
              <a:ext cx="10972800" cy="662940"/>
            </a:xfrm>
            <a:custGeom>
              <a:avLst/>
              <a:gdLst/>
              <a:ahLst/>
              <a:cxnLst/>
              <a:rect r="r" b="b" t="t" l="l"/>
              <a:pathLst>
                <a:path h="6629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662940"/>
                  </a:lnTo>
                  <a:lnTo>
                    <a:pt x="0" y="66294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72287" r="0" b="-272285"/>
              </a:stretch>
            </a:blipFill>
          </p:spPr>
        </p:sp>
      </p:grpSp>
      <p:grpSp>
        <p:nvGrpSpPr>
          <p:cNvPr name="Group 54" id="54"/>
          <p:cNvGrpSpPr/>
          <p:nvPr/>
        </p:nvGrpSpPr>
        <p:grpSpPr>
          <a:xfrm rot="0">
            <a:off x="822960" y="9486900"/>
            <a:ext cx="8229600" cy="525780"/>
            <a:chOff x="0" y="0"/>
            <a:chExt cx="10972800" cy="701040"/>
          </a:xfrm>
        </p:grpSpPr>
        <p:sp>
          <p:nvSpPr>
            <p:cNvPr name="Freeform 55" id="55"/>
            <p:cNvSpPr/>
            <p:nvPr/>
          </p:nvSpPr>
          <p:spPr>
            <a:xfrm flipH="false" flipV="false" rot="0">
              <a:off x="0" y="0"/>
              <a:ext cx="10972800" cy="701040"/>
            </a:xfrm>
            <a:custGeom>
              <a:avLst/>
              <a:gdLst/>
              <a:ahLst/>
              <a:cxnLst/>
              <a:rect r="r" b="b" t="t" l="l"/>
              <a:pathLst>
                <a:path h="7010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701040"/>
                  </a:lnTo>
                  <a:lnTo>
                    <a:pt x="0" y="701040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254771" r="0" b="-254769"/>
              </a:stretch>
            </a:blipFill>
          </p:spPr>
        </p:sp>
      </p:grpSp>
      <p:grpSp>
        <p:nvGrpSpPr>
          <p:cNvPr name="Group 56" id="56"/>
          <p:cNvGrpSpPr/>
          <p:nvPr/>
        </p:nvGrpSpPr>
        <p:grpSpPr>
          <a:xfrm rot="0">
            <a:off x="822960" y="9458325"/>
            <a:ext cx="8229600" cy="554355"/>
            <a:chOff x="0" y="0"/>
            <a:chExt cx="10972800" cy="739140"/>
          </a:xfrm>
        </p:grpSpPr>
        <p:sp>
          <p:nvSpPr>
            <p:cNvPr name="Freeform 57" id="57"/>
            <p:cNvSpPr/>
            <p:nvPr/>
          </p:nvSpPr>
          <p:spPr>
            <a:xfrm flipH="false" flipV="false" rot="0">
              <a:off x="0" y="0"/>
              <a:ext cx="10972800" cy="739140"/>
            </a:xfrm>
            <a:custGeom>
              <a:avLst/>
              <a:gdLst/>
              <a:ahLst/>
              <a:cxnLst/>
              <a:rect r="r" b="b" t="t" l="l"/>
              <a:pathLst>
                <a:path h="7391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739140"/>
                  </a:lnTo>
                  <a:lnTo>
                    <a:pt x="0" y="739140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l="0" t="-239061" r="0" b="-239060"/>
              </a:stretch>
            </a:blipFill>
          </p:spPr>
        </p:sp>
      </p:grpSp>
      <p:grpSp>
        <p:nvGrpSpPr>
          <p:cNvPr name="Group 58" id="58"/>
          <p:cNvGrpSpPr/>
          <p:nvPr/>
        </p:nvGrpSpPr>
        <p:grpSpPr>
          <a:xfrm rot="0">
            <a:off x="822960" y="9429750"/>
            <a:ext cx="8229600" cy="582930"/>
            <a:chOff x="0" y="0"/>
            <a:chExt cx="10972800" cy="777240"/>
          </a:xfrm>
        </p:grpSpPr>
        <p:sp>
          <p:nvSpPr>
            <p:cNvPr name="Freeform 59" id="59"/>
            <p:cNvSpPr/>
            <p:nvPr/>
          </p:nvSpPr>
          <p:spPr>
            <a:xfrm flipH="false" flipV="false" rot="0">
              <a:off x="0" y="0"/>
              <a:ext cx="10972800" cy="777240"/>
            </a:xfrm>
            <a:custGeom>
              <a:avLst/>
              <a:gdLst/>
              <a:ahLst/>
              <a:cxnLst/>
              <a:rect r="r" b="b" t="t" l="l"/>
              <a:pathLst>
                <a:path h="7772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777240"/>
                  </a:lnTo>
                  <a:lnTo>
                    <a:pt x="0" y="777240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0" t="-224892" r="0" b="-224890"/>
              </a:stretch>
            </a:blipFill>
          </p:spPr>
        </p:sp>
      </p:grpSp>
      <p:grpSp>
        <p:nvGrpSpPr>
          <p:cNvPr name="Group 60" id="60"/>
          <p:cNvGrpSpPr/>
          <p:nvPr/>
        </p:nvGrpSpPr>
        <p:grpSpPr>
          <a:xfrm rot="0">
            <a:off x="822960" y="9401175"/>
            <a:ext cx="8229600" cy="611505"/>
            <a:chOff x="0" y="0"/>
            <a:chExt cx="10972800" cy="815340"/>
          </a:xfrm>
        </p:grpSpPr>
        <p:sp>
          <p:nvSpPr>
            <p:cNvPr name="Freeform 61" id="61"/>
            <p:cNvSpPr/>
            <p:nvPr/>
          </p:nvSpPr>
          <p:spPr>
            <a:xfrm flipH="false" flipV="false" rot="0">
              <a:off x="0" y="0"/>
              <a:ext cx="10972800" cy="815340"/>
            </a:xfrm>
            <a:custGeom>
              <a:avLst/>
              <a:gdLst/>
              <a:ahLst/>
              <a:cxnLst/>
              <a:rect r="r" b="b" t="t" l="l"/>
              <a:pathLst>
                <a:path h="8153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815340"/>
                  </a:lnTo>
                  <a:lnTo>
                    <a:pt x="0" y="815340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0" t="-212046" r="0" b="-212045"/>
              </a:stretch>
            </a:blipFill>
          </p:spPr>
        </p:sp>
      </p:grpSp>
      <p:grpSp>
        <p:nvGrpSpPr>
          <p:cNvPr name="Group 62" id="62"/>
          <p:cNvGrpSpPr/>
          <p:nvPr/>
        </p:nvGrpSpPr>
        <p:grpSpPr>
          <a:xfrm rot="0">
            <a:off x="822960" y="9372600"/>
            <a:ext cx="8229600" cy="640080"/>
            <a:chOff x="0" y="0"/>
            <a:chExt cx="10972800" cy="853440"/>
          </a:xfrm>
        </p:grpSpPr>
        <p:sp>
          <p:nvSpPr>
            <p:cNvPr name="Freeform 63" id="63"/>
            <p:cNvSpPr/>
            <p:nvPr/>
          </p:nvSpPr>
          <p:spPr>
            <a:xfrm flipH="false" flipV="false" rot="0">
              <a:off x="0" y="0"/>
              <a:ext cx="10972800" cy="853440"/>
            </a:xfrm>
            <a:custGeom>
              <a:avLst/>
              <a:gdLst/>
              <a:ahLst/>
              <a:cxnLst/>
              <a:rect r="r" b="b" t="t" l="l"/>
              <a:pathLst>
                <a:path h="8534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853440"/>
                  </a:lnTo>
                  <a:lnTo>
                    <a:pt x="0" y="853440"/>
                  </a:lnTo>
                  <a:close/>
                </a:path>
              </a:pathLst>
            </a:custGeom>
            <a:blipFill>
              <a:blip r:embed="rId9">
                <a:alphaModFix amt="0"/>
              </a:blip>
              <a:stretch>
                <a:fillRect l="0" t="-200521" r="0" b="-200521"/>
              </a:stretch>
            </a:blipFill>
          </p:spPr>
        </p:sp>
        <p:sp>
          <p:nvSpPr>
            <p:cNvPr name="TextBox 64" id="64"/>
            <p:cNvSpPr txBox="true"/>
            <p:nvPr/>
          </p:nvSpPr>
          <p:spPr>
            <a:xfrm>
              <a:off x="0" y="-38100"/>
              <a:ext cx="10972800" cy="8915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6B728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WeFIND  |  TCC  |  IFSul Campus Pelotas</a:t>
              </a:r>
            </a:p>
          </p:txBody>
        </p:sp>
      </p:grpSp>
      <p:grpSp>
        <p:nvGrpSpPr>
          <p:cNvPr name="Group 65" id="65"/>
          <p:cNvGrpSpPr/>
          <p:nvPr/>
        </p:nvGrpSpPr>
        <p:grpSpPr>
          <a:xfrm rot="0">
            <a:off x="9308592" y="7164962"/>
            <a:ext cx="300514" cy="300514"/>
            <a:chOff x="0" y="0"/>
            <a:chExt cx="400685" cy="400685"/>
          </a:xfrm>
        </p:grpSpPr>
        <p:sp>
          <p:nvSpPr>
            <p:cNvPr name="Freeform 66" id="66"/>
            <p:cNvSpPr/>
            <p:nvPr/>
          </p:nvSpPr>
          <p:spPr>
            <a:xfrm flipH="false" flipV="false" rot="0">
              <a:off x="0" y="0"/>
              <a:ext cx="400685" cy="400685"/>
            </a:xfrm>
            <a:custGeom>
              <a:avLst/>
              <a:gdLst/>
              <a:ahLst/>
              <a:cxnLst/>
              <a:rect r="r" b="b" t="t" l="l"/>
              <a:pathLst>
                <a:path h="400685" w="400685">
                  <a:moveTo>
                    <a:pt x="0" y="200279"/>
                  </a:moveTo>
                  <a:cubicBezTo>
                    <a:pt x="0" y="89662"/>
                    <a:pt x="89662" y="0"/>
                    <a:pt x="200279" y="0"/>
                  </a:cubicBezTo>
                  <a:cubicBezTo>
                    <a:pt x="310896" y="0"/>
                    <a:pt x="400685" y="89662"/>
                    <a:pt x="400685" y="200279"/>
                  </a:cubicBezTo>
                  <a:cubicBezTo>
                    <a:pt x="400685" y="310896"/>
                    <a:pt x="311023" y="400685"/>
                    <a:pt x="200406" y="400685"/>
                  </a:cubicBezTo>
                  <a:cubicBezTo>
                    <a:pt x="89789" y="400685"/>
                    <a:pt x="0" y="311023"/>
                    <a:pt x="0" y="200279"/>
                  </a:cubicBezTo>
                  <a:close/>
                </a:path>
              </a:pathLst>
            </a:custGeom>
            <a:solidFill>
              <a:srgbClr val="BE185D"/>
            </a:solidFill>
          </p:spPr>
        </p:sp>
      </p:grpSp>
      <p:sp>
        <p:nvSpPr>
          <p:cNvPr name="TextBox 67" id="67"/>
          <p:cNvSpPr txBox="true"/>
          <p:nvPr/>
        </p:nvSpPr>
        <p:spPr>
          <a:xfrm rot="0">
            <a:off x="9912096" y="6909816"/>
            <a:ext cx="3383280" cy="6248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7"/>
              </a:lnSpc>
            </a:pPr>
            <a:r>
              <a:rPr lang="en-US" sz="2799" b="true">
                <a:solidFill>
                  <a:srgbClr val="BE185D"/>
                </a:solidFill>
                <a:latin typeface="Cambria Bold"/>
                <a:ea typeface="Cambria Bold"/>
                <a:cs typeface="Cambria Bold"/>
                <a:sym typeface="Cambria Bold"/>
              </a:rPr>
              <a:t>Para adoção</a:t>
            </a:r>
          </a:p>
        </p:txBody>
      </p:sp>
      <p:sp>
        <p:nvSpPr>
          <p:cNvPr name="TextBox 68" id="68"/>
          <p:cNvSpPr txBox="true"/>
          <p:nvPr/>
        </p:nvSpPr>
        <p:spPr>
          <a:xfrm rot="0">
            <a:off x="9912096" y="7208520"/>
            <a:ext cx="3383280" cy="14782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60"/>
              </a:lnSpc>
            </a:pPr>
            <a:r>
              <a:rPr lang="en-US" sz="2300">
                <a:solidFill>
                  <a:srgbClr val="1B2A1F"/>
                </a:solidFill>
                <a:latin typeface="Calibri (MS)"/>
                <a:ea typeface="Calibri (MS)"/>
                <a:cs typeface="Calibri (MS)"/>
                <a:sym typeface="Calibri (MS)"/>
              </a:rPr>
              <a:t>Encontrado, após 7 dias de busca.</a:t>
            </a:r>
          </a:p>
        </p:txBody>
      </p:sp>
    </p:spTree>
  </p:cSld>
  <p:clrMapOvr>
    <a:masterClrMapping/>
  </p:clrMapOvr>
</p:sld>
</file>

<file path=ppt/slides/slide1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822960" y="9601200"/>
            <a:ext cx="8229600" cy="411480"/>
            <a:chOff x="0" y="0"/>
            <a:chExt cx="10972800" cy="54864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0972800" cy="548640"/>
            </a:xfrm>
            <a:custGeom>
              <a:avLst/>
              <a:gdLst/>
              <a:ahLst/>
              <a:cxnLst/>
              <a:rect r="r" b="b" t="t" l="l"/>
              <a:pathLst>
                <a:path h="5486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339430" r="0" b="-339428"/>
              </a:stretch>
            </a:blipFill>
          </p:spPr>
        </p:sp>
      </p:grpSp>
      <p:grpSp>
        <p:nvGrpSpPr>
          <p:cNvPr name="Group 4" id="4"/>
          <p:cNvGrpSpPr/>
          <p:nvPr/>
        </p:nvGrpSpPr>
        <p:grpSpPr>
          <a:xfrm rot="0">
            <a:off x="822960" y="9572625"/>
            <a:ext cx="8229600" cy="440055"/>
            <a:chOff x="0" y="0"/>
            <a:chExt cx="10972800" cy="58674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0972800" cy="586740"/>
            </a:xfrm>
            <a:custGeom>
              <a:avLst/>
              <a:gdLst/>
              <a:ahLst/>
              <a:cxnLst/>
              <a:rect r="r" b="b" t="t" l="l"/>
              <a:pathLst>
                <a:path h="5867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586740"/>
                  </a:lnTo>
                  <a:lnTo>
                    <a:pt x="0" y="5867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14142" r="0" b="-314140"/>
              </a:stretch>
            </a:blipFill>
          </p:spPr>
        </p:sp>
      </p:grpSp>
      <p:grpSp>
        <p:nvGrpSpPr>
          <p:cNvPr name="Group 6" id="6"/>
          <p:cNvGrpSpPr/>
          <p:nvPr/>
        </p:nvGrpSpPr>
        <p:grpSpPr>
          <a:xfrm rot="0">
            <a:off x="822960" y="9544050"/>
            <a:ext cx="8229600" cy="468630"/>
            <a:chOff x="0" y="0"/>
            <a:chExt cx="10972800" cy="62484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10972800" cy="624840"/>
            </a:xfrm>
            <a:custGeom>
              <a:avLst/>
              <a:gdLst/>
              <a:ahLst/>
              <a:cxnLst/>
              <a:rect r="r" b="b" t="t" l="l"/>
              <a:pathLst>
                <a:path h="6248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624840"/>
                  </a:lnTo>
                  <a:lnTo>
                    <a:pt x="0" y="62484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91939" r="0" b="-291936"/>
              </a:stretch>
            </a:blipFill>
          </p:spPr>
        </p:sp>
      </p:grpSp>
      <p:grpSp>
        <p:nvGrpSpPr>
          <p:cNvPr name="Group 8" id="8"/>
          <p:cNvGrpSpPr/>
          <p:nvPr/>
        </p:nvGrpSpPr>
        <p:grpSpPr>
          <a:xfrm rot="0">
            <a:off x="822960" y="9515475"/>
            <a:ext cx="8229600" cy="497205"/>
            <a:chOff x="0" y="0"/>
            <a:chExt cx="10972800" cy="66294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0972800" cy="662940"/>
            </a:xfrm>
            <a:custGeom>
              <a:avLst/>
              <a:gdLst/>
              <a:ahLst/>
              <a:cxnLst/>
              <a:rect r="r" b="b" t="t" l="l"/>
              <a:pathLst>
                <a:path h="6629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662940"/>
                  </a:lnTo>
                  <a:lnTo>
                    <a:pt x="0" y="662940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272287" r="0" b="-272285"/>
              </a:stretch>
            </a:blipFill>
          </p:spPr>
        </p:sp>
      </p:grpSp>
      <p:grpSp>
        <p:nvGrpSpPr>
          <p:cNvPr name="Group 10" id="10"/>
          <p:cNvGrpSpPr/>
          <p:nvPr/>
        </p:nvGrpSpPr>
        <p:grpSpPr>
          <a:xfrm rot="0">
            <a:off x="822960" y="9486900"/>
            <a:ext cx="8229600" cy="525780"/>
            <a:chOff x="0" y="0"/>
            <a:chExt cx="10972800" cy="70104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0972800" cy="701040"/>
            </a:xfrm>
            <a:custGeom>
              <a:avLst/>
              <a:gdLst/>
              <a:ahLst/>
              <a:cxnLst/>
              <a:rect r="r" b="b" t="t" l="l"/>
              <a:pathLst>
                <a:path h="7010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701040"/>
                  </a:lnTo>
                  <a:lnTo>
                    <a:pt x="0" y="701040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l="0" t="-254771" r="0" b="-254769"/>
              </a:stretch>
            </a:blipFill>
          </p:spPr>
        </p:sp>
      </p:grpSp>
      <p:grpSp>
        <p:nvGrpSpPr>
          <p:cNvPr name="Group 12" id="12"/>
          <p:cNvGrpSpPr/>
          <p:nvPr/>
        </p:nvGrpSpPr>
        <p:grpSpPr>
          <a:xfrm rot="0">
            <a:off x="822960" y="9458325"/>
            <a:ext cx="8229600" cy="554355"/>
            <a:chOff x="0" y="0"/>
            <a:chExt cx="10972800" cy="73914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10972800" cy="739140"/>
            </a:xfrm>
            <a:custGeom>
              <a:avLst/>
              <a:gdLst/>
              <a:ahLst/>
              <a:cxnLst/>
              <a:rect r="r" b="b" t="t" l="l"/>
              <a:pathLst>
                <a:path h="7391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739140"/>
                  </a:lnTo>
                  <a:lnTo>
                    <a:pt x="0" y="739140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0" t="-239061" r="0" b="-239060"/>
              </a:stretch>
            </a:blipFill>
          </p:spPr>
        </p:sp>
      </p:grpSp>
      <p:grpSp>
        <p:nvGrpSpPr>
          <p:cNvPr name="Group 14" id="14"/>
          <p:cNvGrpSpPr/>
          <p:nvPr/>
        </p:nvGrpSpPr>
        <p:grpSpPr>
          <a:xfrm rot="0">
            <a:off x="822960" y="9429750"/>
            <a:ext cx="8229600" cy="582930"/>
            <a:chOff x="0" y="0"/>
            <a:chExt cx="10972800" cy="77724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10972800" cy="777240"/>
            </a:xfrm>
            <a:custGeom>
              <a:avLst/>
              <a:gdLst/>
              <a:ahLst/>
              <a:cxnLst/>
              <a:rect r="r" b="b" t="t" l="l"/>
              <a:pathLst>
                <a:path h="7772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777240"/>
                  </a:lnTo>
                  <a:lnTo>
                    <a:pt x="0" y="777240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0" t="-224892" r="0" b="-224890"/>
              </a:stretch>
            </a:blipFill>
          </p:spPr>
        </p:sp>
      </p:grpSp>
      <p:grpSp>
        <p:nvGrpSpPr>
          <p:cNvPr name="Group 16" id="16"/>
          <p:cNvGrpSpPr/>
          <p:nvPr/>
        </p:nvGrpSpPr>
        <p:grpSpPr>
          <a:xfrm rot="0">
            <a:off x="822960" y="9401175"/>
            <a:ext cx="8229600" cy="611505"/>
            <a:chOff x="0" y="0"/>
            <a:chExt cx="10972800" cy="81534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10972800" cy="815340"/>
            </a:xfrm>
            <a:custGeom>
              <a:avLst/>
              <a:gdLst/>
              <a:ahLst/>
              <a:cxnLst/>
              <a:rect r="r" b="b" t="t" l="l"/>
              <a:pathLst>
                <a:path h="8153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815340"/>
                  </a:lnTo>
                  <a:lnTo>
                    <a:pt x="0" y="815340"/>
                  </a:lnTo>
                  <a:close/>
                </a:path>
              </a:pathLst>
            </a:custGeom>
            <a:blipFill>
              <a:blip r:embed="rId9">
                <a:alphaModFix amt="0"/>
              </a:blip>
              <a:stretch>
                <a:fillRect l="0" t="-212228" r="0" b="-212228"/>
              </a:stretch>
            </a:blipFill>
          </p:spPr>
        </p:sp>
        <p:sp>
          <p:nvSpPr>
            <p:cNvPr name="TextBox 18" id="18"/>
            <p:cNvSpPr txBox="true"/>
            <p:nvPr/>
          </p:nvSpPr>
          <p:spPr>
            <a:xfrm>
              <a:off x="0" y="-38100"/>
              <a:ext cx="10972800" cy="8534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6B728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WeFIND  |  TCC  |  IFSul Campus Pelotas</a:t>
              </a:r>
            </a:p>
          </p:txBody>
        </p:sp>
      </p:grpSp>
      <p:grpSp>
        <p:nvGrpSpPr>
          <p:cNvPr name="Group 19" id="19"/>
          <p:cNvGrpSpPr/>
          <p:nvPr/>
        </p:nvGrpSpPr>
        <p:grpSpPr>
          <a:xfrm rot="0">
            <a:off x="822960" y="850392"/>
            <a:ext cx="16596360" cy="1234440"/>
            <a:chOff x="0" y="0"/>
            <a:chExt cx="22128480" cy="1645920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22128480" cy="1645920"/>
            </a:xfrm>
            <a:custGeom>
              <a:avLst/>
              <a:gdLst/>
              <a:ahLst/>
              <a:cxnLst/>
              <a:rect r="r" b="b" t="t" l="l"/>
              <a:pathLst>
                <a:path h="1645920" w="22128480">
                  <a:moveTo>
                    <a:pt x="0" y="0"/>
                  </a:moveTo>
                  <a:lnTo>
                    <a:pt x="22128480" y="0"/>
                  </a:lnTo>
                  <a:lnTo>
                    <a:pt x="22128480" y="1645920"/>
                  </a:lnTo>
                  <a:lnTo>
                    <a:pt x="0" y="164592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211783" r="0" b="-211783"/>
              </a:stretch>
            </a:blipFill>
          </p:spPr>
        </p:sp>
      </p:grpSp>
      <p:grpSp>
        <p:nvGrpSpPr>
          <p:cNvPr name="Group 21" id="21"/>
          <p:cNvGrpSpPr/>
          <p:nvPr/>
        </p:nvGrpSpPr>
        <p:grpSpPr>
          <a:xfrm rot="0">
            <a:off x="822960" y="843248"/>
            <a:ext cx="16596360" cy="1241584"/>
            <a:chOff x="0" y="0"/>
            <a:chExt cx="22128480" cy="1655445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22128480" cy="1655445"/>
            </a:xfrm>
            <a:custGeom>
              <a:avLst/>
              <a:gdLst/>
              <a:ahLst/>
              <a:cxnLst/>
              <a:rect r="r" b="b" t="t" l="l"/>
              <a:pathLst>
                <a:path h="1655445" w="22128480">
                  <a:moveTo>
                    <a:pt x="0" y="0"/>
                  </a:moveTo>
                  <a:lnTo>
                    <a:pt x="22128480" y="0"/>
                  </a:lnTo>
                  <a:lnTo>
                    <a:pt x="22128480" y="1655445"/>
                  </a:lnTo>
                  <a:lnTo>
                    <a:pt x="0" y="1655445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10276" r="0" b="-210276"/>
              </a:stretch>
            </a:blipFill>
          </p:spPr>
        </p:sp>
      </p:grpSp>
      <p:grpSp>
        <p:nvGrpSpPr>
          <p:cNvPr name="Group 23" id="23"/>
          <p:cNvGrpSpPr/>
          <p:nvPr/>
        </p:nvGrpSpPr>
        <p:grpSpPr>
          <a:xfrm rot="0">
            <a:off x="822960" y="836105"/>
            <a:ext cx="16596360" cy="1248727"/>
            <a:chOff x="0" y="0"/>
            <a:chExt cx="22128480" cy="1664970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22128480" cy="1664970"/>
            </a:xfrm>
            <a:custGeom>
              <a:avLst/>
              <a:gdLst/>
              <a:ahLst/>
              <a:cxnLst/>
              <a:rect r="r" b="b" t="t" l="l"/>
              <a:pathLst>
                <a:path h="1664970" w="22128480">
                  <a:moveTo>
                    <a:pt x="0" y="0"/>
                  </a:moveTo>
                  <a:lnTo>
                    <a:pt x="22128480" y="0"/>
                  </a:lnTo>
                  <a:lnTo>
                    <a:pt x="22128480" y="1664970"/>
                  </a:lnTo>
                  <a:lnTo>
                    <a:pt x="0" y="166497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08787" r="0" b="-208787"/>
              </a:stretch>
            </a:blipFill>
          </p:spPr>
        </p:sp>
      </p:grpSp>
      <p:grpSp>
        <p:nvGrpSpPr>
          <p:cNvPr name="Group 25" id="25"/>
          <p:cNvGrpSpPr/>
          <p:nvPr/>
        </p:nvGrpSpPr>
        <p:grpSpPr>
          <a:xfrm rot="0">
            <a:off x="822960" y="828961"/>
            <a:ext cx="16596360" cy="1255871"/>
            <a:chOff x="0" y="0"/>
            <a:chExt cx="22128480" cy="1674495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22128480" cy="1674495"/>
            </a:xfrm>
            <a:custGeom>
              <a:avLst/>
              <a:gdLst/>
              <a:ahLst/>
              <a:cxnLst/>
              <a:rect r="r" b="b" t="t" l="l"/>
              <a:pathLst>
                <a:path h="1674495" w="22128480">
                  <a:moveTo>
                    <a:pt x="0" y="0"/>
                  </a:moveTo>
                  <a:lnTo>
                    <a:pt x="22128480" y="0"/>
                  </a:lnTo>
                  <a:lnTo>
                    <a:pt x="22128480" y="1674495"/>
                  </a:lnTo>
                  <a:lnTo>
                    <a:pt x="0" y="1674495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207315" r="0" b="-207315"/>
              </a:stretch>
            </a:blipFill>
          </p:spPr>
        </p:sp>
      </p:grpSp>
      <p:grpSp>
        <p:nvGrpSpPr>
          <p:cNvPr name="Group 27" id="27"/>
          <p:cNvGrpSpPr/>
          <p:nvPr/>
        </p:nvGrpSpPr>
        <p:grpSpPr>
          <a:xfrm rot="0">
            <a:off x="822960" y="821817"/>
            <a:ext cx="16596360" cy="1263015"/>
            <a:chOff x="0" y="0"/>
            <a:chExt cx="22128480" cy="1684020"/>
          </a:xfrm>
        </p:grpSpPr>
        <p:sp>
          <p:nvSpPr>
            <p:cNvPr name="Freeform 28" id="28"/>
            <p:cNvSpPr/>
            <p:nvPr/>
          </p:nvSpPr>
          <p:spPr>
            <a:xfrm flipH="false" flipV="false" rot="0">
              <a:off x="0" y="0"/>
              <a:ext cx="22128480" cy="1684020"/>
            </a:xfrm>
            <a:custGeom>
              <a:avLst/>
              <a:gdLst/>
              <a:ahLst/>
              <a:cxnLst/>
              <a:rect r="r" b="b" t="t" l="l"/>
              <a:pathLst>
                <a:path h="1684020" w="22128480">
                  <a:moveTo>
                    <a:pt x="0" y="0"/>
                  </a:moveTo>
                  <a:lnTo>
                    <a:pt x="22128480" y="0"/>
                  </a:lnTo>
                  <a:lnTo>
                    <a:pt x="22128480" y="1684020"/>
                  </a:lnTo>
                  <a:lnTo>
                    <a:pt x="0" y="1684020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l="0" t="-205860" r="0" b="-205860"/>
              </a:stretch>
            </a:blipFill>
          </p:spPr>
        </p:sp>
      </p:grpSp>
      <p:grpSp>
        <p:nvGrpSpPr>
          <p:cNvPr name="Group 29" id="29"/>
          <p:cNvGrpSpPr/>
          <p:nvPr/>
        </p:nvGrpSpPr>
        <p:grpSpPr>
          <a:xfrm rot="0">
            <a:off x="822960" y="814673"/>
            <a:ext cx="16596360" cy="1270159"/>
            <a:chOff x="0" y="0"/>
            <a:chExt cx="22128480" cy="1693545"/>
          </a:xfrm>
        </p:grpSpPr>
        <p:sp>
          <p:nvSpPr>
            <p:cNvPr name="Freeform 30" id="30"/>
            <p:cNvSpPr/>
            <p:nvPr/>
          </p:nvSpPr>
          <p:spPr>
            <a:xfrm flipH="false" flipV="false" rot="0">
              <a:off x="0" y="0"/>
              <a:ext cx="22128480" cy="1693545"/>
            </a:xfrm>
            <a:custGeom>
              <a:avLst/>
              <a:gdLst/>
              <a:ahLst/>
              <a:cxnLst/>
              <a:rect r="r" b="b" t="t" l="l"/>
              <a:pathLst>
                <a:path h="1693545" w="22128480">
                  <a:moveTo>
                    <a:pt x="0" y="0"/>
                  </a:moveTo>
                  <a:lnTo>
                    <a:pt x="22128480" y="0"/>
                  </a:lnTo>
                  <a:lnTo>
                    <a:pt x="22128480" y="1693545"/>
                  </a:lnTo>
                  <a:lnTo>
                    <a:pt x="0" y="1693545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0" t="-204421" r="0" b="-204421"/>
              </a:stretch>
            </a:blipFill>
          </p:spPr>
        </p:sp>
      </p:grpSp>
      <p:grpSp>
        <p:nvGrpSpPr>
          <p:cNvPr name="Group 31" id="31"/>
          <p:cNvGrpSpPr/>
          <p:nvPr/>
        </p:nvGrpSpPr>
        <p:grpSpPr>
          <a:xfrm rot="0">
            <a:off x="822960" y="807530"/>
            <a:ext cx="16596360" cy="1277302"/>
            <a:chOff x="0" y="0"/>
            <a:chExt cx="22128480" cy="1703070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0" y="0"/>
              <a:ext cx="22128480" cy="1703070"/>
            </a:xfrm>
            <a:custGeom>
              <a:avLst/>
              <a:gdLst/>
              <a:ahLst/>
              <a:cxnLst/>
              <a:rect r="r" b="b" t="t" l="l"/>
              <a:pathLst>
                <a:path h="1703070" w="22128480">
                  <a:moveTo>
                    <a:pt x="0" y="0"/>
                  </a:moveTo>
                  <a:lnTo>
                    <a:pt x="22128480" y="0"/>
                  </a:lnTo>
                  <a:lnTo>
                    <a:pt x="22128480" y="1703070"/>
                  </a:lnTo>
                  <a:lnTo>
                    <a:pt x="0" y="1703070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0" t="-202998" r="0" b="-202998"/>
              </a:stretch>
            </a:blipFill>
          </p:spPr>
        </p:sp>
      </p:grpSp>
      <p:grpSp>
        <p:nvGrpSpPr>
          <p:cNvPr name="Group 33" id="33"/>
          <p:cNvGrpSpPr/>
          <p:nvPr/>
        </p:nvGrpSpPr>
        <p:grpSpPr>
          <a:xfrm rot="0">
            <a:off x="822960" y="800386"/>
            <a:ext cx="16596360" cy="1284446"/>
            <a:chOff x="0" y="0"/>
            <a:chExt cx="22128480" cy="1712595"/>
          </a:xfrm>
        </p:grpSpPr>
        <p:sp>
          <p:nvSpPr>
            <p:cNvPr name="Freeform 34" id="34"/>
            <p:cNvSpPr/>
            <p:nvPr/>
          </p:nvSpPr>
          <p:spPr>
            <a:xfrm flipH="false" flipV="false" rot="0">
              <a:off x="0" y="0"/>
              <a:ext cx="22128480" cy="1712594"/>
            </a:xfrm>
            <a:custGeom>
              <a:avLst/>
              <a:gdLst/>
              <a:ahLst/>
              <a:cxnLst/>
              <a:rect r="r" b="b" t="t" l="l"/>
              <a:pathLst>
                <a:path h="1712594" w="22128480">
                  <a:moveTo>
                    <a:pt x="0" y="0"/>
                  </a:moveTo>
                  <a:lnTo>
                    <a:pt x="22128480" y="0"/>
                  </a:lnTo>
                  <a:lnTo>
                    <a:pt x="22128480" y="1712594"/>
                  </a:lnTo>
                  <a:lnTo>
                    <a:pt x="0" y="1712594"/>
                  </a:lnTo>
                  <a:close/>
                </a:path>
              </a:pathLst>
            </a:custGeom>
            <a:blipFill>
              <a:blip r:embed="rId9">
                <a:alphaModFix amt="0"/>
              </a:blip>
              <a:stretch>
                <a:fillRect l="0" t="-201766" r="0" b="-201766"/>
              </a:stretch>
            </a:blipFill>
          </p:spPr>
        </p:sp>
        <p:sp>
          <p:nvSpPr>
            <p:cNvPr name="TextBox 35" id="35"/>
            <p:cNvSpPr txBox="true"/>
            <p:nvPr/>
          </p:nvSpPr>
          <p:spPr>
            <a:xfrm>
              <a:off x="0" y="-9525"/>
              <a:ext cx="22128480" cy="172212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6120"/>
                </a:lnSpc>
              </a:pPr>
              <a:r>
                <a:rPr lang="en-US" sz="5100" b="true">
                  <a:solidFill>
                    <a:srgbClr val="2E5634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Privacidade e reencontro seguro</a:t>
              </a:r>
            </a:p>
          </p:txBody>
        </p:sp>
      </p:grpSp>
      <p:sp>
        <p:nvSpPr>
          <p:cNvPr name="Freeform 36" id="36"/>
          <p:cNvSpPr/>
          <p:nvPr/>
        </p:nvSpPr>
        <p:spPr>
          <a:xfrm flipH="false" flipV="false" rot="0">
            <a:off x="810454" y="2387794"/>
            <a:ext cx="8186023" cy="2905363"/>
          </a:xfrm>
          <a:custGeom>
            <a:avLst/>
            <a:gdLst/>
            <a:ahLst/>
            <a:cxnLst/>
            <a:rect r="r" b="b" t="t" l="l"/>
            <a:pathLst>
              <a:path h="2905363" w="8186023">
                <a:moveTo>
                  <a:pt x="0" y="0"/>
                </a:moveTo>
                <a:lnTo>
                  <a:pt x="8186023" y="0"/>
                </a:lnTo>
                <a:lnTo>
                  <a:pt x="8186023" y="2905363"/>
                </a:lnTo>
                <a:lnTo>
                  <a:pt x="0" y="2905363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-126" r="0" b="-126"/>
            </a:stretch>
          </a:blipFill>
        </p:spPr>
      </p:sp>
      <p:sp>
        <p:nvSpPr>
          <p:cNvPr name="Freeform 37" id="37"/>
          <p:cNvSpPr/>
          <p:nvPr/>
        </p:nvSpPr>
        <p:spPr>
          <a:xfrm flipH="false" flipV="false" rot="0">
            <a:off x="1217771" y="2863691"/>
            <a:ext cx="1267777" cy="1267778"/>
          </a:xfrm>
          <a:custGeom>
            <a:avLst/>
            <a:gdLst/>
            <a:ahLst/>
            <a:cxnLst/>
            <a:rect r="r" b="b" t="t" l="l"/>
            <a:pathLst>
              <a:path h="1267778" w="1267777">
                <a:moveTo>
                  <a:pt x="0" y="0"/>
                </a:moveTo>
                <a:lnTo>
                  <a:pt x="1267778" y="0"/>
                </a:lnTo>
                <a:lnTo>
                  <a:pt x="1267778" y="1267778"/>
                </a:lnTo>
                <a:lnTo>
                  <a:pt x="0" y="1267778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38" id="38"/>
          <p:cNvGrpSpPr/>
          <p:nvPr/>
        </p:nvGrpSpPr>
        <p:grpSpPr>
          <a:xfrm rot="0">
            <a:off x="1555394" y="3201314"/>
            <a:ext cx="592550" cy="592550"/>
            <a:chOff x="0" y="0"/>
            <a:chExt cx="790067" cy="790067"/>
          </a:xfrm>
        </p:grpSpPr>
        <p:sp>
          <p:nvSpPr>
            <p:cNvPr name="Freeform 39" id="39" descr="icone"/>
            <p:cNvSpPr/>
            <p:nvPr/>
          </p:nvSpPr>
          <p:spPr>
            <a:xfrm flipH="false" flipV="false" rot="0">
              <a:off x="0" y="0"/>
              <a:ext cx="790067" cy="790067"/>
            </a:xfrm>
            <a:custGeom>
              <a:avLst/>
              <a:gdLst/>
              <a:ahLst/>
              <a:cxnLst/>
              <a:rect r="r" b="b" t="t" l="l"/>
              <a:pathLst>
                <a:path h="790067" w="790067">
                  <a:moveTo>
                    <a:pt x="0" y="0"/>
                  </a:moveTo>
                  <a:lnTo>
                    <a:pt x="790067" y="0"/>
                  </a:lnTo>
                  <a:lnTo>
                    <a:pt x="790067" y="790067"/>
                  </a:lnTo>
                  <a:lnTo>
                    <a:pt x="0" y="79006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/>
              <a:stretch>
                <a:fillRect l="0" t="0" r="0" b="0"/>
              </a:stretch>
            </a:blipFill>
          </p:spPr>
        </p:sp>
      </p:grpSp>
      <p:sp>
        <p:nvSpPr>
          <p:cNvPr name="TextBox 40" id="40"/>
          <p:cNvSpPr txBox="true"/>
          <p:nvPr/>
        </p:nvSpPr>
        <p:spPr>
          <a:xfrm rot="0">
            <a:off x="2880360" y="2278380"/>
            <a:ext cx="5760720" cy="11506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600"/>
              </a:lnSpc>
            </a:pPr>
            <a:r>
              <a:rPr lang="en-US" sz="3000" b="true">
                <a:solidFill>
                  <a:srgbClr val="0F172A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Comprovação de tutela</a:t>
            </a:r>
          </a:p>
        </p:txBody>
      </p:sp>
      <p:sp>
        <p:nvSpPr>
          <p:cNvPr name="TextBox 41" id="41"/>
          <p:cNvSpPr txBox="true"/>
          <p:nvPr/>
        </p:nvSpPr>
        <p:spPr>
          <a:xfrm rot="0">
            <a:off x="2880360" y="3261360"/>
            <a:ext cx="5760720" cy="18821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78"/>
              </a:lnSpc>
            </a:pPr>
            <a:r>
              <a:rPr lang="en-US" sz="2400">
                <a:solidFill>
                  <a:srgbClr val="0F172A"/>
                </a:solidFill>
                <a:latin typeface="Calibri (MS)"/>
                <a:ea typeface="Calibri (MS)"/>
                <a:cs typeface="Calibri (MS)"/>
                <a:sym typeface="Calibri (MS)"/>
              </a:rPr>
              <a:t>Relato e fotos do tutor; a devolução é combinada em local público.</a:t>
            </a:r>
          </a:p>
        </p:txBody>
      </p:sp>
      <p:sp>
        <p:nvSpPr>
          <p:cNvPr name="Freeform 42" id="42"/>
          <p:cNvSpPr/>
          <p:nvPr/>
        </p:nvSpPr>
        <p:spPr>
          <a:xfrm flipH="false" flipV="false" rot="0">
            <a:off x="9245794" y="2387794"/>
            <a:ext cx="8186023" cy="2905363"/>
          </a:xfrm>
          <a:custGeom>
            <a:avLst/>
            <a:gdLst/>
            <a:ahLst/>
            <a:cxnLst/>
            <a:rect r="r" b="b" t="t" l="l"/>
            <a:pathLst>
              <a:path h="2905363" w="8186023">
                <a:moveTo>
                  <a:pt x="0" y="0"/>
                </a:moveTo>
                <a:lnTo>
                  <a:pt x="8186023" y="0"/>
                </a:lnTo>
                <a:lnTo>
                  <a:pt x="8186023" y="2905363"/>
                </a:lnTo>
                <a:lnTo>
                  <a:pt x="0" y="2905363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-126" r="0" b="-126"/>
            </a:stretch>
          </a:blipFill>
        </p:spPr>
      </p:sp>
      <p:sp>
        <p:nvSpPr>
          <p:cNvPr name="Freeform 43" id="43"/>
          <p:cNvSpPr/>
          <p:nvPr/>
        </p:nvSpPr>
        <p:spPr>
          <a:xfrm flipH="false" flipV="false" rot="0">
            <a:off x="9653111" y="2863691"/>
            <a:ext cx="1267778" cy="1267778"/>
          </a:xfrm>
          <a:custGeom>
            <a:avLst/>
            <a:gdLst/>
            <a:ahLst/>
            <a:cxnLst/>
            <a:rect r="r" b="b" t="t" l="l"/>
            <a:pathLst>
              <a:path h="1267778" w="1267778">
                <a:moveTo>
                  <a:pt x="0" y="0"/>
                </a:moveTo>
                <a:lnTo>
                  <a:pt x="1267778" y="0"/>
                </a:lnTo>
                <a:lnTo>
                  <a:pt x="1267778" y="1267778"/>
                </a:lnTo>
                <a:lnTo>
                  <a:pt x="0" y="1267778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44" id="44"/>
          <p:cNvGrpSpPr/>
          <p:nvPr/>
        </p:nvGrpSpPr>
        <p:grpSpPr>
          <a:xfrm rot="0">
            <a:off x="9990734" y="3201314"/>
            <a:ext cx="592550" cy="592550"/>
            <a:chOff x="0" y="0"/>
            <a:chExt cx="790067" cy="790067"/>
          </a:xfrm>
        </p:grpSpPr>
        <p:sp>
          <p:nvSpPr>
            <p:cNvPr name="Freeform 45" id="45" descr="icone"/>
            <p:cNvSpPr/>
            <p:nvPr/>
          </p:nvSpPr>
          <p:spPr>
            <a:xfrm flipH="false" flipV="false" rot="0">
              <a:off x="0" y="0"/>
              <a:ext cx="790067" cy="790067"/>
            </a:xfrm>
            <a:custGeom>
              <a:avLst/>
              <a:gdLst/>
              <a:ahLst/>
              <a:cxnLst/>
              <a:rect r="r" b="b" t="t" l="l"/>
              <a:pathLst>
                <a:path h="790067" w="790067">
                  <a:moveTo>
                    <a:pt x="0" y="0"/>
                  </a:moveTo>
                  <a:lnTo>
                    <a:pt x="790067" y="0"/>
                  </a:lnTo>
                  <a:lnTo>
                    <a:pt x="790067" y="790067"/>
                  </a:lnTo>
                  <a:lnTo>
                    <a:pt x="0" y="79006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5"/>
              <a:stretch>
                <a:fillRect l="0" t="0" r="0" b="0"/>
              </a:stretch>
            </a:blipFill>
          </p:spPr>
        </p:sp>
      </p:grpSp>
      <p:sp>
        <p:nvSpPr>
          <p:cNvPr name="TextBox 46" id="46"/>
          <p:cNvSpPr txBox="true"/>
          <p:nvPr/>
        </p:nvSpPr>
        <p:spPr>
          <a:xfrm rot="0">
            <a:off x="11315700" y="2278380"/>
            <a:ext cx="5760720" cy="11506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600"/>
              </a:lnSpc>
            </a:pPr>
            <a:r>
              <a:rPr lang="en-US" sz="3000" b="true">
                <a:solidFill>
                  <a:srgbClr val="0F172A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Privacidade por padrão</a:t>
            </a:r>
          </a:p>
        </p:txBody>
      </p:sp>
      <p:sp>
        <p:nvSpPr>
          <p:cNvPr name="TextBox 47" id="47"/>
          <p:cNvSpPr txBox="true"/>
          <p:nvPr/>
        </p:nvSpPr>
        <p:spPr>
          <a:xfrm rot="0">
            <a:off x="11315700" y="3261360"/>
            <a:ext cx="5760720" cy="18821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78"/>
              </a:lnSpc>
            </a:pPr>
            <a:r>
              <a:rPr lang="en-US" sz="2400">
                <a:solidFill>
                  <a:srgbClr val="0F172A"/>
                </a:solidFill>
                <a:latin typeface="Calibri (MS)"/>
                <a:ea typeface="Calibri (MS)"/>
                <a:cs typeface="Calibri (MS)"/>
                <a:sym typeface="Calibri (MS)"/>
              </a:rPr>
              <a:t>Público vê bairro e rua, sem número; no mapa, grade de ~1 km.</a:t>
            </a:r>
          </a:p>
        </p:txBody>
      </p:sp>
      <p:sp>
        <p:nvSpPr>
          <p:cNvPr name="Freeform 48" id="48"/>
          <p:cNvSpPr/>
          <p:nvPr/>
        </p:nvSpPr>
        <p:spPr>
          <a:xfrm flipH="false" flipV="false" rot="0">
            <a:off x="810454" y="5542474"/>
            <a:ext cx="8186023" cy="2905363"/>
          </a:xfrm>
          <a:custGeom>
            <a:avLst/>
            <a:gdLst/>
            <a:ahLst/>
            <a:cxnLst/>
            <a:rect r="r" b="b" t="t" l="l"/>
            <a:pathLst>
              <a:path h="2905363" w="8186023">
                <a:moveTo>
                  <a:pt x="0" y="0"/>
                </a:moveTo>
                <a:lnTo>
                  <a:pt x="8186023" y="0"/>
                </a:lnTo>
                <a:lnTo>
                  <a:pt x="8186023" y="2905363"/>
                </a:lnTo>
                <a:lnTo>
                  <a:pt x="0" y="2905363"/>
                </a:lnTo>
                <a:lnTo>
                  <a:pt x="0" y="0"/>
                </a:lnTo>
                <a:close/>
              </a:path>
            </a:pathLst>
          </a:custGeom>
          <a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 l="0" t="-126" r="0" b="-126"/>
            </a:stretch>
          </a:blipFill>
        </p:spPr>
      </p:sp>
      <p:sp>
        <p:nvSpPr>
          <p:cNvPr name="Freeform 49" id="49"/>
          <p:cNvSpPr/>
          <p:nvPr/>
        </p:nvSpPr>
        <p:spPr>
          <a:xfrm flipH="false" flipV="false" rot="0">
            <a:off x="1217771" y="6018371"/>
            <a:ext cx="1267777" cy="1267778"/>
          </a:xfrm>
          <a:custGeom>
            <a:avLst/>
            <a:gdLst/>
            <a:ahLst/>
            <a:cxnLst/>
            <a:rect r="r" b="b" t="t" l="l"/>
            <a:pathLst>
              <a:path h="1267778" w="1267777">
                <a:moveTo>
                  <a:pt x="0" y="0"/>
                </a:moveTo>
                <a:lnTo>
                  <a:pt x="1267778" y="0"/>
                </a:lnTo>
                <a:lnTo>
                  <a:pt x="1267778" y="1267778"/>
                </a:lnTo>
                <a:lnTo>
                  <a:pt x="0" y="1267778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50" id="50"/>
          <p:cNvGrpSpPr/>
          <p:nvPr/>
        </p:nvGrpSpPr>
        <p:grpSpPr>
          <a:xfrm rot="0">
            <a:off x="1555394" y="6355994"/>
            <a:ext cx="592550" cy="592550"/>
            <a:chOff x="0" y="0"/>
            <a:chExt cx="790067" cy="790067"/>
          </a:xfrm>
        </p:grpSpPr>
        <p:sp>
          <p:nvSpPr>
            <p:cNvPr name="Freeform 51" id="51" descr="icone"/>
            <p:cNvSpPr/>
            <p:nvPr/>
          </p:nvSpPr>
          <p:spPr>
            <a:xfrm flipH="false" flipV="false" rot="0">
              <a:off x="0" y="0"/>
              <a:ext cx="790067" cy="790067"/>
            </a:xfrm>
            <a:custGeom>
              <a:avLst/>
              <a:gdLst/>
              <a:ahLst/>
              <a:cxnLst/>
              <a:rect r="r" b="b" t="t" l="l"/>
              <a:pathLst>
                <a:path h="790067" w="790067">
                  <a:moveTo>
                    <a:pt x="0" y="0"/>
                  </a:moveTo>
                  <a:lnTo>
                    <a:pt x="790067" y="0"/>
                  </a:lnTo>
                  <a:lnTo>
                    <a:pt x="790067" y="790067"/>
                  </a:lnTo>
                  <a:lnTo>
                    <a:pt x="0" y="79006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/>
              <a:stretch>
                <a:fillRect l="0" t="0" r="0" b="0"/>
              </a:stretch>
            </a:blipFill>
          </p:spPr>
        </p:sp>
      </p:grpSp>
      <p:sp>
        <p:nvSpPr>
          <p:cNvPr name="TextBox 52" id="52"/>
          <p:cNvSpPr txBox="true"/>
          <p:nvPr/>
        </p:nvSpPr>
        <p:spPr>
          <a:xfrm rot="0">
            <a:off x="2880360" y="5433060"/>
            <a:ext cx="5760720" cy="11506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600"/>
              </a:lnSpc>
            </a:pPr>
            <a:r>
              <a:rPr lang="en-US" sz="3000" b="true">
                <a:solidFill>
                  <a:srgbClr val="0F172A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Meus pets e carteirinha</a:t>
            </a:r>
          </a:p>
        </p:txBody>
      </p:sp>
      <p:sp>
        <p:nvSpPr>
          <p:cNvPr name="TextBox 53" id="53"/>
          <p:cNvSpPr txBox="true"/>
          <p:nvPr/>
        </p:nvSpPr>
        <p:spPr>
          <a:xfrm rot="0">
            <a:off x="2880360" y="6416040"/>
            <a:ext cx="5760720" cy="18821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78"/>
              </a:lnSpc>
            </a:pPr>
            <a:r>
              <a:rPr lang="en-US" sz="2400">
                <a:solidFill>
                  <a:srgbClr val="0F172A"/>
                </a:solidFill>
                <a:latin typeface="Calibri (MS)"/>
                <a:ea typeface="Calibri (MS)"/>
                <a:cs typeface="Calibri (MS)"/>
                <a:sym typeface="Calibri (MS)"/>
              </a:rPr>
              <a:t>Cadastro preventivo com QR; “Meu pet fugiu” vira publicação.</a:t>
            </a:r>
          </a:p>
        </p:txBody>
      </p:sp>
      <p:sp>
        <p:nvSpPr>
          <p:cNvPr name="Freeform 54" id="54"/>
          <p:cNvSpPr/>
          <p:nvPr/>
        </p:nvSpPr>
        <p:spPr>
          <a:xfrm flipH="false" flipV="false" rot="0">
            <a:off x="9245794" y="5542474"/>
            <a:ext cx="8186023" cy="2905363"/>
          </a:xfrm>
          <a:custGeom>
            <a:avLst/>
            <a:gdLst/>
            <a:ahLst/>
            <a:cxnLst/>
            <a:rect r="r" b="b" t="t" l="l"/>
            <a:pathLst>
              <a:path h="2905363" w="8186023">
                <a:moveTo>
                  <a:pt x="0" y="0"/>
                </a:moveTo>
                <a:lnTo>
                  <a:pt x="8186023" y="0"/>
                </a:lnTo>
                <a:lnTo>
                  <a:pt x="8186023" y="2905363"/>
                </a:lnTo>
                <a:lnTo>
                  <a:pt x="0" y="2905363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-126" r="0" b="-126"/>
            </a:stretch>
          </a:blipFill>
        </p:spPr>
      </p:sp>
      <p:sp>
        <p:nvSpPr>
          <p:cNvPr name="Freeform 55" id="55"/>
          <p:cNvSpPr/>
          <p:nvPr/>
        </p:nvSpPr>
        <p:spPr>
          <a:xfrm flipH="false" flipV="false" rot="0">
            <a:off x="9653111" y="6018371"/>
            <a:ext cx="1267778" cy="1267778"/>
          </a:xfrm>
          <a:custGeom>
            <a:avLst/>
            <a:gdLst/>
            <a:ahLst/>
            <a:cxnLst/>
            <a:rect r="r" b="b" t="t" l="l"/>
            <a:pathLst>
              <a:path h="1267778" w="1267778">
                <a:moveTo>
                  <a:pt x="0" y="0"/>
                </a:moveTo>
                <a:lnTo>
                  <a:pt x="1267778" y="0"/>
                </a:lnTo>
                <a:lnTo>
                  <a:pt x="1267778" y="1267778"/>
                </a:lnTo>
                <a:lnTo>
                  <a:pt x="0" y="1267778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56" id="56"/>
          <p:cNvGrpSpPr/>
          <p:nvPr/>
        </p:nvGrpSpPr>
        <p:grpSpPr>
          <a:xfrm rot="0">
            <a:off x="9990734" y="6355994"/>
            <a:ext cx="592550" cy="592550"/>
            <a:chOff x="0" y="0"/>
            <a:chExt cx="790067" cy="790067"/>
          </a:xfrm>
        </p:grpSpPr>
        <p:sp>
          <p:nvSpPr>
            <p:cNvPr name="Freeform 57" id="57" descr="icone"/>
            <p:cNvSpPr/>
            <p:nvPr/>
          </p:nvSpPr>
          <p:spPr>
            <a:xfrm flipH="false" flipV="false" rot="0">
              <a:off x="0" y="0"/>
              <a:ext cx="790067" cy="790067"/>
            </a:xfrm>
            <a:custGeom>
              <a:avLst/>
              <a:gdLst/>
              <a:ahLst/>
              <a:cxnLst/>
              <a:rect r="r" b="b" t="t" l="l"/>
              <a:pathLst>
                <a:path h="790067" w="790067">
                  <a:moveTo>
                    <a:pt x="0" y="0"/>
                  </a:moveTo>
                  <a:lnTo>
                    <a:pt x="790067" y="0"/>
                  </a:lnTo>
                  <a:lnTo>
                    <a:pt x="790067" y="790067"/>
                  </a:lnTo>
                  <a:lnTo>
                    <a:pt x="0" y="79006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9"/>
              <a:stretch>
                <a:fillRect l="0" t="0" r="0" b="0"/>
              </a:stretch>
            </a:blipFill>
          </p:spPr>
        </p:sp>
      </p:grpSp>
      <p:sp>
        <p:nvSpPr>
          <p:cNvPr name="TextBox 58" id="58"/>
          <p:cNvSpPr txBox="true"/>
          <p:nvPr/>
        </p:nvSpPr>
        <p:spPr>
          <a:xfrm rot="0">
            <a:off x="11315700" y="5433060"/>
            <a:ext cx="5760720" cy="11506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600"/>
              </a:lnSpc>
            </a:pPr>
            <a:r>
              <a:rPr lang="en-US" sz="3000" b="true">
                <a:solidFill>
                  <a:srgbClr val="0F172A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Adoção responsável</a:t>
            </a:r>
          </a:p>
        </p:txBody>
      </p:sp>
      <p:sp>
        <p:nvSpPr>
          <p:cNvPr name="TextBox 59" id="59"/>
          <p:cNvSpPr txBox="true"/>
          <p:nvPr/>
        </p:nvSpPr>
        <p:spPr>
          <a:xfrm rot="0">
            <a:off x="11315700" y="6416040"/>
            <a:ext cx="5760720" cy="18821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78"/>
              </a:lnSpc>
            </a:pPr>
            <a:r>
              <a:rPr lang="en-US" sz="2400">
                <a:solidFill>
                  <a:srgbClr val="0F172A"/>
                </a:solidFill>
                <a:latin typeface="Calibri (MS)"/>
                <a:ea typeface="Calibri (MS)"/>
                <a:cs typeface="Calibri (MS)"/>
                <a:sym typeface="Calibri (MS)"/>
              </a:rPr>
              <a:t>Animal encontrado só vai para adoção após 7 dias de busca.</a:t>
            </a:r>
          </a:p>
        </p:txBody>
      </p:sp>
      <p:sp>
        <p:nvSpPr>
          <p:cNvPr name="TextBox 60" id="60"/>
          <p:cNvSpPr txBox="true"/>
          <p:nvPr/>
        </p:nvSpPr>
        <p:spPr>
          <a:xfrm rot="0">
            <a:off x="822960" y="8397240"/>
            <a:ext cx="16596360" cy="9296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2100" i="true">
                <a:solidFill>
                  <a:srgbClr val="4B5563"/>
                </a:solidFill>
                <a:latin typeface="Calibri (MS) Italics"/>
                <a:ea typeface="Calibri (MS) Italics"/>
                <a:cs typeface="Calibri (MS) Italics"/>
                <a:sym typeface="Calibri (MS) Italics"/>
              </a:rPr>
              <a:t>Base: LGPD e Privacy by Design (Cavoukian, 2009). Nenhum dos 48 participantes exibiria o endereço completo de um animal acolhido.</a:t>
            </a:r>
          </a:p>
        </p:txBody>
      </p:sp>
      <p:sp>
        <p:nvSpPr>
          <p:cNvPr name="TextBox 61" id="61"/>
          <p:cNvSpPr txBox="true"/>
          <p:nvPr/>
        </p:nvSpPr>
        <p:spPr>
          <a:xfrm rot="0">
            <a:off x="914400" y="207264"/>
            <a:ext cx="6858000" cy="6705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00"/>
              </a:lnSpc>
            </a:pPr>
            <a:r>
              <a:rPr lang="en-US" b="true" sz="2000" spc="400">
                <a:solidFill>
                  <a:srgbClr val="B1734A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03  REQUISITOS E MODELAGEM</a:t>
            </a:r>
          </a:p>
        </p:txBody>
      </p:sp>
      <p:sp>
        <p:nvSpPr>
          <p:cNvPr name="TextBox 62" id="62"/>
          <p:cNvSpPr txBox="true"/>
          <p:nvPr/>
        </p:nvSpPr>
        <p:spPr>
          <a:xfrm rot="0">
            <a:off x="16459200" y="9433560"/>
            <a:ext cx="914400" cy="3810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400"/>
              </a:lnSpc>
            </a:pPr>
            <a:r>
              <a:rPr lang="en-US" sz="2000">
                <a:solidFill>
                  <a:srgbClr val="5B6B5F"/>
                </a:solidFill>
                <a:latin typeface="Calibri (MS)"/>
                <a:ea typeface="Calibri (MS)"/>
                <a:cs typeface="Calibri (MS)"/>
                <a:sym typeface="Calibri (MS)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914400" y="914400"/>
            <a:ext cx="16459200" cy="1097280"/>
            <a:chOff x="0" y="0"/>
            <a:chExt cx="21945600" cy="146304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1945600" cy="1463040"/>
            </a:xfrm>
            <a:custGeom>
              <a:avLst/>
              <a:gdLst/>
              <a:ahLst/>
              <a:cxnLst/>
              <a:rect r="r" b="b" t="t" l="l"/>
              <a:pathLst>
                <a:path h="146304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463040"/>
                  </a:lnTo>
                  <a:lnTo>
                    <a:pt x="0" y="14630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242072" r="0" b="-242072"/>
              </a:stretch>
            </a:blipFill>
          </p:spPr>
        </p:sp>
      </p:grpSp>
      <p:grpSp>
        <p:nvGrpSpPr>
          <p:cNvPr name="Group 4" id="4"/>
          <p:cNvGrpSpPr/>
          <p:nvPr/>
        </p:nvGrpSpPr>
        <p:grpSpPr>
          <a:xfrm rot="0">
            <a:off x="914400" y="907256"/>
            <a:ext cx="16459200" cy="1104424"/>
            <a:chOff x="0" y="0"/>
            <a:chExt cx="21945600" cy="1472565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1945600" cy="1472565"/>
            </a:xfrm>
            <a:custGeom>
              <a:avLst/>
              <a:gdLst/>
              <a:ahLst/>
              <a:cxnLst/>
              <a:rect r="r" b="b" t="t" l="l"/>
              <a:pathLst>
                <a:path h="1472565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472565"/>
                  </a:lnTo>
                  <a:lnTo>
                    <a:pt x="0" y="1472565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40182" r="0" b="-240183"/>
              </a:stretch>
            </a:blipFill>
          </p:spPr>
        </p:sp>
      </p:grpSp>
      <p:grpSp>
        <p:nvGrpSpPr>
          <p:cNvPr name="Group 6" id="6"/>
          <p:cNvGrpSpPr/>
          <p:nvPr/>
        </p:nvGrpSpPr>
        <p:grpSpPr>
          <a:xfrm rot="0">
            <a:off x="914400" y="-144437"/>
            <a:ext cx="16459200" cy="2781967"/>
            <a:chOff x="0" y="0"/>
            <a:chExt cx="21945600" cy="3709289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1945600" cy="3709289"/>
            </a:xfrm>
            <a:custGeom>
              <a:avLst/>
              <a:gdLst/>
              <a:ahLst/>
              <a:cxnLst/>
              <a:rect r="r" b="b" t="t" l="l"/>
              <a:pathLst>
                <a:path h="3709289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3709289"/>
                  </a:lnTo>
                  <a:lnTo>
                    <a:pt x="0" y="3709289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65200" r="0" b="-65201"/>
              </a:stretch>
            </a:blipFill>
          </p:spPr>
        </p:sp>
      </p:grpSp>
      <p:grpSp>
        <p:nvGrpSpPr>
          <p:cNvPr name="Group 8" id="8"/>
          <p:cNvGrpSpPr/>
          <p:nvPr/>
        </p:nvGrpSpPr>
        <p:grpSpPr>
          <a:xfrm rot="0">
            <a:off x="914400" y="-144437"/>
            <a:ext cx="16459200" cy="2781967"/>
            <a:chOff x="0" y="0"/>
            <a:chExt cx="21945600" cy="3709289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1945600" cy="3709289"/>
            </a:xfrm>
            <a:custGeom>
              <a:avLst/>
              <a:gdLst/>
              <a:ahLst/>
              <a:cxnLst/>
              <a:rect r="r" b="b" t="t" l="l"/>
              <a:pathLst>
                <a:path h="3709289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3709289"/>
                  </a:lnTo>
                  <a:lnTo>
                    <a:pt x="0" y="3709289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65200" r="0" b="-65201"/>
              </a:stretch>
            </a:blipFill>
          </p:spPr>
        </p:sp>
      </p:grpSp>
      <p:grpSp>
        <p:nvGrpSpPr>
          <p:cNvPr name="Group 10" id="10"/>
          <p:cNvGrpSpPr/>
          <p:nvPr/>
        </p:nvGrpSpPr>
        <p:grpSpPr>
          <a:xfrm rot="0">
            <a:off x="914400" y="-144437"/>
            <a:ext cx="16459200" cy="2781967"/>
            <a:chOff x="0" y="0"/>
            <a:chExt cx="21945600" cy="3709289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21945600" cy="3709289"/>
            </a:xfrm>
            <a:custGeom>
              <a:avLst/>
              <a:gdLst/>
              <a:ahLst/>
              <a:cxnLst/>
              <a:rect r="r" b="b" t="t" l="l"/>
              <a:pathLst>
                <a:path h="3709289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3709289"/>
                  </a:lnTo>
                  <a:lnTo>
                    <a:pt x="0" y="3709289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l="0" t="-65200" r="0" b="-65201"/>
              </a:stretch>
            </a:blipFill>
          </p:spPr>
        </p:sp>
      </p:grpSp>
      <p:grpSp>
        <p:nvGrpSpPr>
          <p:cNvPr name="Group 12" id="12"/>
          <p:cNvGrpSpPr/>
          <p:nvPr/>
        </p:nvGrpSpPr>
        <p:grpSpPr>
          <a:xfrm rot="0">
            <a:off x="914400" y="-144437"/>
            <a:ext cx="16459200" cy="2781948"/>
            <a:chOff x="0" y="0"/>
            <a:chExt cx="21945600" cy="3709264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21945600" cy="3709289"/>
            </a:xfrm>
            <a:custGeom>
              <a:avLst/>
              <a:gdLst/>
              <a:ahLst/>
              <a:cxnLst/>
              <a:rect r="r" b="b" t="t" l="l"/>
              <a:pathLst>
                <a:path h="3709289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3709289"/>
                  </a:lnTo>
                  <a:lnTo>
                    <a:pt x="0" y="3709289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0" t="-65201" r="0" b="-65200"/>
              </a:stretch>
            </a:blipFill>
          </p:spPr>
        </p:sp>
      </p:grpSp>
      <p:grpSp>
        <p:nvGrpSpPr>
          <p:cNvPr name="Group 14" id="14"/>
          <p:cNvGrpSpPr/>
          <p:nvPr/>
        </p:nvGrpSpPr>
        <p:grpSpPr>
          <a:xfrm rot="0">
            <a:off x="914400" y="-144437"/>
            <a:ext cx="16459200" cy="2781948"/>
            <a:chOff x="0" y="0"/>
            <a:chExt cx="21945600" cy="3709264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21945600" cy="3709264"/>
            </a:xfrm>
            <a:custGeom>
              <a:avLst/>
              <a:gdLst/>
              <a:ahLst/>
              <a:cxnLst/>
              <a:rect r="r" b="b" t="t" l="l"/>
              <a:pathLst>
                <a:path h="3709264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3709264"/>
                  </a:lnTo>
                  <a:lnTo>
                    <a:pt x="0" y="3709264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0" t="-65281" r="0" b="-65281"/>
              </a:stretch>
            </a:blipFill>
          </p:spPr>
        </p:sp>
        <p:sp>
          <p:nvSpPr>
            <p:cNvPr name="TextBox 16" id="16"/>
            <p:cNvSpPr txBox="true"/>
            <p:nvPr/>
          </p:nvSpPr>
          <p:spPr>
            <a:xfrm>
              <a:off x="0" y="0"/>
              <a:ext cx="21945600" cy="370926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560"/>
                </a:lnSpc>
              </a:pPr>
              <a:r>
                <a:rPr lang="en-US" sz="3800" b="true">
                  <a:solidFill>
                    <a:srgbClr val="2E5634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Diagrama de casos de uso</a:t>
              </a: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822960" y="9572625"/>
            <a:ext cx="8229600" cy="440055"/>
            <a:chOff x="0" y="0"/>
            <a:chExt cx="10972800" cy="58674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10972800" cy="586740"/>
            </a:xfrm>
            <a:custGeom>
              <a:avLst/>
              <a:gdLst/>
              <a:ahLst/>
              <a:cxnLst/>
              <a:rect r="r" b="b" t="t" l="l"/>
              <a:pathLst>
                <a:path h="5867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586740"/>
                  </a:lnTo>
                  <a:lnTo>
                    <a:pt x="0" y="5867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314142" r="0" b="-314140"/>
              </a:stretch>
            </a:blipFill>
          </p:spPr>
        </p:sp>
      </p:grpSp>
      <p:grpSp>
        <p:nvGrpSpPr>
          <p:cNvPr name="Group 19" id="19"/>
          <p:cNvGrpSpPr/>
          <p:nvPr/>
        </p:nvGrpSpPr>
        <p:grpSpPr>
          <a:xfrm rot="0">
            <a:off x="822960" y="9544050"/>
            <a:ext cx="8229600" cy="468630"/>
            <a:chOff x="0" y="0"/>
            <a:chExt cx="10972800" cy="624840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10972800" cy="624840"/>
            </a:xfrm>
            <a:custGeom>
              <a:avLst/>
              <a:gdLst/>
              <a:ahLst/>
              <a:cxnLst/>
              <a:rect r="r" b="b" t="t" l="l"/>
              <a:pathLst>
                <a:path h="6248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624840"/>
                  </a:lnTo>
                  <a:lnTo>
                    <a:pt x="0" y="6248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91939" r="0" b="-291936"/>
              </a:stretch>
            </a:blipFill>
          </p:spPr>
        </p:sp>
      </p:grpSp>
      <p:grpSp>
        <p:nvGrpSpPr>
          <p:cNvPr name="Group 21" id="21"/>
          <p:cNvGrpSpPr/>
          <p:nvPr/>
        </p:nvGrpSpPr>
        <p:grpSpPr>
          <a:xfrm rot="0">
            <a:off x="822960" y="9515475"/>
            <a:ext cx="8229600" cy="497205"/>
            <a:chOff x="0" y="0"/>
            <a:chExt cx="10972800" cy="662940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10972800" cy="662940"/>
            </a:xfrm>
            <a:custGeom>
              <a:avLst/>
              <a:gdLst/>
              <a:ahLst/>
              <a:cxnLst/>
              <a:rect r="r" b="b" t="t" l="l"/>
              <a:pathLst>
                <a:path h="6629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662940"/>
                  </a:lnTo>
                  <a:lnTo>
                    <a:pt x="0" y="66294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72287" r="0" b="-272285"/>
              </a:stretch>
            </a:blipFill>
          </p:spPr>
        </p:sp>
      </p:grpSp>
      <p:grpSp>
        <p:nvGrpSpPr>
          <p:cNvPr name="Group 23" id="23"/>
          <p:cNvGrpSpPr/>
          <p:nvPr/>
        </p:nvGrpSpPr>
        <p:grpSpPr>
          <a:xfrm rot="0">
            <a:off x="822960" y="9486900"/>
            <a:ext cx="8229600" cy="525780"/>
            <a:chOff x="0" y="0"/>
            <a:chExt cx="10972800" cy="701040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10972800" cy="701040"/>
            </a:xfrm>
            <a:custGeom>
              <a:avLst/>
              <a:gdLst/>
              <a:ahLst/>
              <a:cxnLst/>
              <a:rect r="r" b="b" t="t" l="l"/>
              <a:pathLst>
                <a:path h="7010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701040"/>
                  </a:lnTo>
                  <a:lnTo>
                    <a:pt x="0" y="701040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254771" r="0" b="-254769"/>
              </a:stretch>
            </a:blipFill>
          </p:spPr>
        </p:sp>
      </p:grpSp>
      <p:grpSp>
        <p:nvGrpSpPr>
          <p:cNvPr name="Group 25" id="25"/>
          <p:cNvGrpSpPr/>
          <p:nvPr/>
        </p:nvGrpSpPr>
        <p:grpSpPr>
          <a:xfrm rot="0">
            <a:off x="822960" y="9458325"/>
            <a:ext cx="8229600" cy="554355"/>
            <a:chOff x="0" y="0"/>
            <a:chExt cx="10972800" cy="739140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10972800" cy="739140"/>
            </a:xfrm>
            <a:custGeom>
              <a:avLst/>
              <a:gdLst/>
              <a:ahLst/>
              <a:cxnLst/>
              <a:rect r="r" b="b" t="t" l="l"/>
              <a:pathLst>
                <a:path h="7391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739140"/>
                  </a:lnTo>
                  <a:lnTo>
                    <a:pt x="0" y="739140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l="0" t="-239061" r="0" b="-239060"/>
              </a:stretch>
            </a:blipFill>
          </p:spPr>
        </p:sp>
      </p:grpSp>
      <p:grpSp>
        <p:nvGrpSpPr>
          <p:cNvPr name="Group 27" id="27"/>
          <p:cNvGrpSpPr/>
          <p:nvPr/>
        </p:nvGrpSpPr>
        <p:grpSpPr>
          <a:xfrm rot="0">
            <a:off x="822960" y="9429750"/>
            <a:ext cx="8229600" cy="582930"/>
            <a:chOff x="0" y="0"/>
            <a:chExt cx="10972800" cy="777240"/>
          </a:xfrm>
        </p:grpSpPr>
        <p:sp>
          <p:nvSpPr>
            <p:cNvPr name="Freeform 28" id="28"/>
            <p:cNvSpPr/>
            <p:nvPr/>
          </p:nvSpPr>
          <p:spPr>
            <a:xfrm flipH="false" flipV="false" rot="0">
              <a:off x="0" y="0"/>
              <a:ext cx="10972800" cy="777240"/>
            </a:xfrm>
            <a:custGeom>
              <a:avLst/>
              <a:gdLst/>
              <a:ahLst/>
              <a:cxnLst/>
              <a:rect r="r" b="b" t="t" l="l"/>
              <a:pathLst>
                <a:path h="7772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777240"/>
                  </a:lnTo>
                  <a:lnTo>
                    <a:pt x="0" y="777240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0" t="-224892" r="0" b="-224890"/>
              </a:stretch>
            </a:blipFill>
          </p:spPr>
        </p:sp>
      </p:grpSp>
      <p:grpSp>
        <p:nvGrpSpPr>
          <p:cNvPr name="Group 29" id="29"/>
          <p:cNvGrpSpPr/>
          <p:nvPr/>
        </p:nvGrpSpPr>
        <p:grpSpPr>
          <a:xfrm rot="0">
            <a:off x="822960" y="9401175"/>
            <a:ext cx="8229600" cy="611505"/>
            <a:chOff x="0" y="0"/>
            <a:chExt cx="10972800" cy="815340"/>
          </a:xfrm>
        </p:grpSpPr>
        <p:sp>
          <p:nvSpPr>
            <p:cNvPr name="Freeform 30" id="30"/>
            <p:cNvSpPr/>
            <p:nvPr/>
          </p:nvSpPr>
          <p:spPr>
            <a:xfrm flipH="false" flipV="false" rot="0">
              <a:off x="0" y="0"/>
              <a:ext cx="10972800" cy="815340"/>
            </a:xfrm>
            <a:custGeom>
              <a:avLst/>
              <a:gdLst/>
              <a:ahLst/>
              <a:cxnLst/>
              <a:rect r="r" b="b" t="t" l="l"/>
              <a:pathLst>
                <a:path h="8153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815340"/>
                  </a:lnTo>
                  <a:lnTo>
                    <a:pt x="0" y="815340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0" t="-212228" r="0" b="-212228"/>
              </a:stretch>
            </a:blipFill>
          </p:spPr>
        </p:sp>
        <p:sp>
          <p:nvSpPr>
            <p:cNvPr name="TextBox 31" id="31"/>
            <p:cNvSpPr txBox="true"/>
            <p:nvPr/>
          </p:nvSpPr>
          <p:spPr>
            <a:xfrm>
              <a:off x="0" y="-38100"/>
              <a:ext cx="10972800" cy="8534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6B728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WeFIND  |  TCC  |  IFSul Campus Pelotas</a:t>
              </a:r>
            </a:p>
          </p:txBody>
        </p:sp>
      </p:grpSp>
      <p:sp>
        <p:nvSpPr>
          <p:cNvPr name="TextBox 32" id="32"/>
          <p:cNvSpPr txBox="true"/>
          <p:nvPr/>
        </p:nvSpPr>
        <p:spPr>
          <a:xfrm rot="0">
            <a:off x="914400" y="245364"/>
            <a:ext cx="6858000" cy="6324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00"/>
              </a:lnSpc>
            </a:pPr>
            <a:r>
              <a:rPr lang="en-US" b="true" sz="2000" spc="400">
                <a:solidFill>
                  <a:srgbClr val="B1734A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03  REQUISITOS E MODELAGEM</a:t>
            </a:r>
          </a:p>
        </p:txBody>
      </p:sp>
      <p:sp>
        <p:nvSpPr>
          <p:cNvPr name="TextBox 33" id="33"/>
          <p:cNvSpPr txBox="true"/>
          <p:nvPr/>
        </p:nvSpPr>
        <p:spPr>
          <a:xfrm rot="0">
            <a:off x="822960" y="2508885"/>
            <a:ext cx="6172200" cy="6153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7"/>
              </a:lnSpc>
            </a:pPr>
            <a:r>
              <a:rPr lang="en-US" sz="2799" b="true">
                <a:solidFill>
                  <a:srgbClr val="B1734A"/>
                </a:solidFill>
                <a:latin typeface="Cambria Bold"/>
                <a:ea typeface="Cambria Bold"/>
                <a:cs typeface="Cambria Bold"/>
                <a:sym typeface="Cambria Bold"/>
              </a:rPr>
              <a:t>Usuário visitante</a:t>
            </a:r>
          </a:p>
        </p:txBody>
      </p:sp>
      <p:sp>
        <p:nvSpPr>
          <p:cNvPr name="TextBox 34" id="34"/>
          <p:cNvSpPr txBox="true"/>
          <p:nvPr/>
        </p:nvSpPr>
        <p:spPr>
          <a:xfrm rot="0">
            <a:off x="822960" y="2790825"/>
            <a:ext cx="6172200" cy="2527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60"/>
              </a:lnSpc>
            </a:pPr>
            <a:r>
              <a:rPr lang="en-US" sz="2300">
                <a:solidFill>
                  <a:srgbClr val="1B2A1F"/>
                </a:solidFill>
                <a:latin typeface="Calibri (MS)"/>
                <a:ea typeface="Calibri (MS)"/>
                <a:cs typeface="Calibri (MS)"/>
                <a:sym typeface="Calibri (MS)"/>
              </a:rPr>
              <a:t>Consulta publicações, mapa e detalhes; cria conta e entra.</a:t>
            </a:r>
          </a:p>
        </p:txBody>
      </p:sp>
      <p:sp>
        <p:nvSpPr>
          <p:cNvPr name="TextBox 35" id="35"/>
          <p:cNvSpPr txBox="true"/>
          <p:nvPr/>
        </p:nvSpPr>
        <p:spPr>
          <a:xfrm rot="0">
            <a:off x="822960" y="4337685"/>
            <a:ext cx="6172200" cy="6153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7"/>
              </a:lnSpc>
            </a:pPr>
            <a:r>
              <a:rPr lang="en-US" sz="2799" b="true">
                <a:solidFill>
                  <a:srgbClr val="B1734A"/>
                </a:solidFill>
                <a:latin typeface="Cambria Bold"/>
                <a:ea typeface="Cambria Bold"/>
                <a:cs typeface="Cambria Bold"/>
                <a:sym typeface="Cambria Bold"/>
              </a:rPr>
              <a:t>Usuário autenticado</a:t>
            </a:r>
          </a:p>
        </p:txBody>
      </p:sp>
      <p:sp>
        <p:nvSpPr>
          <p:cNvPr name="TextBox 36" id="36"/>
          <p:cNvSpPr txBox="true"/>
          <p:nvPr/>
        </p:nvSpPr>
        <p:spPr>
          <a:xfrm rot="0">
            <a:off x="822960" y="4619625"/>
            <a:ext cx="6172200" cy="12668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60"/>
              </a:lnSpc>
            </a:pPr>
            <a:r>
              <a:rPr lang="en-US" sz="2300">
                <a:solidFill>
                  <a:srgbClr val="1B2A1F"/>
                </a:solidFill>
                <a:latin typeface="Calibri (MS)"/>
                <a:ea typeface="Calibri (MS)"/>
                <a:cs typeface="Calibri (MS)"/>
                <a:sym typeface="Calibri (MS)"/>
              </a:rPr>
              <a:t>Herda do visitante. Publica (com recompensa ou de forma anônima), registra avistamentos, conversa, cadastra seus pets, pede ou analisa a tutela, combina o encontro e classifica membros.</a:t>
            </a:r>
          </a:p>
        </p:txBody>
      </p:sp>
      <p:sp>
        <p:nvSpPr>
          <p:cNvPr name="TextBox 37" id="37"/>
          <p:cNvSpPr txBox="true"/>
          <p:nvPr/>
        </p:nvSpPr>
        <p:spPr>
          <a:xfrm rot="0">
            <a:off x="822960" y="7080885"/>
            <a:ext cx="6172200" cy="6153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7"/>
              </a:lnSpc>
            </a:pPr>
            <a:r>
              <a:rPr lang="en-US" sz="2799" b="true">
                <a:solidFill>
                  <a:srgbClr val="B1734A"/>
                </a:solidFill>
                <a:latin typeface="Cambria Bold"/>
                <a:ea typeface="Cambria Bold"/>
                <a:cs typeface="Cambria Bold"/>
                <a:sym typeface="Cambria Bold"/>
              </a:rPr>
              <a:t>Administrador</a:t>
            </a:r>
          </a:p>
        </p:txBody>
      </p:sp>
      <p:sp>
        <p:nvSpPr>
          <p:cNvPr name="TextBox 38" id="38"/>
          <p:cNvSpPr txBox="true"/>
          <p:nvPr/>
        </p:nvSpPr>
        <p:spPr>
          <a:xfrm rot="0">
            <a:off x="822960" y="7362825"/>
            <a:ext cx="6172200" cy="2527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60"/>
              </a:lnSpc>
            </a:pPr>
            <a:r>
              <a:rPr lang="en-US" sz="2300">
                <a:solidFill>
                  <a:srgbClr val="1B2A1F"/>
                </a:solidFill>
                <a:latin typeface="Calibri (MS)"/>
                <a:ea typeface="Calibri (MS)"/>
                <a:cs typeface="Calibri (MS)"/>
                <a:sym typeface="Calibri (MS)"/>
              </a:rPr>
              <a:t>Herda do usuário autenticado. Analisa denúncias e modera conteúdo.</a:t>
            </a:r>
          </a:p>
        </p:txBody>
      </p:sp>
      <p:sp>
        <p:nvSpPr>
          <p:cNvPr name="TextBox 39" id="39"/>
          <p:cNvSpPr txBox="true"/>
          <p:nvPr/>
        </p:nvSpPr>
        <p:spPr>
          <a:xfrm rot="0">
            <a:off x="16459200" y="9471660"/>
            <a:ext cx="914400" cy="3810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400"/>
              </a:lnSpc>
            </a:pPr>
            <a:r>
              <a:rPr lang="en-US" sz="2000">
                <a:solidFill>
                  <a:srgbClr val="5B6B5F"/>
                </a:solidFill>
                <a:latin typeface="Calibri (MS)"/>
                <a:ea typeface="Calibri (MS)"/>
                <a:cs typeface="Calibri (MS)"/>
                <a:sym typeface="Calibri (MS)"/>
              </a:rPr>
              <a:t>17</a:t>
            </a:r>
          </a:p>
        </p:txBody>
      </p:sp>
      <p:grpSp>
        <p:nvGrpSpPr>
          <p:cNvPr name="Group 40" id="40"/>
          <p:cNvGrpSpPr/>
          <p:nvPr/>
        </p:nvGrpSpPr>
        <p:grpSpPr>
          <a:xfrm rot="0">
            <a:off x="7835877" y="32265"/>
            <a:ext cx="9147198" cy="10254735"/>
            <a:chOff x="0" y="0"/>
            <a:chExt cx="12406376" cy="13908532"/>
          </a:xfrm>
        </p:grpSpPr>
        <p:sp>
          <p:nvSpPr>
            <p:cNvPr name="Freeform 41" id="41"/>
            <p:cNvSpPr/>
            <p:nvPr/>
          </p:nvSpPr>
          <p:spPr>
            <a:xfrm flipH="false" flipV="false" rot="0">
              <a:off x="0" y="0"/>
              <a:ext cx="12406376" cy="13908532"/>
            </a:xfrm>
            <a:custGeom>
              <a:avLst/>
              <a:gdLst/>
              <a:ahLst/>
              <a:cxnLst/>
              <a:rect r="r" b="b" t="t" l="l"/>
              <a:pathLst>
                <a:path h="13908532" w="12406376">
                  <a:moveTo>
                    <a:pt x="0" y="0"/>
                  </a:moveTo>
                  <a:lnTo>
                    <a:pt x="12406376" y="0"/>
                  </a:lnTo>
                  <a:lnTo>
                    <a:pt x="12406376" y="13908532"/>
                  </a:lnTo>
                  <a:lnTo>
                    <a:pt x="0" y="1390853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>
                <a:fillRect l="-18" t="0" r="-18" b="0"/>
              </a:stretch>
            </a:blipFill>
          </p:spPr>
        </p:sp>
      </p:grpSp>
    </p:spTree>
  </p:cSld>
  <p:clrMapOvr>
    <a:masterClrMapping/>
  </p:clrMapOvr>
</p:sld>
</file>

<file path=ppt/slides/slide1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822960" y="9572625"/>
            <a:ext cx="8229600" cy="440055"/>
            <a:chOff x="0" y="0"/>
            <a:chExt cx="10972800" cy="58674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0972800" cy="586740"/>
            </a:xfrm>
            <a:custGeom>
              <a:avLst/>
              <a:gdLst/>
              <a:ahLst/>
              <a:cxnLst/>
              <a:rect r="r" b="b" t="t" l="l"/>
              <a:pathLst>
                <a:path h="5867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586740"/>
                  </a:lnTo>
                  <a:lnTo>
                    <a:pt x="0" y="5867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314142" r="0" b="-314140"/>
              </a:stretch>
            </a:blipFill>
          </p:spPr>
        </p:sp>
      </p:grpSp>
      <p:grpSp>
        <p:nvGrpSpPr>
          <p:cNvPr name="Group 4" id="4"/>
          <p:cNvGrpSpPr/>
          <p:nvPr/>
        </p:nvGrpSpPr>
        <p:grpSpPr>
          <a:xfrm rot="0">
            <a:off x="822960" y="9544050"/>
            <a:ext cx="8229600" cy="468630"/>
            <a:chOff x="0" y="0"/>
            <a:chExt cx="10972800" cy="62484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0972800" cy="624840"/>
            </a:xfrm>
            <a:custGeom>
              <a:avLst/>
              <a:gdLst/>
              <a:ahLst/>
              <a:cxnLst/>
              <a:rect r="r" b="b" t="t" l="l"/>
              <a:pathLst>
                <a:path h="6248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624840"/>
                  </a:lnTo>
                  <a:lnTo>
                    <a:pt x="0" y="6248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91939" r="0" b="-291936"/>
              </a:stretch>
            </a:blipFill>
          </p:spPr>
        </p:sp>
      </p:grpSp>
      <p:grpSp>
        <p:nvGrpSpPr>
          <p:cNvPr name="Group 6" id="6"/>
          <p:cNvGrpSpPr/>
          <p:nvPr/>
        </p:nvGrpSpPr>
        <p:grpSpPr>
          <a:xfrm rot="0">
            <a:off x="822960" y="9515475"/>
            <a:ext cx="8229600" cy="497205"/>
            <a:chOff x="0" y="0"/>
            <a:chExt cx="10972800" cy="66294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10972800" cy="662940"/>
            </a:xfrm>
            <a:custGeom>
              <a:avLst/>
              <a:gdLst/>
              <a:ahLst/>
              <a:cxnLst/>
              <a:rect r="r" b="b" t="t" l="l"/>
              <a:pathLst>
                <a:path h="6629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662940"/>
                  </a:lnTo>
                  <a:lnTo>
                    <a:pt x="0" y="66294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72287" r="0" b="-272285"/>
              </a:stretch>
            </a:blipFill>
          </p:spPr>
        </p:sp>
      </p:grpSp>
      <p:grpSp>
        <p:nvGrpSpPr>
          <p:cNvPr name="Group 8" id="8"/>
          <p:cNvGrpSpPr/>
          <p:nvPr/>
        </p:nvGrpSpPr>
        <p:grpSpPr>
          <a:xfrm rot="0">
            <a:off x="822960" y="9486900"/>
            <a:ext cx="8229600" cy="525780"/>
            <a:chOff x="0" y="0"/>
            <a:chExt cx="10972800" cy="70104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0972800" cy="701040"/>
            </a:xfrm>
            <a:custGeom>
              <a:avLst/>
              <a:gdLst/>
              <a:ahLst/>
              <a:cxnLst/>
              <a:rect r="r" b="b" t="t" l="l"/>
              <a:pathLst>
                <a:path h="7010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701040"/>
                  </a:lnTo>
                  <a:lnTo>
                    <a:pt x="0" y="701040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254771" r="0" b="-254769"/>
              </a:stretch>
            </a:blipFill>
          </p:spPr>
        </p:sp>
      </p:grpSp>
      <p:grpSp>
        <p:nvGrpSpPr>
          <p:cNvPr name="Group 10" id="10"/>
          <p:cNvGrpSpPr/>
          <p:nvPr/>
        </p:nvGrpSpPr>
        <p:grpSpPr>
          <a:xfrm rot="0">
            <a:off x="822960" y="9458325"/>
            <a:ext cx="8229600" cy="554355"/>
            <a:chOff x="0" y="0"/>
            <a:chExt cx="10972800" cy="73914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0972800" cy="739140"/>
            </a:xfrm>
            <a:custGeom>
              <a:avLst/>
              <a:gdLst/>
              <a:ahLst/>
              <a:cxnLst/>
              <a:rect r="r" b="b" t="t" l="l"/>
              <a:pathLst>
                <a:path h="7391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739140"/>
                  </a:lnTo>
                  <a:lnTo>
                    <a:pt x="0" y="739140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l="0" t="-239061" r="0" b="-239060"/>
              </a:stretch>
            </a:blipFill>
          </p:spPr>
        </p:sp>
      </p:grpSp>
      <p:grpSp>
        <p:nvGrpSpPr>
          <p:cNvPr name="Group 12" id="12"/>
          <p:cNvGrpSpPr/>
          <p:nvPr/>
        </p:nvGrpSpPr>
        <p:grpSpPr>
          <a:xfrm rot="0">
            <a:off x="822960" y="9429750"/>
            <a:ext cx="8229600" cy="582930"/>
            <a:chOff x="0" y="0"/>
            <a:chExt cx="10972800" cy="77724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10972800" cy="777240"/>
            </a:xfrm>
            <a:custGeom>
              <a:avLst/>
              <a:gdLst/>
              <a:ahLst/>
              <a:cxnLst/>
              <a:rect r="r" b="b" t="t" l="l"/>
              <a:pathLst>
                <a:path h="7772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777240"/>
                  </a:lnTo>
                  <a:lnTo>
                    <a:pt x="0" y="777240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0" t="-224892" r="0" b="-224890"/>
              </a:stretch>
            </a:blipFill>
          </p:spPr>
        </p:sp>
      </p:grpSp>
      <p:grpSp>
        <p:nvGrpSpPr>
          <p:cNvPr name="Group 14" id="14"/>
          <p:cNvGrpSpPr/>
          <p:nvPr/>
        </p:nvGrpSpPr>
        <p:grpSpPr>
          <a:xfrm rot="0">
            <a:off x="822960" y="9401175"/>
            <a:ext cx="8229600" cy="611505"/>
            <a:chOff x="0" y="0"/>
            <a:chExt cx="10972800" cy="81534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10972800" cy="815340"/>
            </a:xfrm>
            <a:custGeom>
              <a:avLst/>
              <a:gdLst/>
              <a:ahLst/>
              <a:cxnLst/>
              <a:rect r="r" b="b" t="t" l="l"/>
              <a:pathLst>
                <a:path h="8153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815340"/>
                  </a:lnTo>
                  <a:lnTo>
                    <a:pt x="0" y="815340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0" t="-212046" r="0" b="-212045"/>
              </a:stretch>
            </a:blipFill>
          </p:spPr>
        </p:sp>
      </p:grpSp>
      <p:grpSp>
        <p:nvGrpSpPr>
          <p:cNvPr name="Group 16" id="16"/>
          <p:cNvGrpSpPr/>
          <p:nvPr/>
        </p:nvGrpSpPr>
        <p:grpSpPr>
          <a:xfrm rot="0">
            <a:off x="822960" y="9372600"/>
            <a:ext cx="8229600" cy="640080"/>
            <a:chOff x="0" y="0"/>
            <a:chExt cx="10972800" cy="85344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10972800" cy="853440"/>
            </a:xfrm>
            <a:custGeom>
              <a:avLst/>
              <a:gdLst/>
              <a:ahLst/>
              <a:cxnLst/>
              <a:rect r="r" b="b" t="t" l="l"/>
              <a:pathLst>
                <a:path h="8534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853440"/>
                  </a:lnTo>
                  <a:lnTo>
                    <a:pt x="0" y="853440"/>
                  </a:lnTo>
                  <a:close/>
                </a:path>
              </a:pathLst>
            </a:custGeom>
            <a:blipFill>
              <a:blip r:embed="rId9">
                <a:alphaModFix amt="0"/>
              </a:blip>
              <a:stretch>
                <a:fillRect l="0" t="-200521" r="0" b="-200521"/>
              </a:stretch>
            </a:blipFill>
          </p:spPr>
        </p:sp>
        <p:sp>
          <p:nvSpPr>
            <p:cNvPr name="TextBox 18" id="18"/>
            <p:cNvSpPr txBox="true"/>
            <p:nvPr/>
          </p:nvSpPr>
          <p:spPr>
            <a:xfrm>
              <a:off x="0" y="-38100"/>
              <a:ext cx="10972800" cy="8915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6B728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WeFIND  |  TCC  |  IFSul Campus Pelotas</a:t>
              </a:r>
            </a:p>
          </p:txBody>
        </p:sp>
      </p:grpSp>
      <p:grpSp>
        <p:nvGrpSpPr>
          <p:cNvPr name="Group 19" id="19"/>
          <p:cNvGrpSpPr/>
          <p:nvPr/>
        </p:nvGrpSpPr>
        <p:grpSpPr>
          <a:xfrm rot="0">
            <a:off x="7125953" y="695188"/>
            <a:ext cx="10247676" cy="9591812"/>
            <a:chOff x="0" y="0"/>
            <a:chExt cx="14662277" cy="13723874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14662277" cy="13723874"/>
            </a:xfrm>
            <a:custGeom>
              <a:avLst/>
              <a:gdLst/>
              <a:ahLst/>
              <a:cxnLst/>
              <a:rect r="r" b="b" t="t" l="l"/>
              <a:pathLst>
                <a:path h="13723874" w="14662277">
                  <a:moveTo>
                    <a:pt x="0" y="0"/>
                  </a:moveTo>
                  <a:lnTo>
                    <a:pt x="14662277" y="0"/>
                  </a:lnTo>
                  <a:lnTo>
                    <a:pt x="14662277" y="13723874"/>
                  </a:lnTo>
                  <a:lnTo>
                    <a:pt x="0" y="1372387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>
                <a:fillRect l="0" t="-80" r="0" b="-80"/>
              </a:stretch>
            </a:blipFill>
          </p:spPr>
        </p:sp>
      </p:grpSp>
      <p:sp>
        <p:nvSpPr>
          <p:cNvPr name="TextBox 21" id="21"/>
          <p:cNvSpPr txBox="true"/>
          <p:nvPr/>
        </p:nvSpPr>
        <p:spPr>
          <a:xfrm rot="0">
            <a:off x="914400" y="207264"/>
            <a:ext cx="6858000" cy="6705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00"/>
              </a:lnSpc>
            </a:pPr>
            <a:r>
              <a:rPr lang="en-US" b="true" sz="2000" spc="400">
                <a:solidFill>
                  <a:srgbClr val="B1734A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03  REQUISITOS E MODELAGEM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914400" y="914400"/>
            <a:ext cx="6035040" cy="12801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560"/>
              </a:lnSpc>
            </a:pPr>
            <a:r>
              <a:rPr lang="en-US" sz="3800" b="true">
                <a:solidFill>
                  <a:srgbClr val="2E5634"/>
                </a:solidFill>
                <a:latin typeface="Cambria Bold"/>
                <a:ea typeface="Cambria Bold"/>
                <a:cs typeface="Cambria Bold"/>
                <a:sym typeface="Cambria Bold"/>
              </a:rPr>
              <a:t>Diagrama de classes de domínio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914400" y="2072640"/>
            <a:ext cx="6035040" cy="70713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78"/>
              </a:lnSpc>
            </a:pPr>
            <a:r>
              <a:rPr lang="en-US" sz="2400" b="true">
                <a:solidFill>
                  <a:srgbClr val="2E5634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Usuario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914400" y="2474976"/>
            <a:ext cx="6035040" cy="10363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00"/>
              </a:lnSpc>
            </a:pPr>
            <a:r>
              <a:rPr lang="en-US" sz="2000">
                <a:solidFill>
                  <a:srgbClr val="1B2A1F"/>
                </a:solidFill>
                <a:latin typeface="Calibri (MS)"/>
                <a:ea typeface="Calibri (MS)"/>
                <a:cs typeface="Calibri (MS)"/>
                <a:sym typeface="Calibri (MS)"/>
              </a:rPr>
              <a:t>Conta, perfil e animais (AnimalEstimacao)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914400" y="3261360"/>
            <a:ext cx="6035040" cy="70713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78"/>
              </a:lnSpc>
            </a:pPr>
            <a:r>
              <a:rPr lang="en-US" sz="2400" b="true">
                <a:solidFill>
                  <a:srgbClr val="2E5634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Publicacao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914400" y="3663696"/>
            <a:ext cx="6035040" cy="10363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00"/>
              </a:lnSpc>
            </a:pPr>
            <a:r>
              <a:rPr lang="en-US" sz="2000">
                <a:solidFill>
                  <a:srgbClr val="1B2A1F"/>
                </a:solidFill>
                <a:latin typeface="Calibri (MS)"/>
                <a:ea typeface="Calibri (MS)"/>
                <a:cs typeface="Calibri (MS)"/>
                <a:sym typeface="Calibri (MS)"/>
              </a:rPr>
              <a:t>FotoPublicacao e Recompensa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914400" y="4450080"/>
            <a:ext cx="6035040" cy="70713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78"/>
              </a:lnSpc>
            </a:pPr>
            <a:r>
              <a:rPr lang="en-US" sz="2400" b="true">
                <a:solidFill>
                  <a:srgbClr val="2E5634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Avistamento</a:t>
            </a:r>
          </a:p>
        </p:txBody>
      </p:sp>
      <p:sp>
        <p:nvSpPr>
          <p:cNvPr name="TextBox 28" id="28"/>
          <p:cNvSpPr txBox="true"/>
          <p:nvPr/>
        </p:nvSpPr>
        <p:spPr>
          <a:xfrm rot="0">
            <a:off x="914400" y="4852416"/>
            <a:ext cx="6035040" cy="10363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00"/>
              </a:lnSpc>
            </a:pPr>
            <a:r>
              <a:rPr lang="en-US" sz="2000">
                <a:solidFill>
                  <a:srgbClr val="1B2A1F"/>
                </a:solidFill>
                <a:latin typeface="Calibri (MS)"/>
                <a:ea typeface="Calibri (MS)"/>
                <a:cs typeface="Calibri (MS)"/>
                <a:sym typeface="Calibri (MS)"/>
              </a:rPr>
              <a:t>Relato com local, hora e foto</a:t>
            </a:r>
          </a:p>
        </p:txBody>
      </p:sp>
      <p:sp>
        <p:nvSpPr>
          <p:cNvPr name="TextBox 29" id="29"/>
          <p:cNvSpPr txBox="true"/>
          <p:nvPr/>
        </p:nvSpPr>
        <p:spPr>
          <a:xfrm rot="0">
            <a:off x="914400" y="5638800"/>
            <a:ext cx="6035040" cy="70713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78"/>
              </a:lnSpc>
            </a:pPr>
            <a:r>
              <a:rPr lang="en-US" sz="2400" b="true">
                <a:solidFill>
                  <a:srgbClr val="2E5634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Conversa e Mensagem</a:t>
            </a:r>
          </a:p>
        </p:txBody>
      </p:sp>
      <p:sp>
        <p:nvSpPr>
          <p:cNvPr name="TextBox 30" id="30"/>
          <p:cNvSpPr txBox="true"/>
          <p:nvPr/>
        </p:nvSpPr>
        <p:spPr>
          <a:xfrm rot="0">
            <a:off x="914400" y="6041136"/>
            <a:ext cx="6035040" cy="10363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00"/>
              </a:lnSpc>
            </a:pPr>
            <a:r>
              <a:rPr lang="en-US" sz="2000">
                <a:solidFill>
                  <a:srgbClr val="1B2A1F"/>
                </a:solidFill>
                <a:latin typeface="Calibri (MS)"/>
                <a:ea typeface="Calibri (MS)"/>
                <a:cs typeface="Calibri (MS)"/>
                <a:sym typeface="Calibri (MS)"/>
              </a:rPr>
              <a:t>Chat privado e Notificacao</a:t>
            </a:r>
          </a:p>
        </p:txBody>
      </p:sp>
      <p:sp>
        <p:nvSpPr>
          <p:cNvPr name="TextBox 31" id="31"/>
          <p:cNvSpPr txBox="true"/>
          <p:nvPr/>
        </p:nvSpPr>
        <p:spPr>
          <a:xfrm rot="0">
            <a:off x="914400" y="6827520"/>
            <a:ext cx="6035040" cy="70713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78"/>
              </a:lnSpc>
            </a:pPr>
            <a:r>
              <a:rPr lang="en-US" sz="2400" b="true">
                <a:solidFill>
                  <a:srgbClr val="2E5634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Reencontro e prevenção</a:t>
            </a:r>
          </a:p>
        </p:txBody>
      </p:sp>
      <p:sp>
        <p:nvSpPr>
          <p:cNvPr name="TextBox 32" id="32"/>
          <p:cNvSpPr txBox="true"/>
          <p:nvPr/>
        </p:nvSpPr>
        <p:spPr>
          <a:xfrm rot="0">
            <a:off x="914400" y="7229856"/>
            <a:ext cx="6035040" cy="10363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00"/>
              </a:lnSpc>
            </a:pPr>
            <a:r>
              <a:rPr lang="en-US" sz="2000">
                <a:solidFill>
                  <a:srgbClr val="1B2A1F"/>
                </a:solidFill>
                <a:latin typeface="Calibri (MS)"/>
                <a:ea typeface="Calibri (MS)"/>
                <a:cs typeface="Calibri (MS)"/>
                <a:sym typeface="Calibri (MS)"/>
              </a:rPr>
              <a:t>SolicitacaoDevolucao e EncontroDevolucao</a:t>
            </a:r>
          </a:p>
        </p:txBody>
      </p:sp>
      <p:sp>
        <p:nvSpPr>
          <p:cNvPr name="TextBox 33" id="33"/>
          <p:cNvSpPr txBox="true"/>
          <p:nvPr/>
        </p:nvSpPr>
        <p:spPr>
          <a:xfrm rot="0">
            <a:off x="914400" y="8016240"/>
            <a:ext cx="6035040" cy="70713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78"/>
              </a:lnSpc>
            </a:pPr>
            <a:r>
              <a:rPr lang="en-US" sz="2400" b="true">
                <a:solidFill>
                  <a:srgbClr val="2E5634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Denuncia e Classificacao</a:t>
            </a:r>
          </a:p>
        </p:txBody>
      </p:sp>
      <p:sp>
        <p:nvSpPr>
          <p:cNvPr name="TextBox 34" id="34"/>
          <p:cNvSpPr txBox="true"/>
          <p:nvPr/>
        </p:nvSpPr>
        <p:spPr>
          <a:xfrm rot="0">
            <a:off x="914400" y="8418576"/>
            <a:ext cx="6035040" cy="10363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00"/>
              </a:lnSpc>
            </a:pPr>
            <a:r>
              <a:rPr lang="en-US" sz="2000">
                <a:solidFill>
                  <a:srgbClr val="1B2A1F"/>
                </a:solidFill>
                <a:latin typeface="Calibri (MS)"/>
                <a:ea typeface="Calibri (MS)"/>
                <a:cs typeface="Calibri (MS)"/>
                <a:sym typeface="Calibri (MS)"/>
              </a:rPr>
              <a:t>Moderação e notas entre membros</a:t>
            </a:r>
          </a:p>
        </p:txBody>
      </p:sp>
      <p:sp>
        <p:nvSpPr>
          <p:cNvPr name="TextBox 35" id="35"/>
          <p:cNvSpPr txBox="true"/>
          <p:nvPr/>
        </p:nvSpPr>
        <p:spPr>
          <a:xfrm rot="0">
            <a:off x="16459200" y="9433560"/>
            <a:ext cx="914400" cy="3810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400"/>
              </a:lnSpc>
            </a:pPr>
            <a:r>
              <a:rPr lang="en-US" sz="2000">
                <a:solidFill>
                  <a:srgbClr val="5B6B5F"/>
                </a:solidFill>
                <a:latin typeface="Calibri (MS)"/>
                <a:ea typeface="Calibri (MS)"/>
                <a:cs typeface="Calibri (MS)"/>
                <a:sym typeface="Calibri (MS)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p="http://schemas.openxmlformats.org/presentationml/2006/main" xmlns:a="http://schemas.openxmlformats.org/drawingml/2006/main">
  <p:cSld>
    <p:bg>
      <p:bgPr>
        <a:solidFill>
          <a:srgbClr val="2E56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463040" y="2274570"/>
            <a:ext cx="9144000" cy="78574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38"/>
              </a:lnSpc>
            </a:pPr>
            <a:r>
              <a:rPr lang="en-US" b="true" sz="2199" spc="599">
                <a:solidFill>
                  <a:srgbClr val="E3B58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A SEGUIR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1463040" y="2960370"/>
            <a:ext cx="6400800" cy="24571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00"/>
              </a:lnSpc>
            </a:pPr>
            <a:r>
              <a:rPr lang="en-US" sz="15000" b="true">
                <a:solidFill>
                  <a:srgbClr val="E3B58F"/>
                </a:solidFill>
                <a:latin typeface="Cambria Bold"/>
                <a:ea typeface="Cambria Bold"/>
                <a:cs typeface="Cambria Bold"/>
                <a:sym typeface="Cambria Bold"/>
              </a:rPr>
              <a:t>04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463040" y="5463540"/>
            <a:ext cx="15544800" cy="121430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920"/>
              </a:lnSpc>
            </a:pPr>
            <a:r>
              <a:rPr lang="en-US" sz="6600" b="true">
                <a:solidFill>
                  <a:srgbClr val="FFFFFF"/>
                </a:solidFill>
                <a:latin typeface="Cambria Bold"/>
                <a:ea typeface="Cambria Bold"/>
                <a:cs typeface="Cambria Bold"/>
                <a:sym typeface="Cambria Bold"/>
              </a:rPr>
              <a:t>Solução desenvolvida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463040" y="6366510"/>
            <a:ext cx="15544800" cy="48600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7"/>
              </a:lnSpc>
            </a:pPr>
            <a:r>
              <a:rPr lang="en-US" sz="2799">
                <a:solidFill>
                  <a:srgbClr val="C9D8CB"/>
                </a:solidFill>
                <a:latin typeface="Calibri (MS)"/>
                <a:ea typeface="Calibri (MS)"/>
                <a:cs typeface="Calibri (MS)"/>
                <a:sym typeface="Calibri (MS)"/>
              </a:rPr>
              <a:t>Arquitetura, funcionalidades, design e demonstração</a:t>
            </a:r>
          </a:p>
        </p:txBody>
      </p:sp>
      <p:grpSp>
        <p:nvGrpSpPr>
          <p:cNvPr name="Group 6" id="6"/>
          <p:cNvGrpSpPr/>
          <p:nvPr/>
        </p:nvGrpSpPr>
        <p:grpSpPr>
          <a:xfrm rot="0">
            <a:off x="1463040" y="8869680"/>
            <a:ext cx="1645920" cy="91440"/>
            <a:chOff x="0" y="0"/>
            <a:chExt cx="2194560" cy="12192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194560" cy="121920"/>
            </a:xfrm>
            <a:custGeom>
              <a:avLst/>
              <a:gdLst/>
              <a:ahLst/>
              <a:cxnLst/>
              <a:rect r="r" b="b" t="t" l="l"/>
              <a:pathLst>
                <a:path h="121920" w="2194560">
                  <a:moveTo>
                    <a:pt x="0" y="60960"/>
                  </a:moveTo>
                  <a:cubicBezTo>
                    <a:pt x="0" y="27305"/>
                    <a:pt x="27305" y="0"/>
                    <a:pt x="60960" y="0"/>
                  </a:cubicBezTo>
                  <a:lnTo>
                    <a:pt x="2133600" y="0"/>
                  </a:lnTo>
                  <a:cubicBezTo>
                    <a:pt x="2167255" y="0"/>
                    <a:pt x="2194560" y="27305"/>
                    <a:pt x="2194560" y="60960"/>
                  </a:cubicBezTo>
                  <a:cubicBezTo>
                    <a:pt x="2194560" y="94615"/>
                    <a:pt x="2167255" y="121920"/>
                    <a:pt x="2133600" y="121920"/>
                  </a:cubicBezTo>
                  <a:lnTo>
                    <a:pt x="60960" y="121920"/>
                  </a:lnTo>
                  <a:cubicBezTo>
                    <a:pt x="27305" y="121920"/>
                    <a:pt x="0" y="94615"/>
                    <a:pt x="0" y="60960"/>
                  </a:cubicBezTo>
                  <a:close/>
                </a:path>
              </a:pathLst>
            </a:custGeom>
            <a:solidFill>
              <a:srgbClr val="C9D8CB"/>
            </a:solidFill>
          </p:spPr>
        </p:sp>
      </p:grpSp>
      <p:sp>
        <p:nvSpPr>
          <p:cNvPr name="TextBox 8" id="8"/>
          <p:cNvSpPr txBox="true"/>
          <p:nvPr/>
        </p:nvSpPr>
        <p:spPr>
          <a:xfrm rot="0">
            <a:off x="1463040" y="8999220"/>
            <a:ext cx="1645920" cy="57145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19"/>
              </a:lnSpc>
            </a:pPr>
            <a:r>
              <a:rPr lang="en-US" sz="1599" b="true">
                <a:solidFill>
                  <a:srgbClr val="C9D8CB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01</a:t>
            </a:r>
          </a:p>
        </p:txBody>
      </p:sp>
      <p:grpSp>
        <p:nvGrpSpPr>
          <p:cNvPr name="Group 9" id="9"/>
          <p:cNvGrpSpPr/>
          <p:nvPr/>
        </p:nvGrpSpPr>
        <p:grpSpPr>
          <a:xfrm rot="0">
            <a:off x="3291840" y="8869680"/>
            <a:ext cx="1645920" cy="91440"/>
            <a:chOff x="0" y="0"/>
            <a:chExt cx="2194560" cy="121920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2194560" cy="121920"/>
            </a:xfrm>
            <a:custGeom>
              <a:avLst/>
              <a:gdLst/>
              <a:ahLst/>
              <a:cxnLst/>
              <a:rect r="r" b="b" t="t" l="l"/>
              <a:pathLst>
                <a:path h="121920" w="2194560">
                  <a:moveTo>
                    <a:pt x="0" y="60960"/>
                  </a:moveTo>
                  <a:cubicBezTo>
                    <a:pt x="0" y="27305"/>
                    <a:pt x="27305" y="0"/>
                    <a:pt x="60960" y="0"/>
                  </a:cubicBezTo>
                  <a:lnTo>
                    <a:pt x="2133600" y="0"/>
                  </a:lnTo>
                  <a:cubicBezTo>
                    <a:pt x="2167255" y="0"/>
                    <a:pt x="2194560" y="27305"/>
                    <a:pt x="2194560" y="60960"/>
                  </a:cubicBezTo>
                  <a:cubicBezTo>
                    <a:pt x="2194560" y="94615"/>
                    <a:pt x="2167255" y="121920"/>
                    <a:pt x="2133600" y="121920"/>
                  </a:cubicBezTo>
                  <a:lnTo>
                    <a:pt x="60960" y="121920"/>
                  </a:lnTo>
                  <a:cubicBezTo>
                    <a:pt x="27305" y="121920"/>
                    <a:pt x="0" y="94615"/>
                    <a:pt x="0" y="60960"/>
                  </a:cubicBezTo>
                  <a:close/>
                </a:path>
              </a:pathLst>
            </a:custGeom>
            <a:solidFill>
              <a:srgbClr val="C9D8CB"/>
            </a:solidFill>
          </p:spPr>
        </p:sp>
      </p:grpSp>
      <p:sp>
        <p:nvSpPr>
          <p:cNvPr name="TextBox 11" id="11"/>
          <p:cNvSpPr txBox="true"/>
          <p:nvPr/>
        </p:nvSpPr>
        <p:spPr>
          <a:xfrm rot="0">
            <a:off x="3291840" y="8999220"/>
            <a:ext cx="1645920" cy="57145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19"/>
              </a:lnSpc>
            </a:pPr>
            <a:r>
              <a:rPr lang="en-US" sz="1599" b="true">
                <a:solidFill>
                  <a:srgbClr val="C9D8CB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02</a:t>
            </a:r>
          </a:p>
        </p:txBody>
      </p:sp>
      <p:grpSp>
        <p:nvGrpSpPr>
          <p:cNvPr name="Group 12" id="12"/>
          <p:cNvGrpSpPr/>
          <p:nvPr/>
        </p:nvGrpSpPr>
        <p:grpSpPr>
          <a:xfrm rot="0">
            <a:off x="5120640" y="8869680"/>
            <a:ext cx="1645920" cy="91440"/>
            <a:chOff x="0" y="0"/>
            <a:chExt cx="2194560" cy="12192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2194560" cy="121920"/>
            </a:xfrm>
            <a:custGeom>
              <a:avLst/>
              <a:gdLst/>
              <a:ahLst/>
              <a:cxnLst/>
              <a:rect r="r" b="b" t="t" l="l"/>
              <a:pathLst>
                <a:path h="121920" w="2194560">
                  <a:moveTo>
                    <a:pt x="0" y="60960"/>
                  </a:moveTo>
                  <a:cubicBezTo>
                    <a:pt x="0" y="27305"/>
                    <a:pt x="27305" y="0"/>
                    <a:pt x="60960" y="0"/>
                  </a:cubicBezTo>
                  <a:lnTo>
                    <a:pt x="2133600" y="0"/>
                  </a:lnTo>
                  <a:cubicBezTo>
                    <a:pt x="2167255" y="0"/>
                    <a:pt x="2194560" y="27305"/>
                    <a:pt x="2194560" y="60960"/>
                  </a:cubicBezTo>
                  <a:cubicBezTo>
                    <a:pt x="2194560" y="94615"/>
                    <a:pt x="2167255" y="121920"/>
                    <a:pt x="2133600" y="121920"/>
                  </a:cubicBezTo>
                  <a:lnTo>
                    <a:pt x="60960" y="121920"/>
                  </a:lnTo>
                  <a:cubicBezTo>
                    <a:pt x="27305" y="121920"/>
                    <a:pt x="0" y="94615"/>
                    <a:pt x="0" y="60960"/>
                  </a:cubicBezTo>
                  <a:close/>
                </a:path>
              </a:pathLst>
            </a:custGeom>
            <a:solidFill>
              <a:srgbClr val="C9D8CB"/>
            </a:solidFill>
          </p:spPr>
        </p:sp>
      </p:grpSp>
      <p:sp>
        <p:nvSpPr>
          <p:cNvPr name="TextBox 14" id="14"/>
          <p:cNvSpPr txBox="true"/>
          <p:nvPr/>
        </p:nvSpPr>
        <p:spPr>
          <a:xfrm rot="0">
            <a:off x="5120640" y="8999220"/>
            <a:ext cx="1645920" cy="57145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19"/>
              </a:lnSpc>
            </a:pPr>
            <a:r>
              <a:rPr lang="en-US" sz="1599" b="true">
                <a:solidFill>
                  <a:srgbClr val="C9D8CB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03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6949440" y="8869680"/>
            <a:ext cx="1645920" cy="91440"/>
            <a:chOff x="0" y="0"/>
            <a:chExt cx="2194560" cy="12192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2194560" cy="121920"/>
            </a:xfrm>
            <a:custGeom>
              <a:avLst/>
              <a:gdLst/>
              <a:ahLst/>
              <a:cxnLst/>
              <a:rect r="r" b="b" t="t" l="l"/>
              <a:pathLst>
                <a:path h="121920" w="2194560">
                  <a:moveTo>
                    <a:pt x="0" y="60960"/>
                  </a:moveTo>
                  <a:cubicBezTo>
                    <a:pt x="0" y="27305"/>
                    <a:pt x="27305" y="0"/>
                    <a:pt x="60960" y="0"/>
                  </a:cubicBezTo>
                  <a:lnTo>
                    <a:pt x="2133600" y="0"/>
                  </a:lnTo>
                  <a:cubicBezTo>
                    <a:pt x="2167255" y="0"/>
                    <a:pt x="2194560" y="27305"/>
                    <a:pt x="2194560" y="60960"/>
                  </a:cubicBezTo>
                  <a:cubicBezTo>
                    <a:pt x="2194560" y="94615"/>
                    <a:pt x="2167255" y="121920"/>
                    <a:pt x="2133600" y="121920"/>
                  </a:cubicBezTo>
                  <a:lnTo>
                    <a:pt x="60960" y="121920"/>
                  </a:lnTo>
                  <a:cubicBezTo>
                    <a:pt x="27305" y="121920"/>
                    <a:pt x="0" y="94615"/>
                    <a:pt x="0" y="60960"/>
                  </a:cubicBezTo>
                  <a:close/>
                </a:path>
              </a:pathLst>
            </a:custGeom>
            <a:solidFill>
              <a:srgbClr val="E3B58F"/>
            </a:solidFill>
          </p:spPr>
        </p:sp>
      </p:grpSp>
      <p:sp>
        <p:nvSpPr>
          <p:cNvPr name="TextBox 17" id="17"/>
          <p:cNvSpPr txBox="true"/>
          <p:nvPr/>
        </p:nvSpPr>
        <p:spPr>
          <a:xfrm rot="0">
            <a:off x="6949440" y="8999220"/>
            <a:ext cx="1645920" cy="57145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19"/>
              </a:lnSpc>
            </a:pPr>
            <a:r>
              <a:rPr lang="en-US" sz="1599" b="true">
                <a:solidFill>
                  <a:srgbClr val="E3B58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04</a:t>
            </a:r>
          </a:p>
        </p:txBody>
      </p:sp>
      <p:grpSp>
        <p:nvGrpSpPr>
          <p:cNvPr name="Group 18" id="18"/>
          <p:cNvGrpSpPr/>
          <p:nvPr/>
        </p:nvGrpSpPr>
        <p:grpSpPr>
          <a:xfrm rot="0">
            <a:off x="8778240" y="8869680"/>
            <a:ext cx="1645920" cy="91440"/>
            <a:chOff x="0" y="0"/>
            <a:chExt cx="2194560" cy="121920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2194560" cy="121920"/>
            </a:xfrm>
            <a:custGeom>
              <a:avLst/>
              <a:gdLst/>
              <a:ahLst/>
              <a:cxnLst/>
              <a:rect r="r" b="b" t="t" l="l"/>
              <a:pathLst>
                <a:path h="121920" w="2194560">
                  <a:moveTo>
                    <a:pt x="0" y="60960"/>
                  </a:moveTo>
                  <a:cubicBezTo>
                    <a:pt x="0" y="27305"/>
                    <a:pt x="27305" y="0"/>
                    <a:pt x="60960" y="0"/>
                  </a:cubicBezTo>
                  <a:lnTo>
                    <a:pt x="2133600" y="0"/>
                  </a:lnTo>
                  <a:cubicBezTo>
                    <a:pt x="2167255" y="0"/>
                    <a:pt x="2194560" y="27305"/>
                    <a:pt x="2194560" y="60960"/>
                  </a:cubicBezTo>
                  <a:cubicBezTo>
                    <a:pt x="2194560" y="94615"/>
                    <a:pt x="2167255" y="121920"/>
                    <a:pt x="2133600" y="121920"/>
                  </a:cubicBezTo>
                  <a:lnTo>
                    <a:pt x="60960" y="121920"/>
                  </a:lnTo>
                  <a:cubicBezTo>
                    <a:pt x="27305" y="121920"/>
                    <a:pt x="0" y="94615"/>
                    <a:pt x="0" y="60960"/>
                  </a:cubicBezTo>
                  <a:close/>
                </a:path>
              </a:pathLst>
            </a:custGeom>
            <a:solidFill>
              <a:srgbClr val="5E8063"/>
            </a:solidFill>
          </p:spPr>
        </p:sp>
      </p:grpSp>
      <p:sp>
        <p:nvSpPr>
          <p:cNvPr name="TextBox 20" id="20"/>
          <p:cNvSpPr txBox="true"/>
          <p:nvPr/>
        </p:nvSpPr>
        <p:spPr>
          <a:xfrm rot="0">
            <a:off x="8778240" y="8999220"/>
            <a:ext cx="1645920" cy="57145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19"/>
              </a:lnSpc>
            </a:pPr>
            <a:r>
              <a:rPr lang="en-US" sz="1599" b="true">
                <a:solidFill>
                  <a:srgbClr val="5E8063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05</a:t>
            </a:r>
          </a:p>
        </p:txBody>
      </p:sp>
      <p:grpSp>
        <p:nvGrpSpPr>
          <p:cNvPr name="Group 21" id="21"/>
          <p:cNvGrpSpPr/>
          <p:nvPr/>
        </p:nvGrpSpPr>
        <p:grpSpPr>
          <a:xfrm rot="0">
            <a:off x="10607040" y="8869680"/>
            <a:ext cx="1645920" cy="91440"/>
            <a:chOff x="0" y="0"/>
            <a:chExt cx="2194560" cy="121920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2194560" cy="121920"/>
            </a:xfrm>
            <a:custGeom>
              <a:avLst/>
              <a:gdLst/>
              <a:ahLst/>
              <a:cxnLst/>
              <a:rect r="r" b="b" t="t" l="l"/>
              <a:pathLst>
                <a:path h="121920" w="2194560">
                  <a:moveTo>
                    <a:pt x="0" y="60960"/>
                  </a:moveTo>
                  <a:cubicBezTo>
                    <a:pt x="0" y="27305"/>
                    <a:pt x="27305" y="0"/>
                    <a:pt x="60960" y="0"/>
                  </a:cubicBezTo>
                  <a:lnTo>
                    <a:pt x="2133600" y="0"/>
                  </a:lnTo>
                  <a:cubicBezTo>
                    <a:pt x="2167255" y="0"/>
                    <a:pt x="2194560" y="27305"/>
                    <a:pt x="2194560" y="60960"/>
                  </a:cubicBezTo>
                  <a:cubicBezTo>
                    <a:pt x="2194560" y="94615"/>
                    <a:pt x="2167255" y="121920"/>
                    <a:pt x="2133600" y="121920"/>
                  </a:cubicBezTo>
                  <a:lnTo>
                    <a:pt x="60960" y="121920"/>
                  </a:lnTo>
                  <a:cubicBezTo>
                    <a:pt x="27305" y="121920"/>
                    <a:pt x="0" y="94615"/>
                    <a:pt x="0" y="60960"/>
                  </a:cubicBezTo>
                  <a:close/>
                </a:path>
              </a:pathLst>
            </a:custGeom>
            <a:solidFill>
              <a:srgbClr val="5E8063"/>
            </a:solidFill>
          </p:spPr>
        </p:sp>
      </p:grpSp>
      <p:sp>
        <p:nvSpPr>
          <p:cNvPr name="TextBox 23" id="23"/>
          <p:cNvSpPr txBox="true"/>
          <p:nvPr/>
        </p:nvSpPr>
        <p:spPr>
          <a:xfrm rot="0">
            <a:off x="10607040" y="8999220"/>
            <a:ext cx="1645920" cy="57145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19"/>
              </a:lnSpc>
            </a:pPr>
            <a:r>
              <a:rPr lang="en-US" sz="1599" b="true">
                <a:solidFill>
                  <a:srgbClr val="5E8063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06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16459200" y="9471660"/>
            <a:ext cx="914400" cy="3810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400"/>
              </a:lnSpc>
            </a:pPr>
            <a:r>
              <a:rPr lang="en-US" sz="2000">
                <a:solidFill>
                  <a:srgbClr val="C9D8CB"/>
                </a:solidFill>
                <a:latin typeface="Calibri (MS)"/>
                <a:ea typeface="Calibri (MS)"/>
                <a:cs typeface="Calibri (MS)"/>
                <a:sym typeface="Calibri (MS)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914400" y="207264"/>
            <a:ext cx="6858000" cy="6705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00"/>
              </a:lnSpc>
            </a:pPr>
            <a:r>
              <a:rPr lang="en-US" b="true" sz="2000" spc="400">
                <a:solidFill>
                  <a:srgbClr val="B1734A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04  SOLUÇÃO DESENVOLVIDA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914400" y="914400"/>
            <a:ext cx="16459200" cy="1097280"/>
            <a:chOff x="0" y="0"/>
            <a:chExt cx="21945600" cy="146304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21945600" cy="1463040"/>
            </a:xfrm>
            <a:custGeom>
              <a:avLst/>
              <a:gdLst/>
              <a:ahLst/>
              <a:cxnLst/>
              <a:rect r="r" b="b" t="t" l="l"/>
              <a:pathLst>
                <a:path h="146304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463040"/>
                  </a:lnTo>
                  <a:lnTo>
                    <a:pt x="0" y="14630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242072" r="0" b="-242072"/>
              </a:stretch>
            </a:blipFill>
          </p:spPr>
          <p:txBody>
            <a:bodyPr/>
            <a:p/>
          </p:txBody>
        </p:sp>
      </p:grpSp>
      <p:grpSp>
        <p:nvGrpSpPr>
          <p:cNvPr name="Group 5" id="5"/>
          <p:cNvGrpSpPr/>
          <p:nvPr/>
        </p:nvGrpSpPr>
        <p:grpSpPr>
          <a:xfrm rot="0">
            <a:off x="914400" y="907256"/>
            <a:ext cx="16459200" cy="1104424"/>
            <a:chOff x="0" y="0"/>
            <a:chExt cx="21945600" cy="1472565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21945600" cy="1472565"/>
            </a:xfrm>
            <a:custGeom>
              <a:avLst/>
              <a:gdLst/>
              <a:ahLst/>
              <a:cxnLst/>
              <a:rect r="r" b="b" t="t" l="l"/>
              <a:pathLst>
                <a:path h="1472565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472565"/>
                  </a:lnTo>
                  <a:lnTo>
                    <a:pt x="0" y="1472565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40182" r="0" b="-240183"/>
              </a:stretch>
            </a:blipFill>
          </p:spPr>
          <p:txBody>
            <a:bodyPr/>
            <a:p/>
          </p:txBody>
        </p:sp>
      </p:grpSp>
      <p:grpSp>
        <p:nvGrpSpPr>
          <p:cNvPr name="Group 7" id="7"/>
          <p:cNvGrpSpPr/>
          <p:nvPr/>
        </p:nvGrpSpPr>
        <p:grpSpPr>
          <a:xfrm rot="0">
            <a:off x="914400" y="900112"/>
            <a:ext cx="16459200" cy="1111568"/>
            <a:chOff x="0" y="0"/>
            <a:chExt cx="21945600" cy="148209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21945600" cy="1482090"/>
            </a:xfrm>
            <a:custGeom>
              <a:avLst/>
              <a:gdLst/>
              <a:ahLst/>
              <a:cxnLst/>
              <a:rect r="r" b="b" t="t" l="l"/>
              <a:pathLst>
                <a:path h="148209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482090"/>
                  </a:lnTo>
                  <a:lnTo>
                    <a:pt x="0" y="148209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38317" r="0" b="-238318"/>
              </a:stretch>
            </a:blipFill>
          </p:spPr>
          <p:txBody>
            <a:bodyPr/>
            <a:p/>
          </p:txBody>
        </p:sp>
      </p:grpSp>
      <p:grpSp>
        <p:nvGrpSpPr>
          <p:cNvPr name="Group 9" id="9"/>
          <p:cNvGrpSpPr/>
          <p:nvPr/>
        </p:nvGrpSpPr>
        <p:grpSpPr>
          <a:xfrm rot="0">
            <a:off x="914400" y="892969"/>
            <a:ext cx="16459200" cy="1118711"/>
            <a:chOff x="0" y="0"/>
            <a:chExt cx="21945600" cy="1491615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21945600" cy="1491615"/>
            </a:xfrm>
            <a:custGeom>
              <a:avLst/>
              <a:gdLst/>
              <a:ahLst/>
              <a:cxnLst/>
              <a:rect r="r" b="b" t="t" l="l"/>
              <a:pathLst>
                <a:path h="1491615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491615"/>
                  </a:lnTo>
                  <a:lnTo>
                    <a:pt x="0" y="1491615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236476" r="0" b="-236477"/>
              </a:stretch>
            </a:blipFill>
          </p:spPr>
          <p:txBody>
            <a:bodyPr/>
            <a:p/>
          </p:txBody>
        </p:sp>
      </p:grpSp>
      <p:grpSp>
        <p:nvGrpSpPr>
          <p:cNvPr name="Group 11" id="11"/>
          <p:cNvGrpSpPr/>
          <p:nvPr/>
        </p:nvGrpSpPr>
        <p:grpSpPr>
          <a:xfrm rot="0">
            <a:off x="914400" y="885825"/>
            <a:ext cx="16459200" cy="1125855"/>
            <a:chOff x="0" y="0"/>
            <a:chExt cx="21945600" cy="150114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21945600" cy="1501140"/>
            </a:xfrm>
            <a:custGeom>
              <a:avLst/>
              <a:gdLst/>
              <a:ahLst/>
              <a:cxnLst/>
              <a:rect r="r" b="b" t="t" l="l"/>
              <a:pathLst>
                <a:path h="150114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501140"/>
                  </a:lnTo>
                  <a:lnTo>
                    <a:pt x="0" y="1501140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l="0" t="-234659" r="0" b="-234659"/>
              </a:stretch>
            </a:blipFill>
          </p:spPr>
          <p:txBody>
            <a:bodyPr/>
            <a:p/>
          </p:txBody>
        </p:sp>
      </p:grpSp>
      <p:grpSp>
        <p:nvGrpSpPr>
          <p:cNvPr name="Group 13" id="13"/>
          <p:cNvGrpSpPr/>
          <p:nvPr/>
        </p:nvGrpSpPr>
        <p:grpSpPr>
          <a:xfrm rot="0">
            <a:off x="914400" y="878681"/>
            <a:ext cx="16459200" cy="1132999"/>
            <a:chOff x="0" y="0"/>
            <a:chExt cx="21945600" cy="1510665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21945600" cy="1510665"/>
            </a:xfrm>
            <a:custGeom>
              <a:avLst/>
              <a:gdLst/>
              <a:ahLst/>
              <a:cxnLst/>
              <a:rect r="r" b="b" t="t" l="l"/>
              <a:pathLst>
                <a:path h="1510665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510665"/>
                  </a:lnTo>
                  <a:lnTo>
                    <a:pt x="0" y="1510665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0" t="-232864" r="0" b="-232865"/>
              </a:stretch>
            </a:blipFill>
          </p:spPr>
          <p:txBody>
            <a:bodyPr/>
            <a:p/>
          </p:txBody>
        </p:sp>
      </p:grpSp>
      <p:grpSp>
        <p:nvGrpSpPr>
          <p:cNvPr name="Group 15" id="15"/>
          <p:cNvGrpSpPr/>
          <p:nvPr/>
        </p:nvGrpSpPr>
        <p:grpSpPr>
          <a:xfrm rot="0">
            <a:off x="914400" y="871538"/>
            <a:ext cx="16459200" cy="1140142"/>
            <a:chOff x="0" y="0"/>
            <a:chExt cx="21945600" cy="152019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21945600" cy="1520190"/>
            </a:xfrm>
            <a:custGeom>
              <a:avLst/>
              <a:gdLst/>
              <a:ahLst/>
              <a:cxnLst/>
              <a:rect r="r" b="b" t="t" l="l"/>
              <a:pathLst>
                <a:path h="152019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520190"/>
                  </a:lnTo>
                  <a:lnTo>
                    <a:pt x="0" y="1520190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0" t="-231091" r="0" b="-231092"/>
              </a:stretch>
            </a:blipFill>
          </p:spPr>
          <p:txBody>
            <a:bodyPr/>
            <a:p/>
          </p:txBody>
        </p:sp>
      </p:grpSp>
      <p:grpSp>
        <p:nvGrpSpPr>
          <p:cNvPr name="Group 17" id="17"/>
          <p:cNvGrpSpPr/>
          <p:nvPr/>
        </p:nvGrpSpPr>
        <p:grpSpPr>
          <a:xfrm rot="0">
            <a:off x="914400" y="864394"/>
            <a:ext cx="16459200" cy="1147286"/>
            <a:chOff x="0" y="0"/>
            <a:chExt cx="21945600" cy="1529715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21945600" cy="1529714"/>
            </a:xfrm>
            <a:custGeom>
              <a:avLst/>
              <a:gdLst/>
              <a:ahLst/>
              <a:cxnLst/>
              <a:rect r="r" b="b" t="t" l="l"/>
              <a:pathLst>
                <a:path h="1529714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529714"/>
                  </a:lnTo>
                  <a:lnTo>
                    <a:pt x="0" y="1529714"/>
                  </a:lnTo>
                  <a:close/>
                </a:path>
              </a:pathLst>
            </a:custGeom>
            <a:blipFill>
              <a:blip r:embed="rId9">
                <a:alphaModFix amt="0"/>
              </a:blip>
              <a:stretch>
                <a:fillRect l="0" t="-229536" r="0" b="-229536"/>
              </a:stretch>
            </a:blipFill>
          </p:spPr>
          <p:txBody>
            <a:bodyPr/>
            <a:p/>
          </p:txBody>
        </p:sp>
        <p:sp>
          <p:nvSpPr>
            <p:cNvPr name="TextBox 19" id="19"/>
            <p:cNvSpPr txBox="true"/>
            <p:nvPr/>
          </p:nvSpPr>
          <p:spPr>
            <a:xfrm>
              <a:off x="0" y="-9525"/>
              <a:ext cx="21945600" cy="15392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6239"/>
                </a:lnSpc>
              </a:pPr>
              <a:r>
                <a:rPr lang="en-US" sz="5198" b="true">
                  <a:solidFill>
                    <a:srgbClr val="2E5634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Arquitetura em três partes</a:t>
              </a:r>
            </a:p>
          </p:txBody>
        </p:sp>
      </p:grpSp>
      <p:grpSp>
        <p:nvGrpSpPr>
          <p:cNvPr name="Group 20" id="20"/>
          <p:cNvGrpSpPr/>
          <p:nvPr/>
        </p:nvGrpSpPr>
        <p:grpSpPr>
          <a:xfrm rot="0">
            <a:off x="854869" y="2135029"/>
            <a:ext cx="5971222" cy="6611303"/>
            <a:chOff x="0" y="0"/>
            <a:chExt cx="7961630" cy="8815070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7961630" cy="8815070"/>
            </a:xfrm>
            <a:custGeom>
              <a:avLst/>
              <a:gdLst/>
              <a:ahLst/>
              <a:cxnLst/>
              <a:rect r="r" b="b" t="t" l="l"/>
              <a:pathLst>
                <a:path h="8815070" w="7961630">
                  <a:moveTo>
                    <a:pt x="0" y="0"/>
                  </a:moveTo>
                  <a:lnTo>
                    <a:pt x="7961630" y="0"/>
                  </a:lnTo>
                  <a:lnTo>
                    <a:pt x="7961630" y="8815070"/>
                  </a:lnTo>
                  <a:lnTo>
                    <a:pt x="0" y="8815070"/>
                  </a:ln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D9DFD6"/>
              </a:solidFill>
              <a:prstDash val="solid"/>
              <a:miter/>
            </a:ln>
          </p:spPr>
          <p:txBody>
            <a:bodyPr/>
            <a:p/>
          </p:txBody>
        </p:sp>
      </p:grpSp>
      <p:sp>
        <p:nvSpPr>
          <p:cNvPr name="TextBox 22" id="22"/>
          <p:cNvSpPr txBox="true"/>
          <p:nvPr/>
        </p:nvSpPr>
        <p:spPr>
          <a:xfrm rot="0">
            <a:off x="1188720" y="2188464"/>
            <a:ext cx="5303520" cy="7010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20"/>
              </a:lnSpc>
            </a:pPr>
            <a:r>
              <a:rPr lang="en-US" sz="2600" b="true">
                <a:solidFill>
                  <a:srgbClr val="2E5634"/>
                </a:solidFill>
                <a:latin typeface="Cambria Bold"/>
                <a:ea typeface="Cambria Bold"/>
                <a:cs typeface="Cambria Bold"/>
                <a:sym typeface="Cambria Bold"/>
              </a:rPr>
              <a:t>1  Aplicativo</a:t>
            </a:r>
          </a:p>
        </p:txBody>
      </p:sp>
      <p:grpSp>
        <p:nvGrpSpPr>
          <p:cNvPr name="Group 23" id="23"/>
          <p:cNvGrpSpPr/>
          <p:nvPr/>
        </p:nvGrpSpPr>
        <p:grpSpPr>
          <a:xfrm rot="0">
            <a:off x="7895749" y="2135029"/>
            <a:ext cx="5422582" cy="6611303"/>
            <a:chOff x="0" y="0"/>
            <a:chExt cx="7230110" cy="8815070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7230110" cy="8815070"/>
            </a:xfrm>
            <a:custGeom>
              <a:avLst/>
              <a:gdLst/>
              <a:ahLst/>
              <a:cxnLst/>
              <a:rect r="r" b="b" t="t" l="l"/>
              <a:pathLst>
                <a:path h="8815070" w="7230110">
                  <a:moveTo>
                    <a:pt x="0" y="0"/>
                  </a:moveTo>
                  <a:lnTo>
                    <a:pt x="7230110" y="0"/>
                  </a:lnTo>
                  <a:lnTo>
                    <a:pt x="7230110" y="8815070"/>
                  </a:lnTo>
                  <a:lnTo>
                    <a:pt x="0" y="8815070"/>
                  </a:ln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D9DFD6"/>
              </a:solidFill>
              <a:prstDash val="solid"/>
              <a:miter/>
            </a:ln>
          </p:spPr>
          <p:txBody>
            <a:bodyPr/>
            <a:p/>
          </p:txBody>
        </p:sp>
      </p:grpSp>
      <p:sp>
        <p:nvSpPr>
          <p:cNvPr name="TextBox 25" id="25"/>
          <p:cNvSpPr txBox="true"/>
          <p:nvPr/>
        </p:nvSpPr>
        <p:spPr>
          <a:xfrm rot="0">
            <a:off x="8229600" y="2188464"/>
            <a:ext cx="4754880" cy="7010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20"/>
              </a:lnSpc>
            </a:pPr>
            <a:r>
              <a:rPr lang="en-US" sz="2600" b="true">
                <a:solidFill>
                  <a:srgbClr val="2E5634"/>
                </a:solidFill>
                <a:latin typeface="Cambria Bold"/>
                <a:ea typeface="Cambria Bold"/>
                <a:cs typeface="Cambria Bold"/>
                <a:sym typeface="Cambria Bold"/>
              </a:rPr>
              <a:t>2  Backend (Supabase)</a:t>
            </a:r>
          </a:p>
        </p:txBody>
      </p:sp>
      <p:grpSp>
        <p:nvGrpSpPr>
          <p:cNvPr name="Group 26" id="26"/>
          <p:cNvGrpSpPr/>
          <p:nvPr/>
        </p:nvGrpSpPr>
        <p:grpSpPr>
          <a:xfrm rot="0">
            <a:off x="14387989" y="2135029"/>
            <a:ext cx="3045142" cy="6611303"/>
            <a:chOff x="0" y="0"/>
            <a:chExt cx="4060190" cy="8815070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4060190" cy="8815070"/>
            </a:xfrm>
            <a:custGeom>
              <a:avLst/>
              <a:gdLst/>
              <a:ahLst/>
              <a:cxnLst/>
              <a:rect r="r" b="b" t="t" l="l"/>
              <a:pathLst>
                <a:path h="8815070" w="4060190">
                  <a:moveTo>
                    <a:pt x="0" y="0"/>
                  </a:moveTo>
                  <a:lnTo>
                    <a:pt x="4060190" y="0"/>
                  </a:lnTo>
                  <a:lnTo>
                    <a:pt x="4060190" y="8815070"/>
                  </a:lnTo>
                  <a:lnTo>
                    <a:pt x="0" y="8815070"/>
                  </a:ln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D9DFD6"/>
              </a:solidFill>
              <a:prstDash val="solid"/>
              <a:miter/>
            </a:ln>
          </p:spPr>
          <p:txBody>
            <a:bodyPr/>
            <a:p/>
          </p:txBody>
        </p:sp>
      </p:grpSp>
      <p:sp>
        <p:nvSpPr>
          <p:cNvPr name="TextBox 28" id="28"/>
          <p:cNvSpPr txBox="true"/>
          <p:nvPr/>
        </p:nvSpPr>
        <p:spPr>
          <a:xfrm rot="0">
            <a:off x="14721840" y="2188464"/>
            <a:ext cx="2377440" cy="7010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20"/>
              </a:lnSpc>
            </a:pPr>
            <a:r>
              <a:rPr lang="en-US" sz="2600" b="true">
                <a:solidFill>
                  <a:srgbClr val="2E5634"/>
                </a:solidFill>
                <a:latin typeface="Cambria Bold"/>
                <a:ea typeface="Cambria Bold"/>
                <a:cs typeface="Cambria Bold"/>
                <a:sym typeface="Cambria Bold"/>
              </a:rPr>
              <a:t>3  Mensageria</a:t>
            </a:r>
          </a:p>
        </p:txBody>
      </p:sp>
      <p:grpSp>
        <p:nvGrpSpPr>
          <p:cNvPr name="Group 29" id="29"/>
          <p:cNvGrpSpPr/>
          <p:nvPr/>
        </p:nvGrpSpPr>
        <p:grpSpPr>
          <a:xfrm rot="0">
            <a:off x="1188720" y="3566160"/>
            <a:ext cx="621792" cy="621792"/>
            <a:chOff x="0" y="0"/>
            <a:chExt cx="829056" cy="829056"/>
          </a:xfrm>
        </p:grpSpPr>
        <p:sp>
          <p:nvSpPr>
            <p:cNvPr name="Freeform 30" id="30" descr="/tmp/un/ppt/media/image53.png"/>
            <p:cNvSpPr/>
            <p:nvPr/>
          </p:nvSpPr>
          <p:spPr>
            <a:xfrm flipH="false" flipV="false" rot="0">
              <a:off x="0" y="0"/>
              <a:ext cx="829056" cy="829056"/>
            </a:xfrm>
            <a:custGeom>
              <a:avLst/>
              <a:gdLst/>
              <a:ahLst/>
              <a:cxnLst/>
              <a:rect r="r" b="b" t="t" l="l"/>
              <a:pathLst>
                <a:path h="829056" w="829056">
                  <a:moveTo>
                    <a:pt x="0" y="0"/>
                  </a:moveTo>
                  <a:lnTo>
                    <a:pt x="829056" y="0"/>
                  </a:lnTo>
                  <a:lnTo>
                    <a:pt x="829056" y="829056"/>
                  </a:lnTo>
                  <a:lnTo>
                    <a:pt x="0" y="82905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>
                <a:fillRect l="0" t="0" r="0" b="0"/>
              </a:stretch>
            </a:blipFill>
          </p:spPr>
          <p:txBody>
            <a:bodyPr/>
            <a:p/>
          </p:txBody>
        </p:sp>
      </p:grpSp>
      <p:grpSp>
        <p:nvGrpSpPr>
          <p:cNvPr name="Group 31" id="31"/>
          <p:cNvGrpSpPr/>
          <p:nvPr/>
        </p:nvGrpSpPr>
        <p:grpSpPr>
          <a:xfrm rot="0">
            <a:off x="1956816" y="3566160"/>
            <a:ext cx="1920240" cy="621792"/>
            <a:chOff x="0" y="0"/>
            <a:chExt cx="2560320" cy="829056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0" y="0"/>
              <a:ext cx="2560320" cy="829056"/>
            </a:xfrm>
            <a:custGeom>
              <a:avLst/>
              <a:gdLst/>
              <a:ahLst/>
              <a:cxnLst/>
              <a:rect r="r" b="b" t="t" l="l"/>
              <a:pathLst>
                <a:path h="829056" w="2560320">
                  <a:moveTo>
                    <a:pt x="0" y="0"/>
                  </a:moveTo>
                  <a:lnTo>
                    <a:pt x="2560320" y="0"/>
                  </a:lnTo>
                  <a:lnTo>
                    <a:pt x="2560320" y="829056"/>
                  </a:lnTo>
                  <a:lnTo>
                    <a:pt x="0" y="829056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0133" r="0" b="-10131"/>
              </a:stretch>
            </a:blipFill>
          </p:spPr>
          <p:txBody>
            <a:bodyPr/>
            <a:p/>
          </p:txBody>
        </p:sp>
      </p:grpSp>
      <p:grpSp>
        <p:nvGrpSpPr>
          <p:cNvPr name="Group 33" id="33"/>
          <p:cNvGrpSpPr/>
          <p:nvPr/>
        </p:nvGrpSpPr>
        <p:grpSpPr>
          <a:xfrm rot="0">
            <a:off x="1956816" y="3530441"/>
            <a:ext cx="1920240" cy="657511"/>
            <a:chOff x="0" y="0"/>
            <a:chExt cx="2560320" cy="876681"/>
          </a:xfrm>
        </p:grpSpPr>
        <p:sp>
          <p:nvSpPr>
            <p:cNvPr name="Freeform 34" id="34"/>
            <p:cNvSpPr/>
            <p:nvPr/>
          </p:nvSpPr>
          <p:spPr>
            <a:xfrm flipH="false" flipV="false" rot="0">
              <a:off x="0" y="0"/>
              <a:ext cx="2560320" cy="876681"/>
            </a:xfrm>
            <a:custGeom>
              <a:avLst/>
              <a:gdLst/>
              <a:ahLst/>
              <a:cxnLst/>
              <a:rect r="r" b="b" t="t" l="l"/>
              <a:pathLst>
                <a:path h="876681" w="2560320">
                  <a:moveTo>
                    <a:pt x="0" y="0"/>
                  </a:moveTo>
                  <a:lnTo>
                    <a:pt x="2560320" y="0"/>
                  </a:lnTo>
                  <a:lnTo>
                    <a:pt x="2560320" y="876681"/>
                  </a:lnTo>
                  <a:lnTo>
                    <a:pt x="0" y="876681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6866" r="0" b="-6865"/>
              </a:stretch>
            </a:blipFill>
          </p:spPr>
          <p:txBody>
            <a:bodyPr/>
            <a:p/>
          </p:txBody>
        </p:sp>
      </p:grpSp>
      <p:grpSp>
        <p:nvGrpSpPr>
          <p:cNvPr name="Group 35" id="35"/>
          <p:cNvGrpSpPr/>
          <p:nvPr/>
        </p:nvGrpSpPr>
        <p:grpSpPr>
          <a:xfrm rot="0">
            <a:off x="1956816" y="3494722"/>
            <a:ext cx="1920240" cy="693230"/>
            <a:chOff x="0" y="0"/>
            <a:chExt cx="2560320" cy="924306"/>
          </a:xfrm>
        </p:grpSpPr>
        <p:sp>
          <p:nvSpPr>
            <p:cNvPr name="Freeform 36" id="36"/>
            <p:cNvSpPr/>
            <p:nvPr/>
          </p:nvSpPr>
          <p:spPr>
            <a:xfrm flipH="false" flipV="false" rot="0">
              <a:off x="0" y="0"/>
              <a:ext cx="2560320" cy="924306"/>
            </a:xfrm>
            <a:custGeom>
              <a:avLst/>
              <a:gdLst/>
              <a:ahLst/>
              <a:cxnLst/>
              <a:rect r="r" b="b" t="t" l="l"/>
              <a:pathLst>
                <a:path h="924306" w="2560320">
                  <a:moveTo>
                    <a:pt x="0" y="0"/>
                  </a:moveTo>
                  <a:lnTo>
                    <a:pt x="2560320" y="0"/>
                  </a:lnTo>
                  <a:lnTo>
                    <a:pt x="2560320" y="924306"/>
                  </a:lnTo>
                  <a:lnTo>
                    <a:pt x="0" y="92430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3935" r="0" b="-3936"/>
              </a:stretch>
            </a:blipFill>
          </p:spPr>
          <p:txBody>
            <a:bodyPr/>
            <a:p/>
          </p:txBody>
        </p:sp>
      </p:grpSp>
      <p:grpSp>
        <p:nvGrpSpPr>
          <p:cNvPr name="Group 37" id="37"/>
          <p:cNvGrpSpPr/>
          <p:nvPr/>
        </p:nvGrpSpPr>
        <p:grpSpPr>
          <a:xfrm rot="0">
            <a:off x="1956816" y="3459004"/>
            <a:ext cx="1920240" cy="728948"/>
            <a:chOff x="0" y="0"/>
            <a:chExt cx="2560320" cy="971931"/>
          </a:xfrm>
        </p:grpSpPr>
        <p:sp>
          <p:nvSpPr>
            <p:cNvPr name="Freeform 38" id="38"/>
            <p:cNvSpPr/>
            <p:nvPr/>
          </p:nvSpPr>
          <p:spPr>
            <a:xfrm flipH="false" flipV="false" rot="0">
              <a:off x="0" y="0"/>
              <a:ext cx="2560320" cy="971931"/>
            </a:xfrm>
            <a:custGeom>
              <a:avLst/>
              <a:gdLst/>
              <a:ahLst/>
              <a:cxnLst/>
              <a:rect r="r" b="b" t="t" l="l"/>
              <a:pathLst>
                <a:path h="971931" w="2560320">
                  <a:moveTo>
                    <a:pt x="0" y="0"/>
                  </a:moveTo>
                  <a:lnTo>
                    <a:pt x="2560320" y="0"/>
                  </a:lnTo>
                  <a:lnTo>
                    <a:pt x="2560320" y="971931"/>
                  </a:lnTo>
                  <a:lnTo>
                    <a:pt x="0" y="971931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1293" r="0" b="-1292"/>
              </a:stretch>
            </a:blipFill>
          </p:spPr>
          <p:txBody>
            <a:bodyPr/>
            <a:p/>
          </p:txBody>
        </p:sp>
      </p:grpSp>
      <p:grpSp>
        <p:nvGrpSpPr>
          <p:cNvPr name="Group 39" id="39"/>
          <p:cNvGrpSpPr/>
          <p:nvPr/>
        </p:nvGrpSpPr>
        <p:grpSpPr>
          <a:xfrm rot="0">
            <a:off x="1956816" y="3423285"/>
            <a:ext cx="1920240" cy="764667"/>
            <a:chOff x="0" y="0"/>
            <a:chExt cx="2560320" cy="1019556"/>
          </a:xfrm>
        </p:grpSpPr>
        <p:sp>
          <p:nvSpPr>
            <p:cNvPr name="Freeform 40" id="40"/>
            <p:cNvSpPr/>
            <p:nvPr/>
          </p:nvSpPr>
          <p:spPr>
            <a:xfrm flipH="false" flipV="false" rot="0">
              <a:off x="0" y="0"/>
              <a:ext cx="2560320" cy="1019556"/>
            </a:xfrm>
            <a:custGeom>
              <a:avLst/>
              <a:gdLst/>
              <a:ahLst/>
              <a:cxnLst/>
              <a:rect r="r" b="b" t="t" l="l"/>
              <a:pathLst>
                <a:path h="1019556" w="2560320">
                  <a:moveTo>
                    <a:pt x="0" y="0"/>
                  </a:moveTo>
                  <a:lnTo>
                    <a:pt x="2560320" y="0"/>
                  </a:lnTo>
                  <a:lnTo>
                    <a:pt x="2560320" y="1019556"/>
                  </a:lnTo>
                  <a:lnTo>
                    <a:pt x="0" y="1019556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l="-1127" t="0" r="-1127" b="0"/>
              </a:stretch>
            </a:blipFill>
          </p:spPr>
          <p:txBody>
            <a:bodyPr/>
            <a:p/>
          </p:txBody>
        </p:sp>
      </p:grpSp>
      <p:grpSp>
        <p:nvGrpSpPr>
          <p:cNvPr name="Group 41" id="41"/>
          <p:cNvGrpSpPr/>
          <p:nvPr/>
        </p:nvGrpSpPr>
        <p:grpSpPr>
          <a:xfrm rot="0">
            <a:off x="1956816" y="3387566"/>
            <a:ext cx="1920240" cy="800386"/>
            <a:chOff x="0" y="0"/>
            <a:chExt cx="2560320" cy="1067181"/>
          </a:xfrm>
        </p:grpSpPr>
        <p:sp>
          <p:nvSpPr>
            <p:cNvPr name="Freeform 42" id="42"/>
            <p:cNvSpPr/>
            <p:nvPr/>
          </p:nvSpPr>
          <p:spPr>
            <a:xfrm flipH="false" flipV="false" rot="0">
              <a:off x="0" y="0"/>
              <a:ext cx="2560320" cy="1067181"/>
            </a:xfrm>
            <a:custGeom>
              <a:avLst/>
              <a:gdLst/>
              <a:ahLst/>
              <a:cxnLst/>
              <a:rect r="r" b="b" t="t" l="l"/>
              <a:pathLst>
                <a:path h="1067181" w="2560320">
                  <a:moveTo>
                    <a:pt x="0" y="0"/>
                  </a:moveTo>
                  <a:lnTo>
                    <a:pt x="2560320" y="0"/>
                  </a:lnTo>
                  <a:lnTo>
                    <a:pt x="2560320" y="1067181"/>
                  </a:lnTo>
                  <a:lnTo>
                    <a:pt x="0" y="1067181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-3516" t="0" r="-3515" b="0"/>
              </a:stretch>
            </a:blipFill>
          </p:spPr>
          <p:txBody>
            <a:bodyPr/>
            <a:p/>
          </p:txBody>
        </p:sp>
      </p:grpSp>
      <p:grpSp>
        <p:nvGrpSpPr>
          <p:cNvPr name="Group 43" id="43"/>
          <p:cNvGrpSpPr/>
          <p:nvPr/>
        </p:nvGrpSpPr>
        <p:grpSpPr>
          <a:xfrm rot="0">
            <a:off x="1956816" y="3351848"/>
            <a:ext cx="1920240" cy="836105"/>
            <a:chOff x="0" y="0"/>
            <a:chExt cx="2560320" cy="1114806"/>
          </a:xfrm>
        </p:grpSpPr>
        <p:sp>
          <p:nvSpPr>
            <p:cNvPr name="Freeform 44" id="44"/>
            <p:cNvSpPr/>
            <p:nvPr/>
          </p:nvSpPr>
          <p:spPr>
            <a:xfrm flipH="false" flipV="false" rot="0">
              <a:off x="0" y="0"/>
              <a:ext cx="2560320" cy="1114806"/>
            </a:xfrm>
            <a:custGeom>
              <a:avLst/>
              <a:gdLst/>
              <a:ahLst/>
              <a:cxnLst/>
              <a:rect r="r" b="b" t="t" l="l"/>
              <a:pathLst>
                <a:path h="1114806" w="2560320">
                  <a:moveTo>
                    <a:pt x="0" y="0"/>
                  </a:moveTo>
                  <a:lnTo>
                    <a:pt x="2560320" y="0"/>
                  </a:lnTo>
                  <a:lnTo>
                    <a:pt x="2560320" y="1114806"/>
                  </a:lnTo>
                  <a:lnTo>
                    <a:pt x="0" y="1114806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-5904" t="0" r="-5904" b="0"/>
              </a:stretch>
            </a:blipFill>
          </p:spPr>
          <p:txBody>
            <a:bodyPr/>
            <a:p/>
          </p:txBody>
        </p:sp>
      </p:grpSp>
      <p:grpSp>
        <p:nvGrpSpPr>
          <p:cNvPr name="Group 45" id="45"/>
          <p:cNvGrpSpPr/>
          <p:nvPr/>
        </p:nvGrpSpPr>
        <p:grpSpPr>
          <a:xfrm rot="0">
            <a:off x="1956816" y="3316129"/>
            <a:ext cx="1920240" cy="871823"/>
            <a:chOff x="0" y="0"/>
            <a:chExt cx="2560320" cy="1162431"/>
          </a:xfrm>
        </p:grpSpPr>
        <p:sp>
          <p:nvSpPr>
            <p:cNvPr name="Freeform 46" id="46"/>
            <p:cNvSpPr/>
            <p:nvPr/>
          </p:nvSpPr>
          <p:spPr>
            <a:xfrm flipH="false" flipV="false" rot="0">
              <a:off x="0" y="0"/>
              <a:ext cx="2560320" cy="1162432"/>
            </a:xfrm>
            <a:custGeom>
              <a:avLst/>
              <a:gdLst/>
              <a:ahLst/>
              <a:cxnLst/>
              <a:rect r="r" b="b" t="t" l="l"/>
              <a:pathLst>
                <a:path h="1162432" w="2560320">
                  <a:moveTo>
                    <a:pt x="0" y="0"/>
                  </a:moveTo>
                  <a:lnTo>
                    <a:pt x="2560320" y="0"/>
                  </a:lnTo>
                  <a:lnTo>
                    <a:pt x="2560320" y="1162432"/>
                  </a:lnTo>
                  <a:lnTo>
                    <a:pt x="0" y="1162432"/>
                  </a:lnTo>
                  <a:close/>
                </a:path>
              </a:pathLst>
            </a:custGeom>
            <a:blipFill>
              <a:blip r:embed="rId9">
                <a:alphaModFix amt="0"/>
              </a:blip>
              <a:stretch>
                <a:fillRect l="-8252" t="0" r="-8252" b="0"/>
              </a:stretch>
            </a:blipFill>
          </p:spPr>
          <p:txBody>
            <a:bodyPr/>
            <a:p/>
          </p:txBody>
        </p:sp>
        <p:sp>
          <p:nvSpPr>
            <p:cNvPr name="TextBox 47" id="47"/>
            <p:cNvSpPr txBox="true"/>
            <p:nvPr/>
          </p:nvSpPr>
          <p:spPr>
            <a:xfrm>
              <a:off x="0" y="-47625"/>
              <a:ext cx="2560320" cy="121005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638"/>
                </a:lnSpc>
              </a:pPr>
              <a:r>
                <a:rPr lang="en-US" sz="2199">
                  <a:solidFill>
                    <a:srgbClr val="1B2A1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React Native</a:t>
              </a:r>
            </a:p>
          </p:txBody>
        </p:sp>
      </p:grpSp>
      <p:grpSp>
        <p:nvGrpSpPr>
          <p:cNvPr name="Group 48" id="48"/>
          <p:cNvGrpSpPr/>
          <p:nvPr/>
        </p:nvGrpSpPr>
        <p:grpSpPr>
          <a:xfrm rot="0">
            <a:off x="1188720" y="4663440"/>
            <a:ext cx="621792" cy="621792"/>
            <a:chOff x="0" y="0"/>
            <a:chExt cx="829056" cy="829056"/>
          </a:xfrm>
        </p:grpSpPr>
        <p:sp>
          <p:nvSpPr>
            <p:cNvPr name="Freeform 49" id="49" descr="/tmp/un/ppt/media/image54.png"/>
            <p:cNvSpPr/>
            <p:nvPr/>
          </p:nvSpPr>
          <p:spPr>
            <a:xfrm flipH="false" flipV="false" rot="0">
              <a:off x="0" y="0"/>
              <a:ext cx="829056" cy="829056"/>
            </a:xfrm>
            <a:custGeom>
              <a:avLst/>
              <a:gdLst/>
              <a:ahLst/>
              <a:cxnLst/>
              <a:rect r="r" b="b" t="t" l="l"/>
              <a:pathLst>
                <a:path h="829056" w="829056">
                  <a:moveTo>
                    <a:pt x="0" y="0"/>
                  </a:moveTo>
                  <a:lnTo>
                    <a:pt x="829056" y="0"/>
                  </a:lnTo>
                  <a:lnTo>
                    <a:pt x="829056" y="829056"/>
                  </a:lnTo>
                  <a:lnTo>
                    <a:pt x="0" y="82905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>
                <a:fillRect l="0" t="0" r="0" b="0"/>
              </a:stretch>
            </a:blipFill>
          </p:spPr>
          <p:txBody>
            <a:bodyPr/>
            <a:p/>
          </p:txBody>
        </p:sp>
      </p:grpSp>
      <p:grpSp>
        <p:nvGrpSpPr>
          <p:cNvPr name="Group 50" id="50"/>
          <p:cNvGrpSpPr/>
          <p:nvPr/>
        </p:nvGrpSpPr>
        <p:grpSpPr>
          <a:xfrm rot="0">
            <a:off x="1956816" y="4663440"/>
            <a:ext cx="1920240" cy="621792"/>
            <a:chOff x="0" y="0"/>
            <a:chExt cx="2560320" cy="829056"/>
          </a:xfrm>
        </p:grpSpPr>
        <p:sp>
          <p:nvSpPr>
            <p:cNvPr name="Freeform 51" id="51"/>
            <p:cNvSpPr/>
            <p:nvPr/>
          </p:nvSpPr>
          <p:spPr>
            <a:xfrm flipH="false" flipV="false" rot="0">
              <a:off x="0" y="0"/>
              <a:ext cx="2560320" cy="829056"/>
            </a:xfrm>
            <a:custGeom>
              <a:avLst/>
              <a:gdLst/>
              <a:ahLst/>
              <a:cxnLst/>
              <a:rect r="r" b="b" t="t" l="l"/>
              <a:pathLst>
                <a:path h="829056" w="2560320">
                  <a:moveTo>
                    <a:pt x="0" y="0"/>
                  </a:moveTo>
                  <a:lnTo>
                    <a:pt x="2560320" y="0"/>
                  </a:lnTo>
                  <a:lnTo>
                    <a:pt x="2560320" y="829056"/>
                  </a:lnTo>
                  <a:lnTo>
                    <a:pt x="0" y="829056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0133" r="0" b="-10131"/>
              </a:stretch>
            </a:blipFill>
          </p:spPr>
          <p:txBody>
            <a:bodyPr/>
            <a:p/>
          </p:txBody>
        </p:sp>
      </p:grpSp>
      <p:grpSp>
        <p:nvGrpSpPr>
          <p:cNvPr name="Group 52" id="52"/>
          <p:cNvGrpSpPr/>
          <p:nvPr/>
        </p:nvGrpSpPr>
        <p:grpSpPr>
          <a:xfrm rot="0">
            <a:off x="1956816" y="4627721"/>
            <a:ext cx="1920240" cy="657511"/>
            <a:chOff x="0" y="0"/>
            <a:chExt cx="2560320" cy="876681"/>
          </a:xfrm>
        </p:grpSpPr>
        <p:sp>
          <p:nvSpPr>
            <p:cNvPr name="Freeform 53" id="53"/>
            <p:cNvSpPr/>
            <p:nvPr/>
          </p:nvSpPr>
          <p:spPr>
            <a:xfrm flipH="false" flipV="false" rot="0">
              <a:off x="0" y="0"/>
              <a:ext cx="2560320" cy="876681"/>
            </a:xfrm>
            <a:custGeom>
              <a:avLst/>
              <a:gdLst/>
              <a:ahLst/>
              <a:cxnLst/>
              <a:rect r="r" b="b" t="t" l="l"/>
              <a:pathLst>
                <a:path h="876681" w="2560320">
                  <a:moveTo>
                    <a:pt x="0" y="0"/>
                  </a:moveTo>
                  <a:lnTo>
                    <a:pt x="2560320" y="0"/>
                  </a:lnTo>
                  <a:lnTo>
                    <a:pt x="2560320" y="876681"/>
                  </a:lnTo>
                  <a:lnTo>
                    <a:pt x="0" y="876681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6866" r="0" b="-6865"/>
              </a:stretch>
            </a:blipFill>
          </p:spPr>
          <p:txBody>
            <a:bodyPr/>
            <a:p/>
          </p:txBody>
        </p:sp>
      </p:grpSp>
      <p:grpSp>
        <p:nvGrpSpPr>
          <p:cNvPr name="Group 54" id="54"/>
          <p:cNvGrpSpPr/>
          <p:nvPr/>
        </p:nvGrpSpPr>
        <p:grpSpPr>
          <a:xfrm rot="0">
            <a:off x="1956816" y="4592003"/>
            <a:ext cx="1920240" cy="693230"/>
            <a:chOff x="0" y="0"/>
            <a:chExt cx="2560320" cy="924306"/>
          </a:xfrm>
        </p:grpSpPr>
        <p:sp>
          <p:nvSpPr>
            <p:cNvPr name="Freeform 55" id="55"/>
            <p:cNvSpPr/>
            <p:nvPr/>
          </p:nvSpPr>
          <p:spPr>
            <a:xfrm flipH="false" flipV="false" rot="0">
              <a:off x="0" y="0"/>
              <a:ext cx="2560320" cy="924306"/>
            </a:xfrm>
            <a:custGeom>
              <a:avLst/>
              <a:gdLst/>
              <a:ahLst/>
              <a:cxnLst/>
              <a:rect r="r" b="b" t="t" l="l"/>
              <a:pathLst>
                <a:path h="924306" w="2560320">
                  <a:moveTo>
                    <a:pt x="0" y="0"/>
                  </a:moveTo>
                  <a:lnTo>
                    <a:pt x="2560320" y="0"/>
                  </a:lnTo>
                  <a:lnTo>
                    <a:pt x="2560320" y="924306"/>
                  </a:lnTo>
                  <a:lnTo>
                    <a:pt x="0" y="92430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3935" r="0" b="-3936"/>
              </a:stretch>
            </a:blipFill>
          </p:spPr>
          <p:txBody>
            <a:bodyPr/>
            <a:p/>
          </p:txBody>
        </p:sp>
      </p:grpSp>
      <p:grpSp>
        <p:nvGrpSpPr>
          <p:cNvPr name="Group 56" id="56"/>
          <p:cNvGrpSpPr/>
          <p:nvPr/>
        </p:nvGrpSpPr>
        <p:grpSpPr>
          <a:xfrm rot="0">
            <a:off x="1956816" y="4556284"/>
            <a:ext cx="1920240" cy="728948"/>
            <a:chOff x="0" y="0"/>
            <a:chExt cx="2560320" cy="971931"/>
          </a:xfrm>
        </p:grpSpPr>
        <p:sp>
          <p:nvSpPr>
            <p:cNvPr name="Freeform 57" id="57"/>
            <p:cNvSpPr/>
            <p:nvPr/>
          </p:nvSpPr>
          <p:spPr>
            <a:xfrm flipH="false" flipV="false" rot="0">
              <a:off x="0" y="0"/>
              <a:ext cx="2560320" cy="971931"/>
            </a:xfrm>
            <a:custGeom>
              <a:avLst/>
              <a:gdLst/>
              <a:ahLst/>
              <a:cxnLst/>
              <a:rect r="r" b="b" t="t" l="l"/>
              <a:pathLst>
                <a:path h="971931" w="2560320">
                  <a:moveTo>
                    <a:pt x="0" y="0"/>
                  </a:moveTo>
                  <a:lnTo>
                    <a:pt x="2560320" y="0"/>
                  </a:lnTo>
                  <a:lnTo>
                    <a:pt x="2560320" y="971931"/>
                  </a:lnTo>
                  <a:lnTo>
                    <a:pt x="0" y="971931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1293" r="0" b="-1292"/>
              </a:stretch>
            </a:blipFill>
          </p:spPr>
          <p:txBody>
            <a:bodyPr/>
            <a:p/>
          </p:txBody>
        </p:sp>
      </p:grpSp>
      <p:grpSp>
        <p:nvGrpSpPr>
          <p:cNvPr name="Group 58" id="58"/>
          <p:cNvGrpSpPr/>
          <p:nvPr/>
        </p:nvGrpSpPr>
        <p:grpSpPr>
          <a:xfrm rot="0">
            <a:off x="1956816" y="4520565"/>
            <a:ext cx="1920240" cy="764667"/>
            <a:chOff x="0" y="0"/>
            <a:chExt cx="2560320" cy="1019556"/>
          </a:xfrm>
        </p:grpSpPr>
        <p:sp>
          <p:nvSpPr>
            <p:cNvPr name="Freeform 59" id="59"/>
            <p:cNvSpPr/>
            <p:nvPr/>
          </p:nvSpPr>
          <p:spPr>
            <a:xfrm flipH="false" flipV="false" rot="0">
              <a:off x="0" y="0"/>
              <a:ext cx="2560320" cy="1019556"/>
            </a:xfrm>
            <a:custGeom>
              <a:avLst/>
              <a:gdLst/>
              <a:ahLst/>
              <a:cxnLst/>
              <a:rect r="r" b="b" t="t" l="l"/>
              <a:pathLst>
                <a:path h="1019556" w="2560320">
                  <a:moveTo>
                    <a:pt x="0" y="0"/>
                  </a:moveTo>
                  <a:lnTo>
                    <a:pt x="2560320" y="0"/>
                  </a:lnTo>
                  <a:lnTo>
                    <a:pt x="2560320" y="1019556"/>
                  </a:lnTo>
                  <a:lnTo>
                    <a:pt x="0" y="1019556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l="-1127" t="0" r="-1127" b="0"/>
              </a:stretch>
            </a:blipFill>
          </p:spPr>
          <p:txBody>
            <a:bodyPr/>
            <a:p/>
          </p:txBody>
        </p:sp>
      </p:grpSp>
      <p:grpSp>
        <p:nvGrpSpPr>
          <p:cNvPr name="Group 60" id="60"/>
          <p:cNvGrpSpPr/>
          <p:nvPr/>
        </p:nvGrpSpPr>
        <p:grpSpPr>
          <a:xfrm rot="0">
            <a:off x="1956816" y="4484846"/>
            <a:ext cx="1920240" cy="800386"/>
            <a:chOff x="0" y="0"/>
            <a:chExt cx="2560320" cy="1067181"/>
          </a:xfrm>
        </p:grpSpPr>
        <p:sp>
          <p:nvSpPr>
            <p:cNvPr name="Freeform 61" id="61"/>
            <p:cNvSpPr/>
            <p:nvPr/>
          </p:nvSpPr>
          <p:spPr>
            <a:xfrm flipH="false" flipV="false" rot="0">
              <a:off x="0" y="0"/>
              <a:ext cx="2560320" cy="1067181"/>
            </a:xfrm>
            <a:custGeom>
              <a:avLst/>
              <a:gdLst/>
              <a:ahLst/>
              <a:cxnLst/>
              <a:rect r="r" b="b" t="t" l="l"/>
              <a:pathLst>
                <a:path h="1067181" w="2560320">
                  <a:moveTo>
                    <a:pt x="0" y="0"/>
                  </a:moveTo>
                  <a:lnTo>
                    <a:pt x="2560320" y="0"/>
                  </a:lnTo>
                  <a:lnTo>
                    <a:pt x="2560320" y="1067181"/>
                  </a:lnTo>
                  <a:lnTo>
                    <a:pt x="0" y="1067181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-3516" t="0" r="-3515" b="0"/>
              </a:stretch>
            </a:blipFill>
          </p:spPr>
          <p:txBody>
            <a:bodyPr/>
            <a:p/>
          </p:txBody>
        </p:sp>
      </p:grpSp>
      <p:grpSp>
        <p:nvGrpSpPr>
          <p:cNvPr name="Group 62" id="62"/>
          <p:cNvGrpSpPr/>
          <p:nvPr/>
        </p:nvGrpSpPr>
        <p:grpSpPr>
          <a:xfrm rot="0">
            <a:off x="1956816" y="4449128"/>
            <a:ext cx="1920240" cy="836105"/>
            <a:chOff x="0" y="0"/>
            <a:chExt cx="2560320" cy="1114806"/>
          </a:xfrm>
        </p:grpSpPr>
        <p:sp>
          <p:nvSpPr>
            <p:cNvPr name="Freeform 63" id="63"/>
            <p:cNvSpPr/>
            <p:nvPr/>
          </p:nvSpPr>
          <p:spPr>
            <a:xfrm flipH="false" flipV="false" rot="0">
              <a:off x="0" y="0"/>
              <a:ext cx="2560320" cy="1114806"/>
            </a:xfrm>
            <a:custGeom>
              <a:avLst/>
              <a:gdLst/>
              <a:ahLst/>
              <a:cxnLst/>
              <a:rect r="r" b="b" t="t" l="l"/>
              <a:pathLst>
                <a:path h="1114806" w="2560320">
                  <a:moveTo>
                    <a:pt x="0" y="0"/>
                  </a:moveTo>
                  <a:lnTo>
                    <a:pt x="2560320" y="0"/>
                  </a:lnTo>
                  <a:lnTo>
                    <a:pt x="2560320" y="1114806"/>
                  </a:lnTo>
                  <a:lnTo>
                    <a:pt x="0" y="1114806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-5904" t="0" r="-5904" b="0"/>
              </a:stretch>
            </a:blipFill>
          </p:spPr>
          <p:txBody>
            <a:bodyPr/>
            <a:p/>
          </p:txBody>
        </p:sp>
      </p:grpSp>
      <p:grpSp>
        <p:nvGrpSpPr>
          <p:cNvPr name="Group 64" id="64"/>
          <p:cNvGrpSpPr/>
          <p:nvPr/>
        </p:nvGrpSpPr>
        <p:grpSpPr>
          <a:xfrm rot="0">
            <a:off x="1956816" y="4413409"/>
            <a:ext cx="1920240" cy="871823"/>
            <a:chOff x="0" y="0"/>
            <a:chExt cx="2560320" cy="1162431"/>
          </a:xfrm>
        </p:grpSpPr>
        <p:sp>
          <p:nvSpPr>
            <p:cNvPr name="Freeform 65" id="65"/>
            <p:cNvSpPr/>
            <p:nvPr/>
          </p:nvSpPr>
          <p:spPr>
            <a:xfrm flipH="false" flipV="false" rot="0">
              <a:off x="0" y="0"/>
              <a:ext cx="2560320" cy="1162432"/>
            </a:xfrm>
            <a:custGeom>
              <a:avLst/>
              <a:gdLst/>
              <a:ahLst/>
              <a:cxnLst/>
              <a:rect r="r" b="b" t="t" l="l"/>
              <a:pathLst>
                <a:path h="1162432" w="2560320">
                  <a:moveTo>
                    <a:pt x="0" y="0"/>
                  </a:moveTo>
                  <a:lnTo>
                    <a:pt x="2560320" y="0"/>
                  </a:lnTo>
                  <a:lnTo>
                    <a:pt x="2560320" y="1162432"/>
                  </a:lnTo>
                  <a:lnTo>
                    <a:pt x="0" y="1162432"/>
                  </a:lnTo>
                  <a:close/>
                </a:path>
              </a:pathLst>
            </a:custGeom>
            <a:blipFill>
              <a:blip r:embed="rId9">
                <a:alphaModFix amt="0"/>
              </a:blip>
              <a:stretch>
                <a:fillRect l="-8252" t="0" r="-8252" b="0"/>
              </a:stretch>
            </a:blipFill>
          </p:spPr>
          <p:txBody>
            <a:bodyPr/>
            <a:p/>
          </p:txBody>
        </p:sp>
        <p:sp>
          <p:nvSpPr>
            <p:cNvPr name="TextBox 66" id="66"/>
            <p:cNvSpPr txBox="true"/>
            <p:nvPr/>
          </p:nvSpPr>
          <p:spPr>
            <a:xfrm>
              <a:off x="0" y="-47625"/>
              <a:ext cx="2560320" cy="121005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638"/>
                </a:lnSpc>
              </a:pPr>
              <a:r>
                <a:rPr lang="en-US" sz="2199">
                  <a:solidFill>
                    <a:srgbClr val="1B2A1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Expo</a:t>
              </a:r>
            </a:p>
          </p:txBody>
        </p:sp>
      </p:grpSp>
      <p:grpSp>
        <p:nvGrpSpPr>
          <p:cNvPr name="Group 67" id="67"/>
          <p:cNvGrpSpPr/>
          <p:nvPr/>
        </p:nvGrpSpPr>
        <p:grpSpPr>
          <a:xfrm rot="0">
            <a:off x="1188720" y="5760720"/>
            <a:ext cx="621792" cy="621792"/>
            <a:chOff x="0" y="0"/>
            <a:chExt cx="829056" cy="829056"/>
          </a:xfrm>
        </p:grpSpPr>
        <p:sp>
          <p:nvSpPr>
            <p:cNvPr name="Freeform 68" id="68" descr="/tmp/un/ppt/media/image55.png"/>
            <p:cNvSpPr/>
            <p:nvPr/>
          </p:nvSpPr>
          <p:spPr>
            <a:xfrm flipH="false" flipV="false" rot="0">
              <a:off x="0" y="0"/>
              <a:ext cx="829056" cy="829056"/>
            </a:xfrm>
            <a:custGeom>
              <a:avLst/>
              <a:gdLst/>
              <a:ahLst/>
              <a:cxnLst/>
              <a:rect r="r" b="b" t="t" l="l"/>
              <a:pathLst>
                <a:path h="829056" w="829056">
                  <a:moveTo>
                    <a:pt x="0" y="0"/>
                  </a:moveTo>
                  <a:lnTo>
                    <a:pt x="829056" y="0"/>
                  </a:lnTo>
                  <a:lnTo>
                    <a:pt x="829056" y="829056"/>
                  </a:lnTo>
                  <a:lnTo>
                    <a:pt x="0" y="82905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/>
              <a:stretch>
                <a:fillRect l="0" t="0" r="0" b="0"/>
              </a:stretch>
            </a:blipFill>
          </p:spPr>
          <p:txBody>
            <a:bodyPr/>
            <a:p/>
          </p:txBody>
        </p:sp>
      </p:grpSp>
      <p:grpSp>
        <p:nvGrpSpPr>
          <p:cNvPr name="Group 69" id="69"/>
          <p:cNvGrpSpPr/>
          <p:nvPr/>
        </p:nvGrpSpPr>
        <p:grpSpPr>
          <a:xfrm rot="0">
            <a:off x="1956816" y="5760720"/>
            <a:ext cx="1920240" cy="621792"/>
            <a:chOff x="0" y="0"/>
            <a:chExt cx="2560320" cy="829056"/>
          </a:xfrm>
        </p:grpSpPr>
        <p:sp>
          <p:nvSpPr>
            <p:cNvPr name="Freeform 70" id="70"/>
            <p:cNvSpPr/>
            <p:nvPr/>
          </p:nvSpPr>
          <p:spPr>
            <a:xfrm flipH="false" flipV="false" rot="0">
              <a:off x="0" y="0"/>
              <a:ext cx="2560320" cy="829056"/>
            </a:xfrm>
            <a:custGeom>
              <a:avLst/>
              <a:gdLst/>
              <a:ahLst/>
              <a:cxnLst/>
              <a:rect r="r" b="b" t="t" l="l"/>
              <a:pathLst>
                <a:path h="829056" w="2560320">
                  <a:moveTo>
                    <a:pt x="0" y="0"/>
                  </a:moveTo>
                  <a:lnTo>
                    <a:pt x="2560320" y="0"/>
                  </a:lnTo>
                  <a:lnTo>
                    <a:pt x="2560320" y="829056"/>
                  </a:lnTo>
                  <a:lnTo>
                    <a:pt x="0" y="829056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0133" r="0" b="-10131"/>
              </a:stretch>
            </a:blipFill>
          </p:spPr>
          <p:txBody>
            <a:bodyPr/>
            <a:p/>
          </p:txBody>
        </p:sp>
      </p:grpSp>
      <p:grpSp>
        <p:nvGrpSpPr>
          <p:cNvPr name="Group 71" id="71"/>
          <p:cNvGrpSpPr/>
          <p:nvPr/>
        </p:nvGrpSpPr>
        <p:grpSpPr>
          <a:xfrm rot="0">
            <a:off x="1956816" y="5725001"/>
            <a:ext cx="1920240" cy="657511"/>
            <a:chOff x="0" y="0"/>
            <a:chExt cx="2560320" cy="876681"/>
          </a:xfrm>
        </p:grpSpPr>
        <p:sp>
          <p:nvSpPr>
            <p:cNvPr name="Freeform 72" id="72"/>
            <p:cNvSpPr/>
            <p:nvPr/>
          </p:nvSpPr>
          <p:spPr>
            <a:xfrm flipH="false" flipV="false" rot="0">
              <a:off x="0" y="0"/>
              <a:ext cx="2560320" cy="876681"/>
            </a:xfrm>
            <a:custGeom>
              <a:avLst/>
              <a:gdLst/>
              <a:ahLst/>
              <a:cxnLst/>
              <a:rect r="r" b="b" t="t" l="l"/>
              <a:pathLst>
                <a:path h="876681" w="2560320">
                  <a:moveTo>
                    <a:pt x="0" y="0"/>
                  </a:moveTo>
                  <a:lnTo>
                    <a:pt x="2560320" y="0"/>
                  </a:lnTo>
                  <a:lnTo>
                    <a:pt x="2560320" y="876681"/>
                  </a:lnTo>
                  <a:lnTo>
                    <a:pt x="0" y="876681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6866" r="0" b="-6865"/>
              </a:stretch>
            </a:blipFill>
          </p:spPr>
          <p:txBody>
            <a:bodyPr/>
            <a:p/>
          </p:txBody>
        </p:sp>
      </p:grpSp>
      <p:grpSp>
        <p:nvGrpSpPr>
          <p:cNvPr name="Group 73" id="73"/>
          <p:cNvGrpSpPr/>
          <p:nvPr/>
        </p:nvGrpSpPr>
        <p:grpSpPr>
          <a:xfrm rot="0">
            <a:off x="1956816" y="5689282"/>
            <a:ext cx="1920240" cy="693230"/>
            <a:chOff x="0" y="0"/>
            <a:chExt cx="2560320" cy="924306"/>
          </a:xfrm>
        </p:grpSpPr>
        <p:sp>
          <p:nvSpPr>
            <p:cNvPr name="Freeform 74" id="74"/>
            <p:cNvSpPr/>
            <p:nvPr/>
          </p:nvSpPr>
          <p:spPr>
            <a:xfrm flipH="false" flipV="false" rot="0">
              <a:off x="0" y="0"/>
              <a:ext cx="2560320" cy="924306"/>
            </a:xfrm>
            <a:custGeom>
              <a:avLst/>
              <a:gdLst/>
              <a:ahLst/>
              <a:cxnLst/>
              <a:rect r="r" b="b" t="t" l="l"/>
              <a:pathLst>
                <a:path h="924306" w="2560320">
                  <a:moveTo>
                    <a:pt x="0" y="0"/>
                  </a:moveTo>
                  <a:lnTo>
                    <a:pt x="2560320" y="0"/>
                  </a:lnTo>
                  <a:lnTo>
                    <a:pt x="2560320" y="924306"/>
                  </a:lnTo>
                  <a:lnTo>
                    <a:pt x="0" y="92430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3935" r="0" b="-3936"/>
              </a:stretch>
            </a:blipFill>
          </p:spPr>
          <p:txBody>
            <a:bodyPr/>
            <a:p/>
          </p:txBody>
        </p:sp>
      </p:grpSp>
      <p:grpSp>
        <p:nvGrpSpPr>
          <p:cNvPr name="Group 75" id="75"/>
          <p:cNvGrpSpPr/>
          <p:nvPr/>
        </p:nvGrpSpPr>
        <p:grpSpPr>
          <a:xfrm rot="0">
            <a:off x="1956816" y="5653564"/>
            <a:ext cx="1920240" cy="728948"/>
            <a:chOff x="0" y="0"/>
            <a:chExt cx="2560320" cy="971931"/>
          </a:xfrm>
        </p:grpSpPr>
        <p:sp>
          <p:nvSpPr>
            <p:cNvPr name="Freeform 76" id="76"/>
            <p:cNvSpPr/>
            <p:nvPr/>
          </p:nvSpPr>
          <p:spPr>
            <a:xfrm flipH="false" flipV="false" rot="0">
              <a:off x="0" y="0"/>
              <a:ext cx="2560320" cy="971931"/>
            </a:xfrm>
            <a:custGeom>
              <a:avLst/>
              <a:gdLst/>
              <a:ahLst/>
              <a:cxnLst/>
              <a:rect r="r" b="b" t="t" l="l"/>
              <a:pathLst>
                <a:path h="971931" w="2560320">
                  <a:moveTo>
                    <a:pt x="0" y="0"/>
                  </a:moveTo>
                  <a:lnTo>
                    <a:pt x="2560320" y="0"/>
                  </a:lnTo>
                  <a:lnTo>
                    <a:pt x="2560320" y="971931"/>
                  </a:lnTo>
                  <a:lnTo>
                    <a:pt x="0" y="971931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1293" r="0" b="-1292"/>
              </a:stretch>
            </a:blipFill>
          </p:spPr>
          <p:txBody>
            <a:bodyPr/>
            <a:p/>
          </p:txBody>
        </p:sp>
      </p:grpSp>
      <p:grpSp>
        <p:nvGrpSpPr>
          <p:cNvPr name="Group 77" id="77"/>
          <p:cNvGrpSpPr/>
          <p:nvPr/>
        </p:nvGrpSpPr>
        <p:grpSpPr>
          <a:xfrm rot="0">
            <a:off x="1956816" y="5617845"/>
            <a:ext cx="1920240" cy="764667"/>
            <a:chOff x="0" y="0"/>
            <a:chExt cx="2560320" cy="1019556"/>
          </a:xfrm>
        </p:grpSpPr>
        <p:sp>
          <p:nvSpPr>
            <p:cNvPr name="Freeform 78" id="78"/>
            <p:cNvSpPr/>
            <p:nvPr/>
          </p:nvSpPr>
          <p:spPr>
            <a:xfrm flipH="false" flipV="false" rot="0">
              <a:off x="0" y="0"/>
              <a:ext cx="2560320" cy="1019556"/>
            </a:xfrm>
            <a:custGeom>
              <a:avLst/>
              <a:gdLst/>
              <a:ahLst/>
              <a:cxnLst/>
              <a:rect r="r" b="b" t="t" l="l"/>
              <a:pathLst>
                <a:path h="1019556" w="2560320">
                  <a:moveTo>
                    <a:pt x="0" y="0"/>
                  </a:moveTo>
                  <a:lnTo>
                    <a:pt x="2560320" y="0"/>
                  </a:lnTo>
                  <a:lnTo>
                    <a:pt x="2560320" y="1019556"/>
                  </a:lnTo>
                  <a:lnTo>
                    <a:pt x="0" y="1019556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l="-1127" t="0" r="-1127" b="0"/>
              </a:stretch>
            </a:blipFill>
          </p:spPr>
          <p:txBody>
            <a:bodyPr/>
            <a:p/>
          </p:txBody>
        </p:sp>
      </p:grpSp>
      <p:grpSp>
        <p:nvGrpSpPr>
          <p:cNvPr name="Group 79" id="79"/>
          <p:cNvGrpSpPr/>
          <p:nvPr/>
        </p:nvGrpSpPr>
        <p:grpSpPr>
          <a:xfrm rot="0">
            <a:off x="1956816" y="5582126"/>
            <a:ext cx="1920240" cy="800386"/>
            <a:chOff x="0" y="0"/>
            <a:chExt cx="2560320" cy="1067181"/>
          </a:xfrm>
        </p:grpSpPr>
        <p:sp>
          <p:nvSpPr>
            <p:cNvPr name="Freeform 80" id="80"/>
            <p:cNvSpPr/>
            <p:nvPr/>
          </p:nvSpPr>
          <p:spPr>
            <a:xfrm flipH="false" flipV="false" rot="0">
              <a:off x="0" y="0"/>
              <a:ext cx="2560320" cy="1067181"/>
            </a:xfrm>
            <a:custGeom>
              <a:avLst/>
              <a:gdLst/>
              <a:ahLst/>
              <a:cxnLst/>
              <a:rect r="r" b="b" t="t" l="l"/>
              <a:pathLst>
                <a:path h="1067181" w="2560320">
                  <a:moveTo>
                    <a:pt x="0" y="0"/>
                  </a:moveTo>
                  <a:lnTo>
                    <a:pt x="2560320" y="0"/>
                  </a:lnTo>
                  <a:lnTo>
                    <a:pt x="2560320" y="1067181"/>
                  </a:lnTo>
                  <a:lnTo>
                    <a:pt x="0" y="1067181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-3516" t="0" r="-3515" b="0"/>
              </a:stretch>
            </a:blipFill>
          </p:spPr>
          <p:txBody>
            <a:bodyPr/>
            <a:p/>
          </p:txBody>
        </p:sp>
      </p:grpSp>
      <p:grpSp>
        <p:nvGrpSpPr>
          <p:cNvPr name="Group 81" id="81"/>
          <p:cNvGrpSpPr/>
          <p:nvPr/>
        </p:nvGrpSpPr>
        <p:grpSpPr>
          <a:xfrm rot="0">
            <a:off x="1956816" y="5546408"/>
            <a:ext cx="1920240" cy="836105"/>
            <a:chOff x="0" y="0"/>
            <a:chExt cx="2560320" cy="1114806"/>
          </a:xfrm>
        </p:grpSpPr>
        <p:sp>
          <p:nvSpPr>
            <p:cNvPr name="Freeform 82" id="82"/>
            <p:cNvSpPr/>
            <p:nvPr/>
          </p:nvSpPr>
          <p:spPr>
            <a:xfrm flipH="false" flipV="false" rot="0">
              <a:off x="0" y="0"/>
              <a:ext cx="2560320" cy="1114806"/>
            </a:xfrm>
            <a:custGeom>
              <a:avLst/>
              <a:gdLst/>
              <a:ahLst/>
              <a:cxnLst/>
              <a:rect r="r" b="b" t="t" l="l"/>
              <a:pathLst>
                <a:path h="1114806" w="2560320">
                  <a:moveTo>
                    <a:pt x="0" y="0"/>
                  </a:moveTo>
                  <a:lnTo>
                    <a:pt x="2560320" y="0"/>
                  </a:lnTo>
                  <a:lnTo>
                    <a:pt x="2560320" y="1114806"/>
                  </a:lnTo>
                  <a:lnTo>
                    <a:pt x="0" y="1114806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-5904" t="0" r="-5904" b="0"/>
              </a:stretch>
            </a:blipFill>
          </p:spPr>
          <p:txBody>
            <a:bodyPr/>
            <a:p/>
          </p:txBody>
        </p:sp>
      </p:grpSp>
      <p:grpSp>
        <p:nvGrpSpPr>
          <p:cNvPr name="Group 83" id="83"/>
          <p:cNvGrpSpPr/>
          <p:nvPr/>
        </p:nvGrpSpPr>
        <p:grpSpPr>
          <a:xfrm rot="0">
            <a:off x="1956816" y="5510689"/>
            <a:ext cx="1920240" cy="871823"/>
            <a:chOff x="0" y="0"/>
            <a:chExt cx="2560320" cy="1162431"/>
          </a:xfrm>
        </p:grpSpPr>
        <p:sp>
          <p:nvSpPr>
            <p:cNvPr name="Freeform 84" id="84"/>
            <p:cNvSpPr/>
            <p:nvPr/>
          </p:nvSpPr>
          <p:spPr>
            <a:xfrm flipH="false" flipV="false" rot="0">
              <a:off x="0" y="0"/>
              <a:ext cx="2560320" cy="1162432"/>
            </a:xfrm>
            <a:custGeom>
              <a:avLst/>
              <a:gdLst/>
              <a:ahLst/>
              <a:cxnLst/>
              <a:rect r="r" b="b" t="t" l="l"/>
              <a:pathLst>
                <a:path h="1162432" w="2560320">
                  <a:moveTo>
                    <a:pt x="0" y="0"/>
                  </a:moveTo>
                  <a:lnTo>
                    <a:pt x="2560320" y="0"/>
                  </a:lnTo>
                  <a:lnTo>
                    <a:pt x="2560320" y="1162432"/>
                  </a:lnTo>
                  <a:lnTo>
                    <a:pt x="0" y="1162432"/>
                  </a:lnTo>
                  <a:close/>
                </a:path>
              </a:pathLst>
            </a:custGeom>
            <a:blipFill>
              <a:blip r:embed="rId9">
                <a:alphaModFix amt="0"/>
              </a:blip>
              <a:stretch>
                <a:fillRect l="-8252" t="0" r="-8252" b="0"/>
              </a:stretch>
            </a:blipFill>
          </p:spPr>
          <p:txBody>
            <a:bodyPr/>
            <a:p/>
          </p:txBody>
        </p:sp>
        <p:sp>
          <p:nvSpPr>
            <p:cNvPr name="TextBox 85" id="85"/>
            <p:cNvSpPr txBox="true"/>
            <p:nvPr/>
          </p:nvSpPr>
          <p:spPr>
            <a:xfrm>
              <a:off x="0" y="-47625"/>
              <a:ext cx="2560320" cy="121005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638"/>
                </a:lnSpc>
              </a:pPr>
              <a:r>
                <a:rPr lang="en-US" sz="2199">
                  <a:solidFill>
                    <a:srgbClr val="1B2A1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JavaScript</a:t>
              </a:r>
            </a:p>
          </p:txBody>
        </p:sp>
      </p:grpSp>
      <p:grpSp>
        <p:nvGrpSpPr>
          <p:cNvPr name="Group 86" id="86"/>
          <p:cNvGrpSpPr/>
          <p:nvPr/>
        </p:nvGrpSpPr>
        <p:grpSpPr>
          <a:xfrm rot="0">
            <a:off x="3931920" y="3566922"/>
            <a:ext cx="621792" cy="621792"/>
            <a:chOff x="0" y="0"/>
            <a:chExt cx="829056" cy="829056"/>
          </a:xfrm>
        </p:grpSpPr>
        <p:sp>
          <p:nvSpPr>
            <p:cNvPr name="Freeform 87" id="87" descr="/tmp/un/ppt/media/image70.png"/>
            <p:cNvSpPr/>
            <p:nvPr/>
          </p:nvSpPr>
          <p:spPr>
            <a:xfrm flipH="false" flipV="false" rot="0">
              <a:off x="0" y="0"/>
              <a:ext cx="829056" cy="829056"/>
            </a:xfrm>
            <a:custGeom>
              <a:avLst/>
              <a:gdLst/>
              <a:ahLst/>
              <a:cxnLst/>
              <a:rect r="r" b="b" t="t" l="l"/>
              <a:pathLst>
                <a:path h="829056" w="829056">
                  <a:moveTo>
                    <a:pt x="0" y="0"/>
                  </a:moveTo>
                  <a:lnTo>
                    <a:pt x="829056" y="0"/>
                  </a:lnTo>
                  <a:lnTo>
                    <a:pt x="829056" y="829056"/>
                  </a:lnTo>
                  <a:lnTo>
                    <a:pt x="0" y="82905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3"/>
              <a:stretch>
                <a:fillRect l="0" t="0" r="0" b="0"/>
              </a:stretch>
            </a:blipFill>
          </p:spPr>
          <p:txBody>
            <a:bodyPr/>
            <a:p/>
          </p:txBody>
        </p:sp>
      </p:grpSp>
      <p:grpSp>
        <p:nvGrpSpPr>
          <p:cNvPr name="Group 88" id="88"/>
          <p:cNvGrpSpPr/>
          <p:nvPr/>
        </p:nvGrpSpPr>
        <p:grpSpPr>
          <a:xfrm rot="0">
            <a:off x="4700016" y="3566922"/>
            <a:ext cx="1920240" cy="621792"/>
            <a:chOff x="0" y="0"/>
            <a:chExt cx="2560320" cy="829056"/>
          </a:xfrm>
        </p:grpSpPr>
        <p:sp>
          <p:nvSpPr>
            <p:cNvPr name="Freeform 89" id="89"/>
            <p:cNvSpPr/>
            <p:nvPr/>
          </p:nvSpPr>
          <p:spPr>
            <a:xfrm flipH="false" flipV="false" rot="0">
              <a:off x="0" y="0"/>
              <a:ext cx="2560320" cy="829056"/>
            </a:xfrm>
            <a:custGeom>
              <a:avLst/>
              <a:gdLst/>
              <a:ahLst/>
              <a:cxnLst/>
              <a:rect r="r" b="b" t="t" l="l"/>
              <a:pathLst>
                <a:path h="829056" w="2560320">
                  <a:moveTo>
                    <a:pt x="0" y="0"/>
                  </a:moveTo>
                  <a:lnTo>
                    <a:pt x="2560320" y="0"/>
                  </a:lnTo>
                  <a:lnTo>
                    <a:pt x="2560320" y="829056"/>
                  </a:lnTo>
                  <a:lnTo>
                    <a:pt x="0" y="829056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0133" r="0" b="-10131"/>
              </a:stretch>
            </a:blipFill>
          </p:spPr>
          <p:txBody>
            <a:bodyPr/>
            <a:p/>
          </p:txBody>
        </p:sp>
      </p:grpSp>
      <p:grpSp>
        <p:nvGrpSpPr>
          <p:cNvPr name="Group 90" id="90"/>
          <p:cNvGrpSpPr/>
          <p:nvPr/>
        </p:nvGrpSpPr>
        <p:grpSpPr>
          <a:xfrm rot="0">
            <a:off x="4700016" y="3531203"/>
            <a:ext cx="1920240" cy="657511"/>
            <a:chOff x="0" y="0"/>
            <a:chExt cx="2560320" cy="876681"/>
          </a:xfrm>
        </p:grpSpPr>
        <p:sp>
          <p:nvSpPr>
            <p:cNvPr name="Freeform 91" id="91"/>
            <p:cNvSpPr/>
            <p:nvPr/>
          </p:nvSpPr>
          <p:spPr>
            <a:xfrm flipH="false" flipV="false" rot="0">
              <a:off x="0" y="0"/>
              <a:ext cx="2560320" cy="876681"/>
            </a:xfrm>
            <a:custGeom>
              <a:avLst/>
              <a:gdLst/>
              <a:ahLst/>
              <a:cxnLst/>
              <a:rect r="r" b="b" t="t" l="l"/>
              <a:pathLst>
                <a:path h="876681" w="2560320">
                  <a:moveTo>
                    <a:pt x="0" y="0"/>
                  </a:moveTo>
                  <a:lnTo>
                    <a:pt x="2560320" y="0"/>
                  </a:lnTo>
                  <a:lnTo>
                    <a:pt x="2560320" y="876681"/>
                  </a:lnTo>
                  <a:lnTo>
                    <a:pt x="0" y="876681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6866" r="0" b="-6865"/>
              </a:stretch>
            </a:blipFill>
          </p:spPr>
          <p:txBody>
            <a:bodyPr/>
            <a:p/>
          </p:txBody>
        </p:sp>
      </p:grpSp>
      <p:grpSp>
        <p:nvGrpSpPr>
          <p:cNvPr name="Group 92" id="92"/>
          <p:cNvGrpSpPr/>
          <p:nvPr/>
        </p:nvGrpSpPr>
        <p:grpSpPr>
          <a:xfrm rot="0">
            <a:off x="4700016" y="3495485"/>
            <a:ext cx="1920240" cy="693230"/>
            <a:chOff x="0" y="0"/>
            <a:chExt cx="2560320" cy="924306"/>
          </a:xfrm>
        </p:grpSpPr>
        <p:sp>
          <p:nvSpPr>
            <p:cNvPr name="Freeform 93" id="93"/>
            <p:cNvSpPr/>
            <p:nvPr/>
          </p:nvSpPr>
          <p:spPr>
            <a:xfrm flipH="false" flipV="false" rot="0">
              <a:off x="0" y="0"/>
              <a:ext cx="2560320" cy="924306"/>
            </a:xfrm>
            <a:custGeom>
              <a:avLst/>
              <a:gdLst/>
              <a:ahLst/>
              <a:cxnLst/>
              <a:rect r="r" b="b" t="t" l="l"/>
              <a:pathLst>
                <a:path h="924306" w="2560320">
                  <a:moveTo>
                    <a:pt x="0" y="0"/>
                  </a:moveTo>
                  <a:lnTo>
                    <a:pt x="2560320" y="0"/>
                  </a:lnTo>
                  <a:lnTo>
                    <a:pt x="2560320" y="924306"/>
                  </a:lnTo>
                  <a:lnTo>
                    <a:pt x="0" y="92430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3935" r="0" b="-3936"/>
              </a:stretch>
            </a:blipFill>
          </p:spPr>
          <p:txBody>
            <a:bodyPr/>
            <a:p/>
          </p:txBody>
        </p:sp>
      </p:grpSp>
      <p:grpSp>
        <p:nvGrpSpPr>
          <p:cNvPr name="Group 94" id="94"/>
          <p:cNvGrpSpPr/>
          <p:nvPr/>
        </p:nvGrpSpPr>
        <p:grpSpPr>
          <a:xfrm rot="0">
            <a:off x="4700016" y="3459766"/>
            <a:ext cx="1920240" cy="728948"/>
            <a:chOff x="0" y="0"/>
            <a:chExt cx="2560320" cy="971931"/>
          </a:xfrm>
        </p:grpSpPr>
        <p:sp>
          <p:nvSpPr>
            <p:cNvPr name="Freeform 95" id="95"/>
            <p:cNvSpPr/>
            <p:nvPr/>
          </p:nvSpPr>
          <p:spPr>
            <a:xfrm flipH="false" flipV="false" rot="0">
              <a:off x="0" y="0"/>
              <a:ext cx="2560320" cy="971931"/>
            </a:xfrm>
            <a:custGeom>
              <a:avLst/>
              <a:gdLst/>
              <a:ahLst/>
              <a:cxnLst/>
              <a:rect r="r" b="b" t="t" l="l"/>
              <a:pathLst>
                <a:path h="971931" w="2560320">
                  <a:moveTo>
                    <a:pt x="0" y="0"/>
                  </a:moveTo>
                  <a:lnTo>
                    <a:pt x="2560320" y="0"/>
                  </a:lnTo>
                  <a:lnTo>
                    <a:pt x="2560320" y="971931"/>
                  </a:lnTo>
                  <a:lnTo>
                    <a:pt x="0" y="971931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1293" r="0" b="-1292"/>
              </a:stretch>
            </a:blipFill>
          </p:spPr>
          <p:txBody>
            <a:bodyPr/>
            <a:p/>
          </p:txBody>
        </p:sp>
      </p:grpSp>
      <p:grpSp>
        <p:nvGrpSpPr>
          <p:cNvPr name="Group 96" id="96"/>
          <p:cNvGrpSpPr/>
          <p:nvPr/>
        </p:nvGrpSpPr>
        <p:grpSpPr>
          <a:xfrm rot="0">
            <a:off x="4700016" y="3424047"/>
            <a:ext cx="1920240" cy="764667"/>
            <a:chOff x="0" y="0"/>
            <a:chExt cx="2560320" cy="1019556"/>
          </a:xfrm>
        </p:grpSpPr>
        <p:sp>
          <p:nvSpPr>
            <p:cNvPr name="Freeform 97" id="97"/>
            <p:cNvSpPr/>
            <p:nvPr/>
          </p:nvSpPr>
          <p:spPr>
            <a:xfrm flipH="false" flipV="false" rot="0">
              <a:off x="0" y="0"/>
              <a:ext cx="2560320" cy="1019556"/>
            </a:xfrm>
            <a:custGeom>
              <a:avLst/>
              <a:gdLst/>
              <a:ahLst/>
              <a:cxnLst/>
              <a:rect r="r" b="b" t="t" l="l"/>
              <a:pathLst>
                <a:path h="1019556" w="2560320">
                  <a:moveTo>
                    <a:pt x="0" y="0"/>
                  </a:moveTo>
                  <a:lnTo>
                    <a:pt x="2560320" y="0"/>
                  </a:lnTo>
                  <a:lnTo>
                    <a:pt x="2560320" y="1019556"/>
                  </a:lnTo>
                  <a:lnTo>
                    <a:pt x="0" y="1019556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l="-1127" t="0" r="-1127" b="0"/>
              </a:stretch>
            </a:blipFill>
          </p:spPr>
          <p:txBody>
            <a:bodyPr/>
            <a:p/>
          </p:txBody>
        </p:sp>
      </p:grpSp>
      <p:grpSp>
        <p:nvGrpSpPr>
          <p:cNvPr name="Group 98" id="98"/>
          <p:cNvGrpSpPr/>
          <p:nvPr/>
        </p:nvGrpSpPr>
        <p:grpSpPr>
          <a:xfrm rot="0">
            <a:off x="4700016" y="3388328"/>
            <a:ext cx="1920240" cy="800386"/>
            <a:chOff x="0" y="0"/>
            <a:chExt cx="2560320" cy="1067181"/>
          </a:xfrm>
        </p:grpSpPr>
        <p:sp>
          <p:nvSpPr>
            <p:cNvPr name="Freeform 99" id="99"/>
            <p:cNvSpPr/>
            <p:nvPr/>
          </p:nvSpPr>
          <p:spPr>
            <a:xfrm flipH="false" flipV="false" rot="0">
              <a:off x="0" y="0"/>
              <a:ext cx="2560320" cy="1067181"/>
            </a:xfrm>
            <a:custGeom>
              <a:avLst/>
              <a:gdLst/>
              <a:ahLst/>
              <a:cxnLst/>
              <a:rect r="r" b="b" t="t" l="l"/>
              <a:pathLst>
                <a:path h="1067181" w="2560320">
                  <a:moveTo>
                    <a:pt x="0" y="0"/>
                  </a:moveTo>
                  <a:lnTo>
                    <a:pt x="2560320" y="0"/>
                  </a:lnTo>
                  <a:lnTo>
                    <a:pt x="2560320" y="1067181"/>
                  </a:lnTo>
                  <a:lnTo>
                    <a:pt x="0" y="1067181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-3516" t="0" r="-3515" b="0"/>
              </a:stretch>
            </a:blipFill>
          </p:spPr>
          <p:txBody>
            <a:bodyPr/>
            <a:p/>
          </p:txBody>
        </p:sp>
      </p:grpSp>
      <p:grpSp>
        <p:nvGrpSpPr>
          <p:cNvPr name="Group 100" id="100"/>
          <p:cNvGrpSpPr/>
          <p:nvPr/>
        </p:nvGrpSpPr>
        <p:grpSpPr>
          <a:xfrm rot="0">
            <a:off x="4700016" y="3352610"/>
            <a:ext cx="1920240" cy="836105"/>
            <a:chOff x="0" y="0"/>
            <a:chExt cx="2560320" cy="1114806"/>
          </a:xfrm>
        </p:grpSpPr>
        <p:sp>
          <p:nvSpPr>
            <p:cNvPr name="Freeform 101" id="101"/>
            <p:cNvSpPr/>
            <p:nvPr/>
          </p:nvSpPr>
          <p:spPr>
            <a:xfrm flipH="false" flipV="false" rot="0">
              <a:off x="0" y="0"/>
              <a:ext cx="2560320" cy="1114806"/>
            </a:xfrm>
            <a:custGeom>
              <a:avLst/>
              <a:gdLst/>
              <a:ahLst/>
              <a:cxnLst/>
              <a:rect r="r" b="b" t="t" l="l"/>
              <a:pathLst>
                <a:path h="1114806" w="2560320">
                  <a:moveTo>
                    <a:pt x="0" y="0"/>
                  </a:moveTo>
                  <a:lnTo>
                    <a:pt x="2560320" y="0"/>
                  </a:lnTo>
                  <a:lnTo>
                    <a:pt x="2560320" y="1114806"/>
                  </a:lnTo>
                  <a:lnTo>
                    <a:pt x="0" y="1114806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-5904" t="0" r="-5904" b="0"/>
              </a:stretch>
            </a:blipFill>
          </p:spPr>
          <p:txBody>
            <a:bodyPr/>
            <a:p/>
          </p:txBody>
        </p:sp>
      </p:grpSp>
      <p:grpSp>
        <p:nvGrpSpPr>
          <p:cNvPr name="Group 102" id="102"/>
          <p:cNvGrpSpPr/>
          <p:nvPr/>
        </p:nvGrpSpPr>
        <p:grpSpPr>
          <a:xfrm rot="0">
            <a:off x="4700016" y="3316891"/>
            <a:ext cx="1920240" cy="871823"/>
            <a:chOff x="0" y="0"/>
            <a:chExt cx="2560320" cy="1162431"/>
          </a:xfrm>
        </p:grpSpPr>
        <p:sp>
          <p:nvSpPr>
            <p:cNvPr name="Freeform 103" id="103"/>
            <p:cNvSpPr/>
            <p:nvPr/>
          </p:nvSpPr>
          <p:spPr>
            <a:xfrm flipH="false" flipV="false" rot="0">
              <a:off x="0" y="0"/>
              <a:ext cx="2560320" cy="1162432"/>
            </a:xfrm>
            <a:custGeom>
              <a:avLst/>
              <a:gdLst/>
              <a:ahLst/>
              <a:cxnLst/>
              <a:rect r="r" b="b" t="t" l="l"/>
              <a:pathLst>
                <a:path h="1162432" w="2560320">
                  <a:moveTo>
                    <a:pt x="0" y="0"/>
                  </a:moveTo>
                  <a:lnTo>
                    <a:pt x="2560320" y="0"/>
                  </a:lnTo>
                  <a:lnTo>
                    <a:pt x="2560320" y="1162432"/>
                  </a:lnTo>
                  <a:lnTo>
                    <a:pt x="0" y="1162432"/>
                  </a:lnTo>
                  <a:close/>
                </a:path>
              </a:pathLst>
            </a:custGeom>
            <a:blipFill>
              <a:blip r:embed="rId9">
                <a:alphaModFix amt="0"/>
              </a:blip>
              <a:stretch>
                <a:fillRect l="-8252" t="0" r="-8252" b="0"/>
              </a:stretch>
            </a:blipFill>
          </p:spPr>
          <p:txBody>
            <a:bodyPr/>
            <a:p/>
          </p:txBody>
        </p:sp>
        <p:sp>
          <p:nvSpPr>
            <p:cNvPr name="TextBox 104" id="104"/>
            <p:cNvSpPr txBox="true"/>
            <p:nvPr/>
          </p:nvSpPr>
          <p:spPr>
            <a:xfrm>
              <a:off x="0" y="-47625"/>
              <a:ext cx="2560320" cy="121005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638"/>
                </a:lnSpc>
              </a:pPr>
              <a:r>
                <a:rPr lang="en-US" sz="2199">
                  <a:solidFill>
                    <a:srgbClr val="1B2A1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GPS</a:t>
              </a:r>
            </a:p>
          </p:txBody>
        </p:sp>
      </p:grpSp>
      <p:grpSp>
        <p:nvGrpSpPr>
          <p:cNvPr name="Group 105" id="105"/>
          <p:cNvGrpSpPr/>
          <p:nvPr/>
        </p:nvGrpSpPr>
        <p:grpSpPr>
          <a:xfrm rot="0">
            <a:off x="3931920" y="4663440"/>
            <a:ext cx="621792" cy="621792"/>
            <a:chOff x="0" y="0"/>
            <a:chExt cx="829056" cy="829056"/>
          </a:xfrm>
        </p:grpSpPr>
        <p:sp>
          <p:nvSpPr>
            <p:cNvPr name="Freeform 106" id="106" descr="/tmp/un/ppt/media/image56.png"/>
            <p:cNvSpPr/>
            <p:nvPr/>
          </p:nvSpPr>
          <p:spPr>
            <a:xfrm flipH="false" flipV="false" rot="0">
              <a:off x="0" y="0"/>
              <a:ext cx="829056" cy="829056"/>
            </a:xfrm>
            <a:custGeom>
              <a:avLst/>
              <a:gdLst/>
              <a:ahLst/>
              <a:cxnLst/>
              <a:rect r="r" b="b" t="t" l="l"/>
              <a:pathLst>
                <a:path h="829056" w="829056">
                  <a:moveTo>
                    <a:pt x="0" y="0"/>
                  </a:moveTo>
                  <a:lnTo>
                    <a:pt x="829056" y="0"/>
                  </a:lnTo>
                  <a:lnTo>
                    <a:pt x="829056" y="829056"/>
                  </a:lnTo>
                  <a:lnTo>
                    <a:pt x="0" y="82905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/>
              <a:stretch>
                <a:fillRect l="0" t="0" r="0" b="0"/>
              </a:stretch>
            </a:blipFill>
          </p:spPr>
          <p:txBody>
            <a:bodyPr/>
            <a:p/>
          </p:txBody>
        </p:sp>
      </p:grpSp>
      <p:grpSp>
        <p:nvGrpSpPr>
          <p:cNvPr name="Group 107" id="107"/>
          <p:cNvGrpSpPr/>
          <p:nvPr/>
        </p:nvGrpSpPr>
        <p:grpSpPr>
          <a:xfrm rot="0">
            <a:off x="4700016" y="4663440"/>
            <a:ext cx="1920240" cy="621792"/>
            <a:chOff x="0" y="0"/>
            <a:chExt cx="2560320" cy="829056"/>
          </a:xfrm>
        </p:grpSpPr>
        <p:sp>
          <p:nvSpPr>
            <p:cNvPr name="Freeform 108" id="108"/>
            <p:cNvSpPr/>
            <p:nvPr/>
          </p:nvSpPr>
          <p:spPr>
            <a:xfrm flipH="false" flipV="false" rot="0">
              <a:off x="0" y="0"/>
              <a:ext cx="2560320" cy="829056"/>
            </a:xfrm>
            <a:custGeom>
              <a:avLst/>
              <a:gdLst/>
              <a:ahLst/>
              <a:cxnLst/>
              <a:rect r="r" b="b" t="t" l="l"/>
              <a:pathLst>
                <a:path h="829056" w="2560320">
                  <a:moveTo>
                    <a:pt x="0" y="0"/>
                  </a:moveTo>
                  <a:lnTo>
                    <a:pt x="2560320" y="0"/>
                  </a:lnTo>
                  <a:lnTo>
                    <a:pt x="2560320" y="829056"/>
                  </a:lnTo>
                  <a:lnTo>
                    <a:pt x="0" y="829056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0133" r="0" b="-10131"/>
              </a:stretch>
            </a:blipFill>
          </p:spPr>
          <p:txBody>
            <a:bodyPr/>
            <a:p/>
          </p:txBody>
        </p:sp>
      </p:grpSp>
      <p:grpSp>
        <p:nvGrpSpPr>
          <p:cNvPr name="Group 109" id="109"/>
          <p:cNvGrpSpPr/>
          <p:nvPr/>
        </p:nvGrpSpPr>
        <p:grpSpPr>
          <a:xfrm rot="0">
            <a:off x="4700016" y="4627721"/>
            <a:ext cx="1920240" cy="657511"/>
            <a:chOff x="0" y="0"/>
            <a:chExt cx="2560320" cy="876681"/>
          </a:xfrm>
        </p:grpSpPr>
        <p:sp>
          <p:nvSpPr>
            <p:cNvPr name="Freeform 110" id="110"/>
            <p:cNvSpPr/>
            <p:nvPr/>
          </p:nvSpPr>
          <p:spPr>
            <a:xfrm flipH="false" flipV="false" rot="0">
              <a:off x="0" y="0"/>
              <a:ext cx="2560320" cy="876681"/>
            </a:xfrm>
            <a:custGeom>
              <a:avLst/>
              <a:gdLst/>
              <a:ahLst/>
              <a:cxnLst/>
              <a:rect r="r" b="b" t="t" l="l"/>
              <a:pathLst>
                <a:path h="876681" w="2560320">
                  <a:moveTo>
                    <a:pt x="0" y="0"/>
                  </a:moveTo>
                  <a:lnTo>
                    <a:pt x="2560320" y="0"/>
                  </a:lnTo>
                  <a:lnTo>
                    <a:pt x="2560320" y="876681"/>
                  </a:lnTo>
                  <a:lnTo>
                    <a:pt x="0" y="876681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6866" r="0" b="-6865"/>
              </a:stretch>
            </a:blipFill>
          </p:spPr>
          <p:txBody>
            <a:bodyPr/>
            <a:p/>
          </p:txBody>
        </p:sp>
      </p:grpSp>
      <p:grpSp>
        <p:nvGrpSpPr>
          <p:cNvPr name="Group 111" id="111"/>
          <p:cNvGrpSpPr/>
          <p:nvPr/>
        </p:nvGrpSpPr>
        <p:grpSpPr>
          <a:xfrm rot="0">
            <a:off x="4700016" y="4592003"/>
            <a:ext cx="1920240" cy="693230"/>
            <a:chOff x="0" y="0"/>
            <a:chExt cx="2560320" cy="924306"/>
          </a:xfrm>
        </p:grpSpPr>
        <p:sp>
          <p:nvSpPr>
            <p:cNvPr name="Freeform 112" id="112"/>
            <p:cNvSpPr/>
            <p:nvPr/>
          </p:nvSpPr>
          <p:spPr>
            <a:xfrm flipH="false" flipV="false" rot="0">
              <a:off x="0" y="0"/>
              <a:ext cx="2560320" cy="924306"/>
            </a:xfrm>
            <a:custGeom>
              <a:avLst/>
              <a:gdLst/>
              <a:ahLst/>
              <a:cxnLst/>
              <a:rect r="r" b="b" t="t" l="l"/>
              <a:pathLst>
                <a:path h="924306" w="2560320">
                  <a:moveTo>
                    <a:pt x="0" y="0"/>
                  </a:moveTo>
                  <a:lnTo>
                    <a:pt x="2560320" y="0"/>
                  </a:lnTo>
                  <a:lnTo>
                    <a:pt x="2560320" y="924306"/>
                  </a:lnTo>
                  <a:lnTo>
                    <a:pt x="0" y="92430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3935" r="0" b="-3936"/>
              </a:stretch>
            </a:blipFill>
          </p:spPr>
          <p:txBody>
            <a:bodyPr/>
            <a:p/>
          </p:txBody>
        </p:sp>
      </p:grpSp>
      <p:grpSp>
        <p:nvGrpSpPr>
          <p:cNvPr name="Group 113" id="113"/>
          <p:cNvGrpSpPr/>
          <p:nvPr/>
        </p:nvGrpSpPr>
        <p:grpSpPr>
          <a:xfrm rot="0">
            <a:off x="4700016" y="4556284"/>
            <a:ext cx="1920240" cy="728948"/>
            <a:chOff x="0" y="0"/>
            <a:chExt cx="2560320" cy="971931"/>
          </a:xfrm>
        </p:grpSpPr>
        <p:sp>
          <p:nvSpPr>
            <p:cNvPr name="Freeform 114" id="114"/>
            <p:cNvSpPr/>
            <p:nvPr/>
          </p:nvSpPr>
          <p:spPr>
            <a:xfrm flipH="false" flipV="false" rot="0">
              <a:off x="0" y="0"/>
              <a:ext cx="2560320" cy="971931"/>
            </a:xfrm>
            <a:custGeom>
              <a:avLst/>
              <a:gdLst/>
              <a:ahLst/>
              <a:cxnLst/>
              <a:rect r="r" b="b" t="t" l="l"/>
              <a:pathLst>
                <a:path h="971931" w="2560320">
                  <a:moveTo>
                    <a:pt x="0" y="0"/>
                  </a:moveTo>
                  <a:lnTo>
                    <a:pt x="2560320" y="0"/>
                  </a:lnTo>
                  <a:lnTo>
                    <a:pt x="2560320" y="971931"/>
                  </a:lnTo>
                  <a:lnTo>
                    <a:pt x="0" y="971931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1293" r="0" b="-1292"/>
              </a:stretch>
            </a:blipFill>
          </p:spPr>
          <p:txBody>
            <a:bodyPr/>
            <a:p/>
          </p:txBody>
        </p:sp>
      </p:grpSp>
      <p:grpSp>
        <p:nvGrpSpPr>
          <p:cNvPr name="Group 115" id="115"/>
          <p:cNvGrpSpPr/>
          <p:nvPr/>
        </p:nvGrpSpPr>
        <p:grpSpPr>
          <a:xfrm rot="0">
            <a:off x="4700016" y="4520565"/>
            <a:ext cx="1920240" cy="764667"/>
            <a:chOff x="0" y="0"/>
            <a:chExt cx="2560320" cy="1019556"/>
          </a:xfrm>
        </p:grpSpPr>
        <p:sp>
          <p:nvSpPr>
            <p:cNvPr name="Freeform 116" id="116"/>
            <p:cNvSpPr/>
            <p:nvPr/>
          </p:nvSpPr>
          <p:spPr>
            <a:xfrm flipH="false" flipV="false" rot="0">
              <a:off x="0" y="0"/>
              <a:ext cx="2560320" cy="1019556"/>
            </a:xfrm>
            <a:custGeom>
              <a:avLst/>
              <a:gdLst/>
              <a:ahLst/>
              <a:cxnLst/>
              <a:rect r="r" b="b" t="t" l="l"/>
              <a:pathLst>
                <a:path h="1019556" w="2560320">
                  <a:moveTo>
                    <a:pt x="0" y="0"/>
                  </a:moveTo>
                  <a:lnTo>
                    <a:pt x="2560320" y="0"/>
                  </a:lnTo>
                  <a:lnTo>
                    <a:pt x="2560320" y="1019556"/>
                  </a:lnTo>
                  <a:lnTo>
                    <a:pt x="0" y="1019556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l="-1127" t="0" r="-1127" b="0"/>
              </a:stretch>
            </a:blipFill>
          </p:spPr>
          <p:txBody>
            <a:bodyPr/>
            <a:p/>
          </p:txBody>
        </p:sp>
      </p:grpSp>
      <p:grpSp>
        <p:nvGrpSpPr>
          <p:cNvPr name="Group 117" id="117"/>
          <p:cNvGrpSpPr/>
          <p:nvPr/>
        </p:nvGrpSpPr>
        <p:grpSpPr>
          <a:xfrm rot="0">
            <a:off x="4700016" y="4484846"/>
            <a:ext cx="1920240" cy="800386"/>
            <a:chOff x="0" y="0"/>
            <a:chExt cx="2560320" cy="1067181"/>
          </a:xfrm>
        </p:grpSpPr>
        <p:sp>
          <p:nvSpPr>
            <p:cNvPr name="Freeform 118" id="118"/>
            <p:cNvSpPr/>
            <p:nvPr/>
          </p:nvSpPr>
          <p:spPr>
            <a:xfrm flipH="false" flipV="false" rot="0">
              <a:off x="0" y="0"/>
              <a:ext cx="2560320" cy="1067181"/>
            </a:xfrm>
            <a:custGeom>
              <a:avLst/>
              <a:gdLst/>
              <a:ahLst/>
              <a:cxnLst/>
              <a:rect r="r" b="b" t="t" l="l"/>
              <a:pathLst>
                <a:path h="1067181" w="2560320">
                  <a:moveTo>
                    <a:pt x="0" y="0"/>
                  </a:moveTo>
                  <a:lnTo>
                    <a:pt x="2560320" y="0"/>
                  </a:lnTo>
                  <a:lnTo>
                    <a:pt x="2560320" y="1067181"/>
                  </a:lnTo>
                  <a:lnTo>
                    <a:pt x="0" y="1067181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-3516" t="0" r="-3515" b="0"/>
              </a:stretch>
            </a:blipFill>
          </p:spPr>
          <p:txBody>
            <a:bodyPr/>
            <a:p/>
          </p:txBody>
        </p:sp>
      </p:grpSp>
      <p:grpSp>
        <p:nvGrpSpPr>
          <p:cNvPr name="Group 119" id="119"/>
          <p:cNvGrpSpPr/>
          <p:nvPr/>
        </p:nvGrpSpPr>
        <p:grpSpPr>
          <a:xfrm rot="0">
            <a:off x="4700016" y="4449128"/>
            <a:ext cx="1920240" cy="836105"/>
            <a:chOff x="0" y="0"/>
            <a:chExt cx="2560320" cy="1114806"/>
          </a:xfrm>
        </p:grpSpPr>
        <p:sp>
          <p:nvSpPr>
            <p:cNvPr name="Freeform 120" id="120"/>
            <p:cNvSpPr/>
            <p:nvPr/>
          </p:nvSpPr>
          <p:spPr>
            <a:xfrm flipH="false" flipV="false" rot="0">
              <a:off x="0" y="0"/>
              <a:ext cx="2560320" cy="1114806"/>
            </a:xfrm>
            <a:custGeom>
              <a:avLst/>
              <a:gdLst/>
              <a:ahLst/>
              <a:cxnLst/>
              <a:rect r="r" b="b" t="t" l="l"/>
              <a:pathLst>
                <a:path h="1114806" w="2560320">
                  <a:moveTo>
                    <a:pt x="0" y="0"/>
                  </a:moveTo>
                  <a:lnTo>
                    <a:pt x="2560320" y="0"/>
                  </a:lnTo>
                  <a:lnTo>
                    <a:pt x="2560320" y="1114806"/>
                  </a:lnTo>
                  <a:lnTo>
                    <a:pt x="0" y="1114806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-5904" t="0" r="-5904" b="0"/>
              </a:stretch>
            </a:blipFill>
          </p:spPr>
          <p:txBody>
            <a:bodyPr/>
            <a:p/>
          </p:txBody>
        </p:sp>
      </p:grpSp>
      <p:grpSp>
        <p:nvGrpSpPr>
          <p:cNvPr name="Group 121" id="121"/>
          <p:cNvGrpSpPr/>
          <p:nvPr/>
        </p:nvGrpSpPr>
        <p:grpSpPr>
          <a:xfrm rot="0">
            <a:off x="4700016" y="4413409"/>
            <a:ext cx="1920240" cy="871823"/>
            <a:chOff x="0" y="0"/>
            <a:chExt cx="2560320" cy="1162431"/>
          </a:xfrm>
        </p:grpSpPr>
        <p:sp>
          <p:nvSpPr>
            <p:cNvPr name="Freeform 122" id="122"/>
            <p:cNvSpPr/>
            <p:nvPr/>
          </p:nvSpPr>
          <p:spPr>
            <a:xfrm flipH="false" flipV="false" rot="0">
              <a:off x="0" y="0"/>
              <a:ext cx="2560320" cy="1162432"/>
            </a:xfrm>
            <a:custGeom>
              <a:avLst/>
              <a:gdLst/>
              <a:ahLst/>
              <a:cxnLst/>
              <a:rect r="r" b="b" t="t" l="l"/>
              <a:pathLst>
                <a:path h="1162432" w="2560320">
                  <a:moveTo>
                    <a:pt x="0" y="0"/>
                  </a:moveTo>
                  <a:lnTo>
                    <a:pt x="2560320" y="0"/>
                  </a:lnTo>
                  <a:lnTo>
                    <a:pt x="2560320" y="1162432"/>
                  </a:lnTo>
                  <a:lnTo>
                    <a:pt x="0" y="1162432"/>
                  </a:lnTo>
                  <a:close/>
                </a:path>
              </a:pathLst>
            </a:custGeom>
            <a:blipFill>
              <a:blip r:embed="rId9">
                <a:alphaModFix amt="0"/>
              </a:blip>
              <a:stretch>
                <a:fillRect l="-8252" t="0" r="-8252" b="0"/>
              </a:stretch>
            </a:blipFill>
          </p:spPr>
          <p:txBody>
            <a:bodyPr/>
            <a:p/>
          </p:txBody>
        </p:sp>
        <p:sp>
          <p:nvSpPr>
            <p:cNvPr name="TextBox 123" id="123"/>
            <p:cNvSpPr txBox="true"/>
            <p:nvPr/>
          </p:nvSpPr>
          <p:spPr>
            <a:xfrm>
              <a:off x="0" y="-47625"/>
              <a:ext cx="2560320" cy="121005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638"/>
                </a:lnSpc>
              </a:pPr>
              <a:r>
                <a:rPr lang="en-US" sz="2199">
                  <a:solidFill>
                    <a:srgbClr val="1B2A1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Mapa interativo</a:t>
              </a:r>
            </a:p>
          </p:txBody>
        </p:sp>
      </p:grpSp>
      <p:grpSp>
        <p:nvGrpSpPr>
          <p:cNvPr name="Group 124" id="124"/>
          <p:cNvGrpSpPr/>
          <p:nvPr/>
        </p:nvGrpSpPr>
        <p:grpSpPr>
          <a:xfrm rot="0">
            <a:off x="3931920" y="5760720"/>
            <a:ext cx="621792" cy="621792"/>
            <a:chOff x="0" y="0"/>
            <a:chExt cx="829056" cy="829056"/>
          </a:xfrm>
        </p:grpSpPr>
        <p:sp>
          <p:nvSpPr>
            <p:cNvPr name="Freeform 125" id="125" descr="/tmp/un/ppt/media/image71.png"/>
            <p:cNvSpPr/>
            <p:nvPr/>
          </p:nvSpPr>
          <p:spPr>
            <a:xfrm flipH="false" flipV="false" rot="0">
              <a:off x="0" y="0"/>
              <a:ext cx="829056" cy="829056"/>
            </a:xfrm>
            <a:custGeom>
              <a:avLst/>
              <a:gdLst/>
              <a:ahLst/>
              <a:cxnLst/>
              <a:rect r="r" b="b" t="t" l="l"/>
              <a:pathLst>
                <a:path h="829056" w="829056">
                  <a:moveTo>
                    <a:pt x="0" y="0"/>
                  </a:moveTo>
                  <a:lnTo>
                    <a:pt x="829056" y="0"/>
                  </a:lnTo>
                  <a:lnTo>
                    <a:pt x="829056" y="829056"/>
                  </a:lnTo>
                  <a:lnTo>
                    <a:pt x="0" y="82905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5"/>
              <a:stretch>
                <a:fillRect l="0" t="0" r="0" b="0"/>
              </a:stretch>
            </a:blipFill>
          </p:spPr>
          <p:txBody>
            <a:bodyPr/>
            <a:p/>
          </p:txBody>
        </p:sp>
      </p:grpSp>
      <p:grpSp>
        <p:nvGrpSpPr>
          <p:cNvPr name="Group 126" id="126"/>
          <p:cNvGrpSpPr/>
          <p:nvPr/>
        </p:nvGrpSpPr>
        <p:grpSpPr>
          <a:xfrm rot="0">
            <a:off x="4700016" y="5760720"/>
            <a:ext cx="1920240" cy="621792"/>
            <a:chOff x="0" y="0"/>
            <a:chExt cx="2560320" cy="829056"/>
          </a:xfrm>
        </p:grpSpPr>
        <p:sp>
          <p:nvSpPr>
            <p:cNvPr name="Freeform 127" id="127"/>
            <p:cNvSpPr/>
            <p:nvPr/>
          </p:nvSpPr>
          <p:spPr>
            <a:xfrm flipH="false" flipV="false" rot="0">
              <a:off x="0" y="0"/>
              <a:ext cx="2560320" cy="829056"/>
            </a:xfrm>
            <a:custGeom>
              <a:avLst/>
              <a:gdLst/>
              <a:ahLst/>
              <a:cxnLst/>
              <a:rect r="r" b="b" t="t" l="l"/>
              <a:pathLst>
                <a:path h="829056" w="2560320">
                  <a:moveTo>
                    <a:pt x="0" y="0"/>
                  </a:moveTo>
                  <a:lnTo>
                    <a:pt x="2560320" y="0"/>
                  </a:lnTo>
                  <a:lnTo>
                    <a:pt x="2560320" y="829056"/>
                  </a:lnTo>
                  <a:lnTo>
                    <a:pt x="0" y="829056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0133" r="0" b="-10131"/>
              </a:stretch>
            </a:blipFill>
          </p:spPr>
          <p:txBody>
            <a:bodyPr/>
            <a:p/>
          </p:txBody>
        </p:sp>
      </p:grpSp>
      <p:grpSp>
        <p:nvGrpSpPr>
          <p:cNvPr name="Group 128" id="128"/>
          <p:cNvGrpSpPr/>
          <p:nvPr/>
        </p:nvGrpSpPr>
        <p:grpSpPr>
          <a:xfrm rot="0">
            <a:off x="4700016" y="5725001"/>
            <a:ext cx="1920240" cy="657511"/>
            <a:chOff x="0" y="0"/>
            <a:chExt cx="2560320" cy="876681"/>
          </a:xfrm>
        </p:grpSpPr>
        <p:sp>
          <p:nvSpPr>
            <p:cNvPr name="Freeform 129" id="129"/>
            <p:cNvSpPr/>
            <p:nvPr/>
          </p:nvSpPr>
          <p:spPr>
            <a:xfrm flipH="false" flipV="false" rot="0">
              <a:off x="0" y="0"/>
              <a:ext cx="2560320" cy="876681"/>
            </a:xfrm>
            <a:custGeom>
              <a:avLst/>
              <a:gdLst/>
              <a:ahLst/>
              <a:cxnLst/>
              <a:rect r="r" b="b" t="t" l="l"/>
              <a:pathLst>
                <a:path h="876681" w="2560320">
                  <a:moveTo>
                    <a:pt x="0" y="0"/>
                  </a:moveTo>
                  <a:lnTo>
                    <a:pt x="2560320" y="0"/>
                  </a:lnTo>
                  <a:lnTo>
                    <a:pt x="2560320" y="876681"/>
                  </a:lnTo>
                  <a:lnTo>
                    <a:pt x="0" y="876681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6866" r="0" b="-6865"/>
              </a:stretch>
            </a:blipFill>
          </p:spPr>
          <p:txBody>
            <a:bodyPr/>
            <a:p/>
          </p:txBody>
        </p:sp>
      </p:grpSp>
      <p:grpSp>
        <p:nvGrpSpPr>
          <p:cNvPr name="Group 130" id="130"/>
          <p:cNvGrpSpPr/>
          <p:nvPr/>
        </p:nvGrpSpPr>
        <p:grpSpPr>
          <a:xfrm rot="0">
            <a:off x="4700016" y="5689282"/>
            <a:ext cx="1920240" cy="693230"/>
            <a:chOff x="0" y="0"/>
            <a:chExt cx="2560320" cy="924306"/>
          </a:xfrm>
        </p:grpSpPr>
        <p:sp>
          <p:nvSpPr>
            <p:cNvPr name="Freeform 131" id="131"/>
            <p:cNvSpPr/>
            <p:nvPr/>
          </p:nvSpPr>
          <p:spPr>
            <a:xfrm flipH="false" flipV="false" rot="0">
              <a:off x="0" y="0"/>
              <a:ext cx="2560320" cy="924306"/>
            </a:xfrm>
            <a:custGeom>
              <a:avLst/>
              <a:gdLst/>
              <a:ahLst/>
              <a:cxnLst/>
              <a:rect r="r" b="b" t="t" l="l"/>
              <a:pathLst>
                <a:path h="924306" w="2560320">
                  <a:moveTo>
                    <a:pt x="0" y="0"/>
                  </a:moveTo>
                  <a:lnTo>
                    <a:pt x="2560320" y="0"/>
                  </a:lnTo>
                  <a:lnTo>
                    <a:pt x="2560320" y="924306"/>
                  </a:lnTo>
                  <a:lnTo>
                    <a:pt x="0" y="92430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3935" r="0" b="-3936"/>
              </a:stretch>
            </a:blipFill>
          </p:spPr>
          <p:txBody>
            <a:bodyPr/>
            <a:p/>
          </p:txBody>
        </p:sp>
      </p:grpSp>
      <p:grpSp>
        <p:nvGrpSpPr>
          <p:cNvPr name="Group 132" id="132"/>
          <p:cNvGrpSpPr/>
          <p:nvPr/>
        </p:nvGrpSpPr>
        <p:grpSpPr>
          <a:xfrm rot="0">
            <a:off x="4700016" y="5653564"/>
            <a:ext cx="1920240" cy="728948"/>
            <a:chOff x="0" y="0"/>
            <a:chExt cx="2560320" cy="971931"/>
          </a:xfrm>
        </p:grpSpPr>
        <p:sp>
          <p:nvSpPr>
            <p:cNvPr name="Freeform 133" id="133"/>
            <p:cNvSpPr/>
            <p:nvPr/>
          </p:nvSpPr>
          <p:spPr>
            <a:xfrm flipH="false" flipV="false" rot="0">
              <a:off x="0" y="0"/>
              <a:ext cx="2560320" cy="971931"/>
            </a:xfrm>
            <a:custGeom>
              <a:avLst/>
              <a:gdLst/>
              <a:ahLst/>
              <a:cxnLst/>
              <a:rect r="r" b="b" t="t" l="l"/>
              <a:pathLst>
                <a:path h="971931" w="2560320">
                  <a:moveTo>
                    <a:pt x="0" y="0"/>
                  </a:moveTo>
                  <a:lnTo>
                    <a:pt x="2560320" y="0"/>
                  </a:lnTo>
                  <a:lnTo>
                    <a:pt x="2560320" y="971931"/>
                  </a:lnTo>
                  <a:lnTo>
                    <a:pt x="0" y="971931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1293" r="0" b="-1292"/>
              </a:stretch>
            </a:blipFill>
          </p:spPr>
          <p:txBody>
            <a:bodyPr/>
            <a:p/>
          </p:txBody>
        </p:sp>
      </p:grpSp>
      <p:grpSp>
        <p:nvGrpSpPr>
          <p:cNvPr name="Group 134" id="134"/>
          <p:cNvGrpSpPr/>
          <p:nvPr/>
        </p:nvGrpSpPr>
        <p:grpSpPr>
          <a:xfrm rot="0">
            <a:off x="4700016" y="5617845"/>
            <a:ext cx="1920240" cy="764667"/>
            <a:chOff x="0" y="0"/>
            <a:chExt cx="2560320" cy="1019556"/>
          </a:xfrm>
        </p:grpSpPr>
        <p:sp>
          <p:nvSpPr>
            <p:cNvPr name="Freeform 135" id="135"/>
            <p:cNvSpPr/>
            <p:nvPr/>
          </p:nvSpPr>
          <p:spPr>
            <a:xfrm flipH="false" flipV="false" rot="0">
              <a:off x="0" y="0"/>
              <a:ext cx="2560320" cy="1019556"/>
            </a:xfrm>
            <a:custGeom>
              <a:avLst/>
              <a:gdLst/>
              <a:ahLst/>
              <a:cxnLst/>
              <a:rect r="r" b="b" t="t" l="l"/>
              <a:pathLst>
                <a:path h="1019556" w="2560320">
                  <a:moveTo>
                    <a:pt x="0" y="0"/>
                  </a:moveTo>
                  <a:lnTo>
                    <a:pt x="2560320" y="0"/>
                  </a:lnTo>
                  <a:lnTo>
                    <a:pt x="2560320" y="1019556"/>
                  </a:lnTo>
                  <a:lnTo>
                    <a:pt x="0" y="1019556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l="-1127" t="0" r="-1127" b="0"/>
              </a:stretch>
            </a:blipFill>
          </p:spPr>
          <p:txBody>
            <a:bodyPr/>
            <a:p/>
          </p:txBody>
        </p:sp>
      </p:grpSp>
      <p:grpSp>
        <p:nvGrpSpPr>
          <p:cNvPr name="Group 136" id="136"/>
          <p:cNvGrpSpPr/>
          <p:nvPr/>
        </p:nvGrpSpPr>
        <p:grpSpPr>
          <a:xfrm rot="0">
            <a:off x="4700016" y="5582126"/>
            <a:ext cx="1920240" cy="800386"/>
            <a:chOff x="0" y="0"/>
            <a:chExt cx="2560320" cy="1067181"/>
          </a:xfrm>
        </p:grpSpPr>
        <p:sp>
          <p:nvSpPr>
            <p:cNvPr name="Freeform 137" id="137"/>
            <p:cNvSpPr/>
            <p:nvPr/>
          </p:nvSpPr>
          <p:spPr>
            <a:xfrm flipH="false" flipV="false" rot="0">
              <a:off x="0" y="0"/>
              <a:ext cx="2560320" cy="1067181"/>
            </a:xfrm>
            <a:custGeom>
              <a:avLst/>
              <a:gdLst/>
              <a:ahLst/>
              <a:cxnLst/>
              <a:rect r="r" b="b" t="t" l="l"/>
              <a:pathLst>
                <a:path h="1067181" w="2560320">
                  <a:moveTo>
                    <a:pt x="0" y="0"/>
                  </a:moveTo>
                  <a:lnTo>
                    <a:pt x="2560320" y="0"/>
                  </a:lnTo>
                  <a:lnTo>
                    <a:pt x="2560320" y="1067181"/>
                  </a:lnTo>
                  <a:lnTo>
                    <a:pt x="0" y="1067181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-3516" t="0" r="-3515" b="0"/>
              </a:stretch>
            </a:blipFill>
          </p:spPr>
          <p:txBody>
            <a:bodyPr/>
            <a:p/>
          </p:txBody>
        </p:sp>
      </p:grpSp>
      <p:grpSp>
        <p:nvGrpSpPr>
          <p:cNvPr name="Group 138" id="138"/>
          <p:cNvGrpSpPr/>
          <p:nvPr/>
        </p:nvGrpSpPr>
        <p:grpSpPr>
          <a:xfrm rot="0">
            <a:off x="4700016" y="5546408"/>
            <a:ext cx="1920240" cy="836105"/>
            <a:chOff x="0" y="0"/>
            <a:chExt cx="2560320" cy="1114806"/>
          </a:xfrm>
        </p:grpSpPr>
        <p:sp>
          <p:nvSpPr>
            <p:cNvPr name="Freeform 139" id="139"/>
            <p:cNvSpPr/>
            <p:nvPr/>
          </p:nvSpPr>
          <p:spPr>
            <a:xfrm flipH="false" flipV="false" rot="0">
              <a:off x="0" y="0"/>
              <a:ext cx="2560320" cy="1114806"/>
            </a:xfrm>
            <a:custGeom>
              <a:avLst/>
              <a:gdLst/>
              <a:ahLst/>
              <a:cxnLst/>
              <a:rect r="r" b="b" t="t" l="l"/>
              <a:pathLst>
                <a:path h="1114806" w="2560320">
                  <a:moveTo>
                    <a:pt x="0" y="0"/>
                  </a:moveTo>
                  <a:lnTo>
                    <a:pt x="2560320" y="0"/>
                  </a:lnTo>
                  <a:lnTo>
                    <a:pt x="2560320" y="1114806"/>
                  </a:lnTo>
                  <a:lnTo>
                    <a:pt x="0" y="1114806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-5904" t="0" r="-5904" b="0"/>
              </a:stretch>
            </a:blipFill>
          </p:spPr>
          <p:txBody>
            <a:bodyPr/>
            <a:p/>
          </p:txBody>
        </p:sp>
      </p:grpSp>
      <p:grpSp>
        <p:nvGrpSpPr>
          <p:cNvPr name="Group 140" id="140"/>
          <p:cNvGrpSpPr/>
          <p:nvPr/>
        </p:nvGrpSpPr>
        <p:grpSpPr>
          <a:xfrm rot="0">
            <a:off x="4700016" y="5510689"/>
            <a:ext cx="1920240" cy="871823"/>
            <a:chOff x="0" y="0"/>
            <a:chExt cx="2560320" cy="1162431"/>
          </a:xfrm>
        </p:grpSpPr>
        <p:sp>
          <p:nvSpPr>
            <p:cNvPr name="Freeform 141" id="141"/>
            <p:cNvSpPr/>
            <p:nvPr/>
          </p:nvSpPr>
          <p:spPr>
            <a:xfrm flipH="false" flipV="false" rot="0">
              <a:off x="0" y="0"/>
              <a:ext cx="2560320" cy="1162432"/>
            </a:xfrm>
            <a:custGeom>
              <a:avLst/>
              <a:gdLst/>
              <a:ahLst/>
              <a:cxnLst/>
              <a:rect r="r" b="b" t="t" l="l"/>
              <a:pathLst>
                <a:path h="1162432" w="2560320">
                  <a:moveTo>
                    <a:pt x="0" y="0"/>
                  </a:moveTo>
                  <a:lnTo>
                    <a:pt x="2560320" y="0"/>
                  </a:lnTo>
                  <a:lnTo>
                    <a:pt x="2560320" y="1162432"/>
                  </a:lnTo>
                  <a:lnTo>
                    <a:pt x="0" y="1162432"/>
                  </a:lnTo>
                  <a:close/>
                </a:path>
              </a:pathLst>
            </a:custGeom>
            <a:blipFill>
              <a:blip r:embed="rId9">
                <a:alphaModFix amt="0"/>
              </a:blip>
              <a:stretch>
                <a:fillRect l="-8252" t="0" r="-8252" b="0"/>
              </a:stretch>
            </a:blipFill>
          </p:spPr>
          <p:txBody>
            <a:bodyPr/>
            <a:p/>
          </p:txBody>
        </p:sp>
        <p:sp>
          <p:nvSpPr>
            <p:cNvPr name="TextBox 142" id="142"/>
            <p:cNvSpPr txBox="true"/>
            <p:nvPr/>
          </p:nvSpPr>
          <p:spPr>
            <a:xfrm>
              <a:off x="0" y="-47625"/>
              <a:ext cx="2560320" cy="121005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638"/>
                </a:lnSpc>
              </a:pPr>
              <a:r>
                <a:rPr lang="en-US" sz="2199">
                  <a:solidFill>
                    <a:srgbClr val="1B2A1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Câmera e galeria</a:t>
              </a:r>
            </a:p>
          </p:txBody>
        </p:sp>
      </p:grpSp>
      <p:grpSp>
        <p:nvGrpSpPr>
          <p:cNvPr name="Group 143" id="143"/>
          <p:cNvGrpSpPr/>
          <p:nvPr/>
        </p:nvGrpSpPr>
        <p:grpSpPr>
          <a:xfrm rot="0">
            <a:off x="3931920" y="6858000"/>
            <a:ext cx="621792" cy="621792"/>
            <a:chOff x="0" y="0"/>
            <a:chExt cx="829056" cy="829056"/>
          </a:xfrm>
        </p:grpSpPr>
        <p:sp>
          <p:nvSpPr>
            <p:cNvPr name="Freeform 144" id="144" descr="/tmp/un/ppt/media/image72.png"/>
            <p:cNvSpPr/>
            <p:nvPr/>
          </p:nvSpPr>
          <p:spPr>
            <a:xfrm flipH="false" flipV="false" rot="0">
              <a:off x="0" y="0"/>
              <a:ext cx="829056" cy="829056"/>
            </a:xfrm>
            <a:custGeom>
              <a:avLst/>
              <a:gdLst/>
              <a:ahLst/>
              <a:cxnLst/>
              <a:rect r="r" b="b" t="t" l="l"/>
              <a:pathLst>
                <a:path h="829056" w="829056">
                  <a:moveTo>
                    <a:pt x="0" y="0"/>
                  </a:moveTo>
                  <a:lnTo>
                    <a:pt x="829056" y="0"/>
                  </a:lnTo>
                  <a:lnTo>
                    <a:pt x="829056" y="829056"/>
                  </a:lnTo>
                  <a:lnTo>
                    <a:pt x="0" y="82905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/>
              <a:stretch>
                <a:fillRect l="0" t="0" r="0" b="0"/>
              </a:stretch>
            </a:blipFill>
          </p:spPr>
          <p:txBody>
            <a:bodyPr/>
            <a:p/>
          </p:txBody>
        </p:sp>
      </p:grpSp>
      <p:grpSp>
        <p:nvGrpSpPr>
          <p:cNvPr name="Group 145" id="145"/>
          <p:cNvGrpSpPr/>
          <p:nvPr/>
        </p:nvGrpSpPr>
        <p:grpSpPr>
          <a:xfrm rot="0">
            <a:off x="4700016" y="6858000"/>
            <a:ext cx="1920240" cy="621792"/>
            <a:chOff x="0" y="0"/>
            <a:chExt cx="2560320" cy="829056"/>
          </a:xfrm>
        </p:grpSpPr>
        <p:sp>
          <p:nvSpPr>
            <p:cNvPr name="Freeform 146" id="146"/>
            <p:cNvSpPr/>
            <p:nvPr/>
          </p:nvSpPr>
          <p:spPr>
            <a:xfrm flipH="false" flipV="false" rot="0">
              <a:off x="0" y="0"/>
              <a:ext cx="2560320" cy="829056"/>
            </a:xfrm>
            <a:custGeom>
              <a:avLst/>
              <a:gdLst/>
              <a:ahLst/>
              <a:cxnLst/>
              <a:rect r="r" b="b" t="t" l="l"/>
              <a:pathLst>
                <a:path h="829056" w="2560320">
                  <a:moveTo>
                    <a:pt x="0" y="0"/>
                  </a:moveTo>
                  <a:lnTo>
                    <a:pt x="2560320" y="0"/>
                  </a:lnTo>
                  <a:lnTo>
                    <a:pt x="2560320" y="829056"/>
                  </a:lnTo>
                  <a:lnTo>
                    <a:pt x="0" y="829056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0133" r="0" b="-10131"/>
              </a:stretch>
            </a:blipFill>
          </p:spPr>
          <p:txBody>
            <a:bodyPr/>
            <a:p/>
          </p:txBody>
        </p:sp>
      </p:grpSp>
      <p:grpSp>
        <p:nvGrpSpPr>
          <p:cNvPr name="Group 147" id="147"/>
          <p:cNvGrpSpPr/>
          <p:nvPr/>
        </p:nvGrpSpPr>
        <p:grpSpPr>
          <a:xfrm rot="0">
            <a:off x="4700016" y="6822281"/>
            <a:ext cx="1920240" cy="657511"/>
            <a:chOff x="0" y="0"/>
            <a:chExt cx="2560320" cy="876681"/>
          </a:xfrm>
        </p:grpSpPr>
        <p:sp>
          <p:nvSpPr>
            <p:cNvPr name="Freeform 148" id="148"/>
            <p:cNvSpPr/>
            <p:nvPr/>
          </p:nvSpPr>
          <p:spPr>
            <a:xfrm flipH="false" flipV="false" rot="0">
              <a:off x="0" y="0"/>
              <a:ext cx="2560320" cy="876681"/>
            </a:xfrm>
            <a:custGeom>
              <a:avLst/>
              <a:gdLst/>
              <a:ahLst/>
              <a:cxnLst/>
              <a:rect r="r" b="b" t="t" l="l"/>
              <a:pathLst>
                <a:path h="876681" w="2560320">
                  <a:moveTo>
                    <a:pt x="0" y="0"/>
                  </a:moveTo>
                  <a:lnTo>
                    <a:pt x="2560320" y="0"/>
                  </a:lnTo>
                  <a:lnTo>
                    <a:pt x="2560320" y="876681"/>
                  </a:lnTo>
                  <a:lnTo>
                    <a:pt x="0" y="876681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6866" r="0" b="-6865"/>
              </a:stretch>
            </a:blipFill>
          </p:spPr>
          <p:txBody>
            <a:bodyPr/>
            <a:p/>
          </p:txBody>
        </p:sp>
      </p:grpSp>
      <p:grpSp>
        <p:nvGrpSpPr>
          <p:cNvPr name="Group 149" id="149"/>
          <p:cNvGrpSpPr/>
          <p:nvPr/>
        </p:nvGrpSpPr>
        <p:grpSpPr>
          <a:xfrm rot="0">
            <a:off x="4700016" y="6786563"/>
            <a:ext cx="1920240" cy="693230"/>
            <a:chOff x="0" y="0"/>
            <a:chExt cx="2560320" cy="924306"/>
          </a:xfrm>
        </p:grpSpPr>
        <p:sp>
          <p:nvSpPr>
            <p:cNvPr name="Freeform 150" id="150"/>
            <p:cNvSpPr/>
            <p:nvPr/>
          </p:nvSpPr>
          <p:spPr>
            <a:xfrm flipH="false" flipV="false" rot="0">
              <a:off x="0" y="0"/>
              <a:ext cx="2560320" cy="924306"/>
            </a:xfrm>
            <a:custGeom>
              <a:avLst/>
              <a:gdLst/>
              <a:ahLst/>
              <a:cxnLst/>
              <a:rect r="r" b="b" t="t" l="l"/>
              <a:pathLst>
                <a:path h="924306" w="2560320">
                  <a:moveTo>
                    <a:pt x="0" y="0"/>
                  </a:moveTo>
                  <a:lnTo>
                    <a:pt x="2560320" y="0"/>
                  </a:lnTo>
                  <a:lnTo>
                    <a:pt x="2560320" y="924306"/>
                  </a:lnTo>
                  <a:lnTo>
                    <a:pt x="0" y="92430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3935" r="0" b="-3936"/>
              </a:stretch>
            </a:blipFill>
          </p:spPr>
          <p:txBody>
            <a:bodyPr/>
            <a:p/>
          </p:txBody>
        </p:sp>
      </p:grpSp>
      <p:grpSp>
        <p:nvGrpSpPr>
          <p:cNvPr name="Group 151" id="151"/>
          <p:cNvGrpSpPr/>
          <p:nvPr/>
        </p:nvGrpSpPr>
        <p:grpSpPr>
          <a:xfrm rot="0">
            <a:off x="4700016" y="6750844"/>
            <a:ext cx="1920240" cy="728948"/>
            <a:chOff x="0" y="0"/>
            <a:chExt cx="2560320" cy="971931"/>
          </a:xfrm>
        </p:grpSpPr>
        <p:sp>
          <p:nvSpPr>
            <p:cNvPr name="Freeform 152" id="152"/>
            <p:cNvSpPr/>
            <p:nvPr/>
          </p:nvSpPr>
          <p:spPr>
            <a:xfrm flipH="false" flipV="false" rot="0">
              <a:off x="0" y="0"/>
              <a:ext cx="2560320" cy="971931"/>
            </a:xfrm>
            <a:custGeom>
              <a:avLst/>
              <a:gdLst/>
              <a:ahLst/>
              <a:cxnLst/>
              <a:rect r="r" b="b" t="t" l="l"/>
              <a:pathLst>
                <a:path h="971931" w="2560320">
                  <a:moveTo>
                    <a:pt x="0" y="0"/>
                  </a:moveTo>
                  <a:lnTo>
                    <a:pt x="2560320" y="0"/>
                  </a:lnTo>
                  <a:lnTo>
                    <a:pt x="2560320" y="971931"/>
                  </a:lnTo>
                  <a:lnTo>
                    <a:pt x="0" y="971931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1293" r="0" b="-1292"/>
              </a:stretch>
            </a:blipFill>
          </p:spPr>
          <p:txBody>
            <a:bodyPr/>
            <a:p/>
          </p:txBody>
        </p:sp>
      </p:grpSp>
      <p:grpSp>
        <p:nvGrpSpPr>
          <p:cNvPr name="Group 153" id="153"/>
          <p:cNvGrpSpPr/>
          <p:nvPr/>
        </p:nvGrpSpPr>
        <p:grpSpPr>
          <a:xfrm rot="0">
            <a:off x="4700016" y="6715125"/>
            <a:ext cx="1920240" cy="764667"/>
            <a:chOff x="0" y="0"/>
            <a:chExt cx="2560320" cy="1019556"/>
          </a:xfrm>
        </p:grpSpPr>
        <p:sp>
          <p:nvSpPr>
            <p:cNvPr name="Freeform 154" id="154"/>
            <p:cNvSpPr/>
            <p:nvPr/>
          </p:nvSpPr>
          <p:spPr>
            <a:xfrm flipH="false" flipV="false" rot="0">
              <a:off x="0" y="0"/>
              <a:ext cx="2560320" cy="1019556"/>
            </a:xfrm>
            <a:custGeom>
              <a:avLst/>
              <a:gdLst/>
              <a:ahLst/>
              <a:cxnLst/>
              <a:rect r="r" b="b" t="t" l="l"/>
              <a:pathLst>
                <a:path h="1019556" w="2560320">
                  <a:moveTo>
                    <a:pt x="0" y="0"/>
                  </a:moveTo>
                  <a:lnTo>
                    <a:pt x="2560320" y="0"/>
                  </a:lnTo>
                  <a:lnTo>
                    <a:pt x="2560320" y="1019556"/>
                  </a:lnTo>
                  <a:lnTo>
                    <a:pt x="0" y="1019556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l="-1127" t="0" r="-1127" b="0"/>
              </a:stretch>
            </a:blipFill>
          </p:spPr>
          <p:txBody>
            <a:bodyPr/>
            <a:p/>
          </p:txBody>
        </p:sp>
      </p:grpSp>
      <p:grpSp>
        <p:nvGrpSpPr>
          <p:cNvPr name="Group 155" id="155"/>
          <p:cNvGrpSpPr/>
          <p:nvPr/>
        </p:nvGrpSpPr>
        <p:grpSpPr>
          <a:xfrm rot="0">
            <a:off x="4700016" y="6679406"/>
            <a:ext cx="1920240" cy="800386"/>
            <a:chOff x="0" y="0"/>
            <a:chExt cx="2560320" cy="1067181"/>
          </a:xfrm>
        </p:grpSpPr>
        <p:sp>
          <p:nvSpPr>
            <p:cNvPr name="Freeform 156" id="156"/>
            <p:cNvSpPr/>
            <p:nvPr/>
          </p:nvSpPr>
          <p:spPr>
            <a:xfrm flipH="false" flipV="false" rot="0">
              <a:off x="0" y="0"/>
              <a:ext cx="2560320" cy="1067181"/>
            </a:xfrm>
            <a:custGeom>
              <a:avLst/>
              <a:gdLst/>
              <a:ahLst/>
              <a:cxnLst/>
              <a:rect r="r" b="b" t="t" l="l"/>
              <a:pathLst>
                <a:path h="1067181" w="2560320">
                  <a:moveTo>
                    <a:pt x="0" y="0"/>
                  </a:moveTo>
                  <a:lnTo>
                    <a:pt x="2560320" y="0"/>
                  </a:lnTo>
                  <a:lnTo>
                    <a:pt x="2560320" y="1067181"/>
                  </a:lnTo>
                  <a:lnTo>
                    <a:pt x="0" y="1067181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-3516" t="0" r="-3515" b="0"/>
              </a:stretch>
            </a:blipFill>
          </p:spPr>
          <p:txBody>
            <a:bodyPr/>
            <a:p/>
          </p:txBody>
        </p:sp>
      </p:grpSp>
      <p:grpSp>
        <p:nvGrpSpPr>
          <p:cNvPr name="Group 157" id="157"/>
          <p:cNvGrpSpPr/>
          <p:nvPr/>
        </p:nvGrpSpPr>
        <p:grpSpPr>
          <a:xfrm rot="0">
            <a:off x="4700016" y="6643688"/>
            <a:ext cx="1920240" cy="836105"/>
            <a:chOff x="0" y="0"/>
            <a:chExt cx="2560320" cy="1114806"/>
          </a:xfrm>
        </p:grpSpPr>
        <p:sp>
          <p:nvSpPr>
            <p:cNvPr name="Freeform 158" id="158"/>
            <p:cNvSpPr/>
            <p:nvPr/>
          </p:nvSpPr>
          <p:spPr>
            <a:xfrm flipH="false" flipV="false" rot="0">
              <a:off x="0" y="0"/>
              <a:ext cx="2560320" cy="1114806"/>
            </a:xfrm>
            <a:custGeom>
              <a:avLst/>
              <a:gdLst/>
              <a:ahLst/>
              <a:cxnLst/>
              <a:rect r="r" b="b" t="t" l="l"/>
              <a:pathLst>
                <a:path h="1114806" w="2560320">
                  <a:moveTo>
                    <a:pt x="0" y="0"/>
                  </a:moveTo>
                  <a:lnTo>
                    <a:pt x="2560320" y="0"/>
                  </a:lnTo>
                  <a:lnTo>
                    <a:pt x="2560320" y="1114806"/>
                  </a:lnTo>
                  <a:lnTo>
                    <a:pt x="0" y="1114806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-5904" t="0" r="-5904" b="0"/>
              </a:stretch>
            </a:blipFill>
          </p:spPr>
          <p:txBody>
            <a:bodyPr/>
            <a:p/>
          </p:txBody>
        </p:sp>
      </p:grpSp>
      <p:grpSp>
        <p:nvGrpSpPr>
          <p:cNvPr name="Group 159" id="159"/>
          <p:cNvGrpSpPr/>
          <p:nvPr/>
        </p:nvGrpSpPr>
        <p:grpSpPr>
          <a:xfrm rot="0">
            <a:off x="4700016" y="6607969"/>
            <a:ext cx="1920240" cy="871823"/>
            <a:chOff x="0" y="0"/>
            <a:chExt cx="2560320" cy="1162431"/>
          </a:xfrm>
        </p:grpSpPr>
        <p:sp>
          <p:nvSpPr>
            <p:cNvPr name="Freeform 160" id="160"/>
            <p:cNvSpPr/>
            <p:nvPr/>
          </p:nvSpPr>
          <p:spPr>
            <a:xfrm flipH="false" flipV="false" rot="0">
              <a:off x="0" y="0"/>
              <a:ext cx="2560320" cy="1162432"/>
            </a:xfrm>
            <a:custGeom>
              <a:avLst/>
              <a:gdLst/>
              <a:ahLst/>
              <a:cxnLst/>
              <a:rect r="r" b="b" t="t" l="l"/>
              <a:pathLst>
                <a:path h="1162432" w="2560320">
                  <a:moveTo>
                    <a:pt x="0" y="0"/>
                  </a:moveTo>
                  <a:lnTo>
                    <a:pt x="2560320" y="0"/>
                  </a:lnTo>
                  <a:lnTo>
                    <a:pt x="2560320" y="1162432"/>
                  </a:lnTo>
                  <a:lnTo>
                    <a:pt x="0" y="1162432"/>
                  </a:lnTo>
                  <a:close/>
                </a:path>
              </a:pathLst>
            </a:custGeom>
            <a:blipFill>
              <a:blip r:embed="rId9">
                <a:alphaModFix amt="0"/>
              </a:blip>
              <a:stretch>
                <a:fillRect l="-8252" t="0" r="-8252" b="0"/>
              </a:stretch>
            </a:blipFill>
          </p:spPr>
          <p:txBody>
            <a:bodyPr/>
            <a:p/>
          </p:txBody>
        </p:sp>
        <p:sp>
          <p:nvSpPr>
            <p:cNvPr name="TextBox 161" id="161"/>
            <p:cNvSpPr txBox="true"/>
            <p:nvPr/>
          </p:nvSpPr>
          <p:spPr>
            <a:xfrm>
              <a:off x="0" y="-47625"/>
              <a:ext cx="2560320" cy="121005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638"/>
                </a:lnSpc>
              </a:pPr>
              <a:r>
                <a:rPr lang="en-US" sz="2199">
                  <a:solidFill>
                    <a:srgbClr val="1B2A1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Notificações</a:t>
              </a:r>
            </a:p>
          </p:txBody>
        </p:sp>
      </p:grpSp>
      <p:grpSp>
        <p:nvGrpSpPr>
          <p:cNvPr name="Group 181" id="181"/>
          <p:cNvGrpSpPr/>
          <p:nvPr/>
        </p:nvGrpSpPr>
        <p:grpSpPr>
          <a:xfrm rot="0">
            <a:off x="3931920" y="7956041"/>
            <a:ext cx="621792" cy="621792"/>
            <a:chOff x="0" y="0"/>
            <a:chExt cx="829056" cy="829056"/>
          </a:xfrm>
        </p:grpSpPr>
        <p:sp>
          <p:nvSpPr>
            <p:cNvPr name="Freeform 182" id="182" descr="/tmp/un/ppt/media/image74.png"/>
            <p:cNvSpPr/>
            <p:nvPr/>
          </p:nvSpPr>
          <p:spPr>
            <a:xfrm flipH="false" flipV="false" rot="0">
              <a:off x="0" y="0"/>
              <a:ext cx="829056" cy="829056"/>
            </a:xfrm>
            <a:custGeom>
              <a:avLst/>
              <a:gdLst/>
              <a:ahLst/>
              <a:cxnLst/>
              <a:rect r="r" b="b" t="t" l="l"/>
              <a:pathLst>
                <a:path h="829056" w="829056">
                  <a:moveTo>
                    <a:pt x="0" y="0"/>
                  </a:moveTo>
                  <a:lnTo>
                    <a:pt x="829056" y="0"/>
                  </a:lnTo>
                  <a:lnTo>
                    <a:pt x="829056" y="829056"/>
                  </a:lnTo>
                  <a:lnTo>
                    <a:pt x="0" y="82905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/>
              <a:stretch>
                <a:fillRect l="0" t="0" r="0" b="0"/>
              </a:stretch>
            </a:blipFill>
          </p:spPr>
          <p:txBody>
            <a:bodyPr/>
            <a:p/>
          </p:txBody>
        </p:sp>
      </p:grpSp>
      <p:grpSp>
        <p:nvGrpSpPr>
          <p:cNvPr name="Group 183" id="183"/>
          <p:cNvGrpSpPr/>
          <p:nvPr/>
        </p:nvGrpSpPr>
        <p:grpSpPr>
          <a:xfrm rot="0">
            <a:off x="4700016" y="7956041"/>
            <a:ext cx="1920240" cy="621792"/>
            <a:chOff x="0" y="0"/>
            <a:chExt cx="2560320" cy="829056"/>
          </a:xfrm>
        </p:grpSpPr>
        <p:sp>
          <p:nvSpPr>
            <p:cNvPr name="Freeform 184" id="184"/>
            <p:cNvSpPr/>
            <p:nvPr/>
          </p:nvSpPr>
          <p:spPr>
            <a:xfrm flipH="false" flipV="false" rot="0">
              <a:off x="0" y="0"/>
              <a:ext cx="2560320" cy="829056"/>
            </a:xfrm>
            <a:custGeom>
              <a:avLst/>
              <a:gdLst/>
              <a:ahLst/>
              <a:cxnLst/>
              <a:rect r="r" b="b" t="t" l="l"/>
              <a:pathLst>
                <a:path h="829056" w="2560320">
                  <a:moveTo>
                    <a:pt x="0" y="0"/>
                  </a:moveTo>
                  <a:lnTo>
                    <a:pt x="2560320" y="0"/>
                  </a:lnTo>
                  <a:lnTo>
                    <a:pt x="2560320" y="829056"/>
                  </a:lnTo>
                  <a:lnTo>
                    <a:pt x="0" y="829056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0133" r="0" b="-10131"/>
              </a:stretch>
            </a:blipFill>
          </p:spPr>
          <p:txBody>
            <a:bodyPr/>
            <a:p/>
          </p:txBody>
        </p:sp>
      </p:grpSp>
      <p:grpSp>
        <p:nvGrpSpPr>
          <p:cNvPr name="Group 185" id="185"/>
          <p:cNvGrpSpPr/>
          <p:nvPr/>
        </p:nvGrpSpPr>
        <p:grpSpPr>
          <a:xfrm rot="0">
            <a:off x="4700016" y="7920322"/>
            <a:ext cx="1920240" cy="657511"/>
            <a:chOff x="0" y="0"/>
            <a:chExt cx="2560320" cy="876681"/>
          </a:xfrm>
        </p:grpSpPr>
        <p:sp>
          <p:nvSpPr>
            <p:cNvPr name="Freeform 186" id="186"/>
            <p:cNvSpPr/>
            <p:nvPr/>
          </p:nvSpPr>
          <p:spPr>
            <a:xfrm flipH="false" flipV="false" rot="0">
              <a:off x="0" y="0"/>
              <a:ext cx="2560320" cy="876681"/>
            </a:xfrm>
            <a:custGeom>
              <a:avLst/>
              <a:gdLst/>
              <a:ahLst/>
              <a:cxnLst/>
              <a:rect r="r" b="b" t="t" l="l"/>
              <a:pathLst>
                <a:path h="876681" w="2560320">
                  <a:moveTo>
                    <a:pt x="0" y="0"/>
                  </a:moveTo>
                  <a:lnTo>
                    <a:pt x="2560320" y="0"/>
                  </a:lnTo>
                  <a:lnTo>
                    <a:pt x="2560320" y="876681"/>
                  </a:lnTo>
                  <a:lnTo>
                    <a:pt x="0" y="876681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6866" r="0" b="-6865"/>
              </a:stretch>
            </a:blipFill>
          </p:spPr>
          <p:txBody>
            <a:bodyPr/>
            <a:p/>
          </p:txBody>
        </p:sp>
      </p:grpSp>
      <p:grpSp>
        <p:nvGrpSpPr>
          <p:cNvPr name="Group 187" id="187"/>
          <p:cNvGrpSpPr/>
          <p:nvPr/>
        </p:nvGrpSpPr>
        <p:grpSpPr>
          <a:xfrm rot="0">
            <a:off x="4700016" y="7884604"/>
            <a:ext cx="1920240" cy="693230"/>
            <a:chOff x="0" y="0"/>
            <a:chExt cx="2560320" cy="924306"/>
          </a:xfrm>
        </p:grpSpPr>
        <p:sp>
          <p:nvSpPr>
            <p:cNvPr name="Freeform 188" id="188"/>
            <p:cNvSpPr/>
            <p:nvPr/>
          </p:nvSpPr>
          <p:spPr>
            <a:xfrm flipH="false" flipV="false" rot="0">
              <a:off x="0" y="0"/>
              <a:ext cx="2560320" cy="924306"/>
            </a:xfrm>
            <a:custGeom>
              <a:avLst/>
              <a:gdLst/>
              <a:ahLst/>
              <a:cxnLst/>
              <a:rect r="r" b="b" t="t" l="l"/>
              <a:pathLst>
                <a:path h="924306" w="2560320">
                  <a:moveTo>
                    <a:pt x="0" y="0"/>
                  </a:moveTo>
                  <a:lnTo>
                    <a:pt x="2560320" y="0"/>
                  </a:lnTo>
                  <a:lnTo>
                    <a:pt x="2560320" y="924306"/>
                  </a:lnTo>
                  <a:lnTo>
                    <a:pt x="0" y="92430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3935" r="0" b="-3936"/>
              </a:stretch>
            </a:blipFill>
          </p:spPr>
          <p:txBody>
            <a:bodyPr/>
            <a:p/>
          </p:txBody>
        </p:sp>
      </p:grpSp>
      <p:grpSp>
        <p:nvGrpSpPr>
          <p:cNvPr name="Group 189" id="189"/>
          <p:cNvGrpSpPr/>
          <p:nvPr/>
        </p:nvGrpSpPr>
        <p:grpSpPr>
          <a:xfrm rot="0">
            <a:off x="4700016" y="7848885"/>
            <a:ext cx="1920240" cy="728948"/>
            <a:chOff x="0" y="0"/>
            <a:chExt cx="2560320" cy="971931"/>
          </a:xfrm>
        </p:grpSpPr>
        <p:sp>
          <p:nvSpPr>
            <p:cNvPr name="Freeform 190" id="190"/>
            <p:cNvSpPr/>
            <p:nvPr/>
          </p:nvSpPr>
          <p:spPr>
            <a:xfrm flipH="false" flipV="false" rot="0">
              <a:off x="0" y="0"/>
              <a:ext cx="2560320" cy="971931"/>
            </a:xfrm>
            <a:custGeom>
              <a:avLst/>
              <a:gdLst/>
              <a:ahLst/>
              <a:cxnLst/>
              <a:rect r="r" b="b" t="t" l="l"/>
              <a:pathLst>
                <a:path h="971931" w="2560320">
                  <a:moveTo>
                    <a:pt x="0" y="0"/>
                  </a:moveTo>
                  <a:lnTo>
                    <a:pt x="2560320" y="0"/>
                  </a:lnTo>
                  <a:lnTo>
                    <a:pt x="2560320" y="971931"/>
                  </a:lnTo>
                  <a:lnTo>
                    <a:pt x="0" y="971931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1293" r="0" b="-1292"/>
              </a:stretch>
            </a:blipFill>
          </p:spPr>
          <p:txBody>
            <a:bodyPr/>
            <a:p/>
          </p:txBody>
        </p:sp>
      </p:grpSp>
      <p:grpSp>
        <p:nvGrpSpPr>
          <p:cNvPr name="Group 191" id="191"/>
          <p:cNvGrpSpPr/>
          <p:nvPr/>
        </p:nvGrpSpPr>
        <p:grpSpPr>
          <a:xfrm rot="0">
            <a:off x="4700016" y="7813166"/>
            <a:ext cx="1920240" cy="764667"/>
            <a:chOff x="0" y="0"/>
            <a:chExt cx="2560320" cy="1019556"/>
          </a:xfrm>
        </p:grpSpPr>
        <p:sp>
          <p:nvSpPr>
            <p:cNvPr name="Freeform 192" id="192"/>
            <p:cNvSpPr/>
            <p:nvPr/>
          </p:nvSpPr>
          <p:spPr>
            <a:xfrm flipH="false" flipV="false" rot="0">
              <a:off x="0" y="0"/>
              <a:ext cx="2560320" cy="1019556"/>
            </a:xfrm>
            <a:custGeom>
              <a:avLst/>
              <a:gdLst/>
              <a:ahLst/>
              <a:cxnLst/>
              <a:rect r="r" b="b" t="t" l="l"/>
              <a:pathLst>
                <a:path h="1019556" w="2560320">
                  <a:moveTo>
                    <a:pt x="0" y="0"/>
                  </a:moveTo>
                  <a:lnTo>
                    <a:pt x="2560320" y="0"/>
                  </a:lnTo>
                  <a:lnTo>
                    <a:pt x="2560320" y="1019556"/>
                  </a:lnTo>
                  <a:lnTo>
                    <a:pt x="0" y="1019556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l="-1127" t="0" r="-1127" b="0"/>
              </a:stretch>
            </a:blipFill>
          </p:spPr>
          <p:txBody>
            <a:bodyPr/>
            <a:p/>
          </p:txBody>
        </p:sp>
      </p:grpSp>
      <p:grpSp>
        <p:nvGrpSpPr>
          <p:cNvPr name="Group 193" id="193"/>
          <p:cNvGrpSpPr/>
          <p:nvPr/>
        </p:nvGrpSpPr>
        <p:grpSpPr>
          <a:xfrm rot="0">
            <a:off x="4700016" y="7777447"/>
            <a:ext cx="1920240" cy="800386"/>
            <a:chOff x="0" y="0"/>
            <a:chExt cx="2560320" cy="1067181"/>
          </a:xfrm>
        </p:grpSpPr>
        <p:sp>
          <p:nvSpPr>
            <p:cNvPr name="Freeform 194" id="194"/>
            <p:cNvSpPr/>
            <p:nvPr/>
          </p:nvSpPr>
          <p:spPr>
            <a:xfrm flipH="false" flipV="false" rot="0">
              <a:off x="0" y="0"/>
              <a:ext cx="2560320" cy="1067181"/>
            </a:xfrm>
            <a:custGeom>
              <a:avLst/>
              <a:gdLst/>
              <a:ahLst/>
              <a:cxnLst/>
              <a:rect r="r" b="b" t="t" l="l"/>
              <a:pathLst>
                <a:path h="1067181" w="2560320">
                  <a:moveTo>
                    <a:pt x="0" y="0"/>
                  </a:moveTo>
                  <a:lnTo>
                    <a:pt x="2560320" y="0"/>
                  </a:lnTo>
                  <a:lnTo>
                    <a:pt x="2560320" y="1067181"/>
                  </a:lnTo>
                  <a:lnTo>
                    <a:pt x="0" y="1067181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-3516" t="0" r="-3515" b="0"/>
              </a:stretch>
            </a:blipFill>
          </p:spPr>
          <p:txBody>
            <a:bodyPr/>
            <a:p/>
          </p:txBody>
        </p:sp>
      </p:grpSp>
      <p:grpSp>
        <p:nvGrpSpPr>
          <p:cNvPr name="Group 195" id="195"/>
          <p:cNvGrpSpPr/>
          <p:nvPr/>
        </p:nvGrpSpPr>
        <p:grpSpPr>
          <a:xfrm rot="0">
            <a:off x="4700016" y="7741729"/>
            <a:ext cx="1920240" cy="836105"/>
            <a:chOff x="0" y="0"/>
            <a:chExt cx="2560320" cy="1114806"/>
          </a:xfrm>
        </p:grpSpPr>
        <p:sp>
          <p:nvSpPr>
            <p:cNvPr name="Freeform 196" id="196"/>
            <p:cNvSpPr/>
            <p:nvPr/>
          </p:nvSpPr>
          <p:spPr>
            <a:xfrm flipH="false" flipV="false" rot="0">
              <a:off x="0" y="0"/>
              <a:ext cx="2560320" cy="1114806"/>
            </a:xfrm>
            <a:custGeom>
              <a:avLst/>
              <a:gdLst/>
              <a:ahLst/>
              <a:cxnLst/>
              <a:rect r="r" b="b" t="t" l="l"/>
              <a:pathLst>
                <a:path h="1114806" w="2560320">
                  <a:moveTo>
                    <a:pt x="0" y="0"/>
                  </a:moveTo>
                  <a:lnTo>
                    <a:pt x="2560320" y="0"/>
                  </a:lnTo>
                  <a:lnTo>
                    <a:pt x="2560320" y="1114806"/>
                  </a:lnTo>
                  <a:lnTo>
                    <a:pt x="0" y="1114806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-5904" t="0" r="-5904" b="0"/>
              </a:stretch>
            </a:blipFill>
          </p:spPr>
          <p:txBody>
            <a:bodyPr/>
            <a:p/>
          </p:txBody>
        </p:sp>
      </p:grpSp>
      <p:grpSp>
        <p:nvGrpSpPr>
          <p:cNvPr name="Group 197" id="197"/>
          <p:cNvGrpSpPr/>
          <p:nvPr/>
        </p:nvGrpSpPr>
        <p:grpSpPr>
          <a:xfrm rot="0">
            <a:off x="4700016" y="7706010"/>
            <a:ext cx="1920240" cy="871823"/>
            <a:chOff x="0" y="0"/>
            <a:chExt cx="2560320" cy="1162431"/>
          </a:xfrm>
        </p:grpSpPr>
        <p:sp>
          <p:nvSpPr>
            <p:cNvPr name="Freeform 198" id="198"/>
            <p:cNvSpPr/>
            <p:nvPr/>
          </p:nvSpPr>
          <p:spPr>
            <a:xfrm flipH="false" flipV="false" rot="0">
              <a:off x="0" y="0"/>
              <a:ext cx="2560320" cy="1162432"/>
            </a:xfrm>
            <a:custGeom>
              <a:avLst/>
              <a:gdLst/>
              <a:ahLst/>
              <a:cxnLst/>
              <a:rect r="r" b="b" t="t" l="l"/>
              <a:pathLst>
                <a:path h="1162432" w="2560320">
                  <a:moveTo>
                    <a:pt x="0" y="0"/>
                  </a:moveTo>
                  <a:lnTo>
                    <a:pt x="2560320" y="0"/>
                  </a:lnTo>
                  <a:lnTo>
                    <a:pt x="2560320" y="1162432"/>
                  </a:lnTo>
                  <a:lnTo>
                    <a:pt x="0" y="1162432"/>
                  </a:lnTo>
                  <a:close/>
                </a:path>
              </a:pathLst>
            </a:custGeom>
            <a:blipFill>
              <a:blip r:embed="rId9">
                <a:alphaModFix amt="0"/>
              </a:blip>
              <a:stretch>
                <a:fillRect l="-8252" t="0" r="-8252" b="0"/>
              </a:stretch>
            </a:blipFill>
          </p:spPr>
          <p:txBody>
            <a:bodyPr/>
            <a:p/>
          </p:txBody>
        </p:sp>
        <p:sp>
          <p:nvSpPr>
            <p:cNvPr name="TextBox 199" id="199"/>
            <p:cNvSpPr txBox="true"/>
            <p:nvPr/>
          </p:nvSpPr>
          <p:spPr>
            <a:xfrm>
              <a:off x="0" y="-47625"/>
              <a:ext cx="2560320" cy="121005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638"/>
                </a:lnSpc>
              </a:pPr>
              <a:r>
                <a:rPr lang="en-US" sz="2199">
                  <a:solidFill>
                    <a:srgbClr val="1B2A1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Login Google</a:t>
              </a:r>
            </a:p>
          </p:txBody>
        </p:sp>
      </p:grpSp>
      <p:grpSp>
        <p:nvGrpSpPr>
          <p:cNvPr name="Group 200" id="200"/>
          <p:cNvGrpSpPr/>
          <p:nvPr/>
        </p:nvGrpSpPr>
        <p:grpSpPr>
          <a:xfrm rot="0">
            <a:off x="8229600" y="3639312"/>
            <a:ext cx="621792" cy="621792"/>
            <a:chOff x="0" y="0"/>
            <a:chExt cx="829056" cy="829056"/>
          </a:xfrm>
        </p:grpSpPr>
        <p:sp>
          <p:nvSpPr>
            <p:cNvPr name="Freeform 201" id="201" descr="/tmp/un/ppt/media/image75.png"/>
            <p:cNvSpPr/>
            <p:nvPr/>
          </p:nvSpPr>
          <p:spPr>
            <a:xfrm flipH="false" flipV="false" rot="0">
              <a:off x="0" y="0"/>
              <a:ext cx="829056" cy="829056"/>
            </a:xfrm>
            <a:custGeom>
              <a:avLst/>
              <a:gdLst/>
              <a:ahLst/>
              <a:cxnLst/>
              <a:rect r="r" b="b" t="t" l="l"/>
              <a:pathLst>
                <a:path h="829056" w="829056">
                  <a:moveTo>
                    <a:pt x="0" y="0"/>
                  </a:moveTo>
                  <a:lnTo>
                    <a:pt x="829056" y="0"/>
                  </a:lnTo>
                  <a:lnTo>
                    <a:pt x="829056" y="829056"/>
                  </a:lnTo>
                  <a:lnTo>
                    <a:pt x="0" y="82905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9"/>
              <a:stretch>
                <a:fillRect l="0" t="0" r="0" b="0"/>
              </a:stretch>
            </a:blipFill>
          </p:spPr>
          <p:txBody>
            <a:bodyPr/>
            <a:p/>
          </p:txBody>
        </p:sp>
      </p:grpSp>
      <p:sp>
        <p:nvSpPr>
          <p:cNvPr name="TextBox 202" id="202"/>
          <p:cNvSpPr txBox="true"/>
          <p:nvPr/>
        </p:nvSpPr>
        <p:spPr>
          <a:xfrm rot="0">
            <a:off x="9052560" y="3185160"/>
            <a:ext cx="4023360" cy="78333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60"/>
              </a:lnSpc>
            </a:pPr>
            <a:r>
              <a:rPr lang="en-US" sz="2300" b="true">
                <a:solidFill>
                  <a:srgbClr val="1B2A1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Supabase Auth</a:t>
            </a:r>
          </a:p>
        </p:txBody>
      </p:sp>
      <p:sp>
        <p:nvSpPr>
          <p:cNvPr name="TextBox 203" id="203"/>
          <p:cNvSpPr txBox="true"/>
          <p:nvPr/>
        </p:nvSpPr>
        <p:spPr>
          <a:xfrm rot="0">
            <a:off x="9052560" y="3663696"/>
            <a:ext cx="4023360" cy="8534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00"/>
              </a:lnSpc>
            </a:pPr>
            <a:r>
              <a:rPr lang="en-US" sz="2000">
                <a:solidFill>
                  <a:srgbClr val="5B6B5F"/>
                </a:solidFill>
                <a:latin typeface="Calibri (MS)"/>
                <a:ea typeface="Calibri (MS)"/>
                <a:cs typeface="Calibri (MS)"/>
                <a:sym typeface="Calibri (MS)"/>
              </a:rPr>
              <a:t>login, inclusive com Google</a:t>
            </a:r>
          </a:p>
        </p:txBody>
      </p:sp>
      <p:grpSp>
        <p:nvGrpSpPr>
          <p:cNvPr name="Group 204" id="204"/>
          <p:cNvGrpSpPr/>
          <p:nvPr/>
        </p:nvGrpSpPr>
        <p:grpSpPr>
          <a:xfrm rot="0">
            <a:off x="8229600" y="4736592"/>
            <a:ext cx="621792" cy="621792"/>
            <a:chOff x="0" y="0"/>
            <a:chExt cx="829056" cy="829056"/>
          </a:xfrm>
        </p:grpSpPr>
        <p:sp>
          <p:nvSpPr>
            <p:cNvPr name="Freeform 205" id="205"/>
            <p:cNvSpPr/>
            <p:nvPr/>
          </p:nvSpPr>
          <p:spPr>
            <a:xfrm flipH="false" flipV="false" rot="0">
              <a:off x="0" y="0"/>
              <a:ext cx="829056" cy="829056"/>
            </a:xfrm>
            <a:custGeom>
              <a:avLst/>
              <a:gdLst/>
              <a:ahLst/>
              <a:cxnLst/>
              <a:rect r="r" b="b" t="t" l="l"/>
              <a:pathLst>
                <a:path h="829056" w="829056">
                  <a:moveTo>
                    <a:pt x="0" y="0"/>
                  </a:moveTo>
                  <a:lnTo>
                    <a:pt x="829056" y="0"/>
                  </a:lnTo>
                  <a:lnTo>
                    <a:pt x="829056" y="829056"/>
                  </a:lnTo>
                  <a:lnTo>
                    <a:pt x="0" y="82905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0"/>
              <a:stretch>
                <a:fillRect l="0" t="-2127" r="0" b="-2127"/>
              </a:stretch>
            </a:blipFill>
          </p:spPr>
          <p:txBody>
            <a:bodyPr/>
            <a:p/>
          </p:txBody>
        </p:sp>
      </p:grpSp>
      <p:sp>
        <p:nvSpPr>
          <p:cNvPr name="TextBox 206" id="206"/>
          <p:cNvSpPr txBox="true"/>
          <p:nvPr/>
        </p:nvSpPr>
        <p:spPr>
          <a:xfrm rot="0">
            <a:off x="9052560" y="4282440"/>
            <a:ext cx="4023360" cy="78333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60"/>
              </a:lnSpc>
            </a:pPr>
            <a:r>
              <a:rPr lang="en-US" sz="2300" b="true">
                <a:solidFill>
                  <a:srgbClr val="1B2A1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PostgreSQL + RLS</a:t>
            </a:r>
          </a:p>
        </p:txBody>
      </p:sp>
      <p:sp>
        <p:nvSpPr>
          <p:cNvPr name="TextBox 207" id="207"/>
          <p:cNvSpPr txBox="true"/>
          <p:nvPr/>
        </p:nvSpPr>
        <p:spPr>
          <a:xfrm rot="0">
            <a:off x="9052560" y="4760976"/>
            <a:ext cx="4023360" cy="8534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00"/>
              </a:lnSpc>
            </a:pPr>
            <a:r>
              <a:rPr lang="en-US" sz="2000">
                <a:solidFill>
                  <a:srgbClr val="5B6B5F"/>
                </a:solidFill>
                <a:latin typeface="Calibri (MS)"/>
                <a:ea typeface="Calibri (MS)"/>
                <a:cs typeface="Calibri (MS)"/>
                <a:sym typeface="Calibri (MS)"/>
              </a:rPr>
              <a:t>banco, cada um só mexe no que é seu</a:t>
            </a:r>
          </a:p>
        </p:txBody>
      </p:sp>
      <p:grpSp>
        <p:nvGrpSpPr>
          <p:cNvPr name="Group 208" id="208"/>
          <p:cNvGrpSpPr/>
          <p:nvPr/>
        </p:nvGrpSpPr>
        <p:grpSpPr>
          <a:xfrm rot="0">
            <a:off x="8229600" y="5833872"/>
            <a:ext cx="621792" cy="621792"/>
            <a:chOff x="0" y="0"/>
            <a:chExt cx="829056" cy="829056"/>
          </a:xfrm>
        </p:grpSpPr>
        <p:sp>
          <p:nvSpPr>
            <p:cNvPr name="Freeform 209" id="209" descr="/tmp/un/ppt/media/image60.png"/>
            <p:cNvSpPr/>
            <p:nvPr/>
          </p:nvSpPr>
          <p:spPr>
            <a:xfrm flipH="false" flipV="false" rot="0">
              <a:off x="0" y="0"/>
              <a:ext cx="829056" cy="829056"/>
            </a:xfrm>
            <a:custGeom>
              <a:avLst/>
              <a:gdLst/>
              <a:ahLst/>
              <a:cxnLst/>
              <a:rect r="r" b="b" t="t" l="l"/>
              <a:pathLst>
                <a:path h="829056" w="829056">
                  <a:moveTo>
                    <a:pt x="0" y="0"/>
                  </a:moveTo>
                  <a:lnTo>
                    <a:pt x="829056" y="0"/>
                  </a:lnTo>
                  <a:lnTo>
                    <a:pt x="829056" y="829056"/>
                  </a:lnTo>
                  <a:lnTo>
                    <a:pt x="0" y="82905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1"/>
              <a:stretch>
                <a:fillRect l="0" t="0" r="0" b="0"/>
              </a:stretch>
            </a:blipFill>
          </p:spPr>
          <p:txBody>
            <a:bodyPr/>
            <a:p/>
          </p:txBody>
        </p:sp>
      </p:grpSp>
      <p:sp>
        <p:nvSpPr>
          <p:cNvPr name="TextBox 210" id="210"/>
          <p:cNvSpPr txBox="true"/>
          <p:nvPr/>
        </p:nvSpPr>
        <p:spPr>
          <a:xfrm rot="0">
            <a:off x="9052560" y="5379720"/>
            <a:ext cx="4023360" cy="78333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60"/>
              </a:lnSpc>
            </a:pPr>
            <a:r>
              <a:rPr lang="en-US" sz="2300" b="true">
                <a:solidFill>
                  <a:srgbClr val="1B2A1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Storage</a:t>
            </a:r>
          </a:p>
        </p:txBody>
      </p:sp>
      <p:sp>
        <p:nvSpPr>
          <p:cNvPr name="TextBox 211" id="211"/>
          <p:cNvSpPr txBox="true"/>
          <p:nvPr/>
        </p:nvSpPr>
        <p:spPr>
          <a:xfrm rot="0">
            <a:off x="9052560" y="5858256"/>
            <a:ext cx="4023360" cy="8534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00"/>
              </a:lnSpc>
            </a:pPr>
            <a:r>
              <a:rPr lang="en-US" sz="2000">
                <a:solidFill>
                  <a:srgbClr val="5B6B5F"/>
                </a:solidFill>
                <a:latin typeface="Calibri (MS)"/>
                <a:ea typeface="Calibri (MS)"/>
                <a:cs typeface="Calibri (MS)"/>
                <a:sym typeface="Calibri (MS)"/>
              </a:rPr>
              <a:t>guarda as fotos</a:t>
            </a:r>
          </a:p>
        </p:txBody>
      </p:sp>
      <p:grpSp>
        <p:nvGrpSpPr>
          <p:cNvPr name="Group 212" id="212"/>
          <p:cNvGrpSpPr/>
          <p:nvPr/>
        </p:nvGrpSpPr>
        <p:grpSpPr>
          <a:xfrm rot="0">
            <a:off x="8229600" y="6931152"/>
            <a:ext cx="621792" cy="621792"/>
            <a:chOff x="0" y="0"/>
            <a:chExt cx="829056" cy="829056"/>
          </a:xfrm>
        </p:grpSpPr>
        <p:sp>
          <p:nvSpPr>
            <p:cNvPr name="Freeform 213" id="213" descr="/tmp/un/ppt/media/image61.png"/>
            <p:cNvSpPr/>
            <p:nvPr/>
          </p:nvSpPr>
          <p:spPr>
            <a:xfrm flipH="false" flipV="false" rot="0">
              <a:off x="0" y="0"/>
              <a:ext cx="829056" cy="829056"/>
            </a:xfrm>
            <a:custGeom>
              <a:avLst/>
              <a:gdLst/>
              <a:ahLst/>
              <a:cxnLst/>
              <a:rect r="r" b="b" t="t" l="l"/>
              <a:pathLst>
                <a:path h="829056" w="829056">
                  <a:moveTo>
                    <a:pt x="0" y="0"/>
                  </a:moveTo>
                  <a:lnTo>
                    <a:pt x="829056" y="0"/>
                  </a:lnTo>
                  <a:lnTo>
                    <a:pt x="829056" y="829056"/>
                  </a:lnTo>
                  <a:lnTo>
                    <a:pt x="0" y="82905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2"/>
              <a:stretch>
                <a:fillRect l="0" t="0" r="0" b="0"/>
              </a:stretch>
            </a:blipFill>
          </p:spPr>
          <p:txBody>
            <a:bodyPr/>
            <a:p/>
          </p:txBody>
        </p:sp>
      </p:grpSp>
      <p:sp>
        <p:nvSpPr>
          <p:cNvPr name="TextBox 214" id="214"/>
          <p:cNvSpPr txBox="true"/>
          <p:nvPr/>
        </p:nvSpPr>
        <p:spPr>
          <a:xfrm rot="0">
            <a:off x="9052560" y="6477000"/>
            <a:ext cx="4023360" cy="78333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60"/>
              </a:lnSpc>
            </a:pPr>
            <a:r>
              <a:rPr lang="en-US" sz="2300" b="true">
                <a:solidFill>
                  <a:srgbClr val="1B2A1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Realtime</a:t>
            </a:r>
          </a:p>
        </p:txBody>
      </p:sp>
      <p:sp>
        <p:nvSpPr>
          <p:cNvPr name="TextBox 215" id="215"/>
          <p:cNvSpPr txBox="true"/>
          <p:nvPr/>
        </p:nvSpPr>
        <p:spPr>
          <a:xfrm rot="0">
            <a:off x="9052560" y="6955536"/>
            <a:ext cx="4023360" cy="8534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00"/>
              </a:lnSpc>
            </a:pPr>
            <a:r>
              <a:rPr lang="en-US" sz="2000">
                <a:solidFill>
                  <a:srgbClr val="5B6B5F"/>
                </a:solidFill>
                <a:latin typeface="Calibri (MS)"/>
                <a:ea typeface="Calibri (MS)"/>
                <a:cs typeface="Calibri (MS)"/>
                <a:sym typeface="Calibri (MS)"/>
              </a:rPr>
              <a:t>chat e avisos na hora</a:t>
            </a:r>
          </a:p>
        </p:txBody>
      </p:sp>
      <p:grpSp>
        <p:nvGrpSpPr>
          <p:cNvPr name="Group 216" id="216"/>
          <p:cNvGrpSpPr/>
          <p:nvPr/>
        </p:nvGrpSpPr>
        <p:grpSpPr>
          <a:xfrm rot="0">
            <a:off x="8229600" y="8028432"/>
            <a:ext cx="621792" cy="621792"/>
            <a:chOff x="0" y="0"/>
            <a:chExt cx="829056" cy="829056"/>
          </a:xfrm>
        </p:grpSpPr>
        <p:sp>
          <p:nvSpPr>
            <p:cNvPr name="Freeform 217" id="217" descr="/tmp/un/ppt/media/image62.png"/>
            <p:cNvSpPr/>
            <p:nvPr/>
          </p:nvSpPr>
          <p:spPr>
            <a:xfrm flipH="false" flipV="false" rot="0">
              <a:off x="0" y="0"/>
              <a:ext cx="829056" cy="829056"/>
            </a:xfrm>
            <a:custGeom>
              <a:avLst/>
              <a:gdLst/>
              <a:ahLst/>
              <a:cxnLst/>
              <a:rect r="r" b="b" t="t" l="l"/>
              <a:pathLst>
                <a:path h="829056" w="829056">
                  <a:moveTo>
                    <a:pt x="0" y="0"/>
                  </a:moveTo>
                  <a:lnTo>
                    <a:pt x="829056" y="0"/>
                  </a:lnTo>
                  <a:lnTo>
                    <a:pt x="829056" y="829056"/>
                  </a:lnTo>
                  <a:lnTo>
                    <a:pt x="0" y="82905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3"/>
              <a:stretch>
                <a:fillRect l="0" t="0" r="0" b="0"/>
              </a:stretch>
            </a:blipFill>
          </p:spPr>
          <p:txBody>
            <a:bodyPr/>
            <a:p/>
          </p:txBody>
        </p:sp>
      </p:grpSp>
      <p:sp>
        <p:nvSpPr>
          <p:cNvPr name="TextBox 218" id="218"/>
          <p:cNvSpPr txBox="true"/>
          <p:nvPr/>
        </p:nvSpPr>
        <p:spPr>
          <a:xfrm rot="0">
            <a:off x="9052560" y="7574280"/>
            <a:ext cx="4023360" cy="78333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60"/>
              </a:lnSpc>
            </a:pPr>
            <a:r>
              <a:rPr lang="en-US" sz="2300" b="true">
                <a:solidFill>
                  <a:srgbClr val="1B2A1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Edge Functions</a:t>
            </a:r>
          </a:p>
        </p:txBody>
      </p:sp>
      <p:sp>
        <p:nvSpPr>
          <p:cNvPr name="TextBox 219" id="219"/>
          <p:cNvSpPr txBox="true"/>
          <p:nvPr/>
        </p:nvSpPr>
        <p:spPr>
          <a:xfrm rot="0">
            <a:off x="9052560" y="8052816"/>
            <a:ext cx="4023360" cy="8534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00"/>
              </a:lnSpc>
            </a:pPr>
            <a:r>
              <a:rPr lang="en-US" sz="2000">
                <a:solidFill>
                  <a:srgbClr val="5B6B5F"/>
                </a:solidFill>
                <a:latin typeface="Calibri (MS)"/>
                <a:ea typeface="Calibri (MS)"/>
                <a:cs typeface="Calibri (MS)"/>
                <a:sym typeface="Calibri (MS)"/>
              </a:rPr>
              <a:t>tarefas no servidor</a:t>
            </a:r>
          </a:p>
        </p:txBody>
      </p:sp>
      <p:sp>
        <p:nvSpPr>
          <p:cNvPr name="TextBox 220" id="220"/>
          <p:cNvSpPr txBox="true"/>
          <p:nvPr/>
        </p:nvSpPr>
        <p:spPr>
          <a:xfrm rot="0">
            <a:off x="14721840" y="4739640"/>
            <a:ext cx="2560320" cy="78333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60"/>
              </a:lnSpc>
            </a:pPr>
            <a:r>
              <a:rPr lang="en-US" sz="2300" b="true">
                <a:solidFill>
                  <a:srgbClr val="1B2A1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Evolution API</a:t>
            </a:r>
          </a:p>
        </p:txBody>
      </p:sp>
      <p:sp>
        <p:nvSpPr>
          <p:cNvPr name="TextBox 221" id="221"/>
          <p:cNvSpPr txBox="true"/>
          <p:nvPr/>
        </p:nvSpPr>
        <p:spPr>
          <a:xfrm rot="0">
            <a:off x="14721840" y="5218176"/>
            <a:ext cx="2560320" cy="10363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00"/>
              </a:lnSpc>
            </a:pPr>
            <a:r>
              <a:rPr lang="en-US" sz="2000">
                <a:solidFill>
                  <a:srgbClr val="5B6B5F"/>
                </a:solidFill>
                <a:latin typeface="Calibri (MS)"/>
                <a:ea typeface="Calibri (MS)"/>
                <a:cs typeface="Calibri (MS)"/>
                <a:sym typeface="Calibri (MS)"/>
              </a:rPr>
              <a:t>robô que envia, hospedado no Render</a:t>
            </a:r>
          </a:p>
        </p:txBody>
      </p:sp>
      <p:grpSp>
        <p:nvGrpSpPr>
          <p:cNvPr name="Group 222" id="222"/>
          <p:cNvGrpSpPr/>
          <p:nvPr/>
        </p:nvGrpSpPr>
        <p:grpSpPr>
          <a:xfrm rot="0">
            <a:off x="14721840" y="6446520"/>
            <a:ext cx="731520" cy="731520"/>
            <a:chOff x="0" y="0"/>
            <a:chExt cx="975360" cy="975360"/>
          </a:xfrm>
        </p:grpSpPr>
        <p:sp>
          <p:nvSpPr>
            <p:cNvPr name="Freeform 223" id="223" descr="/tmp/un/ppt/media/image64.png"/>
            <p:cNvSpPr/>
            <p:nvPr/>
          </p:nvSpPr>
          <p:spPr>
            <a:xfrm flipH="false" flipV="false" rot="0">
              <a:off x="0" y="0"/>
              <a:ext cx="975360" cy="975360"/>
            </a:xfrm>
            <a:custGeom>
              <a:avLst/>
              <a:gdLst/>
              <a:ahLst/>
              <a:cxnLst/>
              <a:rect r="r" b="b" t="t" l="l"/>
              <a:pathLst>
                <a:path h="975360" w="975360">
                  <a:moveTo>
                    <a:pt x="0" y="0"/>
                  </a:moveTo>
                  <a:lnTo>
                    <a:pt x="975360" y="0"/>
                  </a:lnTo>
                  <a:lnTo>
                    <a:pt x="975360" y="975360"/>
                  </a:lnTo>
                  <a:lnTo>
                    <a:pt x="0" y="97536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4"/>
              <a:stretch>
                <a:fillRect l="0" t="0" r="0" b="0"/>
              </a:stretch>
            </a:blipFill>
          </p:spPr>
          <p:txBody>
            <a:bodyPr/>
            <a:p/>
          </p:txBody>
        </p:sp>
      </p:grpSp>
      <p:sp>
        <p:nvSpPr>
          <p:cNvPr name="TextBox 224" id="224"/>
          <p:cNvSpPr txBox="true"/>
          <p:nvPr/>
        </p:nvSpPr>
        <p:spPr>
          <a:xfrm rot="0">
            <a:off x="14721840" y="7174230"/>
            <a:ext cx="2560320" cy="78333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60"/>
              </a:lnSpc>
            </a:pPr>
            <a:r>
              <a:rPr lang="en-US" sz="2300" b="true">
                <a:solidFill>
                  <a:srgbClr val="1B2A1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WhatsApp</a:t>
            </a:r>
          </a:p>
        </p:txBody>
      </p:sp>
      <p:sp>
        <p:nvSpPr>
          <p:cNvPr name="TextBox 225" id="225"/>
          <p:cNvSpPr txBox="true"/>
          <p:nvPr/>
        </p:nvSpPr>
        <p:spPr>
          <a:xfrm rot="0">
            <a:off x="14721840" y="7650480"/>
            <a:ext cx="2560320" cy="10363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00"/>
              </a:lnSpc>
            </a:pPr>
            <a:r>
              <a:rPr lang="en-US" sz="2000">
                <a:solidFill>
                  <a:srgbClr val="5B6B5F"/>
                </a:solidFill>
                <a:latin typeface="Calibri (MS)"/>
                <a:ea typeface="Calibri (MS)"/>
                <a:cs typeface="Calibri (MS)"/>
                <a:sym typeface="Calibri (MS)"/>
              </a:rPr>
              <a:t>código e avisos</a:t>
            </a:r>
          </a:p>
        </p:txBody>
      </p:sp>
      <p:sp>
        <p:nvSpPr>
          <p:cNvPr name="AutoShape 226" id="226"/>
          <p:cNvSpPr/>
          <p:nvPr/>
        </p:nvSpPr>
        <p:spPr>
          <a:xfrm rot="54900">
            <a:off x="6764750" y="5684520"/>
            <a:ext cx="1192320" cy="0"/>
          </a:xfrm>
          <a:prstGeom prst="line">
            <a:avLst/>
          </a:prstGeom>
          <a:ln cap="rnd" w="19050">
            <a:solidFill>
              <a:srgbClr val="B1734A"/>
            </a:solidFill>
            <a:prstDash val="solid"/>
            <a:headEnd type="none" len="sm" w="sm"/>
            <a:tailEnd type="triangle" len="med" w="lg"/>
          </a:ln>
        </p:spPr>
        <p:txBody>
          <a:bodyPr/>
          <a:p/>
        </p:txBody>
      </p:sp>
      <p:sp>
        <p:nvSpPr>
          <p:cNvPr name="TextBox 227" id="227"/>
          <p:cNvSpPr txBox="true"/>
          <p:nvPr/>
        </p:nvSpPr>
        <p:spPr>
          <a:xfrm rot="0">
            <a:off x="6675120" y="4815840"/>
            <a:ext cx="1371600" cy="7620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00"/>
              </a:lnSpc>
            </a:pPr>
            <a:r>
              <a:rPr lang="en-US" sz="2000" b="true">
                <a:solidFill>
                  <a:srgbClr val="B1734A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HTTPS</a:t>
            </a:r>
          </a:p>
        </p:txBody>
      </p:sp>
      <p:sp>
        <p:nvSpPr>
          <p:cNvPr name="AutoShape 228" id="228"/>
          <p:cNvSpPr/>
          <p:nvPr/>
        </p:nvSpPr>
        <p:spPr>
          <a:xfrm rot="54900">
            <a:off x="13256990" y="5684520"/>
            <a:ext cx="1192320" cy="0"/>
          </a:xfrm>
          <a:prstGeom prst="line">
            <a:avLst/>
          </a:prstGeom>
          <a:ln cap="rnd" w="19050">
            <a:solidFill>
              <a:srgbClr val="B1734A"/>
            </a:solidFill>
            <a:prstDash val="solid"/>
            <a:headEnd type="none" len="sm" w="sm"/>
            <a:tailEnd type="triangle" len="med" w="lg"/>
          </a:ln>
        </p:spPr>
        <p:txBody>
          <a:bodyPr/>
          <a:p/>
        </p:txBody>
      </p:sp>
      <p:sp>
        <p:nvSpPr>
          <p:cNvPr name="TextBox 229" id="229"/>
          <p:cNvSpPr txBox="true"/>
          <p:nvPr/>
        </p:nvSpPr>
        <p:spPr>
          <a:xfrm rot="0">
            <a:off x="13167360" y="4815840"/>
            <a:ext cx="1371600" cy="7620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00"/>
              </a:lnSpc>
            </a:pPr>
            <a:r>
              <a:rPr lang="en-US" sz="2000" b="true">
                <a:solidFill>
                  <a:srgbClr val="B1734A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HTTPS</a:t>
            </a:r>
          </a:p>
        </p:txBody>
      </p:sp>
      <p:sp>
        <p:nvSpPr>
          <p:cNvPr name="TextBox 230" id="230"/>
          <p:cNvSpPr txBox="true"/>
          <p:nvPr/>
        </p:nvSpPr>
        <p:spPr>
          <a:xfrm rot="0">
            <a:off x="16459200" y="9433560"/>
            <a:ext cx="914400" cy="3810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400"/>
              </a:lnSpc>
            </a:pPr>
            <a:r>
              <a:rPr lang="en-US" sz="2000">
                <a:solidFill>
                  <a:srgbClr val="5B6B5F"/>
                </a:solidFill>
                <a:latin typeface="Calibri (MS)"/>
                <a:ea typeface="Calibri (MS)"/>
                <a:cs typeface="Calibri (MS)"/>
                <a:sym typeface="Calibri (MS)"/>
              </a:rPr>
              <a:t>20</a:t>
            </a:r>
          </a:p>
        </p:txBody>
      </p:sp>
      <p:grpSp>
        <p:nvGrpSpPr>
          <p:cNvPr name="Group 231" id="231"/>
          <p:cNvGrpSpPr/>
          <p:nvPr/>
        </p:nvGrpSpPr>
        <p:grpSpPr>
          <a:xfrm rot="0">
            <a:off x="822960" y="9572625"/>
            <a:ext cx="8229600" cy="440055"/>
            <a:chOff x="0" y="0"/>
            <a:chExt cx="10972800" cy="586740"/>
          </a:xfrm>
        </p:grpSpPr>
        <p:sp>
          <p:nvSpPr>
            <p:cNvPr name="Freeform 232" id="232"/>
            <p:cNvSpPr/>
            <p:nvPr/>
          </p:nvSpPr>
          <p:spPr>
            <a:xfrm flipH="false" flipV="false" rot="0">
              <a:off x="0" y="0"/>
              <a:ext cx="10972800" cy="586740"/>
            </a:xfrm>
            <a:custGeom>
              <a:avLst/>
              <a:gdLst/>
              <a:ahLst/>
              <a:cxnLst/>
              <a:rect r="r" b="b" t="t" l="l"/>
              <a:pathLst>
                <a:path h="5867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586740"/>
                  </a:lnTo>
                  <a:lnTo>
                    <a:pt x="0" y="5867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314142" r="0" b="-314140"/>
              </a:stretch>
            </a:blipFill>
          </p:spPr>
        </p:sp>
      </p:grpSp>
      <p:grpSp>
        <p:nvGrpSpPr>
          <p:cNvPr name="Group 233" id="233"/>
          <p:cNvGrpSpPr/>
          <p:nvPr/>
        </p:nvGrpSpPr>
        <p:grpSpPr>
          <a:xfrm rot="0">
            <a:off x="822960" y="9544050"/>
            <a:ext cx="8229600" cy="468630"/>
            <a:chOff x="0" y="0"/>
            <a:chExt cx="10972800" cy="624840"/>
          </a:xfrm>
        </p:grpSpPr>
        <p:sp>
          <p:nvSpPr>
            <p:cNvPr name="Freeform 234" id="234"/>
            <p:cNvSpPr/>
            <p:nvPr/>
          </p:nvSpPr>
          <p:spPr>
            <a:xfrm flipH="false" flipV="false" rot="0">
              <a:off x="0" y="0"/>
              <a:ext cx="10972800" cy="624840"/>
            </a:xfrm>
            <a:custGeom>
              <a:avLst/>
              <a:gdLst/>
              <a:ahLst/>
              <a:cxnLst/>
              <a:rect r="r" b="b" t="t" l="l"/>
              <a:pathLst>
                <a:path h="6248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624840"/>
                  </a:lnTo>
                  <a:lnTo>
                    <a:pt x="0" y="6248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91939" r="0" b="-291936"/>
              </a:stretch>
            </a:blipFill>
          </p:spPr>
        </p:sp>
      </p:grpSp>
      <p:grpSp>
        <p:nvGrpSpPr>
          <p:cNvPr name="Group 235" id="235"/>
          <p:cNvGrpSpPr/>
          <p:nvPr/>
        </p:nvGrpSpPr>
        <p:grpSpPr>
          <a:xfrm rot="0">
            <a:off x="822960" y="9515475"/>
            <a:ext cx="8229600" cy="497205"/>
            <a:chOff x="0" y="0"/>
            <a:chExt cx="10972800" cy="662940"/>
          </a:xfrm>
        </p:grpSpPr>
        <p:sp>
          <p:nvSpPr>
            <p:cNvPr name="Freeform 236" id="236"/>
            <p:cNvSpPr/>
            <p:nvPr/>
          </p:nvSpPr>
          <p:spPr>
            <a:xfrm flipH="false" flipV="false" rot="0">
              <a:off x="0" y="0"/>
              <a:ext cx="10972800" cy="662940"/>
            </a:xfrm>
            <a:custGeom>
              <a:avLst/>
              <a:gdLst/>
              <a:ahLst/>
              <a:cxnLst/>
              <a:rect r="r" b="b" t="t" l="l"/>
              <a:pathLst>
                <a:path h="6629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662940"/>
                  </a:lnTo>
                  <a:lnTo>
                    <a:pt x="0" y="66294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72287" r="0" b="-272285"/>
              </a:stretch>
            </a:blipFill>
          </p:spPr>
        </p:sp>
      </p:grpSp>
      <p:grpSp>
        <p:nvGrpSpPr>
          <p:cNvPr name="Group 237" id="237"/>
          <p:cNvGrpSpPr/>
          <p:nvPr/>
        </p:nvGrpSpPr>
        <p:grpSpPr>
          <a:xfrm rot="0">
            <a:off x="822960" y="9486900"/>
            <a:ext cx="8229600" cy="525780"/>
            <a:chOff x="0" y="0"/>
            <a:chExt cx="10972800" cy="701040"/>
          </a:xfrm>
        </p:grpSpPr>
        <p:sp>
          <p:nvSpPr>
            <p:cNvPr name="Freeform 238" id="238"/>
            <p:cNvSpPr/>
            <p:nvPr/>
          </p:nvSpPr>
          <p:spPr>
            <a:xfrm flipH="false" flipV="false" rot="0">
              <a:off x="0" y="0"/>
              <a:ext cx="10972800" cy="701040"/>
            </a:xfrm>
            <a:custGeom>
              <a:avLst/>
              <a:gdLst/>
              <a:ahLst/>
              <a:cxnLst/>
              <a:rect r="r" b="b" t="t" l="l"/>
              <a:pathLst>
                <a:path h="7010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701040"/>
                  </a:lnTo>
                  <a:lnTo>
                    <a:pt x="0" y="701040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254771" r="0" b="-254769"/>
              </a:stretch>
            </a:blipFill>
          </p:spPr>
        </p:sp>
      </p:grpSp>
      <p:grpSp>
        <p:nvGrpSpPr>
          <p:cNvPr name="Group 239" id="239"/>
          <p:cNvGrpSpPr/>
          <p:nvPr/>
        </p:nvGrpSpPr>
        <p:grpSpPr>
          <a:xfrm rot="0">
            <a:off x="822960" y="9458325"/>
            <a:ext cx="8229600" cy="554355"/>
            <a:chOff x="0" y="0"/>
            <a:chExt cx="10972800" cy="739140"/>
          </a:xfrm>
        </p:grpSpPr>
        <p:sp>
          <p:nvSpPr>
            <p:cNvPr name="Freeform 240" id="240"/>
            <p:cNvSpPr/>
            <p:nvPr/>
          </p:nvSpPr>
          <p:spPr>
            <a:xfrm flipH="false" flipV="false" rot="0">
              <a:off x="0" y="0"/>
              <a:ext cx="10972800" cy="739140"/>
            </a:xfrm>
            <a:custGeom>
              <a:avLst/>
              <a:gdLst/>
              <a:ahLst/>
              <a:cxnLst/>
              <a:rect r="r" b="b" t="t" l="l"/>
              <a:pathLst>
                <a:path h="7391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739140"/>
                  </a:lnTo>
                  <a:lnTo>
                    <a:pt x="0" y="739140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l="0" t="-239061" r="0" b="-239060"/>
              </a:stretch>
            </a:blipFill>
          </p:spPr>
        </p:sp>
      </p:grpSp>
      <p:grpSp>
        <p:nvGrpSpPr>
          <p:cNvPr name="Group 241" id="241"/>
          <p:cNvGrpSpPr/>
          <p:nvPr/>
        </p:nvGrpSpPr>
        <p:grpSpPr>
          <a:xfrm rot="0">
            <a:off x="822960" y="9429750"/>
            <a:ext cx="8229600" cy="582930"/>
            <a:chOff x="0" y="0"/>
            <a:chExt cx="10972800" cy="777240"/>
          </a:xfrm>
        </p:grpSpPr>
        <p:sp>
          <p:nvSpPr>
            <p:cNvPr name="Freeform 242" id="242"/>
            <p:cNvSpPr/>
            <p:nvPr/>
          </p:nvSpPr>
          <p:spPr>
            <a:xfrm flipH="false" flipV="false" rot="0">
              <a:off x="0" y="0"/>
              <a:ext cx="10972800" cy="777240"/>
            </a:xfrm>
            <a:custGeom>
              <a:avLst/>
              <a:gdLst/>
              <a:ahLst/>
              <a:cxnLst/>
              <a:rect r="r" b="b" t="t" l="l"/>
              <a:pathLst>
                <a:path h="7772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777240"/>
                  </a:lnTo>
                  <a:lnTo>
                    <a:pt x="0" y="777240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0" t="-224892" r="0" b="-224890"/>
              </a:stretch>
            </a:blipFill>
          </p:spPr>
        </p:sp>
      </p:grpSp>
      <p:grpSp>
        <p:nvGrpSpPr>
          <p:cNvPr name="Group 243" id="243"/>
          <p:cNvGrpSpPr/>
          <p:nvPr/>
        </p:nvGrpSpPr>
        <p:grpSpPr>
          <a:xfrm rot="0">
            <a:off x="822960" y="9401175"/>
            <a:ext cx="8229600" cy="611505"/>
            <a:chOff x="0" y="0"/>
            <a:chExt cx="10972800" cy="815340"/>
          </a:xfrm>
        </p:grpSpPr>
        <p:sp>
          <p:nvSpPr>
            <p:cNvPr name="Freeform 244" id="244"/>
            <p:cNvSpPr/>
            <p:nvPr/>
          </p:nvSpPr>
          <p:spPr>
            <a:xfrm flipH="false" flipV="false" rot="0">
              <a:off x="0" y="0"/>
              <a:ext cx="10972800" cy="815340"/>
            </a:xfrm>
            <a:custGeom>
              <a:avLst/>
              <a:gdLst/>
              <a:ahLst/>
              <a:cxnLst/>
              <a:rect r="r" b="b" t="t" l="l"/>
              <a:pathLst>
                <a:path h="8153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815340"/>
                  </a:lnTo>
                  <a:lnTo>
                    <a:pt x="0" y="815340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0" t="-212046" r="0" b="-212045"/>
              </a:stretch>
            </a:blipFill>
          </p:spPr>
        </p:sp>
      </p:grpSp>
      <p:grpSp>
        <p:nvGrpSpPr>
          <p:cNvPr name="Group 245" id="245"/>
          <p:cNvGrpSpPr/>
          <p:nvPr/>
        </p:nvGrpSpPr>
        <p:grpSpPr>
          <a:xfrm rot="0">
            <a:off x="822960" y="9372600"/>
            <a:ext cx="8229600" cy="640080"/>
            <a:chOff x="0" y="0"/>
            <a:chExt cx="10972800" cy="853440"/>
          </a:xfrm>
        </p:grpSpPr>
        <p:sp>
          <p:nvSpPr>
            <p:cNvPr name="Freeform 246" id="246"/>
            <p:cNvSpPr/>
            <p:nvPr/>
          </p:nvSpPr>
          <p:spPr>
            <a:xfrm flipH="false" flipV="false" rot="0">
              <a:off x="0" y="0"/>
              <a:ext cx="10972800" cy="853440"/>
            </a:xfrm>
            <a:custGeom>
              <a:avLst/>
              <a:gdLst/>
              <a:ahLst/>
              <a:cxnLst/>
              <a:rect r="r" b="b" t="t" l="l"/>
              <a:pathLst>
                <a:path h="8534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853440"/>
                  </a:lnTo>
                  <a:lnTo>
                    <a:pt x="0" y="853440"/>
                  </a:lnTo>
                  <a:close/>
                </a:path>
              </a:pathLst>
            </a:custGeom>
            <a:blipFill>
              <a:blip r:embed="rId9">
                <a:alphaModFix amt="0"/>
              </a:blip>
              <a:stretch>
                <a:fillRect l="0" t="-200521" r="0" b="-200521"/>
              </a:stretch>
            </a:blipFill>
          </p:spPr>
        </p:sp>
        <p:sp>
          <p:nvSpPr>
            <p:cNvPr name="TextBox 247" id="247"/>
            <p:cNvSpPr txBox="true"/>
            <p:nvPr/>
          </p:nvSpPr>
          <p:spPr>
            <a:xfrm>
              <a:off x="0" y="-38100"/>
              <a:ext cx="10972800" cy="8915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6B728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WeFIND  |  TCC  |  IFSul Campus Pelotas</a:t>
              </a:r>
            </a:p>
          </p:txBody>
        </p:sp>
      </p:grpSp>
      <p:grpSp>
        <p:nvGrpSpPr>
          <p:cNvPr name="Group 248" id="248"/>
          <p:cNvGrpSpPr/>
          <p:nvPr/>
        </p:nvGrpSpPr>
        <p:grpSpPr>
          <a:xfrm rot="0">
            <a:off x="14721840" y="3931920"/>
            <a:ext cx="731520" cy="731520"/>
            <a:chOff x="0" y="0"/>
            <a:chExt cx="975360" cy="975360"/>
          </a:xfrm>
        </p:grpSpPr>
        <p:sp>
          <p:nvSpPr>
            <p:cNvPr name="Freeform 249" id="249"/>
            <p:cNvSpPr/>
            <p:nvPr/>
          </p:nvSpPr>
          <p:spPr>
            <a:xfrm flipH="false" flipV="false" rot="0">
              <a:off x="0" y="0"/>
              <a:ext cx="975360" cy="975360"/>
            </a:xfrm>
            <a:custGeom>
              <a:avLst/>
              <a:gdLst/>
              <a:ahLst/>
              <a:cxnLst/>
              <a:rect r="r" b="b" t="t" l="l"/>
              <a:pathLst>
                <a:path h="975360" w="975360">
                  <a:moveTo>
                    <a:pt x="0" y="0"/>
                  </a:moveTo>
                  <a:lnTo>
                    <a:pt x="975360" y="0"/>
                  </a:lnTo>
                  <a:lnTo>
                    <a:pt x="975360" y="975360"/>
                  </a:lnTo>
                  <a:lnTo>
                    <a:pt x="0" y="97536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5"/>
              <a:stretch>
                <a:fillRect l="0" t="-4444" r="0" b="-4445"/>
              </a:stretch>
            </a:blipFill>
          </p:spPr>
        </p:sp>
      </p:grpSp>
      <p:sp>
        <p:nvSpPr>
          <p:cNvPr id="252" name="TextBox 251"/>
          <p:cNvSpPr txBox="1"/>
          <p:nvPr/>
        </p:nvSpPr>
        <p:spPr>
          <a:xfrm>
            <a:off x="1188720" y="2743200"/>
            <a:ext cx="53949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>
                <a:solidFill>
                  <a:srgbClr val="B1734A"/>
                </a:solidFill>
                <a:latin typeface="Calibri (MS) Bold"/>
              </a:rPr>
              <a:t>onde a pessoa usa</a:t>
            </a:r>
          </a:p>
        </p:txBody>
      </p:sp>
      <p:sp>
        <p:nvSpPr>
          <p:cNvPr id="253" name="TextBox 252"/>
          <p:cNvSpPr txBox="1"/>
          <p:nvPr/>
        </p:nvSpPr>
        <p:spPr>
          <a:xfrm>
            <a:off x="8229600" y="2743200"/>
            <a:ext cx="48463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>
                <a:solidFill>
                  <a:srgbClr val="B1734A"/>
                </a:solidFill>
                <a:latin typeface="Calibri (MS) Bold"/>
              </a:rPr>
              <a:t>onde tudo fica guardado</a:t>
            </a:r>
          </a:p>
        </p:txBody>
      </p:sp>
      <p:sp>
        <p:nvSpPr>
          <p:cNvPr id="254" name="TextBox 253"/>
          <p:cNvSpPr txBox="1"/>
          <p:nvPr/>
        </p:nvSpPr>
        <p:spPr>
          <a:xfrm>
            <a:off x="14721840" y="2743200"/>
            <a:ext cx="25603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>
                <a:solidFill>
                  <a:srgbClr val="B1734A"/>
                </a:solidFill>
                <a:latin typeface="Calibri (MS) Bold"/>
              </a:rPr>
              <a:t>quem avisa</a:t>
            </a:r>
          </a:p>
        </p:txBody>
      </p:sp>
      <p:sp>
        <p:nvSpPr>
          <p:cNvPr id="255" name="TextBox 254"/>
          <p:cNvSpPr txBox="1"/>
          <p:nvPr/>
        </p:nvSpPr>
        <p:spPr>
          <a:xfrm>
            <a:off x="4700016" y="3931920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0">
                <a:solidFill>
                  <a:srgbClr val="5B6B5F"/>
                </a:solidFill>
                <a:latin typeface="Calibri (MS)"/>
              </a:rPr>
              <a:t>localização</a:t>
            </a:r>
          </a:p>
        </p:txBody>
      </p:sp>
      <p:sp>
        <p:nvSpPr>
          <p:cNvPr id="256" name="TextBox 255"/>
          <p:cNvSpPr txBox="1"/>
          <p:nvPr/>
        </p:nvSpPr>
        <p:spPr>
          <a:xfrm>
            <a:off x="4700016" y="5029200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0">
                <a:solidFill>
                  <a:srgbClr val="5B6B5F"/>
                </a:solidFill>
                <a:latin typeface="Calibri (MS)"/>
              </a:rPr>
              <a:t>ver os casos</a:t>
            </a:r>
          </a:p>
        </p:txBody>
      </p:sp>
      <p:sp>
        <p:nvSpPr>
          <p:cNvPr id="257" name="TextBox 256"/>
          <p:cNvSpPr txBox="1"/>
          <p:nvPr/>
        </p:nvSpPr>
        <p:spPr>
          <a:xfrm>
            <a:off x="4700016" y="6126480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0">
                <a:solidFill>
                  <a:srgbClr val="5B6B5F"/>
                </a:solidFill>
                <a:latin typeface="Calibri (MS)"/>
              </a:rPr>
              <a:t>fotos dos anúncios</a:t>
            </a:r>
          </a:p>
        </p:txBody>
      </p:sp>
      <p:sp>
        <p:nvSpPr>
          <p:cNvPr id="258" name="TextBox 257"/>
          <p:cNvSpPr txBox="1"/>
          <p:nvPr/>
        </p:nvSpPr>
        <p:spPr>
          <a:xfrm>
            <a:off x="4700016" y="7223760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0">
                <a:solidFill>
                  <a:srgbClr val="5B6B5F"/>
                </a:solidFill>
                <a:latin typeface="Calibri (MS)"/>
              </a:rPr>
              <a:t>avisos no celular</a:t>
            </a:r>
          </a:p>
        </p:txBody>
      </p:sp>
      <p:sp>
        <p:nvSpPr>
          <p:cNvPr id="259" name="TextBox 258"/>
          <p:cNvSpPr txBox="1"/>
          <p:nvPr/>
        </p:nvSpPr>
        <p:spPr>
          <a:xfrm>
            <a:off x="4700016" y="8321040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0">
                <a:solidFill>
                  <a:srgbClr val="5B6B5F"/>
                </a:solidFill>
                <a:latin typeface="Calibri (MS)"/>
              </a:rPr>
              <a:t>entrar mais rápido</a:t>
            </a:r>
          </a:p>
        </p:txBody>
      </p:sp>
      <p:sp>
        <p:nvSpPr>
          <p:cNvPr id="260" name="TextBox 259"/>
          <p:cNvSpPr txBox="1"/>
          <p:nvPr/>
        </p:nvSpPr>
        <p:spPr>
          <a:xfrm>
            <a:off x="1956816" y="3931920"/>
            <a:ext cx="1920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>
                <a:solidFill>
                  <a:srgbClr val="5B6B5F"/>
                </a:solidFill>
                <a:latin typeface="Calibri (MS)"/>
              </a:rPr>
              <a:t>Android e iOS</a:t>
            </a:r>
          </a:p>
        </p:txBody>
      </p:sp>
      <p:sp>
        <p:nvSpPr>
          <p:cNvPr id="261" name="TextBox 260"/>
          <p:cNvSpPr txBox="1"/>
          <p:nvPr/>
        </p:nvSpPr>
        <p:spPr>
          <a:xfrm>
            <a:off x="1956816" y="5029200"/>
            <a:ext cx="1920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>
                <a:solidFill>
                  <a:srgbClr val="5B6B5F"/>
                </a:solidFill>
                <a:latin typeface="Calibri (MS)"/>
              </a:rPr>
              <a:t>plataforma</a:t>
            </a:r>
          </a:p>
        </p:txBody>
      </p:sp>
      <p:sp>
        <p:nvSpPr>
          <p:cNvPr id="262" name="TextBox 261"/>
          <p:cNvSpPr txBox="1"/>
          <p:nvPr/>
        </p:nvSpPr>
        <p:spPr>
          <a:xfrm>
            <a:off x="1956816" y="6126480"/>
            <a:ext cx="1920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>
                <a:solidFill>
                  <a:srgbClr val="5B6B5F"/>
                </a:solidFill>
                <a:latin typeface="Calibri (MS)"/>
              </a:rPr>
              <a:t>linguagem</a:t>
            </a:r>
          </a:p>
        </p:txBody>
      </p:sp>
      <p:sp>
        <p:nvSpPr>
          <p:cNvPr id="263" name="TextBox 262"/>
          <p:cNvSpPr txBox="1"/>
          <p:nvPr/>
        </p:nvSpPr>
        <p:spPr>
          <a:xfrm>
            <a:off x="6675120" y="5199888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>
                <a:solidFill>
                  <a:srgbClr val="5B6B5F"/>
                </a:solidFill>
                <a:latin typeface="Calibri (MS)"/>
              </a:rPr>
              <a:t>conexão segura</a:t>
            </a:r>
          </a:p>
        </p:txBody>
      </p:sp>
      <p:sp>
        <p:nvSpPr>
          <p:cNvPr id="264" name="TextBox 263"/>
          <p:cNvSpPr txBox="1"/>
          <p:nvPr/>
        </p:nvSpPr>
        <p:spPr>
          <a:xfrm>
            <a:off x="13167360" y="5199888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>
                <a:solidFill>
                  <a:srgbClr val="5B6B5F"/>
                </a:solidFill>
                <a:latin typeface="Calibri (MS)"/>
              </a:rPr>
              <a:t>pede o envio</a:t>
            </a:r>
          </a:p>
        </p:txBody>
      </p:sp>
    </p:spTree>
  </p:cSld>
  <p:clrMapOvr>
    <a:masterClrMapping/>
  </p:clrMapOvr>
</p:sld>
</file>

<file path=ppt/slides/slide2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914400" y="914400"/>
            <a:ext cx="16459200" cy="1097280"/>
            <a:chOff x="0" y="0"/>
            <a:chExt cx="21945600" cy="146304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1945600" cy="1463040"/>
            </a:xfrm>
            <a:custGeom>
              <a:avLst/>
              <a:gdLst/>
              <a:ahLst/>
              <a:cxnLst/>
              <a:rect r="r" b="b" t="t" l="l"/>
              <a:pathLst>
                <a:path h="146304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463040"/>
                  </a:lnTo>
                  <a:lnTo>
                    <a:pt x="0" y="14630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242072" r="0" b="-242072"/>
              </a:stretch>
            </a:blipFill>
          </p:spPr>
        </p:sp>
      </p:grpSp>
      <p:grpSp>
        <p:nvGrpSpPr>
          <p:cNvPr name="Group 4" id="4"/>
          <p:cNvGrpSpPr/>
          <p:nvPr/>
        </p:nvGrpSpPr>
        <p:grpSpPr>
          <a:xfrm rot="0">
            <a:off x="914400" y="907256"/>
            <a:ext cx="16459200" cy="1104424"/>
            <a:chOff x="0" y="0"/>
            <a:chExt cx="21945600" cy="1472565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1945600" cy="1472565"/>
            </a:xfrm>
            <a:custGeom>
              <a:avLst/>
              <a:gdLst/>
              <a:ahLst/>
              <a:cxnLst/>
              <a:rect r="r" b="b" t="t" l="l"/>
              <a:pathLst>
                <a:path h="1472565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472565"/>
                  </a:lnTo>
                  <a:lnTo>
                    <a:pt x="0" y="1472565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40182" r="0" b="-240183"/>
              </a:stretch>
            </a:blipFill>
          </p:spPr>
        </p:sp>
      </p:grpSp>
      <p:grpSp>
        <p:nvGrpSpPr>
          <p:cNvPr name="Group 6" id="6"/>
          <p:cNvGrpSpPr/>
          <p:nvPr/>
        </p:nvGrpSpPr>
        <p:grpSpPr>
          <a:xfrm rot="0">
            <a:off x="914400" y="900112"/>
            <a:ext cx="16459200" cy="1111568"/>
            <a:chOff x="0" y="0"/>
            <a:chExt cx="21945600" cy="148209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1945600" cy="1482090"/>
            </a:xfrm>
            <a:custGeom>
              <a:avLst/>
              <a:gdLst/>
              <a:ahLst/>
              <a:cxnLst/>
              <a:rect r="r" b="b" t="t" l="l"/>
              <a:pathLst>
                <a:path h="148209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482090"/>
                  </a:lnTo>
                  <a:lnTo>
                    <a:pt x="0" y="148209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38317" r="0" b="-238318"/>
              </a:stretch>
            </a:blipFill>
          </p:spPr>
        </p:sp>
      </p:grpSp>
      <p:grpSp>
        <p:nvGrpSpPr>
          <p:cNvPr name="Group 8" id="8"/>
          <p:cNvGrpSpPr/>
          <p:nvPr/>
        </p:nvGrpSpPr>
        <p:grpSpPr>
          <a:xfrm rot="0">
            <a:off x="914400" y="892969"/>
            <a:ext cx="16459200" cy="1118711"/>
            <a:chOff x="0" y="0"/>
            <a:chExt cx="21945600" cy="1491615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1945600" cy="1491615"/>
            </a:xfrm>
            <a:custGeom>
              <a:avLst/>
              <a:gdLst/>
              <a:ahLst/>
              <a:cxnLst/>
              <a:rect r="r" b="b" t="t" l="l"/>
              <a:pathLst>
                <a:path h="1491615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491615"/>
                  </a:lnTo>
                  <a:lnTo>
                    <a:pt x="0" y="1491615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236476" r="0" b="-236477"/>
              </a:stretch>
            </a:blipFill>
          </p:spPr>
        </p:sp>
      </p:grpSp>
      <p:grpSp>
        <p:nvGrpSpPr>
          <p:cNvPr name="Group 10" id="10"/>
          <p:cNvGrpSpPr/>
          <p:nvPr/>
        </p:nvGrpSpPr>
        <p:grpSpPr>
          <a:xfrm rot="0">
            <a:off x="914400" y="885825"/>
            <a:ext cx="16459200" cy="1125855"/>
            <a:chOff x="0" y="0"/>
            <a:chExt cx="21945600" cy="150114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21945600" cy="1501140"/>
            </a:xfrm>
            <a:custGeom>
              <a:avLst/>
              <a:gdLst/>
              <a:ahLst/>
              <a:cxnLst/>
              <a:rect r="r" b="b" t="t" l="l"/>
              <a:pathLst>
                <a:path h="150114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501140"/>
                  </a:lnTo>
                  <a:lnTo>
                    <a:pt x="0" y="1501140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l="0" t="-234659" r="0" b="-234659"/>
              </a:stretch>
            </a:blipFill>
          </p:spPr>
        </p:sp>
      </p:grpSp>
      <p:grpSp>
        <p:nvGrpSpPr>
          <p:cNvPr name="Group 12" id="12"/>
          <p:cNvGrpSpPr/>
          <p:nvPr/>
        </p:nvGrpSpPr>
        <p:grpSpPr>
          <a:xfrm rot="0">
            <a:off x="914400" y="878681"/>
            <a:ext cx="16459200" cy="1132999"/>
            <a:chOff x="0" y="0"/>
            <a:chExt cx="21945600" cy="1510665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21945600" cy="1510665"/>
            </a:xfrm>
            <a:custGeom>
              <a:avLst/>
              <a:gdLst/>
              <a:ahLst/>
              <a:cxnLst/>
              <a:rect r="r" b="b" t="t" l="l"/>
              <a:pathLst>
                <a:path h="1510665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510665"/>
                  </a:lnTo>
                  <a:lnTo>
                    <a:pt x="0" y="1510665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0" t="-232864" r="0" b="-232865"/>
              </a:stretch>
            </a:blipFill>
          </p:spPr>
        </p:sp>
      </p:grpSp>
      <p:grpSp>
        <p:nvGrpSpPr>
          <p:cNvPr name="Group 14" id="14"/>
          <p:cNvGrpSpPr/>
          <p:nvPr/>
        </p:nvGrpSpPr>
        <p:grpSpPr>
          <a:xfrm rot="0">
            <a:off x="914400" y="871538"/>
            <a:ext cx="16459200" cy="1140142"/>
            <a:chOff x="0" y="0"/>
            <a:chExt cx="21945600" cy="152019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21945600" cy="1520190"/>
            </a:xfrm>
            <a:custGeom>
              <a:avLst/>
              <a:gdLst/>
              <a:ahLst/>
              <a:cxnLst/>
              <a:rect r="r" b="b" t="t" l="l"/>
              <a:pathLst>
                <a:path h="152019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520190"/>
                  </a:lnTo>
                  <a:lnTo>
                    <a:pt x="0" y="1520190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0" t="-231091" r="0" b="-231092"/>
              </a:stretch>
            </a:blipFill>
          </p:spPr>
        </p:sp>
      </p:grpSp>
      <p:grpSp>
        <p:nvGrpSpPr>
          <p:cNvPr name="Group 16" id="16"/>
          <p:cNvGrpSpPr/>
          <p:nvPr/>
        </p:nvGrpSpPr>
        <p:grpSpPr>
          <a:xfrm rot="0">
            <a:off x="914400" y="864394"/>
            <a:ext cx="16459200" cy="1147286"/>
            <a:chOff x="0" y="0"/>
            <a:chExt cx="21945600" cy="1529715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21945600" cy="1529714"/>
            </a:xfrm>
            <a:custGeom>
              <a:avLst/>
              <a:gdLst/>
              <a:ahLst/>
              <a:cxnLst/>
              <a:rect r="r" b="b" t="t" l="l"/>
              <a:pathLst>
                <a:path h="1529714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529714"/>
                  </a:lnTo>
                  <a:lnTo>
                    <a:pt x="0" y="1529714"/>
                  </a:lnTo>
                  <a:close/>
                </a:path>
              </a:pathLst>
            </a:custGeom>
            <a:blipFill>
              <a:blip r:embed="rId9">
                <a:alphaModFix amt="0"/>
              </a:blip>
              <a:stretch>
                <a:fillRect l="0" t="-229536" r="0" b="-229536"/>
              </a:stretch>
            </a:blipFill>
          </p:spPr>
        </p:sp>
        <p:sp>
          <p:nvSpPr>
            <p:cNvPr name="TextBox 18" id="18"/>
            <p:cNvSpPr txBox="true"/>
            <p:nvPr/>
          </p:nvSpPr>
          <p:spPr>
            <a:xfrm>
              <a:off x="0" y="-9525"/>
              <a:ext cx="21945600" cy="15392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6239"/>
                </a:lnSpc>
              </a:pPr>
              <a:r>
                <a:rPr lang="en-US" sz="5198" b="true">
                  <a:solidFill>
                    <a:srgbClr val="2E5634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Tecnologias: uma base de código móvel</a:t>
              </a:r>
            </a:p>
          </p:txBody>
        </p:sp>
      </p:grpSp>
      <p:sp>
        <p:nvSpPr>
          <p:cNvPr name="TextBox 19" id="19"/>
          <p:cNvSpPr txBox="true"/>
          <p:nvPr/>
        </p:nvSpPr>
        <p:spPr>
          <a:xfrm rot="0">
            <a:off x="914400" y="2474976"/>
            <a:ext cx="4572000" cy="14935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00"/>
              </a:lnSpc>
            </a:pPr>
            <a:r>
              <a:rPr lang="en-US" sz="2000">
                <a:solidFill>
                  <a:srgbClr val="5B6B5F"/>
                </a:solidFill>
                <a:latin typeface="Calibri (MS)"/>
                <a:ea typeface="Calibri (MS)"/>
                <a:cs typeface="Calibri (MS)"/>
                <a:sym typeface="Calibri (MS)"/>
              </a:rPr>
              <a:t>Uma base de código para as plataformas móveis; sem benchmark contra o desenvolvimento nativo.</a:t>
            </a:r>
          </a:p>
        </p:txBody>
      </p:sp>
      <p:grpSp>
        <p:nvGrpSpPr>
          <p:cNvPr name="Group 20" id="20"/>
          <p:cNvGrpSpPr/>
          <p:nvPr/>
        </p:nvGrpSpPr>
        <p:grpSpPr>
          <a:xfrm rot="0">
            <a:off x="6528816" y="2286000"/>
            <a:ext cx="768096" cy="768096"/>
            <a:chOff x="0" y="0"/>
            <a:chExt cx="1024128" cy="1024128"/>
          </a:xfrm>
        </p:grpSpPr>
        <p:sp>
          <p:nvSpPr>
            <p:cNvPr name="Freeform 21" id="21" descr="/tmp/un/ppt/media/image53.png"/>
            <p:cNvSpPr/>
            <p:nvPr/>
          </p:nvSpPr>
          <p:spPr>
            <a:xfrm flipH="false" flipV="false" rot="0">
              <a:off x="0" y="0"/>
              <a:ext cx="1024128" cy="1024128"/>
            </a:xfrm>
            <a:custGeom>
              <a:avLst/>
              <a:gdLst/>
              <a:ahLst/>
              <a:cxnLst/>
              <a:rect r="r" b="b" t="t" l="l"/>
              <a:pathLst>
                <a:path h="1024128" w="1024128">
                  <a:moveTo>
                    <a:pt x="0" y="0"/>
                  </a:moveTo>
                  <a:lnTo>
                    <a:pt x="1024128" y="0"/>
                  </a:lnTo>
                  <a:lnTo>
                    <a:pt x="1024128" y="1024128"/>
                  </a:lnTo>
                  <a:lnTo>
                    <a:pt x="0" y="102412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>
                <a:fillRect l="0" t="0" r="0" b="0"/>
              </a:stretch>
            </a:blipFill>
          </p:spPr>
        </p:sp>
      </p:grpSp>
      <p:grpSp>
        <p:nvGrpSpPr>
          <p:cNvPr name="Group 22" id="22"/>
          <p:cNvGrpSpPr/>
          <p:nvPr/>
        </p:nvGrpSpPr>
        <p:grpSpPr>
          <a:xfrm rot="0">
            <a:off x="8412480" y="2286000"/>
            <a:ext cx="768096" cy="768096"/>
            <a:chOff x="0" y="0"/>
            <a:chExt cx="1024128" cy="1024128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1024128" cy="1024128"/>
            </a:xfrm>
            <a:custGeom>
              <a:avLst/>
              <a:gdLst/>
              <a:ahLst/>
              <a:cxnLst/>
              <a:rect r="r" b="b" t="t" l="l"/>
              <a:pathLst>
                <a:path h="1024128" w="1024128">
                  <a:moveTo>
                    <a:pt x="0" y="0"/>
                  </a:moveTo>
                  <a:lnTo>
                    <a:pt x="1024128" y="0"/>
                  </a:lnTo>
                  <a:lnTo>
                    <a:pt x="1024128" y="1024128"/>
                  </a:lnTo>
                  <a:lnTo>
                    <a:pt x="0" y="102412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>
                <a:fillRect l="0" t="0" r="0" b="0"/>
              </a:stretch>
            </a:blipFill>
          </p:spPr>
        </p:sp>
      </p:grpSp>
      <p:grpSp>
        <p:nvGrpSpPr>
          <p:cNvPr name="Group 24" id="24"/>
          <p:cNvGrpSpPr/>
          <p:nvPr/>
        </p:nvGrpSpPr>
        <p:grpSpPr>
          <a:xfrm rot="0">
            <a:off x="10296144" y="2286000"/>
            <a:ext cx="768096" cy="768096"/>
            <a:chOff x="0" y="0"/>
            <a:chExt cx="1024128" cy="1024128"/>
          </a:xfrm>
        </p:grpSpPr>
        <p:sp>
          <p:nvSpPr>
            <p:cNvPr name="Freeform 25" id="25" descr="/tmp/un/ppt/media/image55.png"/>
            <p:cNvSpPr/>
            <p:nvPr/>
          </p:nvSpPr>
          <p:spPr>
            <a:xfrm flipH="false" flipV="false" rot="0">
              <a:off x="0" y="0"/>
              <a:ext cx="1024128" cy="1024128"/>
            </a:xfrm>
            <a:custGeom>
              <a:avLst/>
              <a:gdLst/>
              <a:ahLst/>
              <a:cxnLst/>
              <a:rect r="r" b="b" t="t" l="l"/>
              <a:pathLst>
                <a:path h="1024128" w="1024128">
                  <a:moveTo>
                    <a:pt x="0" y="0"/>
                  </a:moveTo>
                  <a:lnTo>
                    <a:pt x="1024128" y="0"/>
                  </a:lnTo>
                  <a:lnTo>
                    <a:pt x="1024128" y="1024128"/>
                  </a:lnTo>
                  <a:lnTo>
                    <a:pt x="0" y="102412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/>
              <a:stretch>
                <a:fillRect l="0" t="0" r="0" b="0"/>
              </a:stretch>
            </a:blipFill>
          </p:spPr>
        </p:sp>
      </p:grpSp>
      <p:grpSp>
        <p:nvGrpSpPr>
          <p:cNvPr name="Group 26" id="26"/>
          <p:cNvGrpSpPr/>
          <p:nvPr/>
        </p:nvGrpSpPr>
        <p:grpSpPr>
          <a:xfrm rot="0">
            <a:off x="12179808" y="2286000"/>
            <a:ext cx="768096" cy="768096"/>
            <a:chOff x="0" y="0"/>
            <a:chExt cx="1024128" cy="1024128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1024128" cy="1024128"/>
            </a:xfrm>
            <a:custGeom>
              <a:avLst/>
              <a:gdLst/>
              <a:ahLst/>
              <a:cxnLst/>
              <a:rect r="r" b="b" t="t" l="l"/>
              <a:pathLst>
                <a:path h="1024128" w="1024128">
                  <a:moveTo>
                    <a:pt x="0" y="0"/>
                  </a:moveTo>
                  <a:lnTo>
                    <a:pt x="1024128" y="0"/>
                  </a:lnTo>
                  <a:lnTo>
                    <a:pt x="1024128" y="1024128"/>
                  </a:lnTo>
                  <a:lnTo>
                    <a:pt x="0" y="102412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3"/>
              <a:stretch>
                <a:fillRect l="0" t="0" r="0" b="0"/>
              </a:stretch>
            </a:blipFill>
          </p:spPr>
        </p:sp>
      </p:grpSp>
      <p:grpSp>
        <p:nvGrpSpPr>
          <p:cNvPr name="Group 28" id="28"/>
          <p:cNvGrpSpPr/>
          <p:nvPr/>
        </p:nvGrpSpPr>
        <p:grpSpPr>
          <a:xfrm rot="0">
            <a:off x="14063472" y="2286000"/>
            <a:ext cx="768096" cy="768096"/>
            <a:chOff x="0" y="0"/>
            <a:chExt cx="1024128" cy="1024128"/>
          </a:xfrm>
        </p:grpSpPr>
        <p:sp>
          <p:nvSpPr>
            <p:cNvPr name="Freeform 29" id="29" descr="/tmp/un/ppt/media/image57.png"/>
            <p:cNvSpPr/>
            <p:nvPr/>
          </p:nvSpPr>
          <p:spPr>
            <a:xfrm flipH="false" flipV="false" rot="0">
              <a:off x="0" y="0"/>
              <a:ext cx="1024128" cy="1024128"/>
            </a:xfrm>
            <a:custGeom>
              <a:avLst/>
              <a:gdLst/>
              <a:ahLst/>
              <a:cxnLst/>
              <a:rect r="r" b="b" t="t" l="l"/>
              <a:pathLst>
                <a:path h="1024128" w="1024128">
                  <a:moveTo>
                    <a:pt x="0" y="0"/>
                  </a:moveTo>
                  <a:lnTo>
                    <a:pt x="1024128" y="0"/>
                  </a:lnTo>
                  <a:lnTo>
                    <a:pt x="1024128" y="1024128"/>
                  </a:lnTo>
                  <a:lnTo>
                    <a:pt x="0" y="102412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/>
              <a:stretch>
                <a:fillRect l="0" t="0" r="0" b="0"/>
              </a:stretch>
            </a:blipFill>
          </p:spPr>
        </p:sp>
      </p:grpSp>
      <p:sp>
        <p:nvSpPr>
          <p:cNvPr name="AutoShape 30" id="30"/>
          <p:cNvSpPr/>
          <p:nvPr/>
        </p:nvSpPr>
        <p:spPr>
          <a:xfrm rot="1980">
            <a:off x="871528" y="3930396"/>
            <a:ext cx="16544935" cy="0"/>
          </a:xfrm>
          <a:prstGeom prst="line">
            <a:avLst/>
          </a:prstGeom>
          <a:ln cap="rnd" w="9525">
            <a:solidFill>
              <a:srgbClr val="C9D4C6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31" id="31"/>
          <p:cNvSpPr txBox="true"/>
          <p:nvPr/>
        </p:nvSpPr>
        <p:spPr>
          <a:xfrm rot="0">
            <a:off x="914400" y="4358640"/>
            <a:ext cx="4572000" cy="14935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00"/>
              </a:lnSpc>
            </a:pPr>
            <a:r>
              <a:rPr lang="en-US" sz="2000">
                <a:solidFill>
                  <a:srgbClr val="5B6B5F"/>
                </a:solidFill>
                <a:latin typeface="Calibri (MS)"/>
                <a:ea typeface="Calibri (MS)"/>
                <a:cs typeface="Calibri (MS)"/>
                <a:sym typeface="Calibri (MS)"/>
              </a:rPr>
              <a:t>Menos infraestrutura própria para manter; depende da disponibilidade do provedor.</a:t>
            </a:r>
          </a:p>
        </p:txBody>
      </p:sp>
      <p:grpSp>
        <p:nvGrpSpPr>
          <p:cNvPr name="Group 32" id="32"/>
          <p:cNvGrpSpPr/>
          <p:nvPr/>
        </p:nvGrpSpPr>
        <p:grpSpPr>
          <a:xfrm rot="0">
            <a:off x="8559536" y="4169664"/>
            <a:ext cx="768096" cy="768096"/>
            <a:chOff x="0" y="0"/>
            <a:chExt cx="1024128" cy="1024128"/>
          </a:xfrm>
        </p:grpSpPr>
        <p:sp>
          <p:nvSpPr>
            <p:cNvPr name="Freeform 33" id="33" descr="/tmp/un/ppt/media/image58.png"/>
            <p:cNvSpPr/>
            <p:nvPr/>
          </p:nvSpPr>
          <p:spPr>
            <a:xfrm flipH="false" flipV="false" rot="0">
              <a:off x="0" y="0"/>
              <a:ext cx="1024128" cy="1024128"/>
            </a:xfrm>
            <a:custGeom>
              <a:avLst/>
              <a:gdLst/>
              <a:ahLst/>
              <a:cxnLst/>
              <a:rect r="r" b="b" t="t" l="l"/>
              <a:pathLst>
                <a:path h="1024128" w="1024128">
                  <a:moveTo>
                    <a:pt x="0" y="0"/>
                  </a:moveTo>
                  <a:lnTo>
                    <a:pt x="1024128" y="0"/>
                  </a:lnTo>
                  <a:lnTo>
                    <a:pt x="1024128" y="1024128"/>
                  </a:lnTo>
                  <a:lnTo>
                    <a:pt x="0" y="102412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5"/>
              <a:stretch>
                <a:fillRect l="0" t="0" r="0" b="0"/>
              </a:stretch>
            </a:blipFill>
          </p:spPr>
        </p:sp>
      </p:grpSp>
      <p:grpSp>
        <p:nvGrpSpPr>
          <p:cNvPr name="Group 34" id="34"/>
          <p:cNvGrpSpPr/>
          <p:nvPr/>
        </p:nvGrpSpPr>
        <p:grpSpPr>
          <a:xfrm rot="0">
            <a:off x="10443200" y="4169664"/>
            <a:ext cx="768096" cy="768096"/>
            <a:chOff x="0" y="0"/>
            <a:chExt cx="1024128" cy="1024128"/>
          </a:xfrm>
        </p:grpSpPr>
        <p:sp>
          <p:nvSpPr>
            <p:cNvPr name="Freeform 35" id="35"/>
            <p:cNvSpPr/>
            <p:nvPr/>
          </p:nvSpPr>
          <p:spPr>
            <a:xfrm flipH="false" flipV="false" rot="0">
              <a:off x="0" y="0"/>
              <a:ext cx="1024128" cy="1024128"/>
            </a:xfrm>
            <a:custGeom>
              <a:avLst/>
              <a:gdLst/>
              <a:ahLst/>
              <a:cxnLst/>
              <a:rect r="r" b="b" t="t" l="l"/>
              <a:pathLst>
                <a:path h="1024128" w="1024128">
                  <a:moveTo>
                    <a:pt x="0" y="0"/>
                  </a:moveTo>
                  <a:lnTo>
                    <a:pt x="1024128" y="0"/>
                  </a:lnTo>
                  <a:lnTo>
                    <a:pt x="1024128" y="1024128"/>
                  </a:lnTo>
                  <a:lnTo>
                    <a:pt x="0" y="102412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/>
              <a:stretch>
                <a:fillRect l="0" t="-2127" r="0" b="-2126"/>
              </a:stretch>
            </a:blipFill>
          </p:spPr>
        </p:sp>
      </p:grpSp>
      <p:grpSp>
        <p:nvGrpSpPr>
          <p:cNvPr name="Group 36" id="36"/>
          <p:cNvGrpSpPr/>
          <p:nvPr/>
        </p:nvGrpSpPr>
        <p:grpSpPr>
          <a:xfrm rot="0">
            <a:off x="12326864" y="4169664"/>
            <a:ext cx="768096" cy="768096"/>
            <a:chOff x="0" y="0"/>
            <a:chExt cx="1024128" cy="1024128"/>
          </a:xfrm>
        </p:grpSpPr>
        <p:sp>
          <p:nvSpPr>
            <p:cNvPr name="Freeform 37" id="37" descr="/tmp/un/ppt/media/image60.png"/>
            <p:cNvSpPr/>
            <p:nvPr/>
          </p:nvSpPr>
          <p:spPr>
            <a:xfrm flipH="false" flipV="false" rot="0">
              <a:off x="0" y="0"/>
              <a:ext cx="1024128" cy="1024128"/>
            </a:xfrm>
            <a:custGeom>
              <a:avLst/>
              <a:gdLst/>
              <a:ahLst/>
              <a:cxnLst/>
              <a:rect r="r" b="b" t="t" l="l"/>
              <a:pathLst>
                <a:path h="1024128" w="1024128">
                  <a:moveTo>
                    <a:pt x="0" y="0"/>
                  </a:moveTo>
                  <a:lnTo>
                    <a:pt x="1024128" y="0"/>
                  </a:lnTo>
                  <a:lnTo>
                    <a:pt x="1024128" y="1024128"/>
                  </a:lnTo>
                  <a:lnTo>
                    <a:pt x="0" y="102412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7"/>
              <a:stretch>
                <a:fillRect l="0" t="0" r="0" b="0"/>
              </a:stretch>
            </a:blipFill>
          </p:spPr>
        </p:sp>
      </p:grpSp>
      <p:grpSp>
        <p:nvGrpSpPr>
          <p:cNvPr name="Group 38" id="38"/>
          <p:cNvGrpSpPr/>
          <p:nvPr/>
        </p:nvGrpSpPr>
        <p:grpSpPr>
          <a:xfrm rot="0">
            <a:off x="14210528" y="4169664"/>
            <a:ext cx="768096" cy="768096"/>
            <a:chOff x="0" y="0"/>
            <a:chExt cx="1024128" cy="1024128"/>
          </a:xfrm>
        </p:grpSpPr>
        <p:sp>
          <p:nvSpPr>
            <p:cNvPr name="Freeform 39" id="39" descr="/tmp/un/ppt/media/image61.png"/>
            <p:cNvSpPr/>
            <p:nvPr/>
          </p:nvSpPr>
          <p:spPr>
            <a:xfrm flipH="false" flipV="false" rot="0">
              <a:off x="0" y="0"/>
              <a:ext cx="1024128" cy="1024128"/>
            </a:xfrm>
            <a:custGeom>
              <a:avLst/>
              <a:gdLst/>
              <a:ahLst/>
              <a:cxnLst/>
              <a:rect r="r" b="b" t="t" l="l"/>
              <a:pathLst>
                <a:path h="1024128" w="1024128">
                  <a:moveTo>
                    <a:pt x="0" y="0"/>
                  </a:moveTo>
                  <a:lnTo>
                    <a:pt x="1024128" y="0"/>
                  </a:lnTo>
                  <a:lnTo>
                    <a:pt x="1024128" y="1024128"/>
                  </a:lnTo>
                  <a:lnTo>
                    <a:pt x="0" y="102412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/>
              <a:stretch>
                <a:fillRect l="0" t="0" r="0" b="0"/>
              </a:stretch>
            </a:blipFill>
          </p:spPr>
        </p:sp>
      </p:grpSp>
      <p:grpSp>
        <p:nvGrpSpPr>
          <p:cNvPr name="Group 40" id="40"/>
          <p:cNvGrpSpPr/>
          <p:nvPr/>
        </p:nvGrpSpPr>
        <p:grpSpPr>
          <a:xfrm rot="0">
            <a:off x="16094192" y="4169664"/>
            <a:ext cx="768096" cy="768096"/>
            <a:chOff x="0" y="0"/>
            <a:chExt cx="1024128" cy="1024128"/>
          </a:xfrm>
        </p:grpSpPr>
        <p:sp>
          <p:nvSpPr>
            <p:cNvPr name="Freeform 41" id="41" descr="/tmp/un/ppt/media/image62.png"/>
            <p:cNvSpPr/>
            <p:nvPr/>
          </p:nvSpPr>
          <p:spPr>
            <a:xfrm flipH="false" flipV="false" rot="0">
              <a:off x="0" y="0"/>
              <a:ext cx="1024128" cy="1024128"/>
            </a:xfrm>
            <a:custGeom>
              <a:avLst/>
              <a:gdLst/>
              <a:ahLst/>
              <a:cxnLst/>
              <a:rect r="r" b="b" t="t" l="l"/>
              <a:pathLst>
                <a:path h="1024128" w="1024128">
                  <a:moveTo>
                    <a:pt x="0" y="0"/>
                  </a:moveTo>
                  <a:lnTo>
                    <a:pt x="1024128" y="0"/>
                  </a:lnTo>
                  <a:lnTo>
                    <a:pt x="1024128" y="1024128"/>
                  </a:lnTo>
                  <a:lnTo>
                    <a:pt x="0" y="102412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9"/>
              <a:stretch>
                <a:fillRect l="0" t="0" r="0" b="0"/>
              </a:stretch>
            </a:blipFill>
          </p:spPr>
        </p:sp>
      </p:grpSp>
      <p:sp>
        <p:nvSpPr>
          <p:cNvPr name="AutoShape 42" id="42"/>
          <p:cNvSpPr/>
          <p:nvPr/>
        </p:nvSpPr>
        <p:spPr>
          <a:xfrm rot="1980">
            <a:off x="871528" y="5814060"/>
            <a:ext cx="16544935" cy="0"/>
          </a:xfrm>
          <a:prstGeom prst="line">
            <a:avLst/>
          </a:prstGeom>
          <a:ln cap="rnd" w="9525">
            <a:solidFill>
              <a:srgbClr val="C9D4C6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43" id="43"/>
          <p:cNvSpPr txBox="true"/>
          <p:nvPr/>
        </p:nvSpPr>
        <p:spPr>
          <a:xfrm rot="0">
            <a:off x="914400" y="6242304"/>
            <a:ext cx="4572000" cy="14935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00"/>
              </a:lnSpc>
            </a:pPr>
            <a:r>
              <a:rPr lang="en-US" sz="2000">
                <a:solidFill>
                  <a:srgbClr val="5B6B5F"/>
                </a:solidFill>
                <a:latin typeface="Calibri (MS)"/>
                <a:ea typeface="Calibri (MS)"/>
                <a:cs typeface="Calibri (MS)"/>
                <a:sym typeface="Calibri (MS)"/>
              </a:rPr>
              <a:t>Códigos de verificação e avisos de avistamento, correspondência e devolução.</a:t>
            </a:r>
          </a:p>
        </p:txBody>
      </p:sp>
      <p:grpSp>
        <p:nvGrpSpPr>
          <p:cNvPr name="Group 44" id="44"/>
          <p:cNvGrpSpPr/>
          <p:nvPr/>
        </p:nvGrpSpPr>
        <p:grpSpPr>
          <a:xfrm rot="0">
            <a:off x="6528816" y="6053328"/>
            <a:ext cx="768096" cy="768096"/>
            <a:chOff x="0" y="0"/>
            <a:chExt cx="1024128" cy="1024128"/>
          </a:xfrm>
        </p:grpSpPr>
        <p:sp>
          <p:nvSpPr>
            <p:cNvPr name="Freeform 45" id="45" descr="/tmp/un/ppt/media/image63.png"/>
            <p:cNvSpPr/>
            <p:nvPr/>
          </p:nvSpPr>
          <p:spPr>
            <a:xfrm flipH="false" flipV="false" rot="0">
              <a:off x="0" y="0"/>
              <a:ext cx="1024128" cy="1024128"/>
            </a:xfrm>
            <a:custGeom>
              <a:avLst/>
              <a:gdLst/>
              <a:ahLst/>
              <a:cxnLst/>
              <a:rect r="r" b="b" t="t" l="l"/>
              <a:pathLst>
                <a:path h="1024128" w="1024128">
                  <a:moveTo>
                    <a:pt x="0" y="0"/>
                  </a:moveTo>
                  <a:lnTo>
                    <a:pt x="1024128" y="0"/>
                  </a:lnTo>
                  <a:lnTo>
                    <a:pt x="1024128" y="1024128"/>
                  </a:lnTo>
                  <a:lnTo>
                    <a:pt x="0" y="102412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0"/>
              <a:stretch>
                <a:fillRect l="0" t="0" r="0" b="0"/>
              </a:stretch>
            </a:blipFill>
          </p:spPr>
        </p:sp>
      </p:grpSp>
      <p:grpSp>
        <p:nvGrpSpPr>
          <p:cNvPr name="Group 46" id="46"/>
          <p:cNvGrpSpPr/>
          <p:nvPr/>
        </p:nvGrpSpPr>
        <p:grpSpPr>
          <a:xfrm rot="0">
            <a:off x="8412480" y="6053328"/>
            <a:ext cx="768096" cy="768096"/>
            <a:chOff x="0" y="0"/>
            <a:chExt cx="1024128" cy="1024128"/>
          </a:xfrm>
        </p:grpSpPr>
        <p:sp>
          <p:nvSpPr>
            <p:cNvPr name="Freeform 47" id="47" descr="/tmp/un/ppt/media/image64.png"/>
            <p:cNvSpPr/>
            <p:nvPr/>
          </p:nvSpPr>
          <p:spPr>
            <a:xfrm flipH="false" flipV="false" rot="0">
              <a:off x="0" y="0"/>
              <a:ext cx="1024128" cy="1024128"/>
            </a:xfrm>
            <a:custGeom>
              <a:avLst/>
              <a:gdLst/>
              <a:ahLst/>
              <a:cxnLst/>
              <a:rect r="r" b="b" t="t" l="l"/>
              <a:pathLst>
                <a:path h="1024128" w="1024128">
                  <a:moveTo>
                    <a:pt x="0" y="0"/>
                  </a:moveTo>
                  <a:lnTo>
                    <a:pt x="1024128" y="0"/>
                  </a:lnTo>
                  <a:lnTo>
                    <a:pt x="1024128" y="1024128"/>
                  </a:lnTo>
                  <a:lnTo>
                    <a:pt x="0" y="102412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1"/>
              <a:stretch>
                <a:fillRect l="0" t="0" r="0" b="0"/>
              </a:stretch>
            </a:blipFill>
          </p:spPr>
        </p:sp>
      </p:grpSp>
      <p:sp>
        <p:nvSpPr>
          <p:cNvPr name="AutoShape 48" id="48"/>
          <p:cNvSpPr/>
          <p:nvPr/>
        </p:nvSpPr>
        <p:spPr>
          <a:xfrm rot="1980">
            <a:off x="871528" y="7697724"/>
            <a:ext cx="16544935" cy="0"/>
          </a:xfrm>
          <a:prstGeom prst="line">
            <a:avLst/>
          </a:prstGeom>
          <a:ln cap="rnd" w="9525">
            <a:solidFill>
              <a:srgbClr val="C9D4C6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49" id="49"/>
          <p:cNvSpPr txBox="true"/>
          <p:nvPr/>
        </p:nvSpPr>
        <p:spPr>
          <a:xfrm rot="0">
            <a:off x="914400" y="8125968"/>
            <a:ext cx="4572000" cy="14935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00"/>
              </a:lnSpc>
            </a:pPr>
            <a:r>
              <a:rPr lang="en-US" sz="2000">
                <a:solidFill>
                  <a:srgbClr val="5B6B5F"/>
                </a:solidFill>
                <a:latin typeface="Calibri (MS)"/>
                <a:ea typeface="Calibri (MS)"/>
                <a:cs typeface="Calibri (MS)"/>
                <a:sym typeface="Calibri (MS)"/>
              </a:rPr>
              <a:t>Copilot no código; ChatGPT na busca exploratória e na identidade visual, com revisão do autor.</a:t>
            </a:r>
          </a:p>
        </p:txBody>
      </p:sp>
      <p:grpSp>
        <p:nvGrpSpPr>
          <p:cNvPr name="Group 50" id="50"/>
          <p:cNvGrpSpPr/>
          <p:nvPr/>
        </p:nvGrpSpPr>
        <p:grpSpPr>
          <a:xfrm rot="0">
            <a:off x="6528816" y="7938802"/>
            <a:ext cx="768096" cy="768096"/>
            <a:chOff x="0" y="0"/>
            <a:chExt cx="1024128" cy="1024128"/>
          </a:xfrm>
        </p:grpSpPr>
        <p:sp>
          <p:nvSpPr>
            <p:cNvPr name="Freeform 51" id="51" descr="/tmp/un/ppt/media/image65.png"/>
            <p:cNvSpPr/>
            <p:nvPr/>
          </p:nvSpPr>
          <p:spPr>
            <a:xfrm flipH="false" flipV="false" rot="0">
              <a:off x="0" y="0"/>
              <a:ext cx="1024128" cy="1024128"/>
            </a:xfrm>
            <a:custGeom>
              <a:avLst/>
              <a:gdLst/>
              <a:ahLst/>
              <a:cxnLst/>
              <a:rect r="r" b="b" t="t" l="l"/>
              <a:pathLst>
                <a:path h="1024128" w="1024128">
                  <a:moveTo>
                    <a:pt x="0" y="0"/>
                  </a:moveTo>
                  <a:lnTo>
                    <a:pt x="1024128" y="0"/>
                  </a:lnTo>
                  <a:lnTo>
                    <a:pt x="1024128" y="1024128"/>
                  </a:lnTo>
                  <a:lnTo>
                    <a:pt x="0" y="102412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2"/>
              <a:stretch>
                <a:fillRect l="0" t="0" r="0" b="0"/>
              </a:stretch>
            </a:blipFill>
          </p:spPr>
        </p:sp>
      </p:grpSp>
      <p:grpSp>
        <p:nvGrpSpPr>
          <p:cNvPr name="Group 52" id="52"/>
          <p:cNvGrpSpPr/>
          <p:nvPr/>
        </p:nvGrpSpPr>
        <p:grpSpPr>
          <a:xfrm rot="0">
            <a:off x="8257413" y="7938802"/>
            <a:ext cx="768096" cy="768096"/>
            <a:chOff x="0" y="0"/>
            <a:chExt cx="1024128" cy="1024128"/>
          </a:xfrm>
        </p:grpSpPr>
        <p:sp>
          <p:nvSpPr>
            <p:cNvPr name="Freeform 53" id="53" descr="/tmp/un/ppt/media/image66.png"/>
            <p:cNvSpPr/>
            <p:nvPr/>
          </p:nvSpPr>
          <p:spPr>
            <a:xfrm flipH="false" flipV="false" rot="0">
              <a:off x="0" y="0"/>
              <a:ext cx="1024128" cy="1024128"/>
            </a:xfrm>
            <a:custGeom>
              <a:avLst/>
              <a:gdLst/>
              <a:ahLst/>
              <a:cxnLst/>
              <a:rect r="r" b="b" t="t" l="l"/>
              <a:pathLst>
                <a:path h="1024128" w="1024128">
                  <a:moveTo>
                    <a:pt x="0" y="0"/>
                  </a:moveTo>
                  <a:lnTo>
                    <a:pt x="1024128" y="0"/>
                  </a:lnTo>
                  <a:lnTo>
                    <a:pt x="1024128" y="1024128"/>
                  </a:lnTo>
                  <a:lnTo>
                    <a:pt x="0" y="102412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3"/>
              <a:stretch>
                <a:fillRect l="0" t="0" r="0" b="0"/>
              </a:stretch>
            </a:blipFill>
          </p:spPr>
        </p:sp>
      </p:grpSp>
      <p:grpSp>
        <p:nvGrpSpPr>
          <p:cNvPr name="Group 54" id="54"/>
          <p:cNvGrpSpPr/>
          <p:nvPr/>
        </p:nvGrpSpPr>
        <p:grpSpPr>
          <a:xfrm rot="0">
            <a:off x="11455270" y="7938802"/>
            <a:ext cx="768096" cy="768096"/>
            <a:chOff x="0" y="0"/>
            <a:chExt cx="1024128" cy="1024128"/>
          </a:xfrm>
        </p:grpSpPr>
        <p:sp>
          <p:nvSpPr>
            <p:cNvPr name="Freeform 55" id="55"/>
            <p:cNvSpPr/>
            <p:nvPr/>
          </p:nvSpPr>
          <p:spPr>
            <a:xfrm flipH="false" flipV="false" rot="0">
              <a:off x="0" y="0"/>
              <a:ext cx="1024128" cy="1024128"/>
            </a:xfrm>
            <a:custGeom>
              <a:avLst/>
              <a:gdLst/>
              <a:ahLst/>
              <a:cxnLst/>
              <a:rect r="r" b="b" t="t" l="l"/>
              <a:pathLst>
                <a:path h="1024128" w="1024128">
                  <a:moveTo>
                    <a:pt x="0" y="0"/>
                  </a:moveTo>
                  <a:lnTo>
                    <a:pt x="1024128" y="0"/>
                  </a:lnTo>
                  <a:lnTo>
                    <a:pt x="1024128" y="1024128"/>
                  </a:lnTo>
                  <a:lnTo>
                    <a:pt x="0" y="102412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4"/>
              <a:stretch>
                <a:fillRect l="0" t="0" r="0" b="0"/>
              </a:stretch>
            </a:blipFill>
          </p:spPr>
        </p:sp>
      </p:grpSp>
      <p:grpSp>
        <p:nvGrpSpPr>
          <p:cNvPr name="Group 56" id="56"/>
          <p:cNvGrpSpPr/>
          <p:nvPr/>
        </p:nvGrpSpPr>
        <p:grpSpPr>
          <a:xfrm rot="0">
            <a:off x="13183857" y="7938802"/>
            <a:ext cx="768096" cy="768096"/>
            <a:chOff x="0" y="0"/>
            <a:chExt cx="1024128" cy="1024128"/>
          </a:xfrm>
        </p:grpSpPr>
        <p:sp>
          <p:nvSpPr>
            <p:cNvPr name="Freeform 57" id="57"/>
            <p:cNvSpPr/>
            <p:nvPr/>
          </p:nvSpPr>
          <p:spPr>
            <a:xfrm flipH="false" flipV="false" rot="0">
              <a:off x="0" y="0"/>
              <a:ext cx="1024128" cy="1024128"/>
            </a:xfrm>
            <a:custGeom>
              <a:avLst/>
              <a:gdLst/>
              <a:ahLst/>
              <a:cxnLst/>
              <a:rect r="r" b="b" t="t" l="l"/>
              <a:pathLst>
                <a:path h="1024128" w="1024128">
                  <a:moveTo>
                    <a:pt x="0" y="0"/>
                  </a:moveTo>
                  <a:lnTo>
                    <a:pt x="1024128" y="0"/>
                  </a:lnTo>
                  <a:lnTo>
                    <a:pt x="1024128" y="1024128"/>
                  </a:lnTo>
                  <a:lnTo>
                    <a:pt x="0" y="102412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5"/>
              <a:stretch>
                <a:fillRect l="0" t="0" r="0" b="0"/>
              </a:stretch>
            </a:blipFill>
          </p:spPr>
        </p:sp>
      </p:grpSp>
      <p:grpSp>
        <p:nvGrpSpPr>
          <p:cNvPr name="Group 58" id="58"/>
          <p:cNvGrpSpPr/>
          <p:nvPr/>
        </p:nvGrpSpPr>
        <p:grpSpPr>
          <a:xfrm rot="0">
            <a:off x="14912454" y="7938802"/>
            <a:ext cx="768096" cy="768096"/>
            <a:chOff x="0" y="0"/>
            <a:chExt cx="1024128" cy="1024128"/>
          </a:xfrm>
        </p:grpSpPr>
        <p:sp>
          <p:nvSpPr>
            <p:cNvPr name="Freeform 59" id="59" descr="/tmp/un/ppt/media/image69.png"/>
            <p:cNvSpPr/>
            <p:nvPr/>
          </p:nvSpPr>
          <p:spPr>
            <a:xfrm flipH="false" flipV="false" rot="0">
              <a:off x="0" y="0"/>
              <a:ext cx="1024128" cy="1024128"/>
            </a:xfrm>
            <a:custGeom>
              <a:avLst/>
              <a:gdLst/>
              <a:ahLst/>
              <a:cxnLst/>
              <a:rect r="r" b="b" t="t" l="l"/>
              <a:pathLst>
                <a:path h="1024128" w="1024128">
                  <a:moveTo>
                    <a:pt x="0" y="0"/>
                  </a:moveTo>
                  <a:lnTo>
                    <a:pt x="1024128" y="0"/>
                  </a:lnTo>
                  <a:lnTo>
                    <a:pt x="1024128" y="1024128"/>
                  </a:lnTo>
                  <a:lnTo>
                    <a:pt x="0" y="102412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6"/>
              <a:stretch>
                <a:fillRect l="0" t="0" r="0" b="0"/>
              </a:stretch>
            </a:blipFill>
          </p:spPr>
        </p:sp>
      </p:grpSp>
      <p:grpSp>
        <p:nvGrpSpPr>
          <p:cNvPr name="Group 60" id="60"/>
          <p:cNvGrpSpPr/>
          <p:nvPr/>
        </p:nvGrpSpPr>
        <p:grpSpPr>
          <a:xfrm rot="0">
            <a:off x="822960" y="9572625"/>
            <a:ext cx="8229600" cy="440055"/>
            <a:chOff x="0" y="0"/>
            <a:chExt cx="10972800" cy="586740"/>
          </a:xfrm>
        </p:grpSpPr>
        <p:sp>
          <p:nvSpPr>
            <p:cNvPr name="Freeform 61" id="61"/>
            <p:cNvSpPr/>
            <p:nvPr/>
          </p:nvSpPr>
          <p:spPr>
            <a:xfrm flipH="false" flipV="false" rot="0">
              <a:off x="0" y="0"/>
              <a:ext cx="10972800" cy="586740"/>
            </a:xfrm>
            <a:custGeom>
              <a:avLst/>
              <a:gdLst/>
              <a:ahLst/>
              <a:cxnLst/>
              <a:rect r="r" b="b" t="t" l="l"/>
              <a:pathLst>
                <a:path h="5867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586740"/>
                  </a:lnTo>
                  <a:lnTo>
                    <a:pt x="0" y="5867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314142" r="0" b="-314140"/>
              </a:stretch>
            </a:blipFill>
          </p:spPr>
        </p:sp>
      </p:grpSp>
      <p:grpSp>
        <p:nvGrpSpPr>
          <p:cNvPr name="Group 62" id="62"/>
          <p:cNvGrpSpPr/>
          <p:nvPr/>
        </p:nvGrpSpPr>
        <p:grpSpPr>
          <a:xfrm rot="0">
            <a:off x="822960" y="9544050"/>
            <a:ext cx="8229600" cy="468630"/>
            <a:chOff x="0" y="0"/>
            <a:chExt cx="10972800" cy="624840"/>
          </a:xfrm>
        </p:grpSpPr>
        <p:sp>
          <p:nvSpPr>
            <p:cNvPr name="Freeform 63" id="63"/>
            <p:cNvSpPr/>
            <p:nvPr/>
          </p:nvSpPr>
          <p:spPr>
            <a:xfrm flipH="false" flipV="false" rot="0">
              <a:off x="0" y="0"/>
              <a:ext cx="10972800" cy="624840"/>
            </a:xfrm>
            <a:custGeom>
              <a:avLst/>
              <a:gdLst/>
              <a:ahLst/>
              <a:cxnLst/>
              <a:rect r="r" b="b" t="t" l="l"/>
              <a:pathLst>
                <a:path h="6248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624840"/>
                  </a:lnTo>
                  <a:lnTo>
                    <a:pt x="0" y="6248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91939" r="0" b="-291936"/>
              </a:stretch>
            </a:blipFill>
          </p:spPr>
        </p:sp>
      </p:grpSp>
      <p:grpSp>
        <p:nvGrpSpPr>
          <p:cNvPr name="Group 64" id="64"/>
          <p:cNvGrpSpPr/>
          <p:nvPr/>
        </p:nvGrpSpPr>
        <p:grpSpPr>
          <a:xfrm rot="0">
            <a:off x="822960" y="9515475"/>
            <a:ext cx="8229600" cy="497205"/>
            <a:chOff x="0" y="0"/>
            <a:chExt cx="10972800" cy="662940"/>
          </a:xfrm>
        </p:grpSpPr>
        <p:sp>
          <p:nvSpPr>
            <p:cNvPr name="Freeform 65" id="65"/>
            <p:cNvSpPr/>
            <p:nvPr/>
          </p:nvSpPr>
          <p:spPr>
            <a:xfrm flipH="false" flipV="false" rot="0">
              <a:off x="0" y="0"/>
              <a:ext cx="10972800" cy="662940"/>
            </a:xfrm>
            <a:custGeom>
              <a:avLst/>
              <a:gdLst/>
              <a:ahLst/>
              <a:cxnLst/>
              <a:rect r="r" b="b" t="t" l="l"/>
              <a:pathLst>
                <a:path h="6629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662940"/>
                  </a:lnTo>
                  <a:lnTo>
                    <a:pt x="0" y="66294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72287" r="0" b="-272285"/>
              </a:stretch>
            </a:blipFill>
          </p:spPr>
        </p:sp>
      </p:grpSp>
      <p:grpSp>
        <p:nvGrpSpPr>
          <p:cNvPr name="Group 66" id="66"/>
          <p:cNvGrpSpPr/>
          <p:nvPr/>
        </p:nvGrpSpPr>
        <p:grpSpPr>
          <a:xfrm rot="0">
            <a:off x="822960" y="9486900"/>
            <a:ext cx="8229600" cy="525780"/>
            <a:chOff x="0" y="0"/>
            <a:chExt cx="10972800" cy="701040"/>
          </a:xfrm>
        </p:grpSpPr>
        <p:sp>
          <p:nvSpPr>
            <p:cNvPr name="Freeform 67" id="67"/>
            <p:cNvSpPr/>
            <p:nvPr/>
          </p:nvSpPr>
          <p:spPr>
            <a:xfrm flipH="false" flipV="false" rot="0">
              <a:off x="0" y="0"/>
              <a:ext cx="10972800" cy="701040"/>
            </a:xfrm>
            <a:custGeom>
              <a:avLst/>
              <a:gdLst/>
              <a:ahLst/>
              <a:cxnLst/>
              <a:rect r="r" b="b" t="t" l="l"/>
              <a:pathLst>
                <a:path h="7010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701040"/>
                  </a:lnTo>
                  <a:lnTo>
                    <a:pt x="0" y="701040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254771" r="0" b="-254769"/>
              </a:stretch>
            </a:blipFill>
          </p:spPr>
        </p:sp>
      </p:grpSp>
      <p:grpSp>
        <p:nvGrpSpPr>
          <p:cNvPr name="Group 68" id="68"/>
          <p:cNvGrpSpPr/>
          <p:nvPr/>
        </p:nvGrpSpPr>
        <p:grpSpPr>
          <a:xfrm rot="0">
            <a:off x="822960" y="9458325"/>
            <a:ext cx="8229600" cy="554355"/>
            <a:chOff x="0" y="0"/>
            <a:chExt cx="10972800" cy="739140"/>
          </a:xfrm>
        </p:grpSpPr>
        <p:sp>
          <p:nvSpPr>
            <p:cNvPr name="Freeform 69" id="69"/>
            <p:cNvSpPr/>
            <p:nvPr/>
          </p:nvSpPr>
          <p:spPr>
            <a:xfrm flipH="false" flipV="false" rot="0">
              <a:off x="0" y="0"/>
              <a:ext cx="10972800" cy="739140"/>
            </a:xfrm>
            <a:custGeom>
              <a:avLst/>
              <a:gdLst/>
              <a:ahLst/>
              <a:cxnLst/>
              <a:rect r="r" b="b" t="t" l="l"/>
              <a:pathLst>
                <a:path h="7391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739140"/>
                  </a:lnTo>
                  <a:lnTo>
                    <a:pt x="0" y="739140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l="0" t="-239061" r="0" b="-239060"/>
              </a:stretch>
            </a:blipFill>
          </p:spPr>
        </p:sp>
      </p:grpSp>
      <p:grpSp>
        <p:nvGrpSpPr>
          <p:cNvPr name="Group 70" id="70"/>
          <p:cNvGrpSpPr/>
          <p:nvPr/>
        </p:nvGrpSpPr>
        <p:grpSpPr>
          <a:xfrm rot="0">
            <a:off x="822960" y="9429750"/>
            <a:ext cx="8229600" cy="582930"/>
            <a:chOff x="0" y="0"/>
            <a:chExt cx="10972800" cy="777240"/>
          </a:xfrm>
        </p:grpSpPr>
        <p:sp>
          <p:nvSpPr>
            <p:cNvPr name="Freeform 71" id="71"/>
            <p:cNvSpPr/>
            <p:nvPr/>
          </p:nvSpPr>
          <p:spPr>
            <a:xfrm flipH="false" flipV="false" rot="0">
              <a:off x="0" y="0"/>
              <a:ext cx="10972800" cy="777240"/>
            </a:xfrm>
            <a:custGeom>
              <a:avLst/>
              <a:gdLst/>
              <a:ahLst/>
              <a:cxnLst/>
              <a:rect r="r" b="b" t="t" l="l"/>
              <a:pathLst>
                <a:path h="7772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777240"/>
                  </a:lnTo>
                  <a:lnTo>
                    <a:pt x="0" y="777240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0" t="-224892" r="0" b="-224890"/>
              </a:stretch>
            </a:blipFill>
          </p:spPr>
        </p:sp>
      </p:grpSp>
      <p:grpSp>
        <p:nvGrpSpPr>
          <p:cNvPr name="Group 72" id="72"/>
          <p:cNvGrpSpPr/>
          <p:nvPr/>
        </p:nvGrpSpPr>
        <p:grpSpPr>
          <a:xfrm rot="0">
            <a:off x="822960" y="9401175"/>
            <a:ext cx="8229600" cy="611505"/>
            <a:chOff x="0" y="0"/>
            <a:chExt cx="10972800" cy="815340"/>
          </a:xfrm>
        </p:grpSpPr>
        <p:sp>
          <p:nvSpPr>
            <p:cNvPr name="Freeform 73" id="73"/>
            <p:cNvSpPr/>
            <p:nvPr/>
          </p:nvSpPr>
          <p:spPr>
            <a:xfrm flipH="false" flipV="false" rot="0">
              <a:off x="0" y="0"/>
              <a:ext cx="10972800" cy="815340"/>
            </a:xfrm>
            <a:custGeom>
              <a:avLst/>
              <a:gdLst/>
              <a:ahLst/>
              <a:cxnLst/>
              <a:rect r="r" b="b" t="t" l="l"/>
              <a:pathLst>
                <a:path h="8153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815340"/>
                  </a:lnTo>
                  <a:lnTo>
                    <a:pt x="0" y="815340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0" t="-212046" r="0" b="-212045"/>
              </a:stretch>
            </a:blipFill>
          </p:spPr>
        </p:sp>
      </p:grpSp>
      <p:grpSp>
        <p:nvGrpSpPr>
          <p:cNvPr name="Group 74" id="74"/>
          <p:cNvGrpSpPr/>
          <p:nvPr/>
        </p:nvGrpSpPr>
        <p:grpSpPr>
          <a:xfrm rot="0">
            <a:off x="822960" y="9372600"/>
            <a:ext cx="8229600" cy="640080"/>
            <a:chOff x="0" y="0"/>
            <a:chExt cx="10972800" cy="853440"/>
          </a:xfrm>
        </p:grpSpPr>
        <p:sp>
          <p:nvSpPr>
            <p:cNvPr name="Freeform 75" id="75"/>
            <p:cNvSpPr/>
            <p:nvPr/>
          </p:nvSpPr>
          <p:spPr>
            <a:xfrm flipH="false" flipV="false" rot="0">
              <a:off x="0" y="0"/>
              <a:ext cx="10972800" cy="853440"/>
            </a:xfrm>
            <a:custGeom>
              <a:avLst/>
              <a:gdLst/>
              <a:ahLst/>
              <a:cxnLst/>
              <a:rect r="r" b="b" t="t" l="l"/>
              <a:pathLst>
                <a:path h="8534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853440"/>
                  </a:lnTo>
                  <a:lnTo>
                    <a:pt x="0" y="853440"/>
                  </a:lnTo>
                  <a:close/>
                </a:path>
              </a:pathLst>
            </a:custGeom>
            <a:blipFill>
              <a:blip r:embed="rId9">
                <a:alphaModFix amt="0"/>
              </a:blip>
              <a:stretch>
                <a:fillRect l="0" t="-200521" r="0" b="-200521"/>
              </a:stretch>
            </a:blipFill>
          </p:spPr>
        </p:sp>
        <p:sp>
          <p:nvSpPr>
            <p:cNvPr name="TextBox 76" id="76"/>
            <p:cNvSpPr txBox="true"/>
            <p:nvPr/>
          </p:nvSpPr>
          <p:spPr>
            <a:xfrm>
              <a:off x="0" y="-38100"/>
              <a:ext cx="10972800" cy="8915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6B728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WeFIND  |  TCC  |  IFSul Campus Pelotas</a:t>
              </a:r>
            </a:p>
          </p:txBody>
        </p:sp>
      </p:grpSp>
      <p:grpSp>
        <p:nvGrpSpPr>
          <p:cNvPr name="Group 77" id="77"/>
          <p:cNvGrpSpPr/>
          <p:nvPr/>
        </p:nvGrpSpPr>
        <p:grpSpPr>
          <a:xfrm rot="0">
            <a:off x="6528816" y="4169664"/>
            <a:ext cx="768096" cy="768096"/>
            <a:chOff x="0" y="0"/>
            <a:chExt cx="1024128" cy="1024128"/>
          </a:xfrm>
        </p:grpSpPr>
        <p:sp>
          <p:nvSpPr>
            <p:cNvPr name="Freeform 78" id="78"/>
            <p:cNvSpPr/>
            <p:nvPr/>
          </p:nvSpPr>
          <p:spPr>
            <a:xfrm flipH="false" flipV="false" rot="0">
              <a:off x="0" y="0"/>
              <a:ext cx="1024128" cy="1024128"/>
            </a:xfrm>
            <a:custGeom>
              <a:avLst/>
              <a:gdLst/>
              <a:ahLst/>
              <a:cxnLst/>
              <a:rect r="r" b="b" t="t" l="l"/>
              <a:pathLst>
                <a:path h="1024128" w="1024128">
                  <a:moveTo>
                    <a:pt x="0" y="0"/>
                  </a:moveTo>
                  <a:lnTo>
                    <a:pt x="1024128" y="0"/>
                  </a:lnTo>
                  <a:lnTo>
                    <a:pt x="1024128" y="1024128"/>
                  </a:lnTo>
                  <a:lnTo>
                    <a:pt x="0" y="102412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7"/>
              <a:stretch>
                <a:fillRect l="0" t="0" r="0" b="0"/>
              </a:stretch>
            </a:blipFill>
          </p:spPr>
        </p:sp>
      </p:grpSp>
      <p:grpSp>
        <p:nvGrpSpPr>
          <p:cNvPr name="Group 79" id="79"/>
          <p:cNvGrpSpPr/>
          <p:nvPr/>
        </p:nvGrpSpPr>
        <p:grpSpPr>
          <a:xfrm rot="0">
            <a:off x="15809214" y="2359152"/>
            <a:ext cx="1080516" cy="768096"/>
            <a:chOff x="0" y="0"/>
            <a:chExt cx="1440688" cy="1024128"/>
          </a:xfrm>
        </p:grpSpPr>
        <p:sp>
          <p:nvSpPr>
            <p:cNvPr name="Freeform 80" id="80"/>
            <p:cNvSpPr/>
            <p:nvPr/>
          </p:nvSpPr>
          <p:spPr>
            <a:xfrm flipH="false" flipV="false" rot="0">
              <a:off x="0" y="0"/>
              <a:ext cx="1440688" cy="1024128"/>
            </a:xfrm>
            <a:custGeom>
              <a:avLst/>
              <a:gdLst/>
              <a:ahLst/>
              <a:cxnLst/>
              <a:rect r="r" b="b" t="t" l="l"/>
              <a:pathLst>
                <a:path h="1024128" w="1440688">
                  <a:moveTo>
                    <a:pt x="0" y="0"/>
                  </a:moveTo>
                  <a:lnTo>
                    <a:pt x="1440688" y="0"/>
                  </a:lnTo>
                  <a:lnTo>
                    <a:pt x="1440688" y="1024128"/>
                  </a:lnTo>
                  <a:lnTo>
                    <a:pt x="0" y="102412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8"/>
              <a:stretch>
                <a:fillRect l="-49590" t="0" r="-49590" b="0"/>
              </a:stretch>
            </a:blipFill>
          </p:spPr>
        </p:sp>
      </p:grpSp>
      <p:grpSp>
        <p:nvGrpSpPr>
          <p:cNvPr name="Group 81" id="81"/>
          <p:cNvGrpSpPr/>
          <p:nvPr/>
        </p:nvGrpSpPr>
        <p:grpSpPr>
          <a:xfrm rot="0">
            <a:off x="9986010" y="7950232"/>
            <a:ext cx="508730" cy="745236"/>
            <a:chOff x="0" y="0"/>
            <a:chExt cx="678307" cy="993648"/>
          </a:xfrm>
        </p:grpSpPr>
        <p:sp>
          <p:nvSpPr>
            <p:cNvPr name="Freeform 82" id="82"/>
            <p:cNvSpPr/>
            <p:nvPr/>
          </p:nvSpPr>
          <p:spPr>
            <a:xfrm flipH="false" flipV="false" rot="0">
              <a:off x="0" y="0"/>
              <a:ext cx="678307" cy="993648"/>
            </a:xfrm>
            <a:custGeom>
              <a:avLst/>
              <a:gdLst/>
              <a:ahLst/>
              <a:cxnLst/>
              <a:rect r="r" b="b" t="t" l="l"/>
              <a:pathLst>
                <a:path h="993648" w="678307">
                  <a:moveTo>
                    <a:pt x="0" y="0"/>
                  </a:moveTo>
                  <a:lnTo>
                    <a:pt x="678307" y="0"/>
                  </a:lnTo>
                  <a:lnTo>
                    <a:pt x="678307" y="993648"/>
                  </a:lnTo>
                  <a:lnTo>
                    <a:pt x="0" y="99364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9"/>
              <a:stretch>
                <a:fillRect l="0" t="-1197" r="0" b="-1198"/>
              </a:stretch>
            </a:blipFill>
          </p:spPr>
        </p:sp>
      </p:grpSp>
      <p:sp>
        <p:nvSpPr>
          <p:cNvPr name="TextBox 83" id="83"/>
          <p:cNvSpPr txBox="true"/>
          <p:nvPr/>
        </p:nvSpPr>
        <p:spPr>
          <a:xfrm rot="0">
            <a:off x="914400" y="207264"/>
            <a:ext cx="6858000" cy="6705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00"/>
              </a:lnSpc>
            </a:pPr>
            <a:r>
              <a:rPr lang="en-US" b="true" sz="2000" spc="400">
                <a:solidFill>
                  <a:srgbClr val="B1734A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04  SOLUÇÃO DESENVOLVIDA</a:t>
            </a:r>
          </a:p>
        </p:txBody>
      </p:sp>
      <p:sp>
        <p:nvSpPr>
          <p:cNvPr name="TextBox 84" id="84"/>
          <p:cNvSpPr txBox="true"/>
          <p:nvPr/>
        </p:nvSpPr>
        <p:spPr>
          <a:xfrm rot="0">
            <a:off x="914400" y="2042160"/>
            <a:ext cx="4572000" cy="7010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600"/>
              </a:lnSpc>
            </a:pPr>
            <a:r>
              <a:rPr lang="en-US" sz="3000" b="true">
                <a:solidFill>
                  <a:srgbClr val="2E5634"/>
                </a:solidFill>
                <a:latin typeface="Cambria Bold"/>
                <a:ea typeface="Cambria Bold"/>
                <a:cs typeface="Cambria Bold"/>
                <a:sym typeface="Cambria Bold"/>
              </a:rPr>
              <a:t>Aplicativo</a:t>
            </a:r>
          </a:p>
        </p:txBody>
      </p:sp>
      <p:sp>
        <p:nvSpPr>
          <p:cNvPr name="TextBox 85" id="85"/>
          <p:cNvSpPr txBox="true"/>
          <p:nvPr/>
        </p:nvSpPr>
        <p:spPr>
          <a:xfrm rot="0">
            <a:off x="5998464" y="3060192"/>
            <a:ext cx="1828800" cy="5334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00"/>
              </a:lnSpc>
            </a:pPr>
            <a:r>
              <a:rPr lang="en-US" sz="2000">
                <a:solidFill>
                  <a:srgbClr val="1B2A1F"/>
                </a:solidFill>
                <a:latin typeface="Calibri (MS)"/>
                <a:ea typeface="Calibri (MS)"/>
                <a:cs typeface="Calibri (MS)"/>
                <a:sym typeface="Calibri (MS)"/>
              </a:rPr>
              <a:t>React Native</a:t>
            </a:r>
          </a:p>
        </p:txBody>
      </p:sp>
      <p:sp>
        <p:nvSpPr>
          <p:cNvPr name="TextBox 86" id="86"/>
          <p:cNvSpPr txBox="true"/>
          <p:nvPr/>
        </p:nvSpPr>
        <p:spPr>
          <a:xfrm rot="0">
            <a:off x="7882128" y="3060192"/>
            <a:ext cx="1828800" cy="5334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00"/>
              </a:lnSpc>
            </a:pPr>
            <a:r>
              <a:rPr lang="en-US" sz="2000">
                <a:solidFill>
                  <a:srgbClr val="1B2A1F"/>
                </a:solidFill>
                <a:latin typeface="Calibri (MS)"/>
                <a:ea typeface="Calibri (MS)"/>
                <a:cs typeface="Calibri (MS)"/>
                <a:sym typeface="Calibri (MS)"/>
              </a:rPr>
              <a:t>Expo</a:t>
            </a:r>
          </a:p>
        </p:txBody>
      </p:sp>
      <p:sp>
        <p:nvSpPr>
          <p:cNvPr name="TextBox 87" id="87"/>
          <p:cNvSpPr txBox="true"/>
          <p:nvPr/>
        </p:nvSpPr>
        <p:spPr>
          <a:xfrm rot="0">
            <a:off x="9765792" y="3060192"/>
            <a:ext cx="1828800" cy="10363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00"/>
              </a:lnSpc>
            </a:pPr>
            <a:r>
              <a:rPr lang="en-US" sz="2000">
                <a:solidFill>
                  <a:srgbClr val="1B2A1F"/>
                </a:solidFill>
                <a:latin typeface="Calibri (MS)"/>
                <a:ea typeface="Calibri (MS)"/>
                <a:cs typeface="Calibri (MS)"/>
                <a:sym typeface="Calibri (MS)"/>
              </a:rPr>
              <a:t>JavaScript</a:t>
            </a:r>
          </a:p>
        </p:txBody>
      </p:sp>
      <p:sp>
        <p:nvSpPr>
          <p:cNvPr name="TextBox 88" id="88"/>
          <p:cNvSpPr txBox="true"/>
          <p:nvPr/>
        </p:nvSpPr>
        <p:spPr>
          <a:xfrm rot="0">
            <a:off x="11649456" y="3060192"/>
            <a:ext cx="1828800" cy="10363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00"/>
              </a:lnSpc>
            </a:pPr>
            <a:r>
              <a:rPr lang="en-US" sz="2000">
                <a:solidFill>
                  <a:srgbClr val="1B2A1F"/>
                </a:solidFill>
                <a:latin typeface="Calibri (MS)"/>
                <a:ea typeface="Calibri (MS)"/>
                <a:cs typeface="Calibri (MS)"/>
                <a:sym typeface="Calibri (MS)"/>
              </a:rPr>
              <a:t>Google Maps</a:t>
            </a:r>
          </a:p>
        </p:txBody>
      </p:sp>
      <p:sp>
        <p:nvSpPr>
          <p:cNvPr name="TextBox 89" id="89"/>
          <p:cNvSpPr txBox="true"/>
          <p:nvPr/>
        </p:nvSpPr>
        <p:spPr>
          <a:xfrm rot="0">
            <a:off x="13533120" y="3060192"/>
            <a:ext cx="1828800" cy="10363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00"/>
              </a:lnSpc>
            </a:pPr>
            <a:r>
              <a:rPr lang="en-US" sz="2000">
                <a:solidFill>
                  <a:srgbClr val="1B2A1F"/>
                </a:solidFill>
                <a:latin typeface="Calibri (MS)"/>
                <a:ea typeface="Calibri (MS)"/>
                <a:cs typeface="Calibri (MS)"/>
                <a:sym typeface="Calibri (MS)"/>
              </a:rPr>
              <a:t>NativeWind</a:t>
            </a:r>
          </a:p>
        </p:txBody>
      </p:sp>
      <p:sp>
        <p:nvSpPr>
          <p:cNvPr name="TextBox 90" id="90"/>
          <p:cNvSpPr txBox="true"/>
          <p:nvPr/>
        </p:nvSpPr>
        <p:spPr>
          <a:xfrm rot="0">
            <a:off x="914400" y="3925824"/>
            <a:ext cx="4572000" cy="6096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600"/>
              </a:lnSpc>
            </a:pPr>
            <a:r>
              <a:rPr lang="en-US" sz="3000" b="true">
                <a:solidFill>
                  <a:srgbClr val="2E5634"/>
                </a:solidFill>
                <a:latin typeface="Cambria Bold"/>
                <a:ea typeface="Cambria Bold"/>
                <a:cs typeface="Cambria Bold"/>
                <a:sym typeface="Cambria Bold"/>
              </a:rPr>
              <a:t>Backend</a:t>
            </a:r>
          </a:p>
        </p:txBody>
      </p:sp>
      <p:sp>
        <p:nvSpPr>
          <p:cNvPr name="TextBox 91" id="91"/>
          <p:cNvSpPr txBox="true"/>
          <p:nvPr/>
        </p:nvSpPr>
        <p:spPr>
          <a:xfrm rot="0">
            <a:off x="8029184" y="4943856"/>
            <a:ext cx="1828800" cy="10363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00"/>
              </a:lnSpc>
            </a:pPr>
            <a:r>
              <a:rPr lang="en-US" sz="2000">
                <a:solidFill>
                  <a:srgbClr val="1B2A1F"/>
                </a:solidFill>
                <a:latin typeface="Calibri (MS)"/>
                <a:ea typeface="Calibri (MS)"/>
                <a:cs typeface="Calibri (MS)"/>
                <a:sym typeface="Calibri (MS)"/>
              </a:rPr>
              <a:t>Supabase Auth</a:t>
            </a:r>
          </a:p>
        </p:txBody>
      </p:sp>
      <p:sp>
        <p:nvSpPr>
          <p:cNvPr name="TextBox 92" id="92"/>
          <p:cNvSpPr txBox="true"/>
          <p:nvPr/>
        </p:nvSpPr>
        <p:spPr>
          <a:xfrm rot="0">
            <a:off x="9912848" y="4943856"/>
            <a:ext cx="1828800" cy="10363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00"/>
              </a:lnSpc>
            </a:pPr>
            <a:r>
              <a:rPr lang="en-US" sz="2000">
                <a:solidFill>
                  <a:srgbClr val="1B2A1F"/>
                </a:solidFill>
                <a:latin typeface="Calibri (MS)"/>
                <a:ea typeface="Calibri (MS)"/>
                <a:cs typeface="Calibri (MS)"/>
                <a:sym typeface="Calibri (MS)"/>
              </a:rPr>
              <a:t>PostgreSQL + RLS</a:t>
            </a:r>
          </a:p>
        </p:txBody>
      </p:sp>
      <p:sp>
        <p:nvSpPr>
          <p:cNvPr name="TextBox 93" id="93"/>
          <p:cNvSpPr txBox="true"/>
          <p:nvPr/>
        </p:nvSpPr>
        <p:spPr>
          <a:xfrm rot="0">
            <a:off x="11796512" y="4943856"/>
            <a:ext cx="1828800" cy="10363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00"/>
              </a:lnSpc>
            </a:pPr>
            <a:r>
              <a:rPr lang="en-US" sz="2000">
                <a:solidFill>
                  <a:srgbClr val="1B2A1F"/>
                </a:solidFill>
                <a:latin typeface="Calibri (MS)"/>
                <a:ea typeface="Calibri (MS)"/>
                <a:cs typeface="Calibri (MS)"/>
                <a:sym typeface="Calibri (MS)"/>
              </a:rPr>
              <a:t>Storage</a:t>
            </a:r>
          </a:p>
        </p:txBody>
      </p:sp>
      <p:sp>
        <p:nvSpPr>
          <p:cNvPr name="TextBox 94" id="94"/>
          <p:cNvSpPr txBox="true"/>
          <p:nvPr/>
        </p:nvSpPr>
        <p:spPr>
          <a:xfrm rot="0">
            <a:off x="13680176" y="4943856"/>
            <a:ext cx="1828800" cy="10363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00"/>
              </a:lnSpc>
            </a:pPr>
            <a:r>
              <a:rPr lang="en-US" sz="2000">
                <a:solidFill>
                  <a:srgbClr val="1B2A1F"/>
                </a:solidFill>
                <a:latin typeface="Calibri (MS)"/>
                <a:ea typeface="Calibri (MS)"/>
                <a:cs typeface="Calibri (MS)"/>
                <a:sym typeface="Calibri (MS)"/>
              </a:rPr>
              <a:t>Realtime</a:t>
            </a:r>
          </a:p>
        </p:txBody>
      </p:sp>
      <p:sp>
        <p:nvSpPr>
          <p:cNvPr name="TextBox 95" id="95"/>
          <p:cNvSpPr txBox="true"/>
          <p:nvPr/>
        </p:nvSpPr>
        <p:spPr>
          <a:xfrm rot="0">
            <a:off x="15563840" y="4943856"/>
            <a:ext cx="1828800" cy="10363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00"/>
              </a:lnSpc>
            </a:pPr>
            <a:r>
              <a:rPr lang="en-US" sz="2000">
                <a:solidFill>
                  <a:srgbClr val="1B2A1F"/>
                </a:solidFill>
                <a:latin typeface="Calibri (MS)"/>
                <a:ea typeface="Calibri (MS)"/>
                <a:cs typeface="Calibri (MS)"/>
                <a:sym typeface="Calibri (MS)"/>
              </a:rPr>
              <a:t>Edge Functions</a:t>
            </a:r>
          </a:p>
        </p:txBody>
      </p:sp>
      <p:sp>
        <p:nvSpPr>
          <p:cNvPr name="TextBox 96" id="96"/>
          <p:cNvSpPr txBox="true"/>
          <p:nvPr/>
        </p:nvSpPr>
        <p:spPr>
          <a:xfrm rot="0">
            <a:off x="914400" y="5809488"/>
            <a:ext cx="4572000" cy="7010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600"/>
              </a:lnSpc>
            </a:pPr>
            <a:r>
              <a:rPr lang="en-US" sz="3000" b="true">
                <a:solidFill>
                  <a:srgbClr val="2E5634"/>
                </a:solidFill>
                <a:latin typeface="Cambria Bold"/>
                <a:ea typeface="Cambria Bold"/>
                <a:cs typeface="Cambria Bold"/>
                <a:sym typeface="Cambria Bold"/>
              </a:rPr>
              <a:t>Mensageria</a:t>
            </a:r>
          </a:p>
        </p:txBody>
      </p:sp>
      <p:sp>
        <p:nvSpPr>
          <p:cNvPr name="TextBox 97" id="97"/>
          <p:cNvSpPr txBox="true"/>
          <p:nvPr/>
        </p:nvSpPr>
        <p:spPr>
          <a:xfrm rot="0">
            <a:off x="5998464" y="6827520"/>
            <a:ext cx="1828800" cy="10363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00"/>
              </a:lnSpc>
            </a:pPr>
            <a:r>
              <a:rPr lang="en-US" sz="2000">
                <a:solidFill>
                  <a:srgbClr val="1B2A1F"/>
                </a:solidFill>
                <a:latin typeface="Calibri (MS)"/>
                <a:ea typeface="Calibri (MS)"/>
                <a:cs typeface="Calibri (MS)"/>
                <a:sym typeface="Calibri (MS)"/>
              </a:rPr>
              <a:t>Evolution API (Render)</a:t>
            </a:r>
          </a:p>
        </p:txBody>
      </p:sp>
      <p:sp>
        <p:nvSpPr>
          <p:cNvPr name="TextBox 98" id="98"/>
          <p:cNvSpPr txBox="true"/>
          <p:nvPr/>
        </p:nvSpPr>
        <p:spPr>
          <a:xfrm rot="0">
            <a:off x="7882128" y="6827520"/>
            <a:ext cx="1828800" cy="10363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00"/>
              </a:lnSpc>
            </a:pPr>
            <a:r>
              <a:rPr lang="en-US" sz="2000">
                <a:solidFill>
                  <a:srgbClr val="1B2A1F"/>
                </a:solidFill>
                <a:latin typeface="Calibri (MS)"/>
                <a:ea typeface="Calibri (MS)"/>
                <a:cs typeface="Calibri (MS)"/>
                <a:sym typeface="Calibri (MS)"/>
              </a:rPr>
              <a:t>WhatsApp</a:t>
            </a:r>
          </a:p>
        </p:txBody>
      </p:sp>
      <p:sp>
        <p:nvSpPr>
          <p:cNvPr name="TextBox 99" id="99"/>
          <p:cNvSpPr txBox="true"/>
          <p:nvPr/>
        </p:nvSpPr>
        <p:spPr>
          <a:xfrm rot="0">
            <a:off x="914400" y="7693152"/>
            <a:ext cx="4572000" cy="7010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600"/>
              </a:lnSpc>
            </a:pPr>
            <a:r>
              <a:rPr lang="en-US" sz="3000" b="true">
                <a:solidFill>
                  <a:srgbClr val="2E5634"/>
                </a:solidFill>
                <a:latin typeface="Cambria Bold"/>
                <a:ea typeface="Cambria Bold"/>
                <a:cs typeface="Cambria Bold"/>
                <a:sym typeface="Cambria Bold"/>
              </a:rPr>
              <a:t>Apoio</a:t>
            </a:r>
          </a:p>
        </p:txBody>
      </p:sp>
      <p:sp>
        <p:nvSpPr>
          <p:cNvPr name="TextBox 100" id="100"/>
          <p:cNvSpPr txBox="true"/>
          <p:nvPr/>
        </p:nvSpPr>
        <p:spPr>
          <a:xfrm rot="0">
            <a:off x="5998464" y="8711184"/>
            <a:ext cx="1828800" cy="10363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00"/>
              </a:lnSpc>
            </a:pPr>
            <a:r>
              <a:rPr lang="en-US" sz="2000">
                <a:solidFill>
                  <a:srgbClr val="1B2A1F"/>
                </a:solidFill>
                <a:latin typeface="Calibri (MS)"/>
                <a:ea typeface="Calibri (MS)"/>
                <a:cs typeface="Calibri (MS)"/>
                <a:sym typeface="Calibri (MS)"/>
              </a:rPr>
              <a:t>Git e GitHub</a:t>
            </a:r>
          </a:p>
        </p:txBody>
      </p:sp>
      <p:sp>
        <p:nvSpPr>
          <p:cNvPr name="TextBox 101" id="101"/>
          <p:cNvSpPr txBox="true"/>
          <p:nvPr/>
        </p:nvSpPr>
        <p:spPr>
          <a:xfrm rot="0">
            <a:off x="7772400" y="8711184"/>
            <a:ext cx="1828800" cy="6096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00"/>
              </a:lnSpc>
            </a:pPr>
            <a:r>
              <a:rPr lang="en-US" sz="2000">
                <a:solidFill>
                  <a:srgbClr val="1B2A1F"/>
                </a:solidFill>
                <a:latin typeface="Calibri (MS)"/>
                <a:ea typeface="Calibri (MS)"/>
                <a:cs typeface="Calibri (MS)"/>
                <a:sym typeface="Calibri (MS)"/>
              </a:rPr>
              <a:t>Trello</a:t>
            </a:r>
          </a:p>
        </p:txBody>
      </p:sp>
      <p:sp>
        <p:nvSpPr>
          <p:cNvPr name="TextBox 102" id="102"/>
          <p:cNvSpPr txBox="true"/>
          <p:nvPr/>
        </p:nvSpPr>
        <p:spPr>
          <a:xfrm rot="0">
            <a:off x="9390888" y="8711184"/>
            <a:ext cx="1828800" cy="10363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00"/>
              </a:lnSpc>
            </a:pPr>
            <a:r>
              <a:rPr lang="en-US" sz="2000">
                <a:solidFill>
                  <a:srgbClr val="1B2A1F"/>
                </a:solidFill>
                <a:latin typeface="Calibri (MS)"/>
                <a:ea typeface="Calibri (MS)"/>
                <a:cs typeface="Calibri (MS)"/>
                <a:sym typeface="Calibri (MS)"/>
              </a:rPr>
              <a:t>Figma</a:t>
            </a:r>
          </a:p>
        </p:txBody>
      </p:sp>
      <p:sp>
        <p:nvSpPr>
          <p:cNvPr name="TextBox 103" id="103"/>
          <p:cNvSpPr txBox="true"/>
          <p:nvPr/>
        </p:nvSpPr>
        <p:spPr>
          <a:xfrm rot="0">
            <a:off x="11043780" y="8711184"/>
            <a:ext cx="1828800" cy="10363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00"/>
              </a:lnSpc>
            </a:pPr>
            <a:r>
              <a:rPr lang="en-US" sz="2000">
                <a:solidFill>
                  <a:srgbClr val="1B2A1F"/>
                </a:solidFill>
                <a:latin typeface="Calibri (MS)"/>
                <a:ea typeface="Calibri (MS)"/>
                <a:cs typeface="Calibri (MS)"/>
                <a:sym typeface="Calibri (MS)"/>
              </a:rPr>
              <a:t>Astah UML</a:t>
            </a:r>
          </a:p>
        </p:txBody>
      </p:sp>
      <p:sp>
        <p:nvSpPr>
          <p:cNvPr name="TextBox 104" id="104"/>
          <p:cNvSpPr txBox="true"/>
          <p:nvPr/>
        </p:nvSpPr>
        <p:spPr>
          <a:xfrm rot="0">
            <a:off x="12808953" y="8711184"/>
            <a:ext cx="1828800" cy="10363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00"/>
              </a:lnSpc>
            </a:pPr>
            <a:r>
              <a:rPr lang="en-US" sz="2000">
                <a:solidFill>
                  <a:srgbClr val="1B2A1F"/>
                </a:solidFill>
                <a:latin typeface="Calibri (MS)"/>
                <a:ea typeface="Calibri (MS)"/>
                <a:cs typeface="Calibri (MS)"/>
                <a:sym typeface="Calibri (MS)"/>
              </a:rPr>
              <a:t>VS Code</a:t>
            </a:r>
          </a:p>
        </p:txBody>
      </p:sp>
      <p:sp>
        <p:nvSpPr>
          <p:cNvPr name="TextBox 105" id="105"/>
          <p:cNvSpPr txBox="true"/>
          <p:nvPr/>
        </p:nvSpPr>
        <p:spPr>
          <a:xfrm rot="0">
            <a:off x="14363814" y="8711184"/>
            <a:ext cx="1865376" cy="4953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00"/>
              </a:lnSpc>
            </a:pPr>
            <a:r>
              <a:rPr lang="en-US" sz="2000">
                <a:solidFill>
                  <a:srgbClr val="1B2A1F"/>
                </a:solidFill>
                <a:latin typeface="Calibri (MS)"/>
                <a:ea typeface="Calibri (MS)"/>
                <a:cs typeface="Calibri (MS)"/>
                <a:sym typeface="Calibri (MS)"/>
              </a:rPr>
              <a:t>ChatGPT</a:t>
            </a:r>
          </a:p>
        </p:txBody>
      </p:sp>
      <p:sp>
        <p:nvSpPr>
          <p:cNvPr name="TextBox 106" id="106"/>
          <p:cNvSpPr txBox="true"/>
          <p:nvPr/>
        </p:nvSpPr>
        <p:spPr>
          <a:xfrm rot="0">
            <a:off x="16459200" y="9433560"/>
            <a:ext cx="914400" cy="5334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400"/>
              </a:lnSpc>
            </a:pPr>
            <a:r>
              <a:rPr lang="en-US" sz="2000">
                <a:solidFill>
                  <a:srgbClr val="5B6B5F"/>
                </a:solidFill>
                <a:latin typeface="Calibri (MS)"/>
                <a:ea typeface="Calibri (MS)"/>
                <a:cs typeface="Calibri (MS)"/>
                <a:sym typeface="Calibri (MS)"/>
              </a:rPr>
              <a:t>21</a:t>
            </a:r>
          </a:p>
        </p:txBody>
      </p:sp>
      <p:sp>
        <p:nvSpPr>
          <p:cNvPr name="TextBox 107" id="107"/>
          <p:cNvSpPr txBox="true"/>
          <p:nvPr/>
        </p:nvSpPr>
        <p:spPr>
          <a:xfrm rot="0">
            <a:off x="6053328" y="4928616"/>
            <a:ext cx="1828800" cy="6096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00"/>
              </a:lnSpc>
            </a:pPr>
            <a:r>
              <a:rPr lang="en-US" sz="2000">
                <a:solidFill>
                  <a:srgbClr val="1B2A1F"/>
                </a:solidFill>
                <a:latin typeface="Calibri (MS)"/>
                <a:ea typeface="Calibri (MS)"/>
                <a:cs typeface="Calibri (MS)"/>
                <a:sym typeface="Calibri (MS)"/>
              </a:rPr>
              <a:t>Supabase</a:t>
            </a:r>
          </a:p>
        </p:txBody>
      </p:sp>
      <p:sp>
        <p:nvSpPr>
          <p:cNvPr name="TextBox 108" id="108"/>
          <p:cNvSpPr txBox="true"/>
          <p:nvPr/>
        </p:nvSpPr>
        <p:spPr>
          <a:xfrm rot="0">
            <a:off x="15345918" y="3060192"/>
            <a:ext cx="1828800" cy="6096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00"/>
              </a:lnSpc>
            </a:pPr>
            <a:r>
              <a:rPr lang="en-US" sz="2000">
                <a:solidFill>
                  <a:srgbClr val="1B2A1F"/>
                </a:solidFill>
                <a:latin typeface="Calibri (MS)"/>
                <a:ea typeface="Calibri (MS)"/>
                <a:cs typeface="Calibri (MS)"/>
                <a:sym typeface="Calibri (MS)"/>
              </a:rPr>
              <a:t>Google API</a:t>
            </a:r>
          </a:p>
        </p:txBody>
      </p:sp>
      <p:grpSp>
        <p:nvGrpSpPr>
          <p:cNvPr name="Group 109" id="109"/>
          <p:cNvGrpSpPr/>
          <p:nvPr/>
        </p:nvGrpSpPr>
        <p:grpSpPr>
          <a:xfrm rot="0">
            <a:off x="16641051" y="7938802"/>
            <a:ext cx="768096" cy="768096"/>
            <a:chOff x="0" y="0"/>
            <a:chExt cx="1024128" cy="1024128"/>
          </a:xfrm>
        </p:grpSpPr>
        <p:sp>
          <p:nvSpPr>
            <p:cNvPr name="Freeform 110" id="110"/>
            <p:cNvSpPr/>
            <p:nvPr/>
          </p:nvSpPr>
          <p:spPr>
            <a:xfrm flipH="false" flipV="false" rot="0">
              <a:off x="0" y="0"/>
              <a:ext cx="1024128" cy="1024128"/>
            </a:xfrm>
            <a:custGeom>
              <a:avLst/>
              <a:gdLst/>
              <a:ahLst/>
              <a:cxnLst/>
              <a:rect r="r" b="b" t="t" l="l"/>
              <a:pathLst>
                <a:path h="1024128" w="1024128">
                  <a:moveTo>
                    <a:pt x="0" y="0"/>
                  </a:moveTo>
                  <a:lnTo>
                    <a:pt x="1024128" y="0"/>
                  </a:lnTo>
                  <a:lnTo>
                    <a:pt x="1024128" y="1024128"/>
                  </a:lnTo>
                  <a:lnTo>
                    <a:pt x="0" y="102412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0"/>
              <a:stretch>
                <a:fillRect l="0" t="0" r="0" b="0"/>
              </a:stretch>
            </a:blipFill>
          </p:spPr>
        </p:sp>
      </p:grpSp>
      <p:sp>
        <p:nvSpPr>
          <p:cNvPr name="TextBox 111" id="111"/>
          <p:cNvSpPr txBox="true"/>
          <p:nvPr/>
        </p:nvSpPr>
        <p:spPr>
          <a:xfrm rot="0">
            <a:off x="16110699" y="8714794"/>
            <a:ext cx="1865376" cy="4953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00"/>
              </a:lnSpc>
            </a:pPr>
            <a:r>
              <a:rPr lang="en-US" sz="2000">
                <a:solidFill>
                  <a:srgbClr val="1B2A1F"/>
                </a:solidFill>
                <a:latin typeface="Calibri (MS)"/>
                <a:ea typeface="Calibri (MS)"/>
                <a:cs typeface="Calibri (MS)"/>
                <a:sym typeface="Calibri (MS)"/>
              </a:rPr>
              <a:t>GitHub Copilot</a:t>
            </a:r>
          </a:p>
        </p:txBody>
      </p:sp>
    </p:spTree>
  </p:cSld>
  <p:clrMapOvr>
    <a:masterClrMapping/>
  </p:clrMapOvr>
</p:sld>
</file>

<file path=ppt/slides/slide2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914400" y="245364"/>
            <a:ext cx="6858000" cy="6324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00"/>
              </a:lnSpc>
            </a:pPr>
            <a:r>
              <a:rPr lang="en-US" b="true" sz="2000" spc="400">
                <a:solidFill>
                  <a:srgbClr val="B1734A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04  SOLUÇÃO DESENVOLVIDA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914400" y="914400"/>
            <a:ext cx="16459200" cy="1097280"/>
            <a:chOff x="0" y="0"/>
            <a:chExt cx="21945600" cy="146304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21945600" cy="1463040"/>
            </a:xfrm>
            <a:custGeom>
              <a:avLst/>
              <a:gdLst/>
              <a:ahLst/>
              <a:cxnLst/>
              <a:rect r="r" b="b" t="t" l="l"/>
              <a:pathLst>
                <a:path h="146304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463040"/>
                  </a:lnTo>
                  <a:lnTo>
                    <a:pt x="0" y="14630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242072" r="0" b="-242072"/>
              </a:stretch>
            </a:blipFill>
          </p:spPr>
        </p:sp>
      </p:grpSp>
      <p:grpSp>
        <p:nvGrpSpPr>
          <p:cNvPr name="Group 5" id="5"/>
          <p:cNvGrpSpPr/>
          <p:nvPr/>
        </p:nvGrpSpPr>
        <p:grpSpPr>
          <a:xfrm rot="0">
            <a:off x="914400" y="907256"/>
            <a:ext cx="16459200" cy="1104424"/>
            <a:chOff x="0" y="0"/>
            <a:chExt cx="21945600" cy="1472565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21945600" cy="1472565"/>
            </a:xfrm>
            <a:custGeom>
              <a:avLst/>
              <a:gdLst/>
              <a:ahLst/>
              <a:cxnLst/>
              <a:rect r="r" b="b" t="t" l="l"/>
              <a:pathLst>
                <a:path h="1472565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472565"/>
                  </a:lnTo>
                  <a:lnTo>
                    <a:pt x="0" y="1472565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40182" r="0" b="-240183"/>
              </a:stretch>
            </a:blipFill>
          </p:spPr>
        </p:sp>
      </p:grpSp>
      <p:grpSp>
        <p:nvGrpSpPr>
          <p:cNvPr name="Group 7" id="7"/>
          <p:cNvGrpSpPr/>
          <p:nvPr/>
        </p:nvGrpSpPr>
        <p:grpSpPr>
          <a:xfrm rot="0">
            <a:off x="914400" y="900112"/>
            <a:ext cx="16459200" cy="1111568"/>
            <a:chOff x="0" y="0"/>
            <a:chExt cx="21945600" cy="148209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21945600" cy="1482090"/>
            </a:xfrm>
            <a:custGeom>
              <a:avLst/>
              <a:gdLst/>
              <a:ahLst/>
              <a:cxnLst/>
              <a:rect r="r" b="b" t="t" l="l"/>
              <a:pathLst>
                <a:path h="148209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482090"/>
                  </a:lnTo>
                  <a:lnTo>
                    <a:pt x="0" y="148209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38317" r="0" b="-238318"/>
              </a:stretch>
            </a:blipFill>
          </p:spPr>
        </p:sp>
      </p:grpSp>
      <p:grpSp>
        <p:nvGrpSpPr>
          <p:cNvPr name="Group 9" id="9"/>
          <p:cNvGrpSpPr/>
          <p:nvPr/>
        </p:nvGrpSpPr>
        <p:grpSpPr>
          <a:xfrm rot="0">
            <a:off x="914400" y="892969"/>
            <a:ext cx="16459200" cy="1118711"/>
            <a:chOff x="0" y="0"/>
            <a:chExt cx="21945600" cy="1491615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21945600" cy="1491615"/>
            </a:xfrm>
            <a:custGeom>
              <a:avLst/>
              <a:gdLst/>
              <a:ahLst/>
              <a:cxnLst/>
              <a:rect r="r" b="b" t="t" l="l"/>
              <a:pathLst>
                <a:path h="1491615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491615"/>
                  </a:lnTo>
                  <a:lnTo>
                    <a:pt x="0" y="1491615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236476" r="0" b="-236477"/>
              </a:stretch>
            </a:blipFill>
          </p:spPr>
        </p:sp>
      </p:grpSp>
      <p:grpSp>
        <p:nvGrpSpPr>
          <p:cNvPr name="Group 11" id="11"/>
          <p:cNvGrpSpPr/>
          <p:nvPr/>
        </p:nvGrpSpPr>
        <p:grpSpPr>
          <a:xfrm rot="0">
            <a:off x="914400" y="885825"/>
            <a:ext cx="16459200" cy="1125855"/>
            <a:chOff x="0" y="0"/>
            <a:chExt cx="21945600" cy="150114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21945600" cy="1501140"/>
            </a:xfrm>
            <a:custGeom>
              <a:avLst/>
              <a:gdLst/>
              <a:ahLst/>
              <a:cxnLst/>
              <a:rect r="r" b="b" t="t" l="l"/>
              <a:pathLst>
                <a:path h="150114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501140"/>
                  </a:lnTo>
                  <a:lnTo>
                    <a:pt x="0" y="1501140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l="0" t="-234659" r="0" b="-234659"/>
              </a:stretch>
            </a:blipFill>
          </p:spPr>
        </p:sp>
      </p:grpSp>
      <p:grpSp>
        <p:nvGrpSpPr>
          <p:cNvPr name="Group 13" id="13"/>
          <p:cNvGrpSpPr/>
          <p:nvPr/>
        </p:nvGrpSpPr>
        <p:grpSpPr>
          <a:xfrm rot="0">
            <a:off x="914400" y="878681"/>
            <a:ext cx="16459200" cy="1132999"/>
            <a:chOff x="0" y="0"/>
            <a:chExt cx="21945600" cy="1510665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21945600" cy="1510665"/>
            </a:xfrm>
            <a:custGeom>
              <a:avLst/>
              <a:gdLst/>
              <a:ahLst/>
              <a:cxnLst/>
              <a:rect r="r" b="b" t="t" l="l"/>
              <a:pathLst>
                <a:path h="1510665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510665"/>
                  </a:lnTo>
                  <a:lnTo>
                    <a:pt x="0" y="1510665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0" t="-232864" r="0" b="-232865"/>
              </a:stretch>
            </a:blipFill>
          </p:spPr>
        </p:sp>
      </p:grpSp>
      <p:grpSp>
        <p:nvGrpSpPr>
          <p:cNvPr name="Group 15" id="15"/>
          <p:cNvGrpSpPr/>
          <p:nvPr/>
        </p:nvGrpSpPr>
        <p:grpSpPr>
          <a:xfrm rot="0">
            <a:off x="914400" y="871538"/>
            <a:ext cx="16459200" cy="1140142"/>
            <a:chOff x="0" y="0"/>
            <a:chExt cx="21945600" cy="152019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21945600" cy="1520190"/>
            </a:xfrm>
            <a:custGeom>
              <a:avLst/>
              <a:gdLst/>
              <a:ahLst/>
              <a:cxnLst/>
              <a:rect r="r" b="b" t="t" l="l"/>
              <a:pathLst>
                <a:path h="152019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520190"/>
                  </a:lnTo>
                  <a:lnTo>
                    <a:pt x="0" y="1520190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0" t="-231287" r="0" b="-231287"/>
              </a:stretch>
            </a:blip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9525"/>
              <a:ext cx="21945600" cy="15297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6239"/>
                </a:lnSpc>
              </a:pPr>
              <a:r>
                <a:rPr lang="en-US" sz="5198" b="true">
                  <a:solidFill>
                    <a:srgbClr val="2E5634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Identidade visual: encontrar em conjunto</a:t>
              </a:r>
            </a:p>
          </p:txBody>
        </p:sp>
      </p:grpSp>
      <p:grpSp>
        <p:nvGrpSpPr>
          <p:cNvPr name="Group 18" id="18"/>
          <p:cNvGrpSpPr/>
          <p:nvPr/>
        </p:nvGrpSpPr>
        <p:grpSpPr>
          <a:xfrm rot="0">
            <a:off x="1737360" y="2560320"/>
            <a:ext cx="4754880" cy="4608576"/>
            <a:chOff x="0" y="0"/>
            <a:chExt cx="6339840" cy="6144768"/>
          </a:xfrm>
        </p:grpSpPr>
        <p:sp>
          <p:nvSpPr>
            <p:cNvPr name="Freeform 19" id="19" descr="/tmp/un/ppt/media/image37.png"/>
            <p:cNvSpPr/>
            <p:nvPr/>
          </p:nvSpPr>
          <p:spPr>
            <a:xfrm flipH="false" flipV="false" rot="0">
              <a:off x="0" y="0"/>
              <a:ext cx="6339840" cy="6144768"/>
            </a:xfrm>
            <a:custGeom>
              <a:avLst/>
              <a:gdLst/>
              <a:ahLst/>
              <a:cxnLst/>
              <a:rect r="r" b="b" t="t" l="l"/>
              <a:pathLst>
                <a:path h="6144768" w="6339840">
                  <a:moveTo>
                    <a:pt x="0" y="0"/>
                  </a:moveTo>
                  <a:lnTo>
                    <a:pt x="6339840" y="0"/>
                  </a:lnTo>
                  <a:lnTo>
                    <a:pt x="6339840" y="6144768"/>
                  </a:lnTo>
                  <a:lnTo>
                    <a:pt x="0" y="614476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>
                <a:fillRect l="0" t="0" r="0" b="0"/>
              </a:stretch>
            </a:blipFill>
          </p:spPr>
        </p:sp>
      </p:grpSp>
      <p:sp>
        <p:nvSpPr>
          <p:cNvPr name="TextBox 20" id="20"/>
          <p:cNvSpPr txBox="true"/>
          <p:nvPr/>
        </p:nvSpPr>
        <p:spPr>
          <a:xfrm rot="0">
            <a:off x="2397481" y="7634688"/>
            <a:ext cx="3891848" cy="561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120"/>
              </a:lnSpc>
            </a:pPr>
            <a:r>
              <a:rPr lang="en-US" sz="2600" b="true">
                <a:solidFill>
                  <a:srgbClr val="B1734A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We</a:t>
            </a:r>
            <a:r>
              <a:rPr lang="en-US" sz="2600" b="true">
                <a:solidFill>
                  <a:srgbClr val="1B2A1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 = nós  </a:t>
            </a:r>
            <a:r>
              <a:rPr lang="en-US" sz="2600" b="true">
                <a:solidFill>
                  <a:srgbClr val="2E5634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Find</a:t>
            </a:r>
            <a:r>
              <a:rPr lang="en-US" sz="2600" b="true">
                <a:solidFill>
                  <a:srgbClr val="1B2A1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 = encontrar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914400" y="8549640"/>
            <a:ext cx="6400800" cy="10896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00"/>
              </a:lnSpc>
            </a:pPr>
            <a:r>
              <a:rPr lang="en-US" sz="2000">
                <a:solidFill>
                  <a:srgbClr val="5B6B5F"/>
                </a:solidFill>
                <a:latin typeface="Calibri (MS)"/>
                <a:ea typeface="Calibri (MS)"/>
                <a:cs typeface="Calibri (MS)"/>
                <a:sym typeface="Calibri (MS)"/>
              </a:rPr>
              <a:t>Cão e gato em volta de um pin de localização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16459200" y="9471660"/>
            <a:ext cx="914400" cy="3810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400"/>
              </a:lnSpc>
            </a:pPr>
            <a:r>
              <a:rPr lang="en-US" sz="2000">
                <a:solidFill>
                  <a:srgbClr val="5B6B5F"/>
                </a:solidFill>
                <a:latin typeface="Calibri (MS)"/>
                <a:ea typeface="Calibri (MS)"/>
                <a:cs typeface="Calibri (MS)"/>
                <a:sym typeface="Calibri (MS)"/>
              </a:rPr>
              <a:t>22</a:t>
            </a:r>
          </a:p>
        </p:txBody>
      </p:sp>
      <p:grpSp>
        <p:nvGrpSpPr>
          <p:cNvPr name="Group 23" id="23"/>
          <p:cNvGrpSpPr/>
          <p:nvPr/>
        </p:nvGrpSpPr>
        <p:grpSpPr>
          <a:xfrm rot="0">
            <a:off x="822960" y="9572625"/>
            <a:ext cx="8229600" cy="440055"/>
            <a:chOff x="0" y="0"/>
            <a:chExt cx="10972800" cy="586740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10972800" cy="586740"/>
            </a:xfrm>
            <a:custGeom>
              <a:avLst/>
              <a:gdLst/>
              <a:ahLst/>
              <a:cxnLst/>
              <a:rect r="r" b="b" t="t" l="l"/>
              <a:pathLst>
                <a:path h="5867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586740"/>
                  </a:lnTo>
                  <a:lnTo>
                    <a:pt x="0" y="5867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314142" r="0" b="-314140"/>
              </a:stretch>
            </a:blipFill>
          </p:spPr>
        </p:sp>
      </p:grpSp>
      <p:grpSp>
        <p:nvGrpSpPr>
          <p:cNvPr name="Group 25" id="25"/>
          <p:cNvGrpSpPr/>
          <p:nvPr/>
        </p:nvGrpSpPr>
        <p:grpSpPr>
          <a:xfrm rot="0">
            <a:off x="822960" y="9544050"/>
            <a:ext cx="8229600" cy="468630"/>
            <a:chOff x="0" y="0"/>
            <a:chExt cx="10972800" cy="624840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10972800" cy="624840"/>
            </a:xfrm>
            <a:custGeom>
              <a:avLst/>
              <a:gdLst/>
              <a:ahLst/>
              <a:cxnLst/>
              <a:rect r="r" b="b" t="t" l="l"/>
              <a:pathLst>
                <a:path h="6248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624840"/>
                  </a:lnTo>
                  <a:lnTo>
                    <a:pt x="0" y="6248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91939" r="0" b="-291936"/>
              </a:stretch>
            </a:blipFill>
          </p:spPr>
        </p:sp>
      </p:grpSp>
      <p:grpSp>
        <p:nvGrpSpPr>
          <p:cNvPr name="Group 27" id="27"/>
          <p:cNvGrpSpPr/>
          <p:nvPr/>
        </p:nvGrpSpPr>
        <p:grpSpPr>
          <a:xfrm rot="0">
            <a:off x="822960" y="9515475"/>
            <a:ext cx="8229600" cy="497205"/>
            <a:chOff x="0" y="0"/>
            <a:chExt cx="10972800" cy="662940"/>
          </a:xfrm>
        </p:grpSpPr>
        <p:sp>
          <p:nvSpPr>
            <p:cNvPr name="Freeform 28" id="28"/>
            <p:cNvSpPr/>
            <p:nvPr/>
          </p:nvSpPr>
          <p:spPr>
            <a:xfrm flipH="false" flipV="false" rot="0">
              <a:off x="0" y="0"/>
              <a:ext cx="10972800" cy="662940"/>
            </a:xfrm>
            <a:custGeom>
              <a:avLst/>
              <a:gdLst/>
              <a:ahLst/>
              <a:cxnLst/>
              <a:rect r="r" b="b" t="t" l="l"/>
              <a:pathLst>
                <a:path h="6629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662940"/>
                  </a:lnTo>
                  <a:lnTo>
                    <a:pt x="0" y="66294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72287" r="0" b="-272285"/>
              </a:stretch>
            </a:blipFill>
          </p:spPr>
        </p:sp>
      </p:grpSp>
      <p:grpSp>
        <p:nvGrpSpPr>
          <p:cNvPr name="Group 29" id="29"/>
          <p:cNvGrpSpPr/>
          <p:nvPr/>
        </p:nvGrpSpPr>
        <p:grpSpPr>
          <a:xfrm rot="0">
            <a:off x="822960" y="9486900"/>
            <a:ext cx="8229600" cy="525780"/>
            <a:chOff x="0" y="0"/>
            <a:chExt cx="10972800" cy="701040"/>
          </a:xfrm>
        </p:grpSpPr>
        <p:sp>
          <p:nvSpPr>
            <p:cNvPr name="Freeform 30" id="30"/>
            <p:cNvSpPr/>
            <p:nvPr/>
          </p:nvSpPr>
          <p:spPr>
            <a:xfrm flipH="false" flipV="false" rot="0">
              <a:off x="0" y="0"/>
              <a:ext cx="10972800" cy="701040"/>
            </a:xfrm>
            <a:custGeom>
              <a:avLst/>
              <a:gdLst/>
              <a:ahLst/>
              <a:cxnLst/>
              <a:rect r="r" b="b" t="t" l="l"/>
              <a:pathLst>
                <a:path h="7010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701040"/>
                  </a:lnTo>
                  <a:lnTo>
                    <a:pt x="0" y="701040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254771" r="0" b="-254769"/>
              </a:stretch>
            </a:blipFill>
          </p:spPr>
        </p:sp>
      </p:grpSp>
      <p:grpSp>
        <p:nvGrpSpPr>
          <p:cNvPr name="Group 31" id="31"/>
          <p:cNvGrpSpPr/>
          <p:nvPr/>
        </p:nvGrpSpPr>
        <p:grpSpPr>
          <a:xfrm rot="0">
            <a:off x="822960" y="9458325"/>
            <a:ext cx="8229600" cy="554355"/>
            <a:chOff x="0" y="0"/>
            <a:chExt cx="10972800" cy="739140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0" y="0"/>
              <a:ext cx="10972800" cy="739140"/>
            </a:xfrm>
            <a:custGeom>
              <a:avLst/>
              <a:gdLst/>
              <a:ahLst/>
              <a:cxnLst/>
              <a:rect r="r" b="b" t="t" l="l"/>
              <a:pathLst>
                <a:path h="7391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739140"/>
                  </a:lnTo>
                  <a:lnTo>
                    <a:pt x="0" y="739140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l="0" t="-239061" r="0" b="-239060"/>
              </a:stretch>
            </a:blipFill>
          </p:spPr>
        </p:sp>
      </p:grpSp>
      <p:grpSp>
        <p:nvGrpSpPr>
          <p:cNvPr name="Group 33" id="33"/>
          <p:cNvGrpSpPr/>
          <p:nvPr/>
        </p:nvGrpSpPr>
        <p:grpSpPr>
          <a:xfrm rot="0">
            <a:off x="822960" y="9429750"/>
            <a:ext cx="8229600" cy="582930"/>
            <a:chOff x="0" y="0"/>
            <a:chExt cx="10972800" cy="777240"/>
          </a:xfrm>
        </p:grpSpPr>
        <p:sp>
          <p:nvSpPr>
            <p:cNvPr name="Freeform 34" id="34"/>
            <p:cNvSpPr/>
            <p:nvPr/>
          </p:nvSpPr>
          <p:spPr>
            <a:xfrm flipH="false" flipV="false" rot="0">
              <a:off x="0" y="0"/>
              <a:ext cx="10972800" cy="777240"/>
            </a:xfrm>
            <a:custGeom>
              <a:avLst/>
              <a:gdLst/>
              <a:ahLst/>
              <a:cxnLst/>
              <a:rect r="r" b="b" t="t" l="l"/>
              <a:pathLst>
                <a:path h="7772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777240"/>
                  </a:lnTo>
                  <a:lnTo>
                    <a:pt x="0" y="777240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0" t="-224892" r="0" b="-224890"/>
              </a:stretch>
            </a:blipFill>
          </p:spPr>
        </p:sp>
      </p:grpSp>
      <p:grpSp>
        <p:nvGrpSpPr>
          <p:cNvPr name="Group 35" id="35"/>
          <p:cNvGrpSpPr/>
          <p:nvPr/>
        </p:nvGrpSpPr>
        <p:grpSpPr>
          <a:xfrm rot="0">
            <a:off x="822960" y="9401175"/>
            <a:ext cx="8229600" cy="611505"/>
            <a:chOff x="0" y="0"/>
            <a:chExt cx="10972800" cy="815340"/>
          </a:xfrm>
        </p:grpSpPr>
        <p:sp>
          <p:nvSpPr>
            <p:cNvPr name="Freeform 36" id="36"/>
            <p:cNvSpPr/>
            <p:nvPr/>
          </p:nvSpPr>
          <p:spPr>
            <a:xfrm flipH="false" flipV="false" rot="0">
              <a:off x="0" y="0"/>
              <a:ext cx="10972800" cy="815340"/>
            </a:xfrm>
            <a:custGeom>
              <a:avLst/>
              <a:gdLst/>
              <a:ahLst/>
              <a:cxnLst/>
              <a:rect r="r" b="b" t="t" l="l"/>
              <a:pathLst>
                <a:path h="8153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815340"/>
                  </a:lnTo>
                  <a:lnTo>
                    <a:pt x="0" y="815340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0" t="-212228" r="0" b="-212228"/>
              </a:stretch>
            </a:blipFill>
          </p:spPr>
        </p:sp>
        <p:sp>
          <p:nvSpPr>
            <p:cNvPr name="TextBox 37" id="37"/>
            <p:cNvSpPr txBox="true"/>
            <p:nvPr/>
          </p:nvSpPr>
          <p:spPr>
            <a:xfrm>
              <a:off x="0" y="-38100"/>
              <a:ext cx="10972800" cy="8534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6B728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WeFIND  |  TCC  |  IFSul Campus Pelotas</a:t>
              </a:r>
            </a:p>
          </p:txBody>
        </p:sp>
      </p:grpSp>
      <p:sp>
        <p:nvSpPr>
          <p:cNvPr name="TextBox 38" id="38"/>
          <p:cNvSpPr txBox="true"/>
          <p:nvPr/>
        </p:nvSpPr>
        <p:spPr>
          <a:xfrm rot="0">
            <a:off x="3037132" y="6862124"/>
            <a:ext cx="2612546" cy="104401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218"/>
              </a:lnSpc>
            </a:pPr>
            <a:r>
              <a:rPr lang="en-US" b="true" sz="5553" spc="52">
                <a:solidFill>
                  <a:srgbClr val="B57645"/>
                </a:solidFill>
                <a:latin typeface="Roboto Bold"/>
                <a:ea typeface="Roboto Bold"/>
                <a:cs typeface="Roboto Bold"/>
                <a:sym typeface="Roboto Bold"/>
              </a:rPr>
              <a:t>We</a:t>
            </a:r>
            <a:r>
              <a:rPr lang="en-US" b="true" sz="5553" spc="52">
                <a:solidFill>
                  <a:srgbClr val="3C5D40"/>
                </a:solidFill>
                <a:latin typeface="Roboto Bold"/>
                <a:ea typeface="Roboto Bold"/>
                <a:cs typeface="Roboto Bold"/>
                <a:sym typeface="Roboto Bold"/>
              </a:rPr>
              <a:t>FIND</a:t>
            </a:r>
          </a:p>
        </p:txBody>
      </p:sp>
      <p:sp>
        <p:nvSpPr>
          <p:cNvPr name="Freeform 39" id="39"/>
          <p:cNvSpPr/>
          <p:nvPr/>
        </p:nvSpPr>
        <p:spPr>
          <a:xfrm flipH="false" flipV="false" rot="0">
            <a:off x="7389362" y="2567235"/>
            <a:ext cx="1762392" cy="1236688"/>
          </a:xfrm>
          <a:custGeom>
            <a:avLst/>
            <a:gdLst/>
            <a:ahLst/>
            <a:cxnLst/>
            <a:rect r="r" b="b" t="t" l="l"/>
            <a:pathLst>
              <a:path h="1236688" w="1762392">
                <a:moveTo>
                  <a:pt x="0" y="0"/>
                </a:moveTo>
                <a:lnTo>
                  <a:pt x="1762391" y="0"/>
                </a:lnTo>
                <a:lnTo>
                  <a:pt x="1762391" y="1236688"/>
                </a:lnTo>
                <a:lnTo>
                  <a:pt x="0" y="1236688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-199" t="0" r="-198" b="0"/>
            </a:stretch>
          </a:blipFill>
        </p:spPr>
      </p:sp>
      <p:sp>
        <p:nvSpPr>
          <p:cNvPr name="TextBox 40" id="40"/>
          <p:cNvSpPr txBox="true"/>
          <p:nvPr/>
        </p:nvSpPr>
        <p:spPr>
          <a:xfrm rot="0">
            <a:off x="7397115" y="3754022"/>
            <a:ext cx="1047988" cy="5143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2700"/>
              </a:lnSpc>
            </a:pPr>
            <a:r>
              <a:rPr lang="en-US" sz="2250" b="true">
                <a:solidFill>
                  <a:srgbClr val="0F172A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Primária</a:t>
            </a:r>
          </a:p>
        </p:txBody>
      </p:sp>
      <p:sp>
        <p:nvSpPr>
          <p:cNvPr name="TextBox 41" id="41"/>
          <p:cNvSpPr txBox="true"/>
          <p:nvPr/>
        </p:nvSpPr>
        <p:spPr>
          <a:xfrm rot="0">
            <a:off x="7397115" y="4258847"/>
            <a:ext cx="873443" cy="4381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2340"/>
              </a:lnSpc>
            </a:pPr>
            <a:r>
              <a:rPr lang="en-US" sz="1950">
                <a:solidFill>
                  <a:srgbClr val="4B5563"/>
                </a:solidFill>
                <a:latin typeface="Calibri (MS)"/>
                <a:ea typeface="Calibri (MS)"/>
                <a:cs typeface="Calibri (MS)"/>
                <a:sym typeface="Calibri (MS)"/>
              </a:rPr>
              <a:t>#2E5634</a:t>
            </a:r>
          </a:p>
        </p:txBody>
      </p:sp>
      <p:sp>
        <p:nvSpPr>
          <p:cNvPr name="Freeform 42" id="42"/>
          <p:cNvSpPr/>
          <p:nvPr/>
        </p:nvSpPr>
        <p:spPr>
          <a:xfrm flipH="false" flipV="false" rot="0">
            <a:off x="9339844" y="2567235"/>
            <a:ext cx="1762392" cy="1236688"/>
          </a:xfrm>
          <a:custGeom>
            <a:avLst/>
            <a:gdLst/>
            <a:ahLst/>
            <a:cxnLst/>
            <a:rect r="r" b="b" t="t" l="l"/>
            <a:pathLst>
              <a:path h="1236688" w="1762392">
                <a:moveTo>
                  <a:pt x="0" y="0"/>
                </a:moveTo>
                <a:lnTo>
                  <a:pt x="1762391" y="0"/>
                </a:lnTo>
                <a:lnTo>
                  <a:pt x="1762391" y="1236688"/>
                </a:lnTo>
                <a:lnTo>
                  <a:pt x="0" y="1236688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 l="-199" t="0" r="-198" b="0"/>
            </a:stretch>
          </a:blipFill>
        </p:spPr>
      </p:sp>
      <p:sp>
        <p:nvSpPr>
          <p:cNvPr name="TextBox 43" id="43"/>
          <p:cNvSpPr txBox="true"/>
          <p:nvPr/>
        </p:nvSpPr>
        <p:spPr>
          <a:xfrm rot="0">
            <a:off x="9347597" y="3754022"/>
            <a:ext cx="1327147" cy="5143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2700"/>
              </a:lnSpc>
            </a:pPr>
            <a:r>
              <a:rPr lang="en-US" sz="2250" b="true">
                <a:solidFill>
                  <a:srgbClr val="0F172A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Secundária</a:t>
            </a:r>
          </a:p>
        </p:txBody>
      </p:sp>
      <p:sp>
        <p:nvSpPr>
          <p:cNvPr name="TextBox 44" id="44"/>
          <p:cNvSpPr txBox="true"/>
          <p:nvPr/>
        </p:nvSpPr>
        <p:spPr>
          <a:xfrm rot="0">
            <a:off x="9347597" y="4258847"/>
            <a:ext cx="953614" cy="4381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2340"/>
              </a:lnSpc>
            </a:pPr>
            <a:r>
              <a:rPr lang="en-US" sz="1950">
                <a:solidFill>
                  <a:srgbClr val="4B5563"/>
                </a:solidFill>
                <a:latin typeface="Calibri (MS)"/>
                <a:ea typeface="Calibri (MS)"/>
                <a:cs typeface="Calibri (MS)"/>
                <a:sym typeface="Calibri (MS)"/>
              </a:rPr>
              <a:t>#B1734A</a:t>
            </a:r>
          </a:p>
        </p:txBody>
      </p:sp>
      <p:sp>
        <p:nvSpPr>
          <p:cNvPr name="Freeform 45" id="45"/>
          <p:cNvSpPr/>
          <p:nvPr/>
        </p:nvSpPr>
        <p:spPr>
          <a:xfrm flipH="false" flipV="false" rot="0">
            <a:off x="7389409" y="5286727"/>
            <a:ext cx="1752305" cy="1229611"/>
          </a:xfrm>
          <a:custGeom>
            <a:avLst/>
            <a:gdLst/>
            <a:ahLst/>
            <a:cxnLst/>
            <a:rect r="r" b="b" t="t" l="l"/>
            <a:pathLst>
              <a:path h="1229611" w="1752305">
                <a:moveTo>
                  <a:pt x="0" y="0"/>
                </a:moveTo>
                <a:lnTo>
                  <a:pt x="1752305" y="0"/>
                </a:lnTo>
                <a:lnTo>
                  <a:pt x="1752305" y="1229611"/>
                </a:lnTo>
                <a:lnTo>
                  <a:pt x="0" y="1229611"/>
                </a:lnTo>
                <a:lnTo>
                  <a:pt x="0" y="0"/>
                </a:lnTo>
                <a:close/>
              </a:path>
            </a:pathLst>
          </a:custGeom>
          <a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 l="0" t="-343" r="0" b="-342"/>
            </a:stretch>
          </a:blipFill>
        </p:spPr>
      </p:sp>
      <p:sp>
        <p:nvSpPr>
          <p:cNvPr name="TextBox 46" id="46"/>
          <p:cNvSpPr txBox="true"/>
          <p:nvPr/>
        </p:nvSpPr>
        <p:spPr>
          <a:xfrm rot="0">
            <a:off x="7397115" y="6470523"/>
            <a:ext cx="1409767" cy="5143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2700"/>
              </a:lnSpc>
            </a:pPr>
            <a:r>
              <a:rPr lang="en-US" sz="2250" b="true">
                <a:solidFill>
                  <a:srgbClr val="0F172A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Encontrado</a:t>
            </a:r>
          </a:p>
        </p:txBody>
      </p:sp>
      <p:sp>
        <p:nvSpPr>
          <p:cNvPr name="TextBox 47" id="47"/>
          <p:cNvSpPr txBox="true"/>
          <p:nvPr/>
        </p:nvSpPr>
        <p:spPr>
          <a:xfrm rot="0">
            <a:off x="7397115" y="6971300"/>
            <a:ext cx="955281" cy="4381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2340"/>
              </a:lnSpc>
            </a:pPr>
            <a:r>
              <a:rPr lang="en-US" sz="1950">
                <a:solidFill>
                  <a:srgbClr val="4B5563"/>
                </a:solidFill>
                <a:latin typeface="Calibri (MS)"/>
                <a:ea typeface="Calibri (MS)"/>
                <a:cs typeface="Calibri (MS)"/>
                <a:sym typeface="Calibri (MS)"/>
              </a:rPr>
              <a:t>#15803D</a:t>
            </a:r>
          </a:p>
        </p:txBody>
      </p:sp>
      <p:sp>
        <p:nvSpPr>
          <p:cNvPr name="Freeform 48" id="48"/>
          <p:cNvSpPr/>
          <p:nvPr/>
        </p:nvSpPr>
        <p:spPr>
          <a:xfrm flipH="false" flipV="false" rot="0">
            <a:off x="11270371" y="5286727"/>
            <a:ext cx="1752305" cy="1229611"/>
          </a:xfrm>
          <a:custGeom>
            <a:avLst/>
            <a:gdLst/>
            <a:ahLst/>
            <a:cxnLst/>
            <a:rect r="r" b="b" t="t" l="l"/>
            <a:pathLst>
              <a:path h="1229611" w="1752305">
                <a:moveTo>
                  <a:pt x="0" y="0"/>
                </a:moveTo>
                <a:lnTo>
                  <a:pt x="1752304" y="0"/>
                </a:lnTo>
                <a:lnTo>
                  <a:pt x="1752304" y="1229611"/>
                </a:lnTo>
                <a:lnTo>
                  <a:pt x="0" y="1229611"/>
                </a:lnTo>
                <a:lnTo>
                  <a:pt x="0" y="0"/>
                </a:lnTo>
                <a:close/>
              </a:path>
            </a:pathLst>
          </a:custGeom>
          <a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 l="0" t="-343" r="0" b="-342"/>
            </a:stretch>
          </a:blipFill>
        </p:spPr>
      </p:sp>
      <p:sp>
        <p:nvSpPr>
          <p:cNvPr name="TextBox 49" id="49"/>
          <p:cNvSpPr txBox="true"/>
          <p:nvPr/>
        </p:nvSpPr>
        <p:spPr>
          <a:xfrm rot="0">
            <a:off x="11278076" y="6466475"/>
            <a:ext cx="922153" cy="5143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2700"/>
              </a:lnSpc>
            </a:pPr>
            <a:r>
              <a:rPr lang="en-US" sz="2250" b="true">
                <a:solidFill>
                  <a:srgbClr val="0F172A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Adoção</a:t>
            </a:r>
          </a:p>
        </p:txBody>
      </p:sp>
      <p:sp>
        <p:nvSpPr>
          <p:cNvPr name="TextBox 50" id="50"/>
          <p:cNvSpPr txBox="true"/>
          <p:nvPr/>
        </p:nvSpPr>
        <p:spPr>
          <a:xfrm rot="0">
            <a:off x="11278076" y="6971300"/>
            <a:ext cx="922153" cy="3429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2340"/>
              </a:lnSpc>
            </a:pPr>
            <a:r>
              <a:rPr lang="en-US" sz="1950">
                <a:solidFill>
                  <a:srgbClr val="4B5563"/>
                </a:solidFill>
                <a:latin typeface="Calibri (MS)"/>
                <a:ea typeface="Calibri (MS)"/>
                <a:cs typeface="Calibri (MS)"/>
                <a:sym typeface="Calibri (MS)"/>
              </a:rPr>
              <a:t>#DB2777</a:t>
            </a:r>
          </a:p>
        </p:txBody>
      </p:sp>
      <p:sp>
        <p:nvSpPr>
          <p:cNvPr name="Freeform 51" id="51"/>
          <p:cNvSpPr/>
          <p:nvPr/>
        </p:nvSpPr>
        <p:spPr>
          <a:xfrm flipH="false" flipV="false" rot="0">
            <a:off x="9329890" y="5286727"/>
            <a:ext cx="1752305" cy="1229611"/>
          </a:xfrm>
          <a:custGeom>
            <a:avLst/>
            <a:gdLst/>
            <a:ahLst/>
            <a:cxnLst/>
            <a:rect r="r" b="b" t="t" l="l"/>
            <a:pathLst>
              <a:path h="1229611" w="1752305">
                <a:moveTo>
                  <a:pt x="0" y="0"/>
                </a:moveTo>
                <a:lnTo>
                  <a:pt x="1752305" y="0"/>
                </a:lnTo>
                <a:lnTo>
                  <a:pt x="1752305" y="1229611"/>
                </a:lnTo>
                <a:lnTo>
                  <a:pt x="0" y="1229611"/>
                </a:lnTo>
                <a:lnTo>
                  <a:pt x="0" y="0"/>
                </a:lnTo>
                <a:close/>
              </a:path>
            </a:pathLst>
          </a:custGeom>
          <a:blipFill>
            <a:blip r:embed="rId18"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 l="0" t="-343" r="0" b="-342"/>
            </a:stretch>
          </a:blipFill>
        </p:spPr>
      </p:sp>
      <p:sp>
        <p:nvSpPr>
          <p:cNvPr name="TextBox 52" id="52"/>
          <p:cNvSpPr txBox="true"/>
          <p:nvPr/>
        </p:nvSpPr>
        <p:spPr>
          <a:xfrm rot="0">
            <a:off x="9347597" y="6470523"/>
            <a:ext cx="953614" cy="5143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2700"/>
              </a:lnSpc>
            </a:pPr>
            <a:r>
              <a:rPr lang="en-US" sz="2250" b="true">
                <a:solidFill>
                  <a:srgbClr val="0F172A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Perdido</a:t>
            </a:r>
          </a:p>
        </p:txBody>
      </p:sp>
      <p:sp>
        <p:nvSpPr>
          <p:cNvPr name="TextBox 53" id="53"/>
          <p:cNvSpPr txBox="true"/>
          <p:nvPr/>
        </p:nvSpPr>
        <p:spPr>
          <a:xfrm rot="0">
            <a:off x="9347597" y="6971300"/>
            <a:ext cx="953614" cy="4381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2340"/>
              </a:lnSpc>
            </a:pPr>
            <a:r>
              <a:rPr lang="en-US" sz="1950">
                <a:solidFill>
                  <a:srgbClr val="4B5563"/>
                </a:solidFill>
                <a:latin typeface="Calibri (MS)"/>
                <a:ea typeface="Calibri (MS)"/>
                <a:cs typeface="Calibri (MS)"/>
                <a:sym typeface="Calibri (MS)"/>
              </a:rPr>
              <a:t>#D64545</a:t>
            </a:r>
          </a:p>
        </p:txBody>
      </p:sp>
      <p:sp>
        <p:nvSpPr>
          <p:cNvPr name="TextBox 54" id="54"/>
          <p:cNvSpPr txBox="true"/>
          <p:nvPr/>
        </p:nvSpPr>
        <p:spPr>
          <a:xfrm rot="0">
            <a:off x="7397115" y="1931346"/>
            <a:ext cx="3756431" cy="5143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2700"/>
              </a:lnSpc>
            </a:pPr>
            <a:r>
              <a:rPr lang="en-US" sz="2250" b="true">
                <a:solidFill>
                  <a:srgbClr val="0F172A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a. Principais cores do aplicativo</a:t>
            </a:r>
          </a:p>
        </p:txBody>
      </p:sp>
      <p:sp>
        <p:nvSpPr>
          <p:cNvPr name="TextBox 55" id="55"/>
          <p:cNvSpPr txBox="true"/>
          <p:nvPr/>
        </p:nvSpPr>
        <p:spPr>
          <a:xfrm rot="0">
            <a:off x="7397115" y="4650791"/>
            <a:ext cx="3643360" cy="5143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2700"/>
              </a:lnSpc>
            </a:pPr>
            <a:r>
              <a:rPr lang="en-US" sz="2250" b="true">
                <a:solidFill>
                  <a:srgbClr val="0F172A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b. Tipos de Publicação</a:t>
            </a:r>
          </a:p>
        </p:txBody>
      </p:sp>
      <p:sp>
        <p:nvSpPr>
          <p:cNvPr name="Freeform 56" id="56"/>
          <p:cNvSpPr/>
          <p:nvPr/>
        </p:nvSpPr>
        <p:spPr>
          <a:xfrm flipH="false" flipV="false" rot="0">
            <a:off x="7389409" y="7999171"/>
            <a:ext cx="1752305" cy="1229611"/>
          </a:xfrm>
          <a:custGeom>
            <a:avLst/>
            <a:gdLst/>
            <a:ahLst/>
            <a:cxnLst/>
            <a:rect r="r" b="b" t="t" l="l"/>
            <a:pathLst>
              <a:path h="1229611" w="1752305">
                <a:moveTo>
                  <a:pt x="0" y="0"/>
                </a:moveTo>
                <a:lnTo>
                  <a:pt x="1752305" y="0"/>
                </a:lnTo>
                <a:lnTo>
                  <a:pt x="1752305" y="1229611"/>
                </a:lnTo>
                <a:lnTo>
                  <a:pt x="0" y="1229611"/>
                </a:lnTo>
                <a:lnTo>
                  <a:pt x="0" y="0"/>
                </a:lnTo>
                <a:close/>
              </a:path>
            </a:pathLst>
          </a:custGeom>
          <a:blipFill>
            <a:blip r:embed="rId20">
              <a:extLst>
                <a:ext uri="{96DAC541-7B7A-43D3-8B79-37D633B846F1}">
                  <asvg:svgBlip xmlns:asvg="http://schemas.microsoft.com/office/drawing/2016/SVG/main" r:embed="rId21"/>
                </a:ext>
              </a:extLst>
            </a:blip>
            <a:stretch>
              <a:fillRect l="0" t="-343" r="0" b="-342"/>
            </a:stretch>
          </a:blipFill>
        </p:spPr>
      </p:sp>
      <p:sp>
        <p:nvSpPr>
          <p:cNvPr name="TextBox 57" id="57"/>
          <p:cNvSpPr txBox="true"/>
          <p:nvPr/>
        </p:nvSpPr>
        <p:spPr>
          <a:xfrm rot="0">
            <a:off x="7397115" y="9178919"/>
            <a:ext cx="704888" cy="5143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2700"/>
              </a:lnSpc>
            </a:pPr>
            <a:r>
              <a:rPr lang="en-US" sz="2250" b="true">
                <a:solidFill>
                  <a:srgbClr val="0F172A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Aviso</a:t>
            </a:r>
          </a:p>
        </p:txBody>
      </p:sp>
      <p:sp>
        <p:nvSpPr>
          <p:cNvPr name="TextBox 58" id="58"/>
          <p:cNvSpPr txBox="true"/>
          <p:nvPr/>
        </p:nvSpPr>
        <p:spPr>
          <a:xfrm rot="0">
            <a:off x="7397115" y="9683744"/>
            <a:ext cx="955281" cy="4381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2340"/>
              </a:lnSpc>
            </a:pPr>
            <a:r>
              <a:rPr lang="en-US" sz="1950">
                <a:solidFill>
                  <a:srgbClr val="4B5563"/>
                </a:solidFill>
                <a:latin typeface="Calibri (MS)"/>
                <a:ea typeface="Calibri (MS)"/>
                <a:cs typeface="Calibri (MS)"/>
                <a:sym typeface="Calibri (MS)"/>
              </a:rPr>
              <a:t>#D97706</a:t>
            </a:r>
          </a:p>
        </p:txBody>
      </p:sp>
      <p:sp>
        <p:nvSpPr>
          <p:cNvPr name="TextBox 59" id="59"/>
          <p:cNvSpPr txBox="true"/>
          <p:nvPr/>
        </p:nvSpPr>
        <p:spPr>
          <a:xfrm rot="0">
            <a:off x="7397115" y="7363244"/>
            <a:ext cx="4083787" cy="5143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2700"/>
              </a:lnSpc>
            </a:pPr>
            <a:r>
              <a:rPr lang="en-US" sz="2250" b="true">
                <a:solidFill>
                  <a:srgbClr val="0F172A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c. Avisos e elementos da interface</a:t>
            </a:r>
          </a:p>
        </p:txBody>
      </p:sp>
      <p:sp>
        <p:nvSpPr>
          <p:cNvPr name="Freeform 60" id="60"/>
          <p:cNvSpPr/>
          <p:nvPr/>
        </p:nvSpPr>
        <p:spPr>
          <a:xfrm flipH="false" flipV="false" rot="0">
            <a:off x="9339891" y="8003229"/>
            <a:ext cx="1752305" cy="1229611"/>
          </a:xfrm>
          <a:custGeom>
            <a:avLst/>
            <a:gdLst/>
            <a:ahLst/>
            <a:cxnLst/>
            <a:rect r="r" b="b" t="t" l="l"/>
            <a:pathLst>
              <a:path h="1229611" w="1752305">
                <a:moveTo>
                  <a:pt x="0" y="0"/>
                </a:moveTo>
                <a:lnTo>
                  <a:pt x="1752305" y="0"/>
                </a:lnTo>
                <a:lnTo>
                  <a:pt x="1752305" y="1229611"/>
                </a:lnTo>
                <a:lnTo>
                  <a:pt x="0" y="1229611"/>
                </a:lnTo>
                <a:lnTo>
                  <a:pt x="0" y="0"/>
                </a:lnTo>
                <a:close/>
              </a:path>
            </a:pathLst>
          </a:custGeom>
          <a:blipFill>
            <a:blip r:embed="rId22">
              <a:extLst>
                <a:ext uri="{96DAC541-7B7A-43D3-8B79-37D633B846F1}">
                  <asvg:svgBlip xmlns:asvg="http://schemas.microsoft.com/office/drawing/2016/SVG/main" r:embed="rId23"/>
                </a:ext>
              </a:extLst>
            </a:blip>
            <a:stretch>
              <a:fillRect l="0" t="-343" r="0" b="-342"/>
            </a:stretch>
          </a:blipFill>
        </p:spPr>
      </p:sp>
      <p:sp>
        <p:nvSpPr>
          <p:cNvPr name="TextBox 61" id="61"/>
          <p:cNvSpPr txBox="true"/>
          <p:nvPr/>
        </p:nvSpPr>
        <p:spPr>
          <a:xfrm rot="0">
            <a:off x="9347597" y="9182976"/>
            <a:ext cx="1805950" cy="5143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2700"/>
              </a:lnSpc>
            </a:pPr>
            <a:r>
              <a:rPr lang="en-US" sz="2250" b="true">
                <a:solidFill>
                  <a:srgbClr val="0F172A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Texto Principal</a:t>
            </a:r>
          </a:p>
        </p:txBody>
      </p:sp>
      <p:sp>
        <p:nvSpPr>
          <p:cNvPr name="TextBox 62" id="62"/>
          <p:cNvSpPr txBox="true"/>
          <p:nvPr/>
        </p:nvSpPr>
        <p:spPr>
          <a:xfrm rot="0">
            <a:off x="9347597" y="9687801"/>
            <a:ext cx="955281" cy="4381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2340"/>
              </a:lnSpc>
            </a:pPr>
            <a:r>
              <a:rPr lang="en-US" sz="1950">
                <a:solidFill>
                  <a:srgbClr val="4B5563"/>
                </a:solidFill>
                <a:latin typeface="Calibri (MS)"/>
                <a:ea typeface="Calibri (MS)"/>
                <a:cs typeface="Calibri (MS)"/>
                <a:sym typeface="Calibri (MS)"/>
              </a:rPr>
              <a:t>#0F172A</a:t>
            </a:r>
          </a:p>
        </p:txBody>
      </p:sp>
      <p:sp>
        <p:nvSpPr>
          <p:cNvPr name="Freeform 63" id="63"/>
          <p:cNvSpPr/>
          <p:nvPr/>
        </p:nvSpPr>
        <p:spPr>
          <a:xfrm flipH="false" flipV="false" rot="0">
            <a:off x="11290373" y="8007286"/>
            <a:ext cx="1752305" cy="1229611"/>
          </a:xfrm>
          <a:custGeom>
            <a:avLst/>
            <a:gdLst/>
            <a:ahLst/>
            <a:cxnLst/>
            <a:rect r="r" b="b" t="t" l="l"/>
            <a:pathLst>
              <a:path h="1229611" w="1752305">
                <a:moveTo>
                  <a:pt x="0" y="0"/>
                </a:moveTo>
                <a:lnTo>
                  <a:pt x="1752305" y="0"/>
                </a:lnTo>
                <a:lnTo>
                  <a:pt x="1752305" y="1229611"/>
                </a:lnTo>
                <a:lnTo>
                  <a:pt x="0" y="1229611"/>
                </a:lnTo>
                <a:lnTo>
                  <a:pt x="0" y="0"/>
                </a:lnTo>
                <a:close/>
              </a:path>
            </a:pathLst>
          </a:custGeom>
          <a:blipFill>
            <a:blip r:embed="rId24">
              <a:extLst>
                <a:ext uri="{96DAC541-7B7A-43D3-8B79-37D633B846F1}">
                  <asvg:svgBlip xmlns:asvg="http://schemas.microsoft.com/office/drawing/2016/SVG/main" r:embed="rId25"/>
                </a:ext>
              </a:extLst>
            </a:blip>
            <a:stretch>
              <a:fillRect l="0" t="-343" r="0" b="-342"/>
            </a:stretch>
          </a:blipFill>
        </p:spPr>
      </p:sp>
      <p:sp>
        <p:nvSpPr>
          <p:cNvPr name="TextBox 64" id="64"/>
          <p:cNvSpPr txBox="true"/>
          <p:nvPr/>
        </p:nvSpPr>
        <p:spPr>
          <a:xfrm rot="0">
            <a:off x="11298079" y="9187024"/>
            <a:ext cx="848439" cy="5143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2700"/>
              </a:lnSpc>
            </a:pPr>
            <a:r>
              <a:rPr lang="en-US" sz="2250" b="true">
                <a:solidFill>
                  <a:srgbClr val="0F172A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Fundo</a:t>
            </a:r>
          </a:p>
        </p:txBody>
      </p:sp>
      <p:sp>
        <p:nvSpPr>
          <p:cNvPr name="TextBox 65" id="65"/>
          <p:cNvSpPr txBox="true"/>
          <p:nvPr/>
        </p:nvSpPr>
        <p:spPr>
          <a:xfrm rot="0">
            <a:off x="11298079" y="9691849"/>
            <a:ext cx="955281" cy="4381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2340"/>
              </a:lnSpc>
            </a:pPr>
            <a:r>
              <a:rPr lang="en-US" sz="1950">
                <a:solidFill>
                  <a:srgbClr val="4B5563"/>
                </a:solidFill>
                <a:latin typeface="Calibri (MS)"/>
                <a:ea typeface="Calibri (MS)"/>
                <a:cs typeface="Calibri (MS)"/>
                <a:sym typeface="Calibri (MS)"/>
              </a:rPr>
              <a:t>#F6F8F6</a:t>
            </a:r>
          </a:p>
        </p:txBody>
      </p:sp>
      <p:sp>
        <p:nvSpPr>
          <p:cNvPr name="Freeform 66" id="66"/>
          <p:cNvSpPr/>
          <p:nvPr/>
        </p:nvSpPr>
        <p:spPr>
          <a:xfrm flipH="false" flipV="false" rot="0">
            <a:off x="13240855" y="8011335"/>
            <a:ext cx="1752305" cy="1229611"/>
          </a:xfrm>
          <a:custGeom>
            <a:avLst/>
            <a:gdLst/>
            <a:ahLst/>
            <a:cxnLst/>
            <a:rect r="r" b="b" t="t" l="l"/>
            <a:pathLst>
              <a:path h="1229611" w="1752305">
                <a:moveTo>
                  <a:pt x="0" y="0"/>
                </a:moveTo>
                <a:lnTo>
                  <a:pt x="1752305" y="0"/>
                </a:lnTo>
                <a:lnTo>
                  <a:pt x="1752305" y="1229610"/>
                </a:lnTo>
                <a:lnTo>
                  <a:pt x="0" y="1229610"/>
                </a:lnTo>
                <a:lnTo>
                  <a:pt x="0" y="0"/>
                </a:lnTo>
                <a:close/>
              </a:path>
            </a:pathLst>
          </a:custGeom>
          <a:blipFill>
            <a:blip r:embed="rId26">
              <a:extLst>
                <a:ext uri="{96DAC541-7B7A-43D3-8B79-37D633B846F1}">
                  <asvg:svgBlip xmlns:asvg="http://schemas.microsoft.com/office/drawing/2016/SVG/main" r:embed="rId27"/>
                </a:ext>
              </a:extLst>
            </a:blip>
            <a:stretch>
              <a:fillRect l="0" t="-343" r="0" b="-342"/>
            </a:stretch>
          </a:blipFill>
        </p:spPr>
      </p:sp>
      <p:sp>
        <p:nvSpPr>
          <p:cNvPr name="TextBox 67" id="67"/>
          <p:cNvSpPr txBox="true"/>
          <p:nvPr/>
        </p:nvSpPr>
        <p:spPr>
          <a:xfrm rot="0">
            <a:off x="13248561" y="9191082"/>
            <a:ext cx="1223953" cy="5143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2700"/>
              </a:lnSpc>
            </a:pPr>
            <a:r>
              <a:rPr lang="en-US" sz="2250" b="true">
                <a:solidFill>
                  <a:srgbClr val="0F172A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Superfície</a:t>
            </a:r>
          </a:p>
        </p:txBody>
      </p:sp>
      <p:sp>
        <p:nvSpPr>
          <p:cNvPr name="TextBox 68" id="68"/>
          <p:cNvSpPr txBox="true"/>
          <p:nvPr/>
        </p:nvSpPr>
        <p:spPr>
          <a:xfrm rot="0">
            <a:off x="13248561" y="9695907"/>
            <a:ext cx="955281" cy="4381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2340"/>
              </a:lnSpc>
            </a:pPr>
            <a:r>
              <a:rPr lang="en-US" sz="1950">
                <a:solidFill>
                  <a:srgbClr val="4B5563"/>
                </a:solidFill>
                <a:latin typeface="Calibri (MS)"/>
                <a:ea typeface="Calibri (MS)"/>
                <a:cs typeface="Calibri (MS)"/>
                <a:sym typeface="Calibri (MS)"/>
              </a:rPr>
              <a:t>#FFFFFF</a:t>
            </a:r>
          </a:p>
        </p:txBody>
      </p:sp>
    </p:spTree>
  </p:cSld>
  <p:clrMapOvr>
    <a:masterClrMapping/>
  </p:clrMapOvr>
</p:sld>
</file>

<file path=ppt/slides/slide2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914400" y="914400"/>
            <a:ext cx="16459200" cy="1097280"/>
            <a:chOff x="0" y="0"/>
            <a:chExt cx="21945600" cy="146304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1945600" cy="1463040"/>
            </a:xfrm>
            <a:custGeom>
              <a:avLst/>
              <a:gdLst/>
              <a:ahLst/>
              <a:cxnLst/>
              <a:rect r="r" b="b" t="t" l="l"/>
              <a:pathLst>
                <a:path h="146304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463040"/>
                  </a:lnTo>
                  <a:lnTo>
                    <a:pt x="0" y="14630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242072" r="0" b="-242072"/>
              </a:stretch>
            </a:blipFill>
          </p:spPr>
        </p:sp>
      </p:grpSp>
      <p:grpSp>
        <p:nvGrpSpPr>
          <p:cNvPr name="Group 4" id="4"/>
          <p:cNvGrpSpPr/>
          <p:nvPr/>
        </p:nvGrpSpPr>
        <p:grpSpPr>
          <a:xfrm rot="0">
            <a:off x="914400" y="907256"/>
            <a:ext cx="16459200" cy="1104424"/>
            <a:chOff x="0" y="0"/>
            <a:chExt cx="21945600" cy="1472565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1945600" cy="1472565"/>
            </a:xfrm>
            <a:custGeom>
              <a:avLst/>
              <a:gdLst/>
              <a:ahLst/>
              <a:cxnLst/>
              <a:rect r="r" b="b" t="t" l="l"/>
              <a:pathLst>
                <a:path h="1472565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472565"/>
                  </a:lnTo>
                  <a:lnTo>
                    <a:pt x="0" y="1472565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40182" r="0" b="-240183"/>
              </a:stretch>
            </a:blipFill>
          </p:spPr>
        </p:sp>
      </p:grpSp>
      <p:grpSp>
        <p:nvGrpSpPr>
          <p:cNvPr name="Group 6" id="6"/>
          <p:cNvGrpSpPr/>
          <p:nvPr/>
        </p:nvGrpSpPr>
        <p:grpSpPr>
          <a:xfrm rot="0">
            <a:off x="914400" y="900112"/>
            <a:ext cx="16459200" cy="1111568"/>
            <a:chOff x="0" y="0"/>
            <a:chExt cx="21945600" cy="148209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1945600" cy="1482090"/>
            </a:xfrm>
            <a:custGeom>
              <a:avLst/>
              <a:gdLst/>
              <a:ahLst/>
              <a:cxnLst/>
              <a:rect r="r" b="b" t="t" l="l"/>
              <a:pathLst>
                <a:path h="148209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482090"/>
                  </a:lnTo>
                  <a:lnTo>
                    <a:pt x="0" y="148209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38317" r="0" b="-238318"/>
              </a:stretch>
            </a:blipFill>
          </p:spPr>
        </p:sp>
      </p:grpSp>
      <p:grpSp>
        <p:nvGrpSpPr>
          <p:cNvPr name="Group 8" id="8"/>
          <p:cNvGrpSpPr/>
          <p:nvPr/>
        </p:nvGrpSpPr>
        <p:grpSpPr>
          <a:xfrm rot="0">
            <a:off x="914400" y="892969"/>
            <a:ext cx="16459200" cy="1118711"/>
            <a:chOff x="0" y="0"/>
            <a:chExt cx="21945600" cy="1491615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1945600" cy="1491615"/>
            </a:xfrm>
            <a:custGeom>
              <a:avLst/>
              <a:gdLst/>
              <a:ahLst/>
              <a:cxnLst/>
              <a:rect r="r" b="b" t="t" l="l"/>
              <a:pathLst>
                <a:path h="1491615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491615"/>
                  </a:lnTo>
                  <a:lnTo>
                    <a:pt x="0" y="1491615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236476" r="0" b="-236477"/>
              </a:stretch>
            </a:blipFill>
          </p:spPr>
        </p:sp>
      </p:grpSp>
      <p:grpSp>
        <p:nvGrpSpPr>
          <p:cNvPr name="Group 10" id="10"/>
          <p:cNvGrpSpPr/>
          <p:nvPr/>
        </p:nvGrpSpPr>
        <p:grpSpPr>
          <a:xfrm rot="0">
            <a:off x="914400" y="885825"/>
            <a:ext cx="16459200" cy="1125855"/>
            <a:chOff x="0" y="0"/>
            <a:chExt cx="21945600" cy="150114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21945600" cy="1501140"/>
            </a:xfrm>
            <a:custGeom>
              <a:avLst/>
              <a:gdLst/>
              <a:ahLst/>
              <a:cxnLst/>
              <a:rect r="r" b="b" t="t" l="l"/>
              <a:pathLst>
                <a:path h="150114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501140"/>
                  </a:lnTo>
                  <a:lnTo>
                    <a:pt x="0" y="1501140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l="0" t="-234659" r="0" b="-234659"/>
              </a:stretch>
            </a:blipFill>
          </p:spPr>
        </p:sp>
      </p:grpSp>
      <p:grpSp>
        <p:nvGrpSpPr>
          <p:cNvPr name="Group 12" id="12"/>
          <p:cNvGrpSpPr/>
          <p:nvPr/>
        </p:nvGrpSpPr>
        <p:grpSpPr>
          <a:xfrm rot="0">
            <a:off x="914400" y="878681"/>
            <a:ext cx="16459200" cy="1132999"/>
            <a:chOff x="0" y="0"/>
            <a:chExt cx="21945600" cy="1510665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21945600" cy="1510665"/>
            </a:xfrm>
            <a:custGeom>
              <a:avLst/>
              <a:gdLst/>
              <a:ahLst/>
              <a:cxnLst/>
              <a:rect r="r" b="b" t="t" l="l"/>
              <a:pathLst>
                <a:path h="1510665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510665"/>
                  </a:lnTo>
                  <a:lnTo>
                    <a:pt x="0" y="1510665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0" t="-232864" r="0" b="-232865"/>
              </a:stretch>
            </a:blipFill>
          </p:spPr>
        </p:sp>
      </p:grpSp>
      <p:grpSp>
        <p:nvGrpSpPr>
          <p:cNvPr name="Group 14" id="14"/>
          <p:cNvGrpSpPr/>
          <p:nvPr/>
        </p:nvGrpSpPr>
        <p:grpSpPr>
          <a:xfrm rot="0">
            <a:off x="914400" y="871538"/>
            <a:ext cx="16459200" cy="1140142"/>
            <a:chOff x="0" y="0"/>
            <a:chExt cx="21945600" cy="152019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21945600" cy="1520190"/>
            </a:xfrm>
            <a:custGeom>
              <a:avLst/>
              <a:gdLst/>
              <a:ahLst/>
              <a:cxnLst/>
              <a:rect r="r" b="b" t="t" l="l"/>
              <a:pathLst>
                <a:path h="152019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520190"/>
                  </a:lnTo>
                  <a:lnTo>
                    <a:pt x="0" y="1520190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0" t="-231287" r="0" b="-231287"/>
              </a:stretch>
            </a:blipFill>
          </p:spPr>
        </p:sp>
        <p:sp>
          <p:nvSpPr>
            <p:cNvPr name="TextBox 16" id="16"/>
            <p:cNvSpPr txBox="true"/>
            <p:nvPr/>
          </p:nvSpPr>
          <p:spPr>
            <a:xfrm>
              <a:off x="0" y="-9525"/>
              <a:ext cx="21945600" cy="15297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6239"/>
                </a:lnSpc>
              </a:pPr>
              <a:r>
                <a:rPr lang="en-US" sz="5198" b="true">
                  <a:solidFill>
                    <a:srgbClr val="2E5634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Demonstração do WeFIND</a:t>
              </a: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822960" y="9572625"/>
            <a:ext cx="8229600" cy="440055"/>
            <a:chOff x="0" y="0"/>
            <a:chExt cx="10972800" cy="58674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10972800" cy="586740"/>
            </a:xfrm>
            <a:custGeom>
              <a:avLst/>
              <a:gdLst/>
              <a:ahLst/>
              <a:cxnLst/>
              <a:rect r="r" b="b" t="t" l="l"/>
              <a:pathLst>
                <a:path h="5867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586740"/>
                  </a:lnTo>
                  <a:lnTo>
                    <a:pt x="0" y="5867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314142" r="0" b="-314140"/>
              </a:stretch>
            </a:blipFill>
          </p:spPr>
        </p:sp>
      </p:grpSp>
      <p:grpSp>
        <p:nvGrpSpPr>
          <p:cNvPr name="Group 19" id="19"/>
          <p:cNvGrpSpPr/>
          <p:nvPr/>
        </p:nvGrpSpPr>
        <p:grpSpPr>
          <a:xfrm rot="0">
            <a:off x="822960" y="9544050"/>
            <a:ext cx="8229600" cy="468630"/>
            <a:chOff x="0" y="0"/>
            <a:chExt cx="10972800" cy="624840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10972800" cy="624840"/>
            </a:xfrm>
            <a:custGeom>
              <a:avLst/>
              <a:gdLst/>
              <a:ahLst/>
              <a:cxnLst/>
              <a:rect r="r" b="b" t="t" l="l"/>
              <a:pathLst>
                <a:path h="6248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624840"/>
                  </a:lnTo>
                  <a:lnTo>
                    <a:pt x="0" y="6248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91939" r="0" b="-291936"/>
              </a:stretch>
            </a:blipFill>
          </p:spPr>
        </p:sp>
      </p:grpSp>
      <p:grpSp>
        <p:nvGrpSpPr>
          <p:cNvPr name="Group 21" id="21"/>
          <p:cNvGrpSpPr/>
          <p:nvPr/>
        </p:nvGrpSpPr>
        <p:grpSpPr>
          <a:xfrm rot="0">
            <a:off x="822960" y="9515475"/>
            <a:ext cx="8229600" cy="497205"/>
            <a:chOff x="0" y="0"/>
            <a:chExt cx="10972800" cy="662940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10972800" cy="662940"/>
            </a:xfrm>
            <a:custGeom>
              <a:avLst/>
              <a:gdLst/>
              <a:ahLst/>
              <a:cxnLst/>
              <a:rect r="r" b="b" t="t" l="l"/>
              <a:pathLst>
                <a:path h="6629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662940"/>
                  </a:lnTo>
                  <a:lnTo>
                    <a:pt x="0" y="66294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72287" r="0" b="-272285"/>
              </a:stretch>
            </a:blipFill>
          </p:spPr>
        </p:sp>
      </p:grpSp>
      <p:grpSp>
        <p:nvGrpSpPr>
          <p:cNvPr name="Group 23" id="23"/>
          <p:cNvGrpSpPr/>
          <p:nvPr/>
        </p:nvGrpSpPr>
        <p:grpSpPr>
          <a:xfrm rot="0">
            <a:off x="822960" y="9486900"/>
            <a:ext cx="8229600" cy="525780"/>
            <a:chOff x="0" y="0"/>
            <a:chExt cx="10972800" cy="701040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10972800" cy="701040"/>
            </a:xfrm>
            <a:custGeom>
              <a:avLst/>
              <a:gdLst/>
              <a:ahLst/>
              <a:cxnLst/>
              <a:rect r="r" b="b" t="t" l="l"/>
              <a:pathLst>
                <a:path h="7010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701040"/>
                  </a:lnTo>
                  <a:lnTo>
                    <a:pt x="0" y="701040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254771" r="0" b="-254769"/>
              </a:stretch>
            </a:blipFill>
          </p:spPr>
        </p:sp>
      </p:grpSp>
      <p:grpSp>
        <p:nvGrpSpPr>
          <p:cNvPr name="Group 25" id="25"/>
          <p:cNvGrpSpPr/>
          <p:nvPr/>
        </p:nvGrpSpPr>
        <p:grpSpPr>
          <a:xfrm rot="0">
            <a:off x="822960" y="9458325"/>
            <a:ext cx="8229600" cy="554355"/>
            <a:chOff x="0" y="0"/>
            <a:chExt cx="10972800" cy="739140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10972800" cy="739140"/>
            </a:xfrm>
            <a:custGeom>
              <a:avLst/>
              <a:gdLst/>
              <a:ahLst/>
              <a:cxnLst/>
              <a:rect r="r" b="b" t="t" l="l"/>
              <a:pathLst>
                <a:path h="7391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739140"/>
                  </a:lnTo>
                  <a:lnTo>
                    <a:pt x="0" y="739140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l="0" t="-239061" r="0" b="-239060"/>
              </a:stretch>
            </a:blipFill>
          </p:spPr>
        </p:sp>
      </p:grpSp>
      <p:grpSp>
        <p:nvGrpSpPr>
          <p:cNvPr name="Group 27" id="27"/>
          <p:cNvGrpSpPr/>
          <p:nvPr/>
        </p:nvGrpSpPr>
        <p:grpSpPr>
          <a:xfrm rot="0">
            <a:off x="822960" y="9429750"/>
            <a:ext cx="8229600" cy="582930"/>
            <a:chOff x="0" y="0"/>
            <a:chExt cx="10972800" cy="777240"/>
          </a:xfrm>
        </p:grpSpPr>
        <p:sp>
          <p:nvSpPr>
            <p:cNvPr name="Freeform 28" id="28"/>
            <p:cNvSpPr/>
            <p:nvPr/>
          </p:nvSpPr>
          <p:spPr>
            <a:xfrm flipH="false" flipV="false" rot="0">
              <a:off x="0" y="0"/>
              <a:ext cx="10972800" cy="777240"/>
            </a:xfrm>
            <a:custGeom>
              <a:avLst/>
              <a:gdLst/>
              <a:ahLst/>
              <a:cxnLst/>
              <a:rect r="r" b="b" t="t" l="l"/>
              <a:pathLst>
                <a:path h="7772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777240"/>
                  </a:lnTo>
                  <a:lnTo>
                    <a:pt x="0" y="777240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0" t="-224892" r="0" b="-224890"/>
              </a:stretch>
            </a:blipFill>
          </p:spPr>
        </p:sp>
      </p:grpSp>
      <p:grpSp>
        <p:nvGrpSpPr>
          <p:cNvPr name="Group 29" id="29"/>
          <p:cNvGrpSpPr/>
          <p:nvPr/>
        </p:nvGrpSpPr>
        <p:grpSpPr>
          <a:xfrm rot="0">
            <a:off x="822960" y="9401175"/>
            <a:ext cx="8229600" cy="611505"/>
            <a:chOff x="0" y="0"/>
            <a:chExt cx="10972800" cy="815340"/>
          </a:xfrm>
        </p:grpSpPr>
        <p:sp>
          <p:nvSpPr>
            <p:cNvPr name="Freeform 30" id="30"/>
            <p:cNvSpPr/>
            <p:nvPr/>
          </p:nvSpPr>
          <p:spPr>
            <a:xfrm flipH="false" flipV="false" rot="0">
              <a:off x="0" y="0"/>
              <a:ext cx="10972800" cy="815340"/>
            </a:xfrm>
            <a:custGeom>
              <a:avLst/>
              <a:gdLst/>
              <a:ahLst/>
              <a:cxnLst/>
              <a:rect r="r" b="b" t="t" l="l"/>
              <a:pathLst>
                <a:path h="8153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815340"/>
                  </a:lnTo>
                  <a:lnTo>
                    <a:pt x="0" y="815340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0" t="-212228" r="0" b="-212228"/>
              </a:stretch>
            </a:blipFill>
          </p:spPr>
        </p:sp>
        <p:sp>
          <p:nvSpPr>
            <p:cNvPr name="TextBox 31" id="31"/>
            <p:cNvSpPr txBox="true"/>
            <p:nvPr/>
          </p:nvSpPr>
          <p:spPr>
            <a:xfrm>
              <a:off x="0" y="-38100"/>
              <a:ext cx="10972800" cy="8534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6B728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WeFIND  |  TCC  |  IFSul Campus Pelotas</a:t>
              </a:r>
            </a:p>
          </p:txBody>
        </p:sp>
      </p:grpSp>
      <p:sp>
        <p:nvSpPr>
          <p:cNvPr name="TextBox 32" id="32"/>
          <p:cNvSpPr txBox="true"/>
          <p:nvPr/>
        </p:nvSpPr>
        <p:spPr>
          <a:xfrm rot="0">
            <a:off x="16459200" y="9471660"/>
            <a:ext cx="914400" cy="3810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400"/>
              </a:lnSpc>
            </a:pPr>
            <a:r>
              <a:rPr lang="en-US" sz="2000">
                <a:solidFill>
                  <a:srgbClr val="5B6B5F"/>
                </a:solidFill>
                <a:latin typeface="Calibri (MS)"/>
                <a:ea typeface="Calibri (MS)"/>
                <a:cs typeface="Calibri (MS)"/>
                <a:sym typeface="Calibri (MS)"/>
              </a:rPr>
              <a:t>23</a:t>
            </a:r>
          </a:p>
        </p:txBody>
      </p:sp>
      <p:sp>
        <p:nvSpPr>
          <p:cNvPr name="TextBox 33" id="33"/>
          <p:cNvSpPr txBox="true"/>
          <p:nvPr/>
        </p:nvSpPr>
        <p:spPr>
          <a:xfrm rot="0">
            <a:off x="914400" y="245364"/>
            <a:ext cx="6858000" cy="6324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00"/>
              </a:lnSpc>
            </a:pPr>
            <a:r>
              <a:rPr lang="en-US" b="true" sz="2000" spc="400">
                <a:solidFill>
                  <a:srgbClr val="B1734A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04  SOLUÇÃO DESENVOLVIDA</a:t>
            </a:r>
          </a:p>
        </p:txBody>
      </p:sp>
    </p:spTree>
  </p:cSld>
  <p:clrMapOvr>
    <a:masterClrMapping/>
  </p:clrMapOvr>
</p:sld>
</file>

<file path=ppt/slides/slide24.xml><?xml version="1.0" encoding="utf-8"?>
<p:sld xmlns:p="http://schemas.openxmlformats.org/presentationml/2006/main" xmlns:a="http://schemas.openxmlformats.org/drawingml/2006/main">
  <p:cSld>
    <p:bg>
      <p:bgPr>
        <a:solidFill>
          <a:srgbClr val="2E56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463040" y="2274570"/>
            <a:ext cx="9144000" cy="78574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38"/>
              </a:lnSpc>
            </a:pPr>
            <a:r>
              <a:rPr lang="en-US" b="true" sz="2199" spc="599">
                <a:solidFill>
                  <a:srgbClr val="E3B58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A SEGUIR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1463040" y="2960370"/>
            <a:ext cx="6400800" cy="24571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00"/>
              </a:lnSpc>
            </a:pPr>
            <a:r>
              <a:rPr lang="en-US" sz="15000" b="true">
                <a:solidFill>
                  <a:srgbClr val="E3B58F"/>
                </a:solidFill>
                <a:latin typeface="Cambria Bold"/>
                <a:ea typeface="Cambria Bold"/>
                <a:cs typeface="Cambria Bold"/>
                <a:sym typeface="Cambria Bold"/>
              </a:rPr>
              <a:t>05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463040" y="5463540"/>
            <a:ext cx="15544800" cy="10191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920"/>
              </a:lnSpc>
            </a:pPr>
            <a:r>
              <a:rPr lang="en-US" sz="6600" b="true">
                <a:solidFill>
                  <a:srgbClr val="FFFFFF"/>
                </a:solidFill>
                <a:latin typeface="Cambria Bold"/>
                <a:ea typeface="Cambria Bold"/>
                <a:cs typeface="Cambria Bold"/>
                <a:sym typeface="Cambria Bold"/>
              </a:rPr>
              <a:t>Próximas etapas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463040" y="6366510"/>
            <a:ext cx="15544800" cy="48600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7"/>
              </a:lnSpc>
            </a:pPr>
            <a:r>
              <a:rPr lang="en-US" sz="2799">
                <a:solidFill>
                  <a:srgbClr val="C9D8CB"/>
                </a:solidFill>
                <a:latin typeface="Calibri (MS)"/>
                <a:ea typeface="Calibri (MS)"/>
                <a:cs typeface="Calibri (MS)"/>
                <a:sym typeface="Calibri (MS)"/>
              </a:rPr>
              <a:t>Testes que ainda serão realizados</a:t>
            </a:r>
          </a:p>
        </p:txBody>
      </p:sp>
      <p:grpSp>
        <p:nvGrpSpPr>
          <p:cNvPr name="Group 6" id="6"/>
          <p:cNvGrpSpPr/>
          <p:nvPr/>
        </p:nvGrpSpPr>
        <p:grpSpPr>
          <a:xfrm rot="0">
            <a:off x="1463040" y="8869680"/>
            <a:ext cx="1645920" cy="91440"/>
            <a:chOff x="0" y="0"/>
            <a:chExt cx="2194560" cy="12192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194560" cy="121920"/>
            </a:xfrm>
            <a:custGeom>
              <a:avLst/>
              <a:gdLst/>
              <a:ahLst/>
              <a:cxnLst/>
              <a:rect r="r" b="b" t="t" l="l"/>
              <a:pathLst>
                <a:path h="121920" w="2194560">
                  <a:moveTo>
                    <a:pt x="0" y="60960"/>
                  </a:moveTo>
                  <a:cubicBezTo>
                    <a:pt x="0" y="27305"/>
                    <a:pt x="27305" y="0"/>
                    <a:pt x="60960" y="0"/>
                  </a:cubicBezTo>
                  <a:lnTo>
                    <a:pt x="2133600" y="0"/>
                  </a:lnTo>
                  <a:cubicBezTo>
                    <a:pt x="2167255" y="0"/>
                    <a:pt x="2194560" y="27305"/>
                    <a:pt x="2194560" y="60960"/>
                  </a:cubicBezTo>
                  <a:cubicBezTo>
                    <a:pt x="2194560" y="94615"/>
                    <a:pt x="2167255" y="121920"/>
                    <a:pt x="2133600" y="121920"/>
                  </a:cubicBezTo>
                  <a:lnTo>
                    <a:pt x="60960" y="121920"/>
                  </a:lnTo>
                  <a:cubicBezTo>
                    <a:pt x="27305" y="121920"/>
                    <a:pt x="0" y="94615"/>
                    <a:pt x="0" y="60960"/>
                  </a:cubicBezTo>
                  <a:close/>
                </a:path>
              </a:pathLst>
            </a:custGeom>
            <a:solidFill>
              <a:srgbClr val="C9D8CB"/>
            </a:solidFill>
          </p:spPr>
        </p:sp>
      </p:grpSp>
      <p:sp>
        <p:nvSpPr>
          <p:cNvPr name="TextBox 8" id="8"/>
          <p:cNvSpPr txBox="true"/>
          <p:nvPr/>
        </p:nvSpPr>
        <p:spPr>
          <a:xfrm rot="0">
            <a:off x="1463040" y="8999220"/>
            <a:ext cx="1645920" cy="57145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19"/>
              </a:lnSpc>
            </a:pPr>
            <a:r>
              <a:rPr lang="en-US" sz="1599" b="true">
                <a:solidFill>
                  <a:srgbClr val="C9D8CB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01</a:t>
            </a:r>
          </a:p>
        </p:txBody>
      </p:sp>
      <p:grpSp>
        <p:nvGrpSpPr>
          <p:cNvPr name="Group 9" id="9"/>
          <p:cNvGrpSpPr/>
          <p:nvPr/>
        </p:nvGrpSpPr>
        <p:grpSpPr>
          <a:xfrm rot="0">
            <a:off x="3291840" y="8869680"/>
            <a:ext cx="1645920" cy="91440"/>
            <a:chOff x="0" y="0"/>
            <a:chExt cx="2194560" cy="121920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2194560" cy="121920"/>
            </a:xfrm>
            <a:custGeom>
              <a:avLst/>
              <a:gdLst/>
              <a:ahLst/>
              <a:cxnLst/>
              <a:rect r="r" b="b" t="t" l="l"/>
              <a:pathLst>
                <a:path h="121920" w="2194560">
                  <a:moveTo>
                    <a:pt x="0" y="60960"/>
                  </a:moveTo>
                  <a:cubicBezTo>
                    <a:pt x="0" y="27305"/>
                    <a:pt x="27305" y="0"/>
                    <a:pt x="60960" y="0"/>
                  </a:cubicBezTo>
                  <a:lnTo>
                    <a:pt x="2133600" y="0"/>
                  </a:lnTo>
                  <a:cubicBezTo>
                    <a:pt x="2167255" y="0"/>
                    <a:pt x="2194560" y="27305"/>
                    <a:pt x="2194560" y="60960"/>
                  </a:cubicBezTo>
                  <a:cubicBezTo>
                    <a:pt x="2194560" y="94615"/>
                    <a:pt x="2167255" y="121920"/>
                    <a:pt x="2133600" y="121920"/>
                  </a:cubicBezTo>
                  <a:lnTo>
                    <a:pt x="60960" y="121920"/>
                  </a:lnTo>
                  <a:cubicBezTo>
                    <a:pt x="27305" y="121920"/>
                    <a:pt x="0" y="94615"/>
                    <a:pt x="0" y="60960"/>
                  </a:cubicBezTo>
                  <a:close/>
                </a:path>
              </a:pathLst>
            </a:custGeom>
            <a:solidFill>
              <a:srgbClr val="C9D8CB"/>
            </a:solidFill>
          </p:spPr>
        </p:sp>
      </p:grpSp>
      <p:sp>
        <p:nvSpPr>
          <p:cNvPr name="TextBox 11" id="11"/>
          <p:cNvSpPr txBox="true"/>
          <p:nvPr/>
        </p:nvSpPr>
        <p:spPr>
          <a:xfrm rot="0">
            <a:off x="3291840" y="8999220"/>
            <a:ext cx="1645920" cy="57145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19"/>
              </a:lnSpc>
            </a:pPr>
            <a:r>
              <a:rPr lang="en-US" sz="1599" b="true">
                <a:solidFill>
                  <a:srgbClr val="C9D8CB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02</a:t>
            </a:r>
          </a:p>
        </p:txBody>
      </p:sp>
      <p:grpSp>
        <p:nvGrpSpPr>
          <p:cNvPr name="Group 12" id="12"/>
          <p:cNvGrpSpPr/>
          <p:nvPr/>
        </p:nvGrpSpPr>
        <p:grpSpPr>
          <a:xfrm rot="0">
            <a:off x="5120640" y="8869680"/>
            <a:ext cx="1645920" cy="91440"/>
            <a:chOff x="0" y="0"/>
            <a:chExt cx="2194560" cy="12192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2194560" cy="121920"/>
            </a:xfrm>
            <a:custGeom>
              <a:avLst/>
              <a:gdLst/>
              <a:ahLst/>
              <a:cxnLst/>
              <a:rect r="r" b="b" t="t" l="l"/>
              <a:pathLst>
                <a:path h="121920" w="2194560">
                  <a:moveTo>
                    <a:pt x="0" y="60960"/>
                  </a:moveTo>
                  <a:cubicBezTo>
                    <a:pt x="0" y="27305"/>
                    <a:pt x="27305" y="0"/>
                    <a:pt x="60960" y="0"/>
                  </a:cubicBezTo>
                  <a:lnTo>
                    <a:pt x="2133600" y="0"/>
                  </a:lnTo>
                  <a:cubicBezTo>
                    <a:pt x="2167255" y="0"/>
                    <a:pt x="2194560" y="27305"/>
                    <a:pt x="2194560" y="60960"/>
                  </a:cubicBezTo>
                  <a:cubicBezTo>
                    <a:pt x="2194560" y="94615"/>
                    <a:pt x="2167255" y="121920"/>
                    <a:pt x="2133600" y="121920"/>
                  </a:cubicBezTo>
                  <a:lnTo>
                    <a:pt x="60960" y="121920"/>
                  </a:lnTo>
                  <a:cubicBezTo>
                    <a:pt x="27305" y="121920"/>
                    <a:pt x="0" y="94615"/>
                    <a:pt x="0" y="60960"/>
                  </a:cubicBezTo>
                  <a:close/>
                </a:path>
              </a:pathLst>
            </a:custGeom>
            <a:solidFill>
              <a:srgbClr val="C9D8CB"/>
            </a:solidFill>
          </p:spPr>
        </p:sp>
      </p:grpSp>
      <p:sp>
        <p:nvSpPr>
          <p:cNvPr name="TextBox 14" id="14"/>
          <p:cNvSpPr txBox="true"/>
          <p:nvPr/>
        </p:nvSpPr>
        <p:spPr>
          <a:xfrm rot="0">
            <a:off x="5120640" y="8999220"/>
            <a:ext cx="1645920" cy="57145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19"/>
              </a:lnSpc>
            </a:pPr>
            <a:r>
              <a:rPr lang="en-US" sz="1599" b="true">
                <a:solidFill>
                  <a:srgbClr val="C9D8CB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03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6949440" y="8869680"/>
            <a:ext cx="1645920" cy="91440"/>
            <a:chOff x="0" y="0"/>
            <a:chExt cx="2194560" cy="12192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2194560" cy="121920"/>
            </a:xfrm>
            <a:custGeom>
              <a:avLst/>
              <a:gdLst/>
              <a:ahLst/>
              <a:cxnLst/>
              <a:rect r="r" b="b" t="t" l="l"/>
              <a:pathLst>
                <a:path h="121920" w="2194560">
                  <a:moveTo>
                    <a:pt x="0" y="60960"/>
                  </a:moveTo>
                  <a:cubicBezTo>
                    <a:pt x="0" y="27305"/>
                    <a:pt x="27305" y="0"/>
                    <a:pt x="60960" y="0"/>
                  </a:cubicBezTo>
                  <a:lnTo>
                    <a:pt x="2133600" y="0"/>
                  </a:lnTo>
                  <a:cubicBezTo>
                    <a:pt x="2167255" y="0"/>
                    <a:pt x="2194560" y="27305"/>
                    <a:pt x="2194560" y="60960"/>
                  </a:cubicBezTo>
                  <a:cubicBezTo>
                    <a:pt x="2194560" y="94615"/>
                    <a:pt x="2167255" y="121920"/>
                    <a:pt x="2133600" y="121920"/>
                  </a:cubicBezTo>
                  <a:lnTo>
                    <a:pt x="60960" y="121920"/>
                  </a:lnTo>
                  <a:cubicBezTo>
                    <a:pt x="27305" y="121920"/>
                    <a:pt x="0" y="94615"/>
                    <a:pt x="0" y="60960"/>
                  </a:cubicBezTo>
                  <a:close/>
                </a:path>
              </a:pathLst>
            </a:custGeom>
            <a:solidFill>
              <a:srgbClr val="C9D8CB"/>
            </a:solidFill>
          </p:spPr>
        </p:sp>
      </p:grpSp>
      <p:sp>
        <p:nvSpPr>
          <p:cNvPr name="TextBox 17" id="17"/>
          <p:cNvSpPr txBox="true"/>
          <p:nvPr/>
        </p:nvSpPr>
        <p:spPr>
          <a:xfrm rot="0">
            <a:off x="6949440" y="8999220"/>
            <a:ext cx="1645920" cy="57145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19"/>
              </a:lnSpc>
            </a:pPr>
            <a:r>
              <a:rPr lang="en-US" sz="1599" b="true">
                <a:solidFill>
                  <a:srgbClr val="C9D8CB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04</a:t>
            </a:r>
          </a:p>
        </p:txBody>
      </p:sp>
      <p:grpSp>
        <p:nvGrpSpPr>
          <p:cNvPr name="Group 18" id="18"/>
          <p:cNvGrpSpPr/>
          <p:nvPr/>
        </p:nvGrpSpPr>
        <p:grpSpPr>
          <a:xfrm rot="0">
            <a:off x="8778240" y="8869680"/>
            <a:ext cx="1645920" cy="91440"/>
            <a:chOff x="0" y="0"/>
            <a:chExt cx="2194560" cy="121920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2194560" cy="121920"/>
            </a:xfrm>
            <a:custGeom>
              <a:avLst/>
              <a:gdLst/>
              <a:ahLst/>
              <a:cxnLst/>
              <a:rect r="r" b="b" t="t" l="l"/>
              <a:pathLst>
                <a:path h="121920" w="2194560">
                  <a:moveTo>
                    <a:pt x="0" y="60960"/>
                  </a:moveTo>
                  <a:cubicBezTo>
                    <a:pt x="0" y="27305"/>
                    <a:pt x="27305" y="0"/>
                    <a:pt x="60960" y="0"/>
                  </a:cubicBezTo>
                  <a:lnTo>
                    <a:pt x="2133600" y="0"/>
                  </a:lnTo>
                  <a:cubicBezTo>
                    <a:pt x="2167255" y="0"/>
                    <a:pt x="2194560" y="27305"/>
                    <a:pt x="2194560" y="60960"/>
                  </a:cubicBezTo>
                  <a:cubicBezTo>
                    <a:pt x="2194560" y="94615"/>
                    <a:pt x="2167255" y="121920"/>
                    <a:pt x="2133600" y="121920"/>
                  </a:cubicBezTo>
                  <a:lnTo>
                    <a:pt x="60960" y="121920"/>
                  </a:lnTo>
                  <a:cubicBezTo>
                    <a:pt x="27305" y="121920"/>
                    <a:pt x="0" y="94615"/>
                    <a:pt x="0" y="60960"/>
                  </a:cubicBezTo>
                  <a:close/>
                </a:path>
              </a:pathLst>
            </a:custGeom>
            <a:solidFill>
              <a:srgbClr val="E3B58F"/>
            </a:solidFill>
          </p:spPr>
        </p:sp>
      </p:grpSp>
      <p:sp>
        <p:nvSpPr>
          <p:cNvPr name="TextBox 20" id="20"/>
          <p:cNvSpPr txBox="true"/>
          <p:nvPr/>
        </p:nvSpPr>
        <p:spPr>
          <a:xfrm rot="0">
            <a:off x="8778240" y="8999220"/>
            <a:ext cx="1645920" cy="57145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19"/>
              </a:lnSpc>
            </a:pPr>
            <a:r>
              <a:rPr lang="en-US" sz="1599" b="true">
                <a:solidFill>
                  <a:srgbClr val="E3B58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05</a:t>
            </a:r>
          </a:p>
        </p:txBody>
      </p:sp>
      <p:grpSp>
        <p:nvGrpSpPr>
          <p:cNvPr name="Group 21" id="21"/>
          <p:cNvGrpSpPr/>
          <p:nvPr/>
        </p:nvGrpSpPr>
        <p:grpSpPr>
          <a:xfrm rot="0">
            <a:off x="10607040" y="8869680"/>
            <a:ext cx="1645920" cy="91440"/>
            <a:chOff x="0" y="0"/>
            <a:chExt cx="2194560" cy="121920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2194560" cy="121920"/>
            </a:xfrm>
            <a:custGeom>
              <a:avLst/>
              <a:gdLst/>
              <a:ahLst/>
              <a:cxnLst/>
              <a:rect r="r" b="b" t="t" l="l"/>
              <a:pathLst>
                <a:path h="121920" w="2194560">
                  <a:moveTo>
                    <a:pt x="0" y="60960"/>
                  </a:moveTo>
                  <a:cubicBezTo>
                    <a:pt x="0" y="27305"/>
                    <a:pt x="27305" y="0"/>
                    <a:pt x="60960" y="0"/>
                  </a:cubicBezTo>
                  <a:lnTo>
                    <a:pt x="2133600" y="0"/>
                  </a:lnTo>
                  <a:cubicBezTo>
                    <a:pt x="2167255" y="0"/>
                    <a:pt x="2194560" y="27305"/>
                    <a:pt x="2194560" y="60960"/>
                  </a:cubicBezTo>
                  <a:cubicBezTo>
                    <a:pt x="2194560" y="94615"/>
                    <a:pt x="2167255" y="121920"/>
                    <a:pt x="2133600" y="121920"/>
                  </a:cubicBezTo>
                  <a:lnTo>
                    <a:pt x="60960" y="121920"/>
                  </a:lnTo>
                  <a:cubicBezTo>
                    <a:pt x="27305" y="121920"/>
                    <a:pt x="0" y="94615"/>
                    <a:pt x="0" y="60960"/>
                  </a:cubicBezTo>
                  <a:close/>
                </a:path>
              </a:pathLst>
            </a:custGeom>
            <a:solidFill>
              <a:srgbClr val="5E8063"/>
            </a:solidFill>
          </p:spPr>
        </p:sp>
      </p:grpSp>
      <p:sp>
        <p:nvSpPr>
          <p:cNvPr name="TextBox 23" id="23"/>
          <p:cNvSpPr txBox="true"/>
          <p:nvPr/>
        </p:nvSpPr>
        <p:spPr>
          <a:xfrm rot="0">
            <a:off x="10607040" y="8999220"/>
            <a:ext cx="1645920" cy="57145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19"/>
              </a:lnSpc>
            </a:pPr>
            <a:r>
              <a:rPr lang="en-US" sz="1599" b="true">
                <a:solidFill>
                  <a:srgbClr val="5E8063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06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16459200" y="9471660"/>
            <a:ext cx="914400" cy="3810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400"/>
              </a:lnSpc>
            </a:pPr>
            <a:r>
              <a:rPr lang="en-US" sz="2000">
                <a:solidFill>
                  <a:srgbClr val="C9D8CB"/>
                </a:solidFill>
                <a:latin typeface="Calibri (MS)"/>
                <a:ea typeface="Calibri (MS)"/>
                <a:cs typeface="Calibri (MS)"/>
                <a:sym typeface="Calibri (MS)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914400" y="245364"/>
            <a:ext cx="6858000" cy="6324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00"/>
              </a:lnSpc>
            </a:pPr>
            <a:r>
              <a:rPr lang="en-US" b="true" sz="2000" spc="400">
                <a:solidFill>
                  <a:srgbClr val="B1734A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05  PRÓXIMAS ETAPAS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914400" y="914400"/>
            <a:ext cx="16459200" cy="1097280"/>
            <a:chOff x="0" y="0"/>
            <a:chExt cx="21945600" cy="146304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21945600" cy="1463040"/>
            </a:xfrm>
            <a:custGeom>
              <a:avLst/>
              <a:gdLst/>
              <a:ahLst/>
              <a:cxnLst/>
              <a:rect r="r" b="b" t="t" l="l"/>
              <a:pathLst>
                <a:path h="146304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463040"/>
                  </a:lnTo>
                  <a:lnTo>
                    <a:pt x="0" y="14630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242072" r="0" b="-242072"/>
              </a:stretch>
            </a:blipFill>
          </p:spPr>
        </p:sp>
      </p:grpSp>
      <p:grpSp>
        <p:nvGrpSpPr>
          <p:cNvPr name="Group 5" id="5"/>
          <p:cNvGrpSpPr/>
          <p:nvPr/>
        </p:nvGrpSpPr>
        <p:grpSpPr>
          <a:xfrm rot="0">
            <a:off x="914400" y="907256"/>
            <a:ext cx="16459200" cy="1104424"/>
            <a:chOff x="0" y="0"/>
            <a:chExt cx="21945600" cy="1472565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21945600" cy="1472565"/>
            </a:xfrm>
            <a:custGeom>
              <a:avLst/>
              <a:gdLst/>
              <a:ahLst/>
              <a:cxnLst/>
              <a:rect r="r" b="b" t="t" l="l"/>
              <a:pathLst>
                <a:path h="1472565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472565"/>
                  </a:lnTo>
                  <a:lnTo>
                    <a:pt x="0" y="1472565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40182" r="0" b="-240183"/>
              </a:stretch>
            </a:blipFill>
          </p:spPr>
        </p:sp>
      </p:grpSp>
      <p:grpSp>
        <p:nvGrpSpPr>
          <p:cNvPr name="Group 7" id="7"/>
          <p:cNvGrpSpPr/>
          <p:nvPr/>
        </p:nvGrpSpPr>
        <p:grpSpPr>
          <a:xfrm rot="0">
            <a:off x="914400" y="900112"/>
            <a:ext cx="16459200" cy="1111568"/>
            <a:chOff x="0" y="0"/>
            <a:chExt cx="21945600" cy="148209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21945600" cy="1482090"/>
            </a:xfrm>
            <a:custGeom>
              <a:avLst/>
              <a:gdLst/>
              <a:ahLst/>
              <a:cxnLst/>
              <a:rect r="r" b="b" t="t" l="l"/>
              <a:pathLst>
                <a:path h="148209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482090"/>
                  </a:lnTo>
                  <a:lnTo>
                    <a:pt x="0" y="148209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38317" r="0" b="-238318"/>
              </a:stretch>
            </a:blipFill>
          </p:spPr>
        </p:sp>
      </p:grpSp>
      <p:grpSp>
        <p:nvGrpSpPr>
          <p:cNvPr name="Group 9" id="9"/>
          <p:cNvGrpSpPr/>
          <p:nvPr/>
        </p:nvGrpSpPr>
        <p:grpSpPr>
          <a:xfrm rot="0">
            <a:off x="914400" y="892969"/>
            <a:ext cx="16459200" cy="1118711"/>
            <a:chOff x="0" y="0"/>
            <a:chExt cx="21945600" cy="1491615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21945600" cy="1491615"/>
            </a:xfrm>
            <a:custGeom>
              <a:avLst/>
              <a:gdLst/>
              <a:ahLst/>
              <a:cxnLst/>
              <a:rect r="r" b="b" t="t" l="l"/>
              <a:pathLst>
                <a:path h="1491615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491615"/>
                  </a:lnTo>
                  <a:lnTo>
                    <a:pt x="0" y="1491615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236476" r="0" b="-236477"/>
              </a:stretch>
            </a:blipFill>
          </p:spPr>
        </p:sp>
      </p:grpSp>
      <p:grpSp>
        <p:nvGrpSpPr>
          <p:cNvPr name="Group 11" id="11"/>
          <p:cNvGrpSpPr/>
          <p:nvPr/>
        </p:nvGrpSpPr>
        <p:grpSpPr>
          <a:xfrm rot="0">
            <a:off x="914400" y="885825"/>
            <a:ext cx="16459200" cy="1125855"/>
            <a:chOff x="0" y="0"/>
            <a:chExt cx="21945600" cy="150114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21945600" cy="1501140"/>
            </a:xfrm>
            <a:custGeom>
              <a:avLst/>
              <a:gdLst/>
              <a:ahLst/>
              <a:cxnLst/>
              <a:rect r="r" b="b" t="t" l="l"/>
              <a:pathLst>
                <a:path h="150114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501140"/>
                  </a:lnTo>
                  <a:lnTo>
                    <a:pt x="0" y="1501140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l="0" t="-234659" r="0" b="-234659"/>
              </a:stretch>
            </a:blipFill>
          </p:spPr>
        </p:sp>
      </p:grpSp>
      <p:grpSp>
        <p:nvGrpSpPr>
          <p:cNvPr name="Group 13" id="13"/>
          <p:cNvGrpSpPr/>
          <p:nvPr/>
        </p:nvGrpSpPr>
        <p:grpSpPr>
          <a:xfrm rot="0">
            <a:off x="914400" y="878681"/>
            <a:ext cx="16459200" cy="1132999"/>
            <a:chOff x="0" y="0"/>
            <a:chExt cx="21945600" cy="1510665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21945600" cy="1510665"/>
            </a:xfrm>
            <a:custGeom>
              <a:avLst/>
              <a:gdLst/>
              <a:ahLst/>
              <a:cxnLst/>
              <a:rect r="r" b="b" t="t" l="l"/>
              <a:pathLst>
                <a:path h="1510665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510665"/>
                  </a:lnTo>
                  <a:lnTo>
                    <a:pt x="0" y="1510665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0" t="-232864" r="0" b="-232865"/>
              </a:stretch>
            </a:blipFill>
          </p:spPr>
        </p:sp>
      </p:grpSp>
      <p:grpSp>
        <p:nvGrpSpPr>
          <p:cNvPr name="Group 15" id="15"/>
          <p:cNvGrpSpPr/>
          <p:nvPr/>
        </p:nvGrpSpPr>
        <p:grpSpPr>
          <a:xfrm rot="0">
            <a:off x="914400" y="871538"/>
            <a:ext cx="16459200" cy="1140142"/>
            <a:chOff x="0" y="0"/>
            <a:chExt cx="21945600" cy="152019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21945600" cy="1520190"/>
            </a:xfrm>
            <a:custGeom>
              <a:avLst/>
              <a:gdLst/>
              <a:ahLst/>
              <a:cxnLst/>
              <a:rect r="r" b="b" t="t" l="l"/>
              <a:pathLst>
                <a:path h="152019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520190"/>
                  </a:lnTo>
                  <a:lnTo>
                    <a:pt x="0" y="1520190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0" t="-231287" r="0" b="-231287"/>
              </a:stretch>
            </a:blip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9525"/>
              <a:ext cx="21945600" cy="15297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6239"/>
                </a:lnSpc>
              </a:pPr>
              <a:r>
                <a:rPr lang="en-US" sz="5198" b="true">
                  <a:solidFill>
                    <a:srgbClr val="2E5634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Como o aplicativo será avaliado</a:t>
              </a:r>
            </a:p>
          </p:txBody>
        </p:sp>
      </p:grpSp>
      <p:sp>
        <p:nvSpPr>
          <p:cNvPr name="TextBox 18" id="18"/>
          <p:cNvSpPr txBox="true"/>
          <p:nvPr/>
        </p:nvSpPr>
        <p:spPr>
          <a:xfrm rot="0">
            <a:off x="914400" y="2402205"/>
            <a:ext cx="1828800" cy="13468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9118"/>
              </a:lnSpc>
            </a:pPr>
            <a:r>
              <a:rPr lang="en-US" sz="7598" b="true">
                <a:solidFill>
                  <a:srgbClr val="B1734A"/>
                </a:solidFill>
                <a:latin typeface="Cambria Bold"/>
                <a:ea typeface="Cambria Bold"/>
                <a:cs typeface="Cambria Bold"/>
                <a:sym typeface="Cambria Bold"/>
              </a:rPr>
              <a:t>01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914400" y="3773805"/>
            <a:ext cx="4023360" cy="4953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840"/>
              </a:lnSpc>
            </a:pPr>
            <a:r>
              <a:rPr lang="en-US" sz="3200" b="true">
                <a:solidFill>
                  <a:srgbClr val="2E5634"/>
                </a:solidFill>
                <a:latin typeface="Cambria Bold"/>
                <a:ea typeface="Cambria Bold"/>
                <a:cs typeface="Cambria Bold"/>
                <a:sym typeface="Cambria Bold"/>
              </a:rPr>
              <a:t>Verificação funcional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914400" y="4652391"/>
            <a:ext cx="3566160" cy="17964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98"/>
              </a:lnSpc>
            </a:pPr>
            <a:r>
              <a:rPr lang="en-US" sz="2499">
                <a:solidFill>
                  <a:srgbClr val="1B2A1F"/>
                </a:solidFill>
                <a:latin typeface="Calibri (MS)"/>
                <a:ea typeface="Calibri (MS)"/>
                <a:cs typeface="Calibri (MS)"/>
                <a:sym typeface="Calibri (MS)"/>
              </a:rPr>
              <a:t>Conferir cada requisito nos fluxos principais, no celular</a:t>
            </a:r>
          </a:p>
        </p:txBody>
      </p:sp>
      <p:grpSp>
        <p:nvGrpSpPr>
          <p:cNvPr name="Group 21" id="21"/>
          <p:cNvGrpSpPr/>
          <p:nvPr/>
        </p:nvGrpSpPr>
        <p:grpSpPr>
          <a:xfrm rot="0">
            <a:off x="5943600" y="2560320"/>
            <a:ext cx="548640" cy="1097280"/>
            <a:chOff x="0" y="0"/>
            <a:chExt cx="731520" cy="1463040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731520" cy="1463040"/>
            </a:xfrm>
            <a:custGeom>
              <a:avLst/>
              <a:gdLst/>
              <a:ahLst/>
              <a:cxnLst/>
              <a:rect r="r" b="b" t="t" l="l"/>
              <a:pathLst>
                <a:path h="1463040" w="731520">
                  <a:moveTo>
                    <a:pt x="0" y="0"/>
                  </a:moveTo>
                  <a:lnTo>
                    <a:pt x="731520" y="0"/>
                  </a:lnTo>
                  <a:lnTo>
                    <a:pt x="731520" y="1463040"/>
                  </a:lnTo>
                  <a:lnTo>
                    <a:pt x="0" y="14630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206786" t="0" r="-206784" b="0"/>
              </a:stretch>
            </a:blipFill>
          </p:spPr>
        </p:sp>
      </p:grpSp>
      <p:grpSp>
        <p:nvGrpSpPr>
          <p:cNvPr name="Group 23" id="23"/>
          <p:cNvGrpSpPr/>
          <p:nvPr/>
        </p:nvGrpSpPr>
        <p:grpSpPr>
          <a:xfrm rot="0">
            <a:off x="5943600" y="2467451"/>
            <a:ext cx="548640" cy="1190149"/>
            <a:chOff x="0" y="0"/>
            <a:chExt cx="731520" cy="1586865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731520" cy="1586865"/>
            </a:xfrm>
            <a:custGeom>
              <a:avLst/>
              <a:gdLst/>
              <a:ahLst/>
              <a:cxnLst/>
              <a:rect r="r" b="b" t="t" l="l"/>
              <a:pathLst>
                <a:path h="1586865" w="731520">
                  <a:moveTo>
                    <a:pt x="0" y="0"/>
                  </a:moveTo>
                  <a:lnTo>
                    <a:pt x="731520" y="0"/>
                  </a:lnTo>
                  <a:lnTo>
                    <a:pt x="731520" y="1586865"/>
                  </a:lnTo>
                  <a:lnTo>
                    <a:pt x="0" y="1586865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228519" t="0" r="-228519" b="0"/>
              </a:stretch>
            </a:blipFill>
          </p:spPr>
        </p:sp>
      </p:grpSp>
      <p:grpSp>
        <p:nvGrpSpPr>
          <p:cNvPr name="Group 25" id="25"/>
          <p:cNvGrpSpPr/>
          <p:nvPr/>
        </p:nvGrpSpPr>
        <p:grpSpPr>
          <a:xfrm rot="0">
            <a:off x="5943600" y="2374583"/>
            <a:ext cx="548640" cy="1283018"/>
            <a:chOff x="0" y="0"/>
            <a:chExt cx="731520" cy="1710690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731520" cy="1710690"/>
            </a:xfrm>
            <a:custGeom>
              <a:avLst/>
              <a:gdLst/>
              <a:ahLst/>
              <a:cxnLst/>
              <a:rect r="r" b="b" t="t" l="l"/>
              <a:pathLst>
                <a:path h="1710690" w="731520">
                  <a:moveTo>
                    <a:pt x="0" y="0"/>
                  </a:moveTo>
                  <a:lnTo>
                    <a:pt x="731520" y="0"/>
                  </a:lnTo>
                  <a:lnTo>
                    <a:pt x="731520" y="1710690"/>
                  </a:lnTo>
                  <a:lnTo>
                    <a:pt x="0" y="171069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250251" t="0" r="-250251" b="0"/>
              </a:stretch>
            </a:blipFill>
          </p:spPr>
        </p:sp>
      </p:grpSp>
      <p:grpSp>
        <p:nvGrpSpPr>
          <p:cNvPr name="Group 27" id="27"/>
          <p:cNvGrpSpPr/>
          <p:nvPr/>
        </p:nvGrpSpPr>
        <p:grpSpPr>
          <a:xfrm rot="0">
            <a:off x="5943600" y="2281714"/>
            <a:ext cx="548640" cy="1375886"/>
            <a:chOff x="0" y="0"/>
            <a:chExt cx="731520" cy="1834515"/>
          </a:xfrm>
        </p:grpSpPr>
        <p:sp>
          <p:nvSpPr>
            <p:cNvPr name="Freeform 28" id="28"/>
            <p:cNvSpPr/>
            <p:nvPr/>
          </p:nvSpPr>
          <p:spPr>
            <a:xfrm flipH="false" flipV="false" rot="0">
              <a:off x="0" y="0"/>
              <a:ext cx="731520" cy="1834515"/>
            </a:xfrm>
            <a:custGeom>
              <a:avLst/>
              <a:gdLst/>
              <a:ahLst/>
              <a:cxnLst/>
              <a:rect r="r" b="b" t="t" l="l"/>
              <a:pathLst>
                <a:path h="1834515" w="731520">
                  <a:moveTo>
                    <a:pt x="0" y="0"/>
                  </a:moveTo>
                  <a:lnTo>
                    <a:pt x="731520" y="0"/>
                  </a:lnTo>
                  <a:lnTo>
                    <a:pt x="731520" y="1834515"/>
                  </a:lnTo>
                  <a:lnTo>
                    <a:pt x="0" y="1834515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-271984" t="0" r="-271986" b="0"/>
              </a:stretch>
            </a:blipFill>
          </p:spPr>
        </p:sp>
      </p:grpSp>
      <p:grpSp>
        <p:nvGrpSpPr>
          <p:cNvPr name="Group 29" id="29"/>
          <p:cNvGrpSpPr/>
          <p:nvPr/>
        </p:nvGrpSpPr>
        <p:grpSpPr>
          <a:xfrm rot="0">
            <a:off x="5943600" y="2188845"/>
            <a:ext cx="548640" cy="1468755"/>
            <a:chOff x="0" y="0"/>
            <a:chExt cx="731520" cy="1958340"/>
          </a:xfrm>
        </p:grpSpPr>
        <p:sp>
          <p:nvSpPr>
            <p:cNvPr name="Freeform 30" id="30"/>
            <p:cNvSpPr/>
            <p:nvPr/>
          </p:nvSpPr>
          <p:spPr>
            <a:xfrm flipH="false" flipV="false" rot="0">
              <a:off x="0" y="0"/>
              <a:ext cx="731520" cy="1958340"/>
            </a:xfrm>
            <a:custGeom>
              <a:avLst/>
              <a:gdLst/>
              <a:ahLst/>
              <a:cxnLst/>
              <a:rect r="r" b="b" t="t" l="l"/>
              <a:pathLst>
                <a:path h="1958340" w="731520">
                  <a:moveTo>
                    <a:pt x="0" y="0"/>
                  </a:moveTo>
                  <a:lnTo>
                    <a:pt x="731520" y="0"/>
                  </a:lnTo>
                  <a:lnTo>
                    <a:pt x="731520" y="1958340"/>
                  </a:lnTo>
                  <a:lnTo>
                    <a:pt x="0" y="1958340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l="-293718" t="0" r="-293718" b="0"/>
              </a:stretch>
            </a:blipFill>
          </p:spPr>
        </p:sp>
      </p:grpSp>
      <p:grpSp>
        <p:nvGrpSpPr>
          <p:cNvPr name="Group 31" id="31"/>
          <p:cNvGrpSpPr/>
          <p:nvPr/>
        </p:nvGrpSpPr>
        <p:grpSpPr>
          <a:xfrm rot="0">
            <a:off x="4526280" y="2095976"/>
            <a:ext cx="548640" cy="1561624"/>
            <a:chOff x="0" y="0"/>
            <a:chExt cx="731520" cy="2082165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0" y="0"/>
              <a:ext cx="731520" cy="2082165"/>
            </a:xfrm>
            <a:custGeom>
              <a:avLst/>
              <a:gdLst/>
              <a:ahLst/>
              <a:cxnLst/>
              <a:rect r="r" b="b" t="t" l="l"/>
              <a:pathLst>
                <a:path h="2082165" w="731520">
                  <a:moveTo>
                    <a:pt x="0" y="0"/>
                  </a:moveTo>
                  <a:lnTo>
                    <a:pt x="731520" y="0"/>
                  </a:lnTo>
                  <a:lnTo>
                    <a:pt x="731520" y="2082165"/>
                  </a:lnTo>
                  <a:lnTo>
                    <a:pt x="0" y="2082165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-315451" t="0" r="-315451" b="0"/>
              </a:stretch>
            </a:blipFill>
          </p:spPr>
        </p:sp>
      </p:grpSp>
      <p:grpSp>
        <p:nvGrpSpPr>
          <p:cNvPr name="Group 33" id="33"/>
          <p:cNvGrpSpPr/>
          <p:nvPr/>
        </p:nvGrpSpPr>
        <p:grpSpPr>
          <a:xfrm rot="0">
            <a:off x="4526280" y="2003108"/>
            <a:ext cx="548640" cy="1654492"/>
            <a:chOff x="0" y="0"/>
            <a:chExt cx="731520" cy="2205990"/>
          </a:xfrm>
        </p:grpSpPr>
        <p:sp>
          <p:nvSpPr>
            <p:cNvPr name="Freeform 34" id="34"/>
            <p:cNvSpPr/>
            <p:nvPr/>
          </p:nvSpPr>
          <p:spPr>
            <a:xfrm flipH="false" flipV="false" rot="0">
              <a:off x="0" y="0"/>
              <a:ext cx="731520" cy="2205990"/>
            </a:xfrm>
            <a:custGeom>
              <a:avLst/>
              <a:gdLst/>
              <a:ahLst/>
              <a:cxnLst/>
              <a:rect r="r" b="b" t="t" l="l"/>
              <a:pathLst>
                <a:path h="2205990" w="731520">
                  <a:moveTo>
                    <a:pt x="0" y="0"/>
                  </a:moveTo>
                  <a:lnTo>
                    <a:pt x="731520" y="0"/>
                  </a:lnTo>
                  <a:lnTo>
                    <a:pt x="731520" y="2205990"/>
                  </a:lnTo>
                  <a:lnTo>
                    <a:pt x="0" y="2205990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-336915" t="0" r="-336915" b="0"/>
              </a:stretch>
            </a:blipFill>
          </p:spPr>
        </p:sp>
        <p:sp>
          <p:nvSpPr>
            <p:cNvPr name="TextBox 35" id="35"/>
            <p:cNvSpPr txBox="true"/>
            <p:nvPr/>
          </p:nvSpPr>
          <p:spPr>
            <a:xfrm>
              <a:off x="0" y="-123825"/>
              <a:ext cx="731520" cy="23298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7200"/>
                </a:lnSpc>
              </a:pPr>
              <a:r>
                <a:rPr lang="en-US" sz="6000">
                  <a:solidFill>
                    <a:srgbClr val="A9B8A6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›</a:t>
              </a:r>
            </a:p>
          </p:txBody>
        </p:sp>
      </p:grpSp>
      <p:sp>
        <p:nvSpPr>
          <p:cNvPr name="TextBox 36" id="36"/>
          <p:cNvSpPr txBox="true"/>
          <p:nvPr/>
        </p:nvSpPr>
        <p:spPr>
          <a:xfrm rot="0">
            <a:off x="5120640" y="2402205"/>
            <a:ext cx="1828800" cy="13468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9118"/>
              </a:lnSpc>
            </a:pPr>
            <a:r>
              <a:rPr lang="en-US" sz="7598" b="true">
                <a:solidFill>
                  <a:srgbClr val="B1734A"/>
                </a:solidFill>
                <a:latin typeface="Cambria Bold"/>
                <a:ea typeface="Cambria Bold"/>
                <a:cs typeface="Cambria Bold"/>
                <a:sym typeface="Cambria Bold"/>
              </a:rPr>
              <a:t>02</a:t>
            </a:r>
          </a:p>
        </p:txBody>
      </p:sp>
      <p:sp>
        <p:nvSpPr>
          <p:cNvPr name="TextBox 37" id="37"/>
          <p:cNvSpPr txBox="true"/>
          <p:nvPr/>
        </p:nvSpPr>
        <p:spPr>
          <a:xfrm rot="0">
            <a:off x="5120640" y="3773805"/>
            <a:ext cx="3840480" cy="7067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840"/>
              </a:lnSpc>
            </a:pPr>
            <a:r>
              <a:rPr lang="en-US" sz="3200" b="true">
                <a:solidFill>
                  <a:srgbClr val="2E5634"/>
                </a:solidFill>
                <a:latin typeface="Cambria Bold"/>
                <a:ea typeface="Cambria Bold"/>
                <a:cs typeface="Cambria Bold"/>
                <a:sym typeface="Cambria Bold"/>
              </a:rPr>
              <a:t>Segurança</a:t>
            </a:r>
          </a:p>
        </p:txBody>
      </p:sp>
      <p:sp>
        <p:nvSpPr>
          <p:cNvPr name="TextBox 38" id="38"/>
          <p:cNvSpPr txBox="true"/>
          <p:nvPr/>
        </p:nvSpPr>
        <p:spPr>
          <a:xfrm rot="0">
            <a:off x="5120640" y="4652391"/>
            <a:ext cx="3566160" cy="17964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98"/>
              </a:lnSpc>
            </a:pPr>
            <a:r>
              <a:rPr lang="en-US" sz="2499">
                <a:solidFill>
                  <a:srgbClr val="1B2A1F"/>
                </a:solidFill>
                <a:latin typeface="Calibri (MS)"/>
                <a:ea typeface="Calibri (MS)"/>
                <a:cs typeface="Calibri (MS)"/>
                <a:sym typeface="Calibri (MS)"/>
              </a:rPr>
              <a:t>Análise estática do APK com o MobSF</a:t>
            </a:r>
          </a:p>
        </p:txBody>
      </p:sp>
      <p:grpSp>
        <p:nvGrpSpPr>
          <p:cNvPr name="Group 39" id="39"/>
          <p:cNvGrpSpPr/>
          <p:nvPr/>
        </p:nvGrpSpPr>
        <p:grpSpPr>
          <a:xfrm rot="0">
            <a:off x="11612880" y="2560320"/>
            <a:ext cx="548640" cy="1097280"/>
            <a:chOff x="0" y="0"/>
            <a:chExt cx="731520" cy="1463040"/>
          </a:xfrm>
        </p:grpSpPr>
        <p:sp>
          <p:nvSpPr>
            <p:cNvPr name="Freeform 40" id="40"/>
            <p:cNvSpPr/>
            <p:nvPr/>
          </p:nvSpPr>
          <p:spPr>
            <a:xfrm flipH="false" flipV="false" rot="0">
              <a:off x="0" y="0"/>
              <a:ext cx="731520" cy="1463040"/>
            </a:xfrm>
            <a:custGeom>
              <a:avLst/>
              <a:gdLst/>
              <a:ahLst/>
              <a:cxnLst/>
              <a:rect r="r" b="b" t="t" l="l"/>
              <a:pathLst>
                <a:path h="1463040" w="731520">
                  <a:moveTo>
                    <a:pt x="0" y="0"/>
                  </a:moveTo>
                  <a:lnTo>
                    <a:pt x="731520" y="0"/>
                  </a:lnTo>
                  <a:lnTo>
                    <a:pt x="731520" y="1463040"/>
                  </a:lnTo>
                  <a:lnTo>
                    <a:pt x="0" y="14630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206786" t="0" r="-206784" b="0"/>
              </a:stretch>
            </a:blipFill>
          </p:spPr>
        </p:sp>
      </p:grpSp>
      <p:grpSp>
        <p:nvGrpSpPr>
          <p:cNvPr name="Group 41" id="41"/>
          <p:cNvGrpSpPr/>
          <p:nvPr/>
        </p:nvGrpSpPr>
        <p:grpSpPr>
          <a:xfrm rot="0">
            <a:off x="11612880" y="2467451"/>
            <a:ext cx="548640" cy="1190149"/>
            <a:chOff x="0" y="0"/>
            <a:chExt cx="731520" cy="1586865"/>
          </a:xfrm>
        </p:grpSpPr>
        <p:sp>
          <p:nvSpPr>
            <p:cNvPr name="Freeform 42" id="42"/>
            <p:cNvSpPr/>
            <p:nvPr/>
          </p:nvSpPr>
          <p:spPr>
            <a:xfrm flipH="false" flipV="false" rot="0">
              <a:off x="0" y="0"/>
              <a:ext cx="731520" cy="1586865"/>
            </a:xfrm>
            <a:custGeom>
              <a:avLst/>
              <a:gdLst/>
              <a:ahLst/>
              <a:cxnLst/>
              <a:rect r="r" b="b" t="t" l="l"/>
              <a:pathLst>
                <a:path h="1586865" w="731520">
                  <a:moveTo>
                    <a:pt x="0" y="0"/>
                  </a:moveTo>
                  <a:lnTo>
                    <a:pt x="731520" y="0"/>
                  </a:lnTo>
                  <a:lnTo>
                    <a:pt x="731520" y="1586865"/>
                  </a:lnTo>
                  <a:lnTo>
                    <a:pt x="0" y="1586865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228519" t="0" r="-228519" b="0"/>
              </a:stretch>
            </a:blipFill>
          </p:spPr>
        </p:sp>
      </p:grpSp>
      <p:grpSp>
        <p:nvGrpSpPr>
          <p:cNvPr name="Group 43" id="43"/>
          <p:cNvGrpSpPr/>
          <p:nvPr/>
        </p:nvGrpSpPr>
        <p:grpSpPr>
          <a:xfrm rot="0">
            <a:off x="11612880" y="2374583"/>
            <a:ext cx="548640" cy="1283018"/>
            <a:chOff x="0" y="0"/>
            <a:chExt cx="731520" cy="1710690"/>
          </a:xfrm>
        </p:grpSpPr>
        <p:sp>
          <p:nvSpPr>
            <p:cNvPr name="Freeform 44" id="44"/>
            <p:cNvSpPr/>
            <p:nvPr/>
          </p:nvSpPr>
          <p:spPr>
            <a:xfrm flipH="false" flipV="false" rot="0">
              <a:off x="0" y="0"/>
              <a:ext cx="731520" cy="1710690"/>
            </a:xfrm>
            <a:custGeom>
              <a:avLst/>
              <a:gdLst/>
              <a:ahLst/>
              <a:cxnLst/>
              <a:rect r="r" b="b" t="t" l="l"/>
              <a:pathLst>
                <a:path h="1710690" w="731520">
                  <a:moveTo>
                    <a:pt x="0" y="0"/>
                  </a:moveTo>
                  <a:lnTo>
                    <a:pt x="731520" y="0"/>
                  </a:lnTo>
                  <a:lnTo>
                    <a:pt x="731520" y="1710690"/>
                  </a:lnTo>
                  <a:lnTo>
                    <a:pt x="0" y="171069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250251" t="0" r="-250251" b="0"/>
              </a:stretch>
            </a:blipFill>
          </p:spPr>
        </p:sp>
      </p:grpSp>
      <p:grpSp>
        <p:nvGrpSpPr>
          <p:cNvPr name="Group 45" id="45"/>
          <p:cNvGrpSpPr/>
          <p:nvPr/>
        </p:nvGrpSpPr>
        <p:grpSpPr>
          <a:xfrm rot="0">
            <a:off x="11612880" y="2281714"/>
            <a:ext cx="548640" cy="1375886"/>
            <a:chOff x="0" y="0"/>
            <a:chExt cx="731520" cy="1834515"/>
          </a:xfrm>
        </p:grpSpPr>
        <p:sp>
          <p:nvSpPr>
            <p:cNvPr name="Freeform 46" id="46"/>
            <p:cNvSpPr/>
            <p:nvPr/>
          </p:nvSpPr>
          <p:spPr>
            <a:xfrm flipH="false" flipV="false" rot="0">
              <a:off x="0" y="0"/>
              <a:ext cx="731520" cy="1834515"/>
            </a:xfrm>
            <a:custGeom>
              <a:avLst/>
              <a:gdLst/>
              <a:ahLst/>
              <a:cxnLst/>
              <a:rect r="r" b="b" t="t" l="l"/>
              <a:pathLst>
                <a:path h="1834515" w="731520">
                  <a:moveTo>
                    <a:pt x="0" y="0"/>
                  </a:moveTo>
                  <a:lnTo>
                    <a:pt x="731520" y="0"/>
                  </a:lnTo>
                  <a:lnTo>
                    <a:pt x="731520" y="1834515"/>
                  </a:lnTo>
                  <a:lnTo>
                    <a:pt x="0" y="1834515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-271984" t="0" r="-271986" b="0"/>
              </a:stretch>
            </a:blipFill>
          </p:spPr>
        </p:sp>
      </p:grpSp>
      <p:grpSp>
        <p:nvGrpSpPr>
          <p:cNvPr name="Group 47" id="47"/>
          <p:cNvGrpSpPr/>
          <p:nvPr/>
        </p:nvGrpSpPr>
        <p:grpSpPr>
          <a:xfrm rot="0">
            <a:off x="11612880" y="2188845"/>
            <a:ext cx="548640" cy="1468755"/>
            <a:chOff x="0" y="0"/>
            <a:chExt cx="731520" cy="1958340"/>
          </a:xfrm>
        </p:grpSpPr>
        <p:sp>
          <p:nvSpPr>
            <p:cNvPr name="Freeform 48" id="48"/>
            <p:cNvSpPr/>
            <p:nvPr/>
          </p:nvSpPr>
          <p:spPr>
            <a:xfrm flipH="false" flipV="false" rot="0">
              <a:off x="0" y="0"/>
              <a:ext cx="731520" cy="1958340"/>
            </a:xfrm>
            <a:custGeom>
              <a:avLst/>
              <a:gdLst/>
              <a:ahLst/>
              <a:cxnLst/>
              <a:rect r="r" b="b" t="t" l="l"/>
              <a:pathLst>
                <a:path h="1958340" w="731520">
                  <a:moveTo>
                    <a:pt x="0" y="0"/>
                  </a:moveTo>
                  <a:lnTo>
                    <a:pt x="731520" y="0"/>
                  </a:lnTo>
                  <a:lnTo>
                    <a:pt x="731520" y="1958340"/>
                  </a:lnTo>
                  <a:lnTo>
                    <a:pt x="0" y="1958340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l="-293718" t="0" r="-293718" b="0"/>
              </a:stretch>
            </a:blipFill>
          </p:spPr>
        </p:sp>
      </p:grpSp>
      <p:grpSp>
        <p:nvGrpSpPr>
          <p:cNvPr name="Group 49" id="49"/>
          <p:cNvGrpSpPr/>
          <p:nvPr/>
        </p:nvGrpSpPr>
        <p:grpSpPr>
          <a:xfrm rot="0">
            <a:off x="8732520" y="2095976"/>
            <a:ext cx="548640" cy="1561624"/>
            <a:chOff x="0" y="0"/>
            <a:chExt cx="731520" cy="2082165"/>
          </a:xfrm>
        </p:grpSpPr>
        <p:sp>
          <p:nvSpPr>
            <p:cNvPr name="Freeform 50" id="50"/>
            <p:cNvSpPr/>
            <p:nvPr/>
          </p:nvSpPr>
          <p:spPr>
            <a:xfrm flipH="false" flipV="false" rot="0">
              <a:off x="0" y="0"/>
              <a:ext cx="731520" cy="2082165"/>
            </a:xfrm>
            <a:custGeom>
              <a:avLst/>
              <a:gdLst/>
              <a:ahLst/>
              <a:cxnLst/>
              <a:rect r="r" b="b" t="t" l="l"/>
              <a:pathLst>
                <a:path h="2082165" w="731520">
                  <a:moveTo>
                    <a:pt x="0" y="0"/>
                  </a:moveTo>
                  <a:lnTo>
                    <a:pt x="731520" y="0"/>
                  </a:lnTo>
                  <a:lnTo>
                    <a:pt x="731520" y="2082165"/>
                  </a:lnTo>
                  <a:lnTo>
                    <a:pt x="0" y="2082165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-315451" t="0" r="-315451" b="0"/>
              </a:stretch>
            </a:blipFill>
          </p:spPr>
        </p:sp>
      </p:grpSp>
      <p:grpSp>
        <p:nvGrpSpPr>
          <p:cNvPr name="Group 51" id="51"/>
          <p:cNvGrpSpPr/>
          <p:nvPr/>
        </p:nvGrpSpPr>
        <p:grpSpPr>
          <a:xfrm rot="0">
            <a:off x="8732520" y="2003108"/>
            <a:ext cx="548640" cy="1654492"/>
            <a:chOff x="0" y="0"/>
            <a:chExt cx="731520" cy="2205990"/>
          </a:xfrm>
        </p:grpSpPr>
        <p:sp>
          <p:nvSpPr>
            <p:cNvPr name="Freeform 52" id="52"/>
            <p:cNvSpPr/>
            <p:nvPr/>
          </p:nvSpPr>
          <p:spPr>
            <a:xfrm flipH="false" flipV="false" rot="0">
              <a:off x="0" y="0"/>
              <a:ext cx="731520" cy="2205990"/>
            </a:xfrm>
            <a:custGeom>
              <a:avLst/>
              <a:gdLst/>
              <a:ahLst/>
              <a:cxnLst/>
              <a:rect r="r" b="b" t="t" l="l"/>
              <a:pathLst>
                <a:path h="2205990" w="731520">
                  <a:moveTo>
                    <a:pt x="0" y="0"/>
                  </a:moveTo>
                  <a:lnTo>
                    <a:pt x="731520" y="0"/>
                  </a:lnTo>
                  <a:lnTo>
                    <a:pt x="731520" y="2205990"/>
                  </a:lnTo>
                  <a:lnTo>
                    <a:pt x="0" y="2205990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-336915" t="0" r="-336915" b="0"/>
              </a:stretch>
            </a:blipFill>
          </p:spPr>
        </p:sp>
        <p:sp>
          <p:nvSpPr>
            <p:cNvPr name="TextBox 53" id="53"/>
            <p:cNvSpPr txBox="true"/>
            <p:nvPr/>
          </p:nvSpPr>
          <p:spPr>
            <a:xfrm>
              <a:off x="0" y="-123825"/>
              <a:ext cx="731520" cy="23298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7200"/>
                </a:lnSpc>
              </a:pPr>
              <a:r>
                <a:rPr lang="en-US" sz="6000">
                  <a:solidFill>
                    <a:srgbClr val="A9B8A6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›</a:t>
              </a:r>
            </a:p>
          </p:txBody>
        </p:sp>
      </p:grpSp>
      <p:grpSp>
        <p:nvGrpSpPr>
          <p:cNvPr name="Group 54" id="54"/>
          <p:cNvGrpSpPr/>
          <p:nvPr/>
        </p:nvGrpSpPr>
        <p:grpSpPr>
          <a:xfrm rot="0">
            <a:off x="12938760" y="2095976"/>
            <a:ext cx="548640" cy="1561624"/>
            <a:chOff x="0" y="0"/>
            <a:chExt cx="731520" cy="2082165"/>
          </a:xfrm>
        </p:grpSpPr>
        <p:sp>
          <p:nvSpPr>
            <p:cNvPr name="Freeform 55" id="55"/>
            <p:cNvSpPr/>
            <p:nvPr/>
          </p:nvSpPr>
          <p:spPr>
            <a:xfrm flipH="false" flipV="false" rot="0">
              <a:off x="0" y="0"/>
              <a:ext cx="731520" cy="2082165"/>
            </a:xfrm>
            <a:custGeom>
              <a:avLst/>
              <a:gdLst/>
              <a:ahLst/>
              <a:cxnLst/>
              <a:rect r="r" b="b" t="t" l="l"/>
              <a:pathLst>
                <a:path h="2082165" w="731520">
                  <a:moveTo>
                    <a:pt x="0" y="0"/>
                  </a:moveTo>
                  <a:lnTo>
                    <a:pt x="731520" y="0"/>
                  </a:lnTo>
                  <a:lnTo>
                    <a:pt x="731520" y="2082165"/>
                  </a:lnTo>
                  <a:lnTo>
                    <a:pt x="0" y="2082165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-315451" t="0" r="-315451" b="0"/>
              </a:stretch>
            </a:blipFill>
          </p:spPr>
        </p:sp>
      </p:grpSp>
      <p:grpSp>
        <p:nvGrpSpPr>
          <p:cNvPr name="Group 56" id="56"/>
          <p:cNvGrpSpPr/>
          <p:nvPr/>
        </p:nvGrpSpPr>
        <p:grpSpPr>
          <a:xfrm rot="0">
            <a:off x="12938760" y="2003108"/>
            <a:ext cx="548640" cy="1654492"/>
            <a:chOff x="0" y="0"/>
            <a:chExt cx="731520" cy="2205990"/>
          </a:xfrm>
        </p:grpSpPr>
        <p:sp>
          <p:nvSpPr>
            <p:cNvPr name="Freeform 57" id="57"/>
            <p:cNvSpPr/>
            <p:nvPr/>
          </p:nvSpPr>
          <p:spPr>
            <a:xfrm flipH="false" flipV="false" rot="0">
              <a:off x="0" y="0"/>
              <a:ext cx="731520" cy="2205990"/>
            </a:xfrm>
            <a:custGeom>
              <a:avLst/>
              <a:gdLst/>
              <a:ahLst/>
              <a:cxnLst/>
              <a:rect r="r" b="b" t="t" l="l"/>
              <a:pathLst>
                <a:path h="2205990" w="731520">
                  <a:moveTo>
                    <a:pt x="0" y="0"/>
                  </a:moveTo>
                  <a:lnTo>
                    <a:pt x="731520" y="0"/>
                  </a:lnTo>
                  <a:lnTo>
                    <a:pt x="731520" y="2205990"/>
                  </a:lnTo>
                  <a:lnTo>
                    <a:pt x="0" y="2205990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-336915" t="0" r="-336915" b="0"/>
              </a:stretch>
            </a:blipFill>
          </p:spPr>
        </p:sp>
        <p:sp>
          <p:nvSpPr>
            <p:cNvPr name="TextBox 58" id="58"/>
            <p:cNvSpPr txBox="true"/>
            <p:nvPr/>
          </p:nvSpPr>
          <p:spPr>
            <a:xfrm>
              <a:off x="0" y="-123825"/>
              <a:ext cx="731520" cy="23298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7200"/>
                </a:lnSpc>
              </a:pPr>
              <a:r>
                <a:rPr lang="en-US" sz="6000">
                  <a:solidFill>
                    <a:srgbClr val="A9B8A6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›</a:t>
              </a:r>
            </a:p>
          </p:txBody>
        </p:sp>
      </p:grpSp>
      <p:sp>
        <p:nvSpPr>
          <p:cNvPr name="TextBox 59" id="59"/>
          <p:cNvSpPr txBox="true"/>
          <p:nvPr/>
        </p:nvSpPr>
        <p:spPr>
          <a:xfrm rot="0">
            <a:off x="9326880" y="2402205"/>
            <a:ext cx="1828800" cy="13468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9118"/>
              </a:lnSpc>
            </a:pPr>
            <a:r>
              <a:rPr lang="en-US" sz="7598" b="true">
                <a:solidFill>
                  <a:srgbClr val="B1734A"/>
                </a:solidFill>
                <a:latin typeface="Cambria Bold"/>
                <a:ea typeface="Cambria Bold"/>
                <a:cs typeface="Cambria Bold"/>
                <a:sym typeface="Cambria Bold"/>
              </a:rPr>
              <a:t>03</a:t>
            </a:r>
          </a:p>
        </p:txBody>
      </p:sp>
      <p:sp>
        <p:nvSpPr>
          <p:cNvPr name="TextBox 60" id="60"/>
          <p:cNvSpPr txBox="true"/>
          <p:nvPr/>
        </p:nvSpPr>
        <p:spPr>
          <a:xfrm rot="0">
            <a:off x="13533120" y="2402205"/>
            <a:ext cx="1828800" cy="13468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9118"/>
              </a:lnSpc>
            </a:pPr>
            <a:r>
              <a:rPr lang="en-US" sz="7598" b="true">
                <a:solidFill>
                  <a:srgbClr val="B1734A"/>
                </a:solidFill>
                <a:latin typeface="Cambria Bold"/>
                <a:ea typeface="Cambria Bold"/>
                <a:cs typeface="Cambria Bold"/>
                <a:sym typeface="Cambria Bold"/>
              </a:rPr>
              <a:t>04</a:t>
            </a:r>
          </a:p>
        </p:txBody>
      </p:sp>
      <p:sp>
        <p:nvSpPr>
          <p:cNvPr name="TextBox 61" id="61"/>
          <p:cNvSpPr txBox="true"/>
          <p:nvPr/>
        </p:nvSpPr>
        <p:spPr>
          <a:xfrm rot="0">
            <a:off x="9326880" y="3773805"/>
            <a:ext cx="3840480" cy="7067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840"/>
              </a:lnSpc>
            </a:pPr>
            <a:r>
              <a:rPr lang="en-US" sz="3200" b="true">
                <a:solidFill>
                  <a:srgbClr val="2E5634"/>
                </a:solidFill>
                <a:latin typeface="Cambria Bold"/>
                <a:ea typeface="Cambria Bold"/>
                <a:cs typeface="Cambria Bold"/>
                <a:sym typeface="Cambria Bold"/>
              </a:rPr>
              <a:t>Usabilidade</a:t>
            </a:r>
          </a:p>
        </p:txBody>
      </p:sp>
      <p:sp>
        <p:nvSpPr>
          <p:cNvPr name="TextBox 62" id="62"/>
          <p:cNvSpPr txBox="true"/>
          <p:nvPr/>
        </p:nvSpPr>
        <p:spPr>
          <a:xfrm rot="0">
            <a:off x="13533120" y="3773805"/>
            <a:ext cx="3840480" cy="7067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840"/>
              </a:lnSpc>
            </a:pPr>
            <a:r>
              <a:rPr lang="en-US" sz="3200" b="true">
                <a:solidFill>
                  <a:srgbClr val="2E5634"/>
                </a:solidFill>
                <a:latin typeface="Cambria Bold"/>
                <a:ea typeface="Cambria Bold"/>
                <a:cs typeface="Cambria Bold"/>
                <a:sym typeface="Cambria Bold"/>
              </a:rPr>
              <a:t>Correspondência</a:t>
            </a:r>
          </a:p>
        </p:txBody>
      </p:sp>
      <p:sp>
        <p:nvSpPr>
          <p:cNvPr name="TextBox 63" id="63"/>
          <p:cNvSpPr txBox="true"/>
          <p:nvPr/>
        </p:nvSpPr>
        <p:spPr>
          <a:xfrm rot="0">
            <a:off x="9326880" y="4652391"/>
            <a:ext cx="3566160" cy="17964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98"/>
              </a:lnSpc>
            </a:pPr>
            <a:r>
              <a:rPr lang="en-US" sz="2499">
                <a:solidFill>
                  <a:srgbClr val="1B2A1F"/>
                </a:solidFill>
                <a:latin typeface="Calibri (MS)"/>
                <a:ea typeface="Calibri (MS)"/>
                <a:cs typeface="Calibri (MS)"/>
                <a:sym typeface="Calibri (MS)"/>
              </a:rPr>
              <a:t>Tarefas no Quant UX e questionário SUS</a:t>
            </a:r>
          </a:p>
        </p:txBody>
      </p:sp>
      <p:sp>
        <p:nvSpPr>
          <p:cNvPr name="TextBox 64" id="64"/>
          <p:cNvSpPr txBox="true"/>
          <p:nvPr/>
        </p:nvSpPr>
        <p:spPr>
          <a:xfrm rot="0">
            <a:off x="13533120" y="4652391"/>
            <a:ext cx="3566160" cy="17964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98"/>
              </a:lnSpc>
            </a:pPr>
            <a:r>
              <a:rPr lang="en-US" sz="2499">
                <a:solidFill>
                  <a:srgbClr val="1B2A1F"/>
                </a:solidFill>
                <a:latin typeface="Calibri (MS)"/>
                <a:ea typeface="Calibri (MS)"/>
                <a:cs typeface="Calibri (MS)"/>
                <a:sym typeface="Calibri (MS)"/>
              </a:rPr>
              <a:t>Pares do mesmo animal e de animais diferentes</a:t>
            </a:r>
          </a:p>
        </p:txBody>
      </p:sp>
      <p:sp>
        <p:nvSpPr>
          <p:cNvPr name="TextBox 65" id="65"/>
          <p:cNvSpPr txBox="true"/>
          <p:nvPr/>
        </p:nvSpPr>
        <p:spPr>
          <a:xfrm rot="0">
            <a:off x="16459200" y="9471660"/>
            <a:ext cx="914400" cy="3810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400"/>
              </a:lnSpc>
            </a:pPr>
            <a:r>
              <a:rPr lang="en-US" sz="2000">
                <a:solidFill>
                  <a:srgbClr val="5B6B5F"/>
                </a:solidFill>
                <a:latin typeface="Calibri (MS)"/>
                <a:ea typeface="Calibri (MS)"/>
                <a:cs typeface="Calibri (MS)"/>
                <a:sym typeface="Calibri (MS)"/>
              </a:rPr>
              <a:t>25</a:t>
            </a:r>
          </a:p>
        </p:txBody>
      </p:sp>
      <p:grpSp>
        <p:nvGrpSpPr>
          <p:cNvPr name="Group 66" id="66"/>
          <p:cNvGrpSpPr/>
          <p:nvPr/>
        </p:nvGrpSpPr>
        <p:grpSpPr>
          <a:xfrm rot="0">
            <a:off x="822960" y="9572625"/>
            <a:ext cx="8229600" cy="440055"/>
            <a:chOff x="0" y="0"/>
            <a:chExt cx="10972800" cy="586740"/>
          </a:xfrm>
        </p:grpSpPr>
        <p:sp>
          <p:nvSpPr>
            <p:cNvPr name="Freeform 67" id="67"/>
            <p:cNvSpPr/>
            <p:nvPr/>
          </p:nvSpPr>
          <p:spPr>
            <a:xfrm flipH="false" flipV="false" rot="0">
              <a:off x="0" y="0"/>
              <a:ext cx="10972800" cy="586740"/>
            </a:xfrm>
            <a:custGeom>
              <a:avLst/>
              <a:gdLst/>
              <a:ahLst/>
              <a:cxnLst/>
              <a:rect r="r" b="b" t="t" l="l"/>
              <a:pathLst>
                <a:path h="5867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586740"/>
                  </a:lnTo>
                  <a:lnTo>
                    <a:pt x="0" y="5867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314142" r="0" b="-314140"/>
              </a:stretch>
            </a:blipFill>
          </p:spPr>
        </p:sp>
      </p:grpSp>
      <p:grpSp>
        <p:nvGrpSpPr>
          <p:cNvPr name="Group 68" id="68"/>
          <p:cNvGrpSpPr/>
          <p:nvPr/>
        </p:nvGrpSpPr>
        <p:grpSpPr>
          <a:xfrm rot="0">
            <a:off x="822960" y="9544050"/>
            <a:ext cx="8229600" cy="468630"/>
            <a:chOff x="0" y="0"/>
            <a:chExt cx="10972800" cy="624840"/>
          </a:xfrm>
        </p:grpSpPr>
        <p:sp>
          <p:nvSpPr>
            <p:cNvPr name="Freeform 69" id="69"/>
            <p:cNvSpPr/>
            <p:nvPr/>
          </p:nvSpPr>
          <p:spPr>
            <a:xfrm flipH="false" flipV="false" rot="0">
              <a:off x="0" y="0"/>
              <a:ext cx="10972800" cy="624840"/>
            </a:xfrm>
            <a:custGeom>
              <a:avLst/>
              <a:gdLst/>
              <a:ahLst/>
              <a:cxnLst/>
              <a:rect r="r" b="b" t="t" l="l"/>
              <a:pathLst>
                <a:path h="6248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624840"/>
                  </a:lnTo>
                  <a:lnTo>
                    <a:pt x="0" y="6248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91939" r="0" b="-291936"/>
              </a:stretch>
            </a:blipFill>
          </p:spPr>
        </p:sp>
      </p:grpSp>
      <p:grpSp>
        <p:nvGrpSpPr>
          <p:cNvPr name="Group 70" id="70"/>
          <p:cNvGrpSpPr/>
          <p:nvPr/>
        </p:nvGrpSpPr>
        <p:grpSpPr>
          <a:xfrm rot="0">
            <a:off x="822960" y="9515475"/>
            <a:ext cx="8229600" cy="497205"/>
            <a:chOff x="0" y="0"/>
            <a:chExt cx="10972800" cy="662940"/>
          </a:xfrm>
        </p:grpSpPr>
        <p:sp>
          <p:nvSpPr>
            <p:cNvPr name="Freeform 71" id="71"/>
            <p:cNvSpPr/>
            <p:nvPr/>
          </p:nvSpPr>
          <p:spPr>
            <a:xfrm flipH="false" flipV="false" rot="0">
              <a:off x="0" y="0"/>
              <a:ext cx="10972800" cy="662940"/>
            </a:xfrm>
            <a:custGeom>
              <a:avLst/>
              <a:gdLst/>
              <a:ahLst/>
              <a:cxnLst/>
              <a:rect r="r" b="b" t="t" l="l"/>
              <a:pathLst>
                <a:path h="6629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662940"/>
                  </a:lnTo>
                  <a:lnTo>
                    <a:pt x="0" y="66294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72287" r="0" b="-272285"/>
              </a:stretch>
            </a:blipFill>
          </p:spPr>
        </p:sp>
      </p:grpSp>
      <p:grpSp>
        <p:nvGrpSpPr>
          <p:cNvPr name="Group 72" id="72"/>
          <p:cNvGrpSpPr/>
          <p:nvPr/>
        </p:nvGrpSpPr>
        <p:grpSpPr>
          <a:xfrm rot="0">
            <a:off x="822960" y="9486900"/>
            <a:ext cx="8229600" cy="525780"/>
            <a:chOff x="0" y="0"/>
            <a:chExt cx="10972800" cy="701040"/>
          </a:xfrm>
        </p:grpSpPr>
        <p:sp>
          <p:nvSpPr>
            <p:cNvPr name="Freeform 73" id="73"/>
            <p:cNvSpPr/>
            <p:nvPr/>
          </p:nvSpPr>
          <p:spPr>
            <a:xfrm flipH="false" flipV="false" rot="0">
              <a:off x="0" y="0"/>
              <a:ext cx="10972800" cy="701040"/>
            </a:xfrm>
            <a:custGeom>
              <a:avLst/>
              <a:gdLst/>
              <a:ahLst/>
              <a:cxnLst/>
              <a:rect r="r" b="b" t="t" l="l"/>
              <a:pathLst>
                <a:path h="7010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701040"/>
                  </a:lnTo>
                  <a:lnTo>
                    <a:pt x="0" y="701040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254771" r="0" b="-254769"/>
              </a:stretch>
            </a:blipFill>
          </p:spPr>
        </p:sp>
      </p:grpSp>
      <p:grpSp>
        <p:nvGrpSpPr>
          <p:cNvPr name="Group 74" id="74"/>
          <p:cNvGrpSpPr/>
          <p:nvPr/>
        </p:nvGrpSpPr>
        <p:grpSpPr>
          <a:xfrm rot="0">
            <a:off x="822960" y="9458325"/>
            <a:ext cx="8229600" cy="554355"/>
            <a:chOff x="0" y="0"/>
            <a:chExt cx="10972800" cy="739140"/>
          </a:xfrm>
        </p:grpSpPr>
        <p:sp>
          <p:nvSpPr>
            <p:cNvPr name="Freeform 75" id="75"/>
            <p:cNvSpPr/>
            <p:nvPr/>
          </p:nvSpPr>
          <p:spPr>
            <a:xfrm flipH="false" flipV="false" rot="0">
              <a:off x="0" y="0"/>
              <a:ext cx="10972800" cy="739140"/>
            </a:xfrm>
            <a:custGeom>
              <a:avLst/>
              <a:gdLst/>
              <a:ahLst/>
              <a:cxnLst/>
              <a:rect r="r" b="b" t="t" l="l"/>
              <a:pathLst>
                <a:path h="7391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739140"/>
                  </a:lnTo>
                  <a:lnTo>
                    <a:pt x="0" y="739140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l="0" t="-239061" r="0" b="-239060"/>
              </a:stretch>
            </a:blipFill>
          </p:spPr>
        </p:sp>
      </p:grpSp>
      <p:grpSp>
        <p:nvGrpSpPr>
          <p:cNvPr name="Group 76" id="76"/>
          <p:cNvGrpSpPr/>
          <p:nvPr/>
        </p:nvGrpSpPr>
        <p:grpSpPr>
          <a:xfrm rot="0">
            <a:off x="822960" y="9429750"/>
            <a:ext cx="8229600" cy="582930"/>
            <a:chOff x="0" y="0"/>
            <a:chExt cx="10972800" cy="777240"/>
          </a:xfrm>
        </p:grpSpPr>
        <p:sp>
          <p:nvSpPr>
            <p:cNvPr name="Freeform 77" id="77"/>
            <p:cNvSpPr/>
            <p:nvPr/>
          </p:nvSpPr>
          <p:spPr>
            <a:xfrm flipH="false" flipV="false" rot="0">
              <a:off x="0" y="0"/>
              <a:ext cx="10972800" cy="777240"/>
            </a:xfrm>
            <a:custGeom>
              <a:avLst/>
              <a:gdLst/>
              <a:ahLst/>
              <a:cxnLst/>
              <a:rect r="r" b="b" t="t" l="l"/>
              <a:pathLst>
                <a:path h="7772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777240"/>
                  </a:lnTo>
                  <a:lnTo>
                    <a:pt x="0" y="777240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0" t="-224892" r="0" b="-224890"/>
              </a:stretch>
            </a:blipFill>
          </p:spPr>
        </p:sp>
      </p:grpSp>
      <p:grpSp>
        <p:nvGrpSpPr>
          <p:cNvPr name="Group 78" id="78"/>
          <p:cNvGrpSpPr/>
          <p:nvPr/>
        </p:nvGrpSpPr>
        <p:grpSpPr>
          <a:xfrm rot="0">
            <a:off x="822960" y="9401175"/>
            <a:ext cx="8229600" cy="611505"/>
            <a:chOff x="0" y="0"/>
            <a:chExt cx="10972800" cy="815340"/>
          </a:xfrm>
        </p:grpSpPr>
        <p:sp>
          <p:nvSpPr>
            <p:cNvPr name="Freeform 79" id="79"/>
            <p:cNvSpPr/>
            <p:nvPr/>
          </p:nvSpPr>
          <p:spPr>
            <a:xfrm flipH="false" flipV="false" rot="0">
              <a:off x="0" y="0"/>
              <a:ext cx="10972800" cy="815340"/>
            </a:xfrm>
            <a:custGeom>
              <a:avLst/>
              <a:gdLst/>
              <a:ahLst/>
              <a:cxnLst/>
              <a:rect r="r" b="b" t="t" l="l"/>
              <a:pathLst>
                <a:path h="8153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815340"/>
                  </a:lnTo>
                  <a:lnTo>
                    <a:pt x="0" y="815340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0" t="-212228" r="0" b="-212228"/>
              </a:stretch>
            </a:blipFill>
          </p:spPr>
        </p:sp>
        <p:sp>
          <p:nvSpPr>
            <p:cNvPr name="TextBox 80" id="80"/>
            <p:cNvSpPr txBox="true"/>
            <p:nvPr/>
          </p:nvSpPr>
          <p:spPr>
            <a:xfrm>
              <a:off x="0" y="-38100"/>
              <a:ext cx="10972800" cy="8534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6B728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WeFIND  |  TCC  |  IFSul Campus Pelotas</a:t>
              </a:r>
            </a:p>
          </p:txBody>
        </p:sp>
      </p:grpSp>
      <p:sp>
        <p:nvSpPr>
          <p:cNvPr id="81" name="Rounded Rectangle 80"/>
          <p:cNvSpPr/>
          <p:nvPr/>
        </p:nvSpPr>
        <p:spPr>
          <a:xfrm>
            <a:off x="914400" y="5989320"/>
            <a:ext cx="16459200" cy="2606040"/>
          </a:xfrm>
          <a:prstGeom prst="roundRect">
            <a:avLst>
              <a:gd name="adj" fmla="val 8000"/>
            </a:avLst>
          </a:prstGeom>
          <a:solidFill>
            <a:srgbClr val="EEF3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1371600" y="5989320"/>
            <a:ext cx="7315200" cy="2606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000" b="1">
                <a:solidFill>
                  <a:srgbClr val="B1734A"/>
                </a:solidFill>
                <a:latin typeface="Calibri (MS) Bold"/>
              </a:rPr>
              <a:t>FOCO: USABILIDADE COM O QUANT UX</a:t>
            </a:r>
          </a:p>
          <a:p>
            <a:pPr>
              <a:spcBef>
                <a:spcPts val="1000"/>
              </a:spcBef>
            </a:pPr>
            <a:r>
              <a:rPr sz="2400" b="0">
                <a:solidFill>
                  <a:srgbClr val="1B2A1F"/>
                </a:solidFill>
                <a:latin typeface="Calibri (MS)"/>
              </a:rPr>
              <a:t>Tutores fazem tarefas reais no aplicativo, como publicar um animal perdido e registrar um avistamento.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9601200" y="5989320"/>
            <a:ext cx="7315200" cy="2606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000" b="1">
                <a:solidFill>
                  <a:srgbClr val="B1734A"/>
                </a:solidFill>
                <a:latin typeface="Calibri (MS) Bold"/>
              </a:rPr>
              <a:t>O QUE SERÁ MEDIDO</a:t>
            </a:r>
          </a:p>
          <a:p>
            <a:pPr>
              <a:spcBef>
                <a:spcPts val="1000"/>
              </a:spcBef>
            </a:pPr>
            <a:r>
              <a:rPr sz="2400" b="0">
                <a:solidFill>
                  <a:srgbClr val="1B2A1F"/>
                </a:solidFill>
                <a:latin typeface="Calibri (MS)"/>
              </a:rPr>
              <a:t>Conclusão de cada tarefa, tempo gasto e onde as pessoas tocam. Ao final, o questionário SUS.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914400" y="8778240"/>
            <a:ext cx="1554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800" b="0">
                <a:solidFill>
                  <a:srgbClr val="5B6B5F"/>
                </a:solidFill>
                <a:latin typeface="Calibri (MS)"/>
              </a:rPr>
              <a:t>Etapa prevista para depois da qualificação; os resultados entram na versão final do TCC.</a:t>
            </a:r>
          </a:p>
        </p:txBody>
      </p:sp>
    </p:spTree>
  </p:cSld>
  <p:clrMapOvr>
    <a:masterClrMapping/>
  </p:clrMapOvr>
</p:sld>
</file>

<file path=ppt/slides/slide26.xml><?xml version="1.0" encoding="utf-8"?>
<p:sld xmlns:p="http://schemas.openxmlformats.org/presentationml/2006/main" xmlns:a="http://schemas.openxmlformats.org/drawingml/2006/main" show="false">
  <p:cSld>
    <p:bg>
      <p:bgPr>
        <a:solidFill>
          <a:srgbClr val="2E56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463040" y="2274570"/>
            <a:ext cx="9144000" cy="78574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38"/>
              </a:lnSpc>
            </a:pPr>
            <a:r>
              <a:rPr lang="en-US" b="true" sz="2199" spc="599">
                <a:solidFill>
                  <a:srgbClr val="E3B58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A SEGUIR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1463040" y="2960370"/>
            <a:ext cx="6400800" cy="24571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00"/>
              </a:lnSpc>
            </a:pPr>
            <a:r>
              <a:rPr lang="en-US" sz="15000" b="true">
                <a:solidFill>
                  <a:srgbClr val="E3B58F"/>
                </a:solidFill>
                <a:latin typeface="Cambria Bold"/>
                <a:ea typeface="Cambria Bold"/>
                <a:cs typeface="Cambria Bold"/>
                <a:sym typeface="Cambria Bold"/>
              </a:rPr>
              <a:t>05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463040" y="5463540"/>
            <a:ext cx="15544800" cy="10191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920"/>
              </a:lnSpc>
            </a:pPr>
            <a:r>
              <a:rPr lang="en-US" sz="6600" b="true">
                <a:solidFill>
                  <a:srgbClr val="FFFFFF"/>
                </a:solidFill>
                <a:latin typeface="Cambria Bold"/>
                <a:ea typeface="Cambria Bold"/>
                <a:cs typeface="Cambria Bold"/>
                <a:sym typeface="Cambria Bold"/>
              </a:rPr>
              <a:t>Testes e Feedback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463040" y="6366510"/>
            <a:ext cx="15544800" cy="48600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7"/>
              </a:lnSpc>
            </a:pPr>
            <a:r>
              <a:rPr lang="en-US" sz="2799">
                <a:solidFill>
                  <a:srgbClr val="C9D8CB"/>
                </a:solidFill>
                <a:latin typeface="Calibri (MS)"/>
                <a:ea typeface="Calibri (MS)"/>
                <a:cs typeface="Calibri (MS)"/>
                <a:sym typeface="Calibri (MS)"/>
              </a:rPr>
              <a:t>Usabilidade, segurança</a:t>
            </a:r>
          </a:p>
        </p:txBody>
      </p:sp>
      <p:grpSp>
        <p:nvGrpSpPr>
          <p:cNvPr name="Group 6" id="6"/>
          <p:cNvGrpSpPr/>
          <p:nvPr/>
        </p:nvGrpSpPr>
        <p:grpSpPr>
          <a:xfrm rot="0">
            <a:off x="1463040" y="8869680"/>
            <a:ext cx="1645920" cy="91440"/>
            <a:chOff x="0" y="0"/>
            <a:chExt cx="2194560" cy="12192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194560" cy="121920"/>
            </a:xfrm>
            <a:custGeom>
              <a:avLst/>
              <a:gdLst/>
              <a:ahLst/>
              <a:cxnLst/>
              <a:rect r="r" b="b" t="t" l="l"/>
              <a:pathLst>
                <a:path h="121920" w="2194560">
                  <a:moveTo>
                    <a:pt x="0" y="60960"/>
                  </a:moveTo>
                  <a:cubicBezTo>
                    <a:pt x="0" y="27305"/>
                    <a:pt x="27305" y="0"/>
                    <a:pt x="60960" y="0"/>
                  </a:cubicBezTo>
                  <a:lnTo>
                    <a:pt x="2133600" y="0"/>
                  </a:lnTo>
                  <a:cubicBezTo>
                    <a:pt x="2167255" y="0"/>
                    <a:pt x="2194560" y="27305"/>
                    <a:pt x="2194560" y="60960"/>
                  </a:cubicBezTo>
                  <a:cubicBezTo>
                    <a:pt x="2194560" y="94615"/>
                    <a:pt x="2167255" y="121920"/>
                    <a:pt x="2133600" y="121920"/>
                  </a:cubicBezTo>
                  <a:lnTo>
                    <a:pt x="60960" y="121920"/>
                  </a:lnTo>
                  <a:cubicBezTo>
                    <a:pt x="27305" y="121920"/>
                    <a:pt x="0" y="94615"/>
                    <a:pt x="0" y="60960"/>
                  </a:cubicBezTo>
                  <a:close/>
                </a:path>
              </a:pathLst>
            </a:custGeom>
            <a:solidFill>
              <a:srgbClr val="C9D8CB"/>
            </a:solidFill>
          </p:spPr>
        </p:sp>
      </p:grpSp>
      <p:sp>
        <p:nvSpPr>
          <p:cNvPr name="TextBox 8" id="8"/>
          <p:cNvSpPr txBox="true"/>
          <p:nvPr/>
        </p:nvSpPr>
        <p:spPr>
          <a:xfrm rot="0">
            <a:off x="1463040" y="8999220"/>
            <a:ext cx="1645920" cy="57145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19"/>
              </a:lnSpc>
            </a:pPr>
            <a:r>
              <a:rPr lang="en-US" sz="1599" b="true">
                <a:solidFill>
                  <a:srgbClr val="C9D8CB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01</a:t>
            </a:r>
          </a:p>
        </p:txBody>
      </p:sp>
      <p:grpSp>
        <p:nvGrpSpPr>
          <p:cNvPr name="Group 9" id="9"/>
          <p:cNvGrpSpPr/>
          <p:nvPr/>
        </p:nvGrpSpPr>
        <p:grpSpPr>
          <a:xfrm rot="0">
            <a:off x="3291840" y="8869680"/>
            <a:ext cx="1645920" cy="91440"/>
            <a:chOff x="0" y="0"/>
            <a:chExt cx="2194560" cy="121920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2194560" cy="121920"/>
            </a:xfrm>
            <a:custGeom>
              <a:avLst/>
              <a:gdLst/>
              <a:ahLst/>
              <a:cxnLst/>
              <a:rect r="r" b="b" t="t" l="l"/>
              <a:pathLst>
                <a:path h="121920" w="2194560">
                  <a:moveTo>
                    <a:pt x="0" y="60960"/>
                  </a:moveTo>
                  <a:cubicBezTo>
                    <a:pt x="0" y="27305"/>
                    <a:pt x="27305" y="0"/>
                    <a:pt x="60960" y="0"/>
                  </a:cubicBezTo>
                  <a:lnTo>
                    <a:pt x="2133600" y="0"/>
                  </a:lnTo>
                  <a:cubicBezTo>
                    <a:pt x="2167255" y="0"/>
                    <a:pt x="2194560" y="27305"/>
                    <a:pt x="2194560" y="60960"/>
                  </a:cubicBezTo>
                  <a:cubicBezTo>
                    <a:pt x="2194560" y="94615"/>
                    <a:pt x="2167255" y="121920"/>
                    <a:pt x="2133600" y="121920"/>
                  </a:cubicBezTo>
                  <a:lnTo>
                    <a:pt x="60960" y="121920"/>
                  </a:lnTo>
                  <a:cubicBezTo>
                    <a:pt x="27305" y="121920"/>
                    <a:pt x="0" y="94615"/>
                    <a:pt x="0" y="60960"/>
                  </a:cubicBezTo>
                  <a:close/>
                </a:path>
              </a:pathLst>
            </a:custGeom>
            <a:solidFill>
              <a:srgbClr val="C9D8CB"/>
            </a:solidFill>
          </p:spPr>
        </p:sp>
      </p:grpSp>
      <p:sp>
        <p:nvSpPr>
          <p:cNvPr name="TextBox 11" id="11"/>
          <p:cNvSpPr txBox="true"/>
          <p:nvPr/>
        </p:nvSpPr>
        <p:spPr>
          <a:xfrm rot="0">
            <a:off x="3291840" y="8999220"/>
            <a:ext cx="1645920" cy="57145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19"/>
              </a:lnSpc>
            </a:pPr>
            <a:r>
              <a:rPr lang="en-US" sz="1599" b="true">
                <a:solidFill>
                  <a:srgbClr val="C9D8CB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02</a:t>
            </a:r>
          </a:p>
        </p:txBody>
      </p:sp>
      <p:grpSp>
        <p:nvGrpSpPr>
          <p:cNvPr name="Group 12" id="12"/>
          <p:cNvGrpSpPr/>
          <p:nvPr/>
        </p:nvGrpSpPr>
        <p:grpSpPr>
          <a:xfrm rot="0">
            <a:off x="5120640" y="8869680"/>
            <a:ext cx="1645920" cy="91440"/>
            <a:chOff x="0" y="0"/>
            <a:chExt cx="2194560" cy="12192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2194560" cy="121920"/>
            </a:xfrm>
            <a:custGeom>
              <a:avLst/>
              <a:gdLst/>
              <a:ahLst/>
              <a:cxnLst/>
              <a:rect r="r" b="b" t="t" l="l"/>
              <a:pathLst>
                <a:path h="121920" w="2194560">
                  <a:moveTo>
                    <a:pt x="0" y="60960"/>
                  </a:moveTo>
                  <a:cubicBezTo>
                    <a:pt x="0" y="27305"/>
                    <a:pt x="27305" y="0"/>
                    <a:pt x="60960" y="0"/>
                  </a:cubicBezTo>
                  <a:lnTo>
                    <a:pt x="2133600" y="0"/>
                  </a:lnTo>
                  <a:cubicBezTo>
                    <a:pt x="2167255" y="0"/>
                    <a:pt x="2194560" y="27305"/>
                    <a:pt x="2194560" y="60960"/>
                  </a:cubicBezTo>
                  <a:cubicBezTo>
                    <a:pt x="2194560" y="94615"/>
                    <a:pt x="2167255" y="121920"/>
                    <a:pt x="2133600" y="121920"/>
                  </a:cubicBezTo>
                  <a:lnTo>
                    <a:pt x="60960" y="121920"/>
                  </a:lnTo>
                  <a:cubicBezTo>
                    <a:pt x="27305" y="121920"/>
                    <a:pt x="0" y="94615"/>
                    <a:pt x="0" y="60960"/>
                  </a:cubicBezTo>
                  <a:close/>
                </a:path>
              </a:pathLst>
            </a:custGeom>
            <a:solidFill>
              <a:srgbClr val="C9D8CB"/>
            </a:solidFill>
          </p:spPr>
        </p:sp>
      </p:grpSp>
      <p:sp>
        <p:nvSpPr>
          <p:cNvPr name="TextBox 14" id="14"/>
          <p:cNvSpPr txBox="true"/>
          <p:nvPr/>
        </p:nvSpPr>
        <p:spPr>
          <a:xfrm rot="0">
            <a:off x="5120640" y="8999220"/>
            <a:ext cx="1645920" cy="57145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19"/>
              </a:lnSpc>
            </a:pPr>
            <a:r>
              <a:rPr lang="en-US" sz="1599" b="true">
                <a:solidFill>
                  <a:srgbClr val="C9D8CB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03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6949440" y="8869680"/>
            <a:ext cx="1645920" cy="91440"/>
            <a:chOff x="0" y="0"/>
            <a:chExt cx="2194560" cy="12192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2194560" cy="121920"/>
            </a:xfrm>
            <a:custGeom>
              <a:avLst/>
              <a:gdLst/>
              <a:ahLst/>
              <a:cxnLst/>
              <a:rect r="r" b="b" t="t" l="l"/>
              <a:pathLst>
                <a:path h="121920" w="2194560">
                  <a:moveTo>
                    <a:pt x="0" y="60960"/>
                  </a:moveTo>
                  <a:cubicBezTo>
                    <a:pt x="0" y="27305"/>
                    <a:pt x="27305" y="0"/>
                    <a:pt x="60960" y="0"/>
                  </a:cubicBezTo>
                  <a:lnTo>
                    <a:pt x="2133600" y="0"/>
                  </a:lnTo>
                  <a:cubicBezTo>
                    <a:pt x="2167255" y="0"/>
                    <a:pt x="2194560" y="27305"/>
                    <a:pt x="2194560" y="60960"/>
                  </a:cubicBezTo>
                  <a:cubicBezTo>
                    <a:pt x="2194560" y="94615"/>
                    <a:pt x="2167255" y="121920"/>
                    <a:pt x="2133600" y="121920"/>
                  </a:cubicBezTo>
                  <a:lnTo>
                    <a:pt x="60960" y="121920"/>
                  </a:lnTo>
                  <a:cubicBezTo>
                    <a:pt x="27305" y="121920"/>
                    <a:pt x="0" y="94615"/>
                    <a:pt x="0" y="60960"/>
                  </a:cubicBezTo>
                  <a:close/>
                </a:path>
              </a:pathLst>
            </a:custGeom>
            <a:solidFill>
              <a:srgbClr val="C9D8CB"/>
            </a:solidFill>
          </p:spPr>
        </p:sp>
      </p:grpSp>
      <p:sp>
        <p:nvSpPr>
          <p:cNvPr name="TextBox 17" id="17"/>
          <p:cNvSpPr txBox="true"/>
          <p:nvPr/>
        </p:nvSpPr>
        <p:spPr>
          <a:xfrm rot="0">
            <a:off x="6949440" y="8999220"/>
            <a:ext cx="1645920" cy="57145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19"/>
              </a:lnSpc>
            </a:pPr>
            <a:r>
              <a:rPr lang="en-US" sz="1599" b="true">
                <a:solidFill>
                  <a:srgbClr val="C9D8CB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04</a:t>
            </a:r>
          </a:p>
        </p:txBody>
      </p:sp>
      <p:grpSp>
        <p:nvGrpSpPr>
          <p:cNvPr name="Group 18" id="18"/>
          <p:cNvGrpSpPr/>
          <p:nvPr/>
        </p:nvGrpSpPr>
        <p:grpSpPr>
          <a:xfrm rot="0">
            <a:off x="8778240" y="8869680"/>
            <a:ext cx="1645920" cy="91440"/>
            <a:chOff x="0" y="0"/>
            <a:chExt cx="2194560" cy="121920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2194560" cy="121920"/>
            </a:xfrm>
            <a:custGeom>
              <a:avLst/>
              <a:gdLst/>
              <a:ahLst/>
              <a:cxnLst/>
              <a:rect r="r" b="b" t="t" l="l"/>
              <a:pathLst>
                <a:path h="121920" w="2194560">
                  <a:moveTo>
                    <a:pt x="0" y="60960"/>
                  </a:moveTo>
                  <a:cubicBezTo>
                    <a:pt x="0" y="27305"/>
                    <a:pt x="27305" y="0"/>
                    <a:pt x="60960" y="0"/>
                  </a:cubicBezTo>
                  <a:lnTo>
                    <a:pt x="2133600" y="0"/>
                  </a:lnTo>
                  <a:cubicBezTo>
                    <a:pt x="2167255" y="0"/>
                    <a:pt x="2194560" y="27305"/>
                    <a:pt x="2194560" y="60960"/>
                  </a:cubicBezTo>
                  <a:cubicBezTo>
                    <a:pt x="2194560" y="94615"/>
                    <a:pt x="2167255" y="121920"/>
                    <a:pt x="2133600" y="121920"/>
                  </a:cubicBezTo>
                  <a:lnTo>
                    <a:pt x="60960" y="121920"/>
                  </a:lnTo>
                  <a:cubicBezTo>
                    <a:pt x="27305" y="121920"/>
                    <a:pt x="0" y="94615"/>
                    <a:pt x="0" y="60960"/>
                  </a:cubicBezTo>
                  <a:close/>
                </a:path>
              </a:pathLst>
            </a:custGeom>
            <a:solidFill>
              <a:srgbClr val="E3B58F"/>
            </a:solidFill>
          </p:spPr>
        </p:sp>
      </p:grpSp>
      <p:sp>
        <p:nvSpPr>
          <p:cNvPr name="TextBox 20" id="20"/>
          <p:cNvSpPr txBox="true"/>
          <p:nvPr/>
        </p:nvSpPr>
        <p:spPr>
          <a:xfrm rot="0">
            <a:off x="8778240" y="8999220"/>
            <a:ext cx="1645920" cy="57145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19"/>
              </a:lnSpc>
            </a:pPr>
            <a:r>
              <a:rPr lang="en-US" sz="1599" b="true">
                <a:solidFill>
                  <a:srgbClr val="E3B58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05</a:t>
            </a:r>
          </a:p>
        </p:txBody>
      </p:sp>
      <p:grpSp>
        <p:nvGrpSpPr>
          <p:cNvPr name="Group 21" id="21"/>
          <p:cNvGrpSpPr/>
          <p:nvPr/>
        </p:nvGrpSpPr>
        <p:grpSpPr>
          <a:xfrm rot="0">
            <a:off x="10607040" y="8869680"/>
            <a:ext cx="1645920" cy="91440"/>
            <a:chOff x="0" y="0"/>
            <a:chExt cx="2194560" cy="121920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2194560" cy="121920"/>
            </a:xfrm>
            <a:custGeom>
              <a:avLst/>
              <a:gdLst/>
              <a:ahLst/>
              <a:cxnLst/>
              <a:rect r="r" b="b" t="t" l="l"/>
              <a:pathLst>
                <a:path h="121920" w="2194560">
                  <a:moveTo>
                    <a:pt x="0" y="60960"/>
                  </a:moveTo>
                  <a:cubicBezTo>
                    <a:pt x="0" y="27305"/>
                    <a:pt x="27305" y="0"/>
                    <a:pt x="60960" y="0"/>
                  </a:cubicBezTo>
                  <a:lnTo>
                    <a:pt x="2133600" y="0"/>
                  </a:lnTo>
                  <a:cubicBezTo>
                    <a:pt x="2167255" y="0"/>
                    <a:pt x="2194560" y="27305"/>
                    <a:pt x="2194560" y="60960"/>
                  </a:cubicBezTo>
                  <a:cubicBezTo>
                    <a:pt x="2194560" y="94615"/>
                    <a:pt x="2167255" y="121920"/>
                    <a:pt x="2133600" y="121920"/>
                  </a:cubicBezTo>
                  <a:lnTo>
                    <a:pt x="60960" y="121920"/>
                  </a:lnTo>
                  <a:cubicBezTo>
                    <a:pt x="27305" y="121920"/>
                    <a:pt x="0" y="94615"/>
                    <a:pt x="0" y="60960"/>
                  </a:cubicBezTo>
                  <a:close/>
                </a:path>
              </a:pathLst>
            </a:custGeom>
            <a:solidFill>
              <a:srgbClr val="5E8063"/>
            </a:solidFill>
          </p:spPr>
        </p:sp>
      </p:grpSp>
      <p:sp>
        <p:nvSpPr>
          <p:cNvPr name="TextBox 23" id="23"/>
          <p:cNvSpPr txBox="true"/>
          <p:nvPr/>
        </p:nvSpPr>
        <p:spPr>
          <a:xfrm rot="0">
            <a:off x="10607040" y="8999220"/>
            <a:ext cx="1645920" cy="57145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19"/>
              </a:lnSpc>
            </a:pPr>
            <a:r>
              <a:rPr lang="en-US" sz="1599" b="true">
                <a:solidFill>
                  <a:srgbClr val="5E8063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06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16459200" y="9471660"/>
            <a:ext cx="914400" cy="3810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400"/>
              </a:lnSpc>
            </a:pPr>
            <a:r>
              <a:rPr lang="en-US" sz="2000">
                <a:solidFill>
                  <a:srgbClr val="C9D8CB"/>
                </a:solidFill>
                <a:latin typeface="Calibri (MS)"/>
                <a:ea typeface="Calibri (MS)"/>
                <a:cs typeface="Calibri (MS)"/>
                <a:sym typeface="Calibri (MS)"/>
              </a:rPr>
              <a:t>30</a:t>
            </a:r>
          </a:p>
        </p:txBody>
      </p:sp>
    </p:spTree>
  </p:cSld>
  <p:clrMapOvr>
    <a:masterClrMapping/>
  </p:clrMapOvr>
</p:sld>
</file>

<file path=ppt/slides/slide27.xml><?xml version="1.0" encoding="utf-8"?>
<p:sld xmlns:p="http://schemas.openxmlformats.org/presentationml/2006/main" xmlns:a="http://schemas.openxmlformats.org/drawingml/2006/main" xmlns:r="http://schemas.openxmlformats.org/officeDocument/2006/relationships" show="false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914400" y="245364"/>
            <a:ext cx="6858000" cy="6324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00"/>
              </a:lnSpc>
            </a:pPr>
            <a:r>
              <a:rPr lang="en-US" b="true" sz="2000" spc="400">
                <a:solidFill>
                  <a:srgbClr val="B1734A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05  DEMONSTRAÇÃO E AVALIAÇÃO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914400" y="914400"/>
            <a:ext cx="16459200" cy="1097280"/>
            <a:chOff x="0" y="0"/>
            <a:chExt cx="21945600" cy="146304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21945600" cy="1463040"/>
            </a:xfrm>
            <a:custGeom>
              <a:avLst/>
              <a:gdLst/>
              <a:ahLst/>
              <a:cxnLst/>
              <a:rect r="r" b="b" t="t" l="l"/>
              <a:pathLst>
                <a:path h="146304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463040"/>
                  </a:lnTo>
                  <a:lnTo>
                    <a:pt x="0" y="14630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242072" r="0" b="-242072"/>
              </a:stretch>
            </a:blipFill>
          </p:spPr>
        </p:sp>
      </p:grpSp>
      <p:grpSp>
        <p:nvGrpSpPr>
          <p:cNvPr name="Group 5" id="5"/>
          <p:cNvGrpSpPr/>
          <p:nvPr/>
        </p:nvGrpSpPr>
        <p:grpSpPr>
          <a:xfrm rot="0">
            <a:off x="914400" y="907256"/>
            <a:ext cx="16459200" cy="1104424"/>
            <a:chOff x="0" y="0"/>
            <a:chExt cx="21945600" cy="1472565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21945600" cy="1472565"/>
            </a:xfrm>
            <a:custGeom>
              <a:avLst/>
              <a:gdLst/>
              <a:ahLst/>
              <a:cxnLst/>
              <a:rect r="r" b="b" t="t" l="l"/>
              <a:pathLst>
                <a:path h="1472565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472565"/>
                  </a:lnTo>
                  <a:lnTo>
                    <a:pt x="0" y="1472565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40182" r="0" b="-240183"/>
              </a:stretch>
            </a:blipFill>
          </p:spPr>
        </p:sp>
      </p:grpSp>
      <p:grpSp>
        <p:nvGrpSpPr>
          <p:cNvPr name="Group 7" id="7"/>
          <p:cNvGrpSpPr/>
          <p:nvPr/>
        </p:nvGrpSpPr>
        <p:grpSpPr>
          <a:xfrm rot="0">
            <a:off x="914400" y="900112"/>
            <a:ext cx="16459200" cy="1111568"/>
            <a:chOff x="0" y="0"/>
            <a:chExt cx="21945600" cy="148209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21945600" cy="1482090"/>
            </a:xfrm>
            <a:custGeom>
              <a:avLst/>
              <a:gdLst/>
              <a:ahLst/>
              <a:cxnLst/>
              <a:rect r="r" b="b" t="t" l="l"/>
              <a:pathLst>
                <a:path h="148209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482090"/>
                  </a:lnTo>
                  <a:lnTo>
                    <a:pt x="0" y="148209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38317" r="0" b="-238318"/>
              </a:stretch>
            </a:blipFill>
          </p:spPr>
        </p:sp>
      </p:grpSp>
      <p:grpSp>
        <p:nvGrpSpPr>
          <p:cNvPr name="Group 9" id="9"/>
          <p:cNvGrpSpPr/>
          <p:nvPr/>
        </p:nvGrpSpPr>
        <p:grpSpPr>
          <a:xfrm rot="0">
            <a:off x="914400" y="892969"/>
            <a:ext cx="16459200" cy="1118711"/>
            <a:chOff x="0" y="0"/>
            <a:chExt cx="21945600" cy="1491615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21945600" cy="1491615"/>
            </a:xfrm>
            <a:custGeom>
              <a:avLst/>
              <a:gdLst/>
              <a:ahLst/>
              <a:cxnLst/>
              <a:rect r="r" b="b" t="t" l="l"/>
              <a:pathLst>
                <a:path h="1491615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491615"/>
                  </a:lnTo>
                  <a:lnTo>
                    <a:pt x="0" y="1491615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236476" r="0" b="-236477"/>
              </a:stretch>
            </a:blipFill>
          </p:spPr>
        </p:sp>
      </p:grpSp>
      <p:grpSp>
        <p:nvGrpSpPr>
          <p:cNvPr name="Group 11" id="11"/>
          <p:cNvGrpSpPr/>
          <p:nvPr/>
        </p:nvGrpSpPr>
        <p:grpSpPr>
          <a:xfrm rot="0">
            <a:off x="914400" y="885825"/>
            <a:ext cx="16459200" cy="1125855"/>
            <a:chOff x="0" y="0"/>
            <a:chExt cx="21945600" cy="150114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21945600" cy="1501140"/>
            </a:xfrm>
            <a:custGeom>
              <a:avLst/>
              <a:gdLst/>
              <a:ahLst/>
              <a:cxnLst/>
              <a:rect r="r" b="b" t="t" l="l"/>
              <a:pathLst>
                <a:path h="150114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501140"/>
                  </a:lnTo>
                  <a:lnTo>
                    <a:pt x="0" y="1501140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l="0" t="-234659" r="0" b="-234659"/>
              </a:stretch>
            </a:blipFill>
          </p:spPr>
        </p:sp>
      </p:grpSp>
      <p:grpSp>
        <p:nvGrpSpPr>
          <p:cNvPr name="Group 13" id="13"/>
          <p:cNvGrpSpPr/>
          <p:nvPr/>
        </p:nvGrpSpPr>
        <p:grpSpPr>
          <a:xfrm rot="0">
            <a:off x="914400" y="878681"/>
            <a:ext cx="16459200" cy="1132999"/>
            <a:chOff x="0" y="0"/>
            <a:chExt cx="21945600" cy="1510665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21945600" cy="1510665"/>
            </a:xfrm>
            <a:custGeom>
              <a:avLst/>
              <a:gdLst/>
              <a:ahLst/>
              <a:cxnLst/>
              <a:rect r="r" b="b" t="t" l="l"/>
              <a:pathLst>
                <a:path h="1510665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510665"/>
                  </a:lnTo>
                  <a:lnTo>
                    <a:pt x="0" y="1510665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0" t="-232864" r="0" b="-232865"/>
              </a:stretch>
            </a:blipFill>
          </p:spPr>
        </p:sp>
      </p:grpSp>
      <p:grpSp>
        <p:nvGrpSpPr>
          <p:cNvPr name="Group 15" id="15"/>
          <p:cNvGrpSpPr/>
          <p:nvPr/>
        </p:nvGrpSpPr>
        <p:grpSpPr>
          <a:xfrm rot="0">
            <a:off x="914400" y="871538"/>
            <a:ext cx="16459200" cy="1140142"/>
            <a:chOff x="0" y="0"/>
            <a:chExt cx="21945600" cy="152019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21945600" cy="1520190"/>
            </a:xfrm>
            <a:custGeom>
              <a:avLst/>
              <a:gdLst/>
              <a:ahLst/>
              <a:cxnLst/>
              <a:rect r="r" b="b" t="t" l="l"/>
              <a:pathLst>
                <a:path h="152019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520190"/>
                  </a:lnTo>
                  <a:lnTo>
                    <a:pt x="0" y="1520190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0" t="-231287" r="0" b="-231287"/>
              </a:stretch>
            </a:blip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9525"/>
              <a:ext cx="21945600" cy="15297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6239"/>
                </a:lnSpc>
              </a:pPr>
              <a:r>
                <a:rPr lang="en-US" sz="5198" b="true">
                  <a:solidFill>
                    <a:srgbClr val="2E5634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Como o aplicativo foi examinado</a:t>
              </a:r>
            </a:p>
          </p:txBody>
        </p:sp>
      </p:grpSp>
      <p:sp>
        <p:nvSpPr>
          <p:cNvPr name="TextBox 18" id="18"/>
          <p:cNvSpPr txBox="true"/>
          <p:nvPr/>
        </p:nvSpPr>
        <p:spPr>
          <a:xfrm rot="0">
            <a:off x="914400" y="2402205"/>
            <a:ext cx="1828800" cy="13468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9118"/>
              </a:lnSpc>
            </a:pPr>
            <a:r>
              <a:rPr lang="en-US" sz="7598" b="true">
                <a:solidFill>
                  <a:srgbClr val="B1734A"/>
                </a:solidFill>
                <a:latin typeface="Cambria Bold"/>
                <a:ea typeface="Cambria Bold"/>
                <a:cs typeface="Cambria Bold"/>
                <a:sym typeface="Cambria Bold"/>
              </a:rPr>
              <a:t>01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914400" y="3773805"/>
            <a:ext cx="4023360" cy="4953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840"/>
              </a:lnSpc>
            </a:pPr>
            <a:r>
              <a:rPr lang="en-US" sz="3200" b="true">
                <a:solidFill>
                  <a:srgbClr val="2E5634"/>
                </a:solidFill>
                <a:latin typeface="Cambria Bold"/>
                <a:ea typeface="Cambria Bold"/>
                <a:cs typeface="Cambria Bold"/>
                <a:sym typeface="Cambria Bold"/>
              </a:rPr>
              <a:t>Verificação funcional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914400" y="4652391"/>
            <a:ext cx="3566160" cy="17964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98"/>
              </a:lnSpc>
            </a:pPr>
            <a:r>
              <a:rPr lang="en-US" sz="2499">
                <a:solidFill>
                  <a:srgbClr val="1B2A1F"/>
                </a:solidFill>
                <a:latin typeface="Calibri (MS)"/>
                <a:ea typeface="Calibri (MS)"/>
                <a:cs typeface="Calibri (MS)"/>
                <a:sym typeface="Calibri (MS)"/>
              </a:rPr>
              <a:t>Pelo autor, em set. e out. de 2026, no Redmi Note 13</a:t>
            </a:r>
          </a:p>
        </p:txBody>
      </p:sp>
      <p:grpSp>
        <p:nvGrpSpPr>
          <p:cNvPr name="Group 21" id="21"/>
          <p:cNvGrpSpPr/>
          <p:nvPr/>
        </p:nvGrpSpPr>
        <p:grpSpPr>
          <a:xfrm rot="0">
            <a:off x="5943600" y="2560320"/>
            <a:ext cx="548640" cy="1097280"/>
            <a:chOff x="0" y="0"/>
            <a:chExt cx="731520" cy="1463040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731520" cy="1463040"/>
            </a:xfrm>
            <a:custGeom>
              <a:avLst/>
              <a:gdLst/>
              <a:ahLst/>
              <a:cxnLst/>
              <a:rect r="r" b="b" t="t" l="l"/>
              <a:pathLst>
                <a:path h="1463040" w="731520">
                  <a:moveTo>
                    <a:pt x="0" y="0"/>
                  </a:moveTo>
                  <a:lnTo>
                    <a:pt x="731520" y="0"/>
                  </a:lnTo>
                  <a:lnTo>
                    <a:pt x="731520" y="1463040"/>
                  </a:lnTo>
                  <a:lnTo>
                    <a:pt x="0" y="14630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206786" t="0" r="-206784" b="0"/>
              </a:stretch>
            </a:blipFill>
          </p:spPr>
        </p:sp>
      </p:grpSp>
      <p:grpSp>
        <p:nvGrpSpPr>
          <p:cNvPr name="Group 23" id="23"/>
          <p:cNvGrpSpPr/>
          <p:nvPr/>
        </p:nvGrpSpPr>
        <p:grpSpPr>
          <a:xfrm rot="0">
            <a:off x="5943600" y="2467451"/>
            <a:ext cx="548640" cy="1190149"/>
            <a:chOff x="0" y="0"/>
            <a:chExt cx="731520" cy="1586865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731520" cy="1586865"/>
            </a:xfrm>
            <a:custGeom>
              <a:avLst/>
              <a:gdLst/>
              <a:ahLst/>
              <a:cxnLst/>
              <a:rect r="r" b="b" t="t" l="l"/>
              <a:pathLst>
                <a:path h="1586865" w="731520">
                  <a:moveTo>
                    <a:pt x="0" y="0"/>
                  </a:moveTo>
                  <a:lnTo>
                    <a:pt x="731520" y="0"/>
                  </a:lnTo>
                  <a:lnTo>
                    <a:pt x="731520" y="1586865"/>
                  </a:lnTo>
                  <a:lnTo>
                    <a:pt x="0" y="1586865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228519" t="0" r="-228519" b="0"/>
              </a:stretch>
            </a:blipFill>
          </p:spPr>
        </p:sp>
      </p:grpSp>
      <p:grpSp>
        <p:nvGrpSpPr>
          <p:cNvPr name="Group 25" id="25"/>
          <p:cNvGrpSpPr/>
          <p:nvPr/>
        </p:nvGrpSpPr>
        <p:grpSpPr>
          <a:xfrm rot="0">
            <a:off x="5943600" y="2374583"/>
            <a:ext cx="548640" cy="1283018"/>
            <a:chOff x="0" y="0"/>
            <a:chExt cx="731520" cy="1710690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731520" cy="1710690"/>
            </a:xfrm>
            <a:custGeom>
              <a:avLst/>
              <a:gdLst/>
              <a:ahLst/>
              <a:cxnLst/>
              <a:rect r="r" b="b" t="t" l="l"/>
              <a:pathLst>
                <a:path h="1710690" w="731520">
                  <a:moveTo>
                    <a:pt x="0" y="0"/>
                  </a:moveTo>
                  <a:lnTo>
                    <a:pt x="731520" y="0"/>
                  </a:lnTo>
                  <a:lnTo>
                    <a:pt x="731520" y="1710690"/>
                  </a:lnTo>
                  <a:lnTo>
                    <a:pt x="0" y="171069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250251" t="0" r="-250251" b="0"/>
              </a:stretch>
            </a:blipFill>
          </p:spPr>
        </p:sp>
      </p:grpSp>
      <p:grpSp>
        <p:nvGrpSpPr>
          <p:cNvPr name="Group 27" id="27"/>
          <p:cNvGrpSpPr/>
          <p:nvPr/>
        </p:nvGrpSpPr>
        <p:grpSpPr>
          <a:xfrm rot="0">
            <a:off x="5943600" y="2281714"/>
            <a:ext cx="548640" cy="1375886"/>
            <a:chOff x="0" y="0"/>
            <a:chExt cx="731520" cy="1834515"/>
          </a:xfrm>
        </p:grpSpPr>
        <p:sp>
          <p:nvSpPr>
            <p:cNvPr name="Freeform 28" id="28"/>
            <p:cNvSpPr/>
            <p:nvPr/>
          </p:nvSpPr>
          <p:spPr>
            <a:xfrm flipH="false" flipV="false" rot="0">
              <a:off x="0" y="0"/>
              <a:ext cx="731520" cy="1834515"/>
            </a:xfrm>
            <a:custGeom>
              <a:avLst/>
              <a:gdLst/>
              <a:ahLst/>
              <a:cxnLst/>
              <a:rect r="r" b="b" t="t" l="l"/>
              <a:pathLst>
                <a:path h="1834515" w="731520">
                  <a:moveTo>
                    <a:pt x="0" y="0"/>
                  </a:moveTo>
                  <a:lnTo>
                    <a:pt x="731520" y="0"/>
                  </a:lnTo>
                  <a:lnTo>
                    <a:pt x="731520" y="1834515"/>
                  </a:lnTo>
                  <a:lnTo>
                    <a:pt x="0" y="1834515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-271984" t="0" r="-271986" b="0"/>
              </a:stretch>
            </a:blipFill>
          </p:spPr>
        </p:sp>
      </p:grpSp>
      <p:grpSp>
        <p:nvGrpSpPr>
          <p:cNvPr name="Group 29" id="29"/>
          <p:cNvGrpSpPr/>
          <p:nvPr/>
        </p:nvGrpSpPr>
        <p:grpSpPr>
          <a:xfrm rot="0">
            <a:off x="5943600" y="2188845"/>
            <a:ext cx="548640" cy="1468755"/>
            <a:chOff x="0" y="0"/>
            <a:chExt cx="731520" cy="1958340"/>
          </a:xfrm>
        </p:grpSpPr>
        <p:sp>
          <p:nvSpPr>
            <p:cNvPr name="Freeform 30" id="30"/>
            <p:cNvSpPr/>
            <p:nvPr/>
          </p:nvSpPr>
          <p:spPr>
            <a:xfrm flipH="false" flipV="false" rot="0">
              <a:off x="0" y="0"/>
              <a:ext cx="731520" cy="1958340"/>
            </a:xfrm>
            <a:custGeom>
              <a:avLst/>
              <a:gdLst/>
              <a:ahLst/>
              <a:cxnLst/>
              <a:rect r="r" b="b" t="t" l="l"/>
              <a:pathLst>
                <a:path h="1958340" w="731520">
                  <a:moveTo>
                    <a:pt x="0" y="0"/>
                  </a:moveTo>
                  <a:lnTo>
                    <a:pt x="731520" y="0"/>
                  </a:lnTo>
                  <a:lnTo>
                    <a:pt x="731520" y="1958340"/>
                  </a:lnTo>
                  <a:lnTo>
                    <a:pt x="0" y="1958340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l="-293718" t="0" r="-293718" b="0"/>
              </a:stretch>
            </a:blipFill>
          </p:spPr>
        </p:sp>
      </p:grpSp>
      <p:grpSp>
        <p:nvGrpSpPr>
          <p:cNvPr name="Group 31" id="31"/>
          <p:cNvGrpSpPr/>
          <p:nvPr/>
        </p:nvGrpSpPr>
        <p:grpSpPr>
          <a:xfrm rot="0">
            <a:off x="4526280" y="2095976"/>
            <a:ext cx="548640" cy="1561624"/>
            <a:chOff x="0" y="0"/>
            <a:chExt cx="731520" cy="2082165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0" y="0"/>
              <a:ext cx="731520" cy="2082165"/>
            </a:xfrm>
            <a:custGeom>
              <a:avLst/>
              <a:gdLst/>
              <a:ahLst/>
              <a:cxnLst/>
              <a:rect r="r" b="b" t="t" l="l"/>
              <a:pathLst>
                <a:path h="2082165" w="731520">
                  <a:moveTo>
                    <a:pt x="0" y="0"/>
                  </a:moveTo>
                  <a:lnTo>
                    <a:pt x="731520" y="0"/>
                  </a:lnTo>
                  <a:lnTo>
                    <a:pt x="731520" y="2082165"/>
                  </a:lnTo>
                  <a:lnTo>
                    <a:pt x="0" y="2082165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-315451" t="0" r="-315451" b="0"/>
              </a:stretch>
            </a:blipFill>
          </p:spPr>
        </p:sp>
      </p:grpSp>
      <p:grpSp>
        <p:nvGrpSpPr>
          <p:cNvPr name="Group 33" id="33"/>
          <p:cNvGrpSpPr/>
          <p:nvPr/>
        </p:nvGrpSpPr>
        <p:grpSpPr>
          <a:xfrm rot="0">
            <a:off x="4526280" y="2003108"/>
            <a:ext cx="548640" cy="1654492"/>
            <a:chOff x="0" y="0"/>
            <a:chExt cx="731520" cy="2205990"/>
          </a:xfrm>
        </p:grpSpPr>
        <p:sp>
          <p:nvSpPr>
            <p:cNvPr name="Freeform 34" id="34"/>
            <p:cNvSpPr/>
            <p:nvPr/>
          </p:nvSpPr>
          <p:spPr>
            <a:xfrm flipH="false" flipV="false" rot="0">
              <a:off x="0" y="0"/>
              <a:ext cx="731520" cy="2205990"/>
            </a:xfrm>
            <a:custGeom>
              <a:avLst/>
              <a:gdLst/>
              <a:ahLst/>
              <a:cxnLst/>
              <a:rect r="r" b="b" t="t" l="l"/>
              <a:pathLst>
                <a:path h="2205990" w="731520">
                  <a:moveTo>
                    <a:pt x="0" y="0"/>
                  </a:moveTo>
                  <a:lnTo>
                    <a:pt x="731520" y="0"/>
                  </a:lnTo>
                  <a:lnTo>
                    <a:pt x="731520" y="2205990"/>
                  </a:lnTo>
                  <a:lnTo>
                    <a:pt x="0" y="2205990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-336915" t="0" r="-336915" b="0"/>
              </a:stretch>
            </a:blipFill>
          </p:spPr>
        </p:sp>
        <p:sp>
          <p:nvSpPr>
            <p:cNvPr name="TextBox 35" id="35"/>
            <p:cNvSpPr txBox="true"/>
            <p:nvPr/>
          </p:nvSpPr>
          <p:spPr>
            <a:xfrm>
              <a:off x="0" y="-123825"/>
              <a:ext cx="731520" cy="23298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7200"/>
                </a:lnSpc>
              </a:pPr>
              <a:r>
                <a:rPr lang="en-US" sz="6000">
                  <a:solidFill>
                    <a:srgbClr val="A9B8A6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›</a:t>
              </a:r>
            </a:p>
          </p:txBody>
        </p:sp>
      </p:grpSp>
      <p:sp>
        <p:nvSpPr>
          <p:cNvPr name="TextBox 36" id="36"/>
          <p:cNvSpPr txBox="true"/>
          <p:nvPr/>
        </p:nvSpPr>
        <p:spPr>
          <a:xfrm rot="0">
            <a:off x="5120640" y="2402205"/>
            <a:ext cx="1828800" cy="13468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9118"/>
              </a:lnSpc>
            </a:pPr>
            <a:r>
              <a:rPr lang="en-US" sz="7598" b="true">
                <a:solidFill>
                  <a:srgbClr val="B1734A"/>
                </a:solidFill>
                <a:latin typeface="Cambria Bold"/>
                <a:ea typeface="Cambria Bold"/>
                <a:cs typeface="Cambria Bold"/>
                <a:sym typeface="Cambria Bold"/>
              </a:rPr>
              <a:t>02</a:t>
            </a:r>
          </a:p>
        </p:txBody>
      </p:sp>
      <p:sp>
        <p:nvSpPr>
          <p:cNvPr name="TextBox 37" id="37"/>
          <p:cNvSpPr txBox="true"/>
          <p:nvPr/>
        </p:nvSpPr>
        <p:spPr>
          <a:xfrm rot="0">
            <a:off x="5120640" y="3773805"/>
            <a:ext cx="3840480" cy="7067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840"/>
              </a:lnSpc>
            </a:pPr>
            <a:r>
              <a:rPr lang="en-US" sz="3200" b="true">
                <a:solidFill>
                  <a:srgbClr val="2E5634"/>
                </a:solidFill>
                <a:latin typeface="Cambria Bold"/>
                <a:ea typeface="Cambria Bold"/>
                <a:cs typeface="Cambria Bold"/>
                <a:sym typeface="Cambria Bold"/>
              </a:rPr>
              <a:t>Análise estática</a:t>
            </a:r>
          </a:p>
        </p:txBody>
      </p:sp>
      <p:sp>
        <p:nvSpPr>
          <p:cNvPr name="TextBox 38" id="38"/>
          <p:cNvSpPr txBox="true"/>
          <p:nvPr/>
        </p:nvSpPr>
        <p:spPr>
          <a:xfrm rot="0">
            <a:off x="5120640" y="4652391"/>
            <a:ext cx="3566160" cy="17964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98"/>
              </a:lnSpc>
            </a:pPr>
            <a:r>
              <a:rPr lang="en-US" sz="2499">
                <a:solidFill>
                  <a:srgbClr val="1B2A1F"/>
                </a:solidFill>
                <a:latin typeface="Calibri (MS)"/>
                <a:ea typeface="Calibri (MS)"/>
                <a:cs typeface="Calibri (MS)"/>
                <a:sym typeface="Calibri (MS)"/>
              </a:rPr>
              <a:t>MobSF 4.5.4, em 14/10/2026</a:t>
            </a:r>
          </a:p>
        </p:txBody>
      </p:sp>
      <p:grpSp>
        <p:nvGrpSpPr>
          <p:cNvPr name="Group 39" id="39"/>
          <p:cNvGrpSpPr/>
          <p:nvPr/>
        </p:nvGrpSpPr>
        <p:grpSpPr>
          <a:xfrm rot="0">
            <a:off x="11612880" y="2560320"/>
            <a:ext cx="548640" cy="1097280"/>
            <a:chOff x="0" y="0"/>
            <a:chExt cx="731520" cy="1463040"/>
          </a:xfrm>
        </p:grpSpPr>
        <p:sp>
          <p:nvSpPr>
            <p:cNvPr name="Freeform 40" id="40"/>
            <p:cNvSpPr/>
            <p:nvPr/>
          </p:nvSpPr>
          <p:spPr>
            <a:xfrm flipH="false" flipV="false" rot="0">
              <a:off x="0" y="0"/>
              <a:ext cx="731520" cy="1463040"/>
            </a:xfrm>
            <a:custGeom>
              <a:avLst/>
              <a:gdLst/>
              <a:ahLst/>
              <a:cxnLst/>
              <a:rect r="r" b="b" t="t" l="l"/>
              <a:pathLst>
                <a:path h="1463040" w="731520">
                  <a:moveTo>
                    <a:pt x="0" y="0"/>
                  </a:moveTo>
                  <a:lnTo>
                    <a:pt x="731520" y="0"/>
                  </a:lnTo>
                  <a:lnTo>
                    <a:pt x="731520" y="1463040"/>
                  </a:lnTo>
                  <a:lnTo>
                    <a:pt x="0" y="14630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206786" t="0" r="-206784" b="0"/>
              </a:stretch>
            </a:blipFill>
          </p:spPr>
        </p:sp>
      </p:grpSp>
      <p:grpSp>
        <p:nvGrpSpPr>
          <p:cNvPr name="Group 41" id="41"/>
          <p:cNvGrpSpPr/>
          <p:nvPr/>
        </p:nvGrpSpPr>
        <p:grpSpPr>
          <a:xfrm rot="0">
            <a:off x="11612880" y="2467451"/>
            <a:ext cx="548640" cy="1190149"/>
            <a:chOff x="0" y="0"/>
            <a:chExt cx="731520" cy="1586865"/>
          </a:xfrm>
        </p:grpSpPr>
        <p:sp>
          <p:nvSpPr>
            <p:cNvPr name="Freeform 42" id="42"/>
            <p:cNvSpPr/>
            <p:nvPr/>
          </p:nvSpPr>
          <p:spPr>
            <a:xfrm flipH="false" flipV="false" rot="0">
              <a:off x="0" y="0"/>
              <a:ext cx="731520" cy="1586865"/>
            </a:xfrm>
            <a:custGeom>
              <a:avLst/>
              <a:gdLst/>
              <a:ahLst/>
              <a:cxnLst/>
              <a:rect r="r" b="b" t="t" l="l"/>
              <a:pathLst>
                <a:path h="1586865" w="731520">
                  <a:moveTo>
                    <a:pt x="0" y="0"/>
                  </a:moveTo>
                  <a:lnTo>
                    <a:pt x="731520" y="0"/>
                  </a:lnTo>
                  <a:lnTo>
                    <a:pt x="731520" y="1586865"/>
                  </a:lnTo>
                  <a:lnTo>
                    <a:pt x="0" y="1586865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228519" t="0" r="-228519" b="0"/>
              </a:stretch>
            </a:blipFill>
          </p:spPr>
        </p:sp>
      </p:grpSp>
      <p:grpSp>
        <p:nvGrpSpPr>
          <p:cNvPr name="Group 43" id="43"/>
          <p:cNvGrpSpPr/>
          <p:nvPr/>
        </p:nvGrpSpPr>
        <p:grpSpPr>
          <a:xfrm rot="0">
            <a:off x="11612880" y="2374583"/>
            <a:ext cx="548640" cy="1283018"/>
            <a:chOff x="0" y="0"/>
            <a:chExt cx="731520" cy="1710690"/>
          </a:xfrm>
        </p:grpSpPr>
        <p:sp>
          <p:nvSpPr>
            <p:cNvPr name="Freeform 44" id="44"/>
            <p:cNvSpPr/>
            <p:nvPr/>
          </p:nvSpPr>
          <p:spPr>
            <a:xfrm flipH="false" flipV="false" rot="0">
              <a:off x="0" y="0"/>
              <a:ext cx="731520" cy="1710690"/>
            </a:xfrm>
            <a:custGeom>
              <a:avLst/>
              <a:gdLst/>
              <a:ahLst/>
              <a:cxnLst/>
              <a:rect r="r" b="b" t="t" l="l"/>
              <a:pathLst>
                <a:path h="1710690" w="731520">
                  <a:moveTo>
                    <a:pt x="0" y="0"/>
                  </a:moveTo>
                  <a:lnTo>
                    <a:pt x="731520" y="0"/>
                  </a:lnTo>
                  <a:lnTo>
                    <a:pt x="731520" y="1710690"/>
                  </a:lnTo>
                  <a:lnTo>
                    <a:pt x="0" y="171069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250251" t="0" r="-250251" b="0"/>
              </a:stretch>
            </a:blipFill>
          </p:spPr>
        </p:sp>
      </p:grpSp>
      <p:grpSp>
        <p:nvGrpSpPr>
          <p:cNvPr name="Group 45" id="45"/>
          <p:cNvGrpSpPr/>
          <p:nvPr/>
        </p:nvGrpSpPr>
        <p:grpSpPr>
          <a:xfrm rot="0">
            <a:off x="11612880" y="2281714"/>
            <a:ext cx="548640" cy="1375886"/>
            <a:chOff x="0" y="0"/>
            <a:chExt cx="731520" cy="1834515"/>
          </a:xfrm>
        </p:grpSpPr>
        <p:sp>
          <p:nvSpPr>
            <p:cNvPr name="Freeform 46" id="46"/>
            <p:cNvSpPr/>
            <p:nvPr/>
          </p:nvSpPr>
          <p:spPr>
            <a:xfrm flipH="false" flipV="false" rot="0">
              <a:off x="0" y="0"/>
              <a:ext cx="731520" cy="1834515"/>
            </a:xfrm>
            <a:custGeom>
              <a:avLst/>
              <a:gdLst/>
              <a:ahLst/>
              <a:cxnLst/>
              <a:rect r="r" b="b" t="t" l="l"/>
              <a:pathLst>
                <a:path h="1834515" w="731520">
                  <a:moveTo>
                    <a:pt x="0" y="0"/>
                  </a:moveTo>
                  <a:lnTo>
                    <a:pt x="731520" y="0"/>
                  </a:lnTo>
                  <a:lnTo>
                    <a:pt x="731520" y="1834515"/>
                  </a:lnTo>
                  <a:lnTo>
                    <a:pt x="0" y="1834515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-271984" t="0" r="-271986" b="0"/>
              </a:stretch>
            </a:blipFill>
          </p:spPr>
        </p:sp>
      </p:grpSp>
      <p:grpSp>
        <p:nvGrpSpPr>
          <p:cNvPr name="Group 47" id="47"/>
          <p:cNvGrpSpPr/>
          <p:nvPr/>
        </p:nvGrpSpPr>
        <p:grpSpPr>
          <a:xfrm rot="0">
            <a:off x="11612880" y="2188845"/>
            <a:ext cx="548640" cy="1468755"/>
            <a:chOff x="0" y="0"/>
            <a:chExt cx="731520" cy="1958340"/>
          </a:xfrm>
        </p:grpSpPr>
        <p:sp>
          <p:nvSpPr>
            <p:cNvPr name="Freeform 48" id="48"/>
            <p:cNvSpPr/>
            <p:nvPr/>
          </p:nvSpPr>
          <p:spPr>
            <a:xfrm flipH="false" flipV="false" rot="0">
              <a:off x="0" y="0"/>
              <a:ext cx="731520" cy="1958340"/>
            </a:xfrm>
            <a:custGeom>
              <a:avLst/>
              <a:gdLst/>
              <a:ahLst/>
              <a:cxnLst/>
              <a:rect r="r" b="b" t="t" l="l"/>
              <a:pathLst>
                <a:path h="1958340" w="731520">
                  <a:moveTo>
                    <a:pt x="0" y="0"/>
                  </a:moveTo>
                  <a:lnTo>
                    <a:pt x="731520" y="0"/>
                  </a:lnTo>
                  <a:lnTo>
                    <a:pt x="731520" y="1958340"/>
                  </a:lnTo>
                  <a:lnTo>
                    <a:pt x="0" y="1958340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l="-293718" t="0" r="-293718" b="0"/>
              </a:stretch>
            </a:blipFill>
          </p:spPr>
        </p:sp>
      </p:grpSp>
      <p:grpSp>
        <p:nvGrpSpPr>
          <p:cNvPr name="Group 49" id="49"/>
          <p:cNvGrpSpPr/>
          <p:nvPr/>
        </p:nvGrpSpPr>
        <p:grpSpPr>
          <a:xfrm rot="0">
            <a:off x="8732520" y="2095976"/>
            <a:ext cx="548640" cy="1561624"/>
            <a:chOff x="0" y="0"/>
            <a:chExt cx="731520" cy="2082165"/>
          </a:xfrm>
        </p:grpSpPr>
        <p:sp>
          <p:nvSpPr>
            <p:cNvPr name="Freeform 50" id="50"/>
            <p:cNvSpPr/>
            <p:nvPr/>
          </p:nvSpPr>
          <p:spPr>
            <a:xfrm flipH="false" flipV="false" rot="0">
              <a:off x="0" y="0"/>
              <a:ext cx="731520" cy="2082165"/>
            </a:xfrm>
            <a:custGeom>
              <a:avLst/>
              <a:gdLst/>
              <a:ahLst/>
              <a:cxnLst/>
              <a:rect r="r" b="b" t="t" l="l"/>
              <a:pathLst>
                <a:path h="2082165" w="731520">
                  <a:moveTo>
                    <a:pt x="0" y="0"/>
                  </a:moveTo>
                  <a:lnTo>
                    <a:pt x="731520" y="0"/>
                  </a:lnTo>
                  <a:lnTo>
                    <a:pt x="731520" y="2082165"/>
                  </a:lnTo>
                  <a:lnTo>
                    <a:pt x="0" y="2082165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-315451" t="0" r="-315451" b="0"/>
              </a:stretch>
            </a:blipFill>
          </p:spPr>
        </p:sp>
      </p:grpSp>
      <p:grpSp>
        <p:nvGrpSpPr>
          <p:cNvPr name="Group 51" id="51"/>
          <p:cNvGrpSpPr/>
          <p:nvPr/>
        </p:nvGrpSpPr>
        <p:grpSpPr>
          <a:xfrm rot="0">
            <a:off x="8732520" y="2003108"/>
            <a:ext cx="548640" cy="1654492"/>
            <a:chOff x="0" y="0"/>
            <a:chExt cx="731520" cy="2205990"/>
          </a:xfrm>
        </p:grpSpPr>
        <p:sp>
          <p:nvSpPr>
            <p:cNvPr name="Freeform 52" id="52"/>
            <p:cNvSpPr/>
            <p:nvPr/>
          </p:nvSpPr>
          <p:spPr>
            <a:xfrm flipH="false" flipV="false" rot="0">
              <a:off x="0" y="0"/>
              <a:ext cx="731520" cy="2205990"/>
            </a:xfrm>
            <a:custGeom>
              <a:avLst/>
              <a:gdLst/>
              <a:ahLst/>
              <a:cxnLst/>
              <a:rect r="r" b="b" t="t" l="l"/>
              <a:pathLst>
                <a:path h="2205990" w="731520">
                  <a:moveTo>
                    <a:pt x="0" y="0"/>
                  </a:moveTo>
                  <a:lnTo>
                    <a:pt x="731520" y="0"/>
                  </a:lnTo>
                  <a:lnTo>
                    <a:pt x="731520" y="2205990"/>
                  </a:lnTo>
                  <a:lnTo>
                    <a:pt x="0" y="2205990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-336915" t="0" r="-336915" b="0"/>
              </a:stretch>
            </a:blipFill>
          </p:spPr>
        </p:sp>
        <p:sp>
          <p:nvSpPr>
            <p:cNvPr name="TextBox 53" id="53"/>
            <p:cNvSpPr txBox="true"/>
            <p:nvPr/>
          </p:nvSpPr>
          <p:spPr>
            <a:xfrm>
              <a:off x="0" y="-123825"/>
              <a:ext cx="731520" cy="23298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7200"/>
                </a:lnSpc>
              </a:pPr>
              <a:r>
                <a:rPr lang="en-US" sz="6000">
                  <a:solidFill>
                    <a:srgbClr val="A9B8A6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›</a:t>
              </a:r>
            </a:p>
          </p:txBody>
        </p:sp>
      </p:grpSp>
      <p:grpSp>
        <p:nvGrpSpPr>
          <p:cNvPr name="Group 54" id="54"/>
          <p:cNvGrpSpPr/>
          <p:nvPr/>
        </p:nvGrpSpPr>
        <p:grpSpPr>
          <a:xfrm rot="0">
            <a:off x="12938760" y="2095976"/>
            <a:ext cx="548640" cy="1561624"/>
            <a:chOff x="0" y="0"/>
            <a:chExt cx="731520" cy="2082165"/>
          </a:xfrm>
        </p:grpSpPr>
        <p:sp>
          <p:nvSpPr>
            <p:cNvPr name="Freeform 55" id="55"/>
            <p:cNvSpPr/>
            <p:nvPr/>
          </p:nvSpPr>
          <p:spPr>
            <a:xfrm flipH="false" flipV="false" rot="0">
              <a:off x="0" y="0"/>
              <a:ext cx="731520" cy="2082165"/>
            </a:xfrm>
            <a:custGeom>
              <a:avLst/>
              <a:gdLst/>
              <a:ahLst/>
              <a:cxnLst/>
              <a:rect r="r" b="b" t="t" l="l"/>
              <a:pathLst>
                <a:path h="2082165" w="731520">
                  <a:moveTo>
                    <a:pt x="0" y="0"/>
                  </a:moveTo>
                  <a:lnTo>
                    <a:pt x="731520" y="0"/>
                  </a:lnTo>
                  <a:lnTo>
                    <a:pt x="731520" y="2082165"/>
                  </a:lnTo>
                  <a:lnTo>
                    <a:pt x="0" y="2082165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-315451" t="0" r="-315451" b="0"/>
              </a:stretch>
            </a:blipFill>
          </p:spPr>
        </p:sp>
      </p:grpSp>
      <p:grpSp>
        <p:nvGrpSpPr>
          <p:cNvPr name="Group 56" id="56"/>
          <p:cNvGrpSpPr/>
          <p:nvPr/>
        </p:nvGrpSpPr>
        <p:grpSpPr>
          <a:xfrm rot="0">
            <a:off x="12938760" y="2003108"/>
            <a:ext cx="548640" cy="1654492"/>
            <a:chOff x="0" y="0"/>
            <a:chExt cx="731520" cy="2205990"/>
          </a:xfrm>
        </p:grpSpPr>
        <p:sp>
          <p:nvSpPr>
            <p:cNvPr name="Freeform 57" id="57"/>
            <p:cNvSpPr/>
            <p:nvPr/>
          </p:nvSpPr>
          <p:spPr>
            <a:xfrm flipH="false" flipV="false" rot="0">
              <a:off x="0" y="0"/>
              <a:ext cx="731520" cy="2205990"/>
            </a:xfrm>
            <a:custGeom>
              <a:avLst/>
              <a:gdLst/>
              <a:ahLst/>
              <a:cxnLst/>
              <a:rect r="r" b="b" t="t" l="l"/>
              <a:pathLst>
                <a:path h="2205990" w="731520">
                  <a:moveTo>
                    <a:pt x="0" y="0"/>
                  </a:moveTo>
                  <a:lnTo>
                    <a:pt x="731520" y="0"/>
                  </a:lnTo>
                  <a:lnTo>
                    <a:pt x="731520" y="2205990"/>
                  </a:lnTo>
                  <a:lnTo>
                    <a:pt x="0" y="2205990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-336915" t="0" r="-336915" b="0"/>
              </a:stretch>
            </a:blipFill>
          </p:spPr>
        </p:sp>
        <p:sp>
          <p:nvSpPr>
            <p:cNvPr name="TextBox 58" id="58"/>
            <p:cNvSpPr txBox="true"/>
            <p:nvPr/>
          </p:nvSpPr>
          <p:spPr>
            <a:xfrm>
              <a:off x="0" y="-123825"/>
              <a:ext cx="731520" cy="23298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7200"/>
                </a:lnSpc>
              </a:pPr>
              <a:r>
                <a:rPr lang="en-US" sz="6000">
                  <a:solidFill>
                    <a:srgbClr val="A9B8A6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›</a:t>
              </a:r>
            </a:p>
          </p:txBody>
        </p:sp>
      </p:grpSp>
      <p:sp>
        <p:nvSpPr>
          <p:cNvPr name="TextBox 59" id="59"/>
          <p:cNvSpPr txBox="true"/>
          <p:nvPr/>
        </p:nvSpPr>
        <p:spPr>
          <a:xfrm rot="0">
            <a:off x="9326880" y="2402205"/>
            <a:ext cx="1828800" cy="13468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9118"/>
              </a:lnSpc>
            </a:pPr>
            <a:r>
              <a:rPr lang="en-US" sz="7598" b="true">
                <a:solidFill>
                  <a:srgbClr val="B1734A"/>
                </a:solidFill>
                <a:latin typeface="Cambria Bold"/>
                <a:ea typeface="Cambria Bold"/>
                <a:cs typeface="Cambria Bold"/>
                <a:sym typeface="Cambria Bold"/>
              </a:rPr>
              <a:t>03</a:t>
            </a:r>
          </a:p>
        </p:txBody>
      </p:sp>
      <p:sp>
        <p:nvSpPr>
          <p:cNvPr name="TextBox 60" id="60"/>
          <p:cNvSpPr txBox="true"/>
          <p:nvPr/>
        </p:nvSpPr>
        <p:spPr>
          <a:xfrm rot="0">
            <a:off x="13533120" y="2402205"/>
            <a:ext cx="1828800" cy="13468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9118"/>
              </a:lnSpc>
            </a:pPr>
            <a:r>
              <a:rPr lang="en-US" sz="7598" b="true">
                <a:solidFill>
                  <a:srgbClr val="B1734A"/>
                </a:solidFill>
                <a:latin typeface="Cambria Bold"/>
                <a:ea typeface="Cambria Bold"/>
                <a:cs typeface="Cambria Bold"/>
                <a:sym typeface="Cambria Bold"/>
              </a:rPr>
              <a:t>04</a:t>
            </a:r>
          </a:p>
        </p:txBody>
      </p:sp>
      <p:sp>
        <p:nvSpPr>
          <p:cNvPr name="TextBox 61" id="61"/>
          <p:cNvSpPr txBox="true"/>
          <p:nvPr/>
        </p:nvSpPr>
        <p:spPr>
          <a:xfrm rot="0">
            <a:off x="9326880" y="3773805"/>
            <a:ext cx="3840480" cy="7067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840"/>
              </a:lnSpc>
            </a:pPr>
            <a:r>
              <a:rPr lang="en-US" sz="3200" b="true">
                <a:solidFill>
                  <a:srgbClr val="2E5634"/>
                </a:solidFill>
                <a:latin typeface="Cambria Bold"/>
                <a:ea typeface="Cambria Bold"/>
                <a:cs typeface="Cambria Bold"/>
                <a:sym typeface="Cambria Bold"/>
              </a:rPr>
              <a:t>Usabilidade</a:t>
            </a:r>
          </a:p>
        </p:txBody>
      </p:sp>
      <p:sp>
        <p:nvSpPr>
          <p:cNvPr name="TextBox 62" id="62"/>
          <p:cNvSpPr txBox="true"/>
          <p:nvPr/>
        </p:nvSpPr>
        <p:spPr>
          <a:xfrm rot="0">
            <a:off x="13533120" y="3773805"/>
            <a:ext cx="3840480" cy="7067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840"/>
              </a:lnSpc>
            </a:pPr>
            <a:r>
              <a:rPr lang="en-US" sz="3200" b="true">
                <a:solidFill>
                  <a:srgbClr val="2E5634"/>
                </a:solidFill>
                <a:latin typeface="Cambria Bold"/>
                <a:ea typeface="Cambria Bold"/>
                <a:cs typeface="Cambria Bold"/>
                <a:sym typeface="Cambria Bold"/>
              </a:rPr>
              <a:t>Correspondência</a:t>
            </a:r>
          </a:p>
        </p:txBody>
      </p:sp>
      <p:sp>
        <p:nvSpPr>
          <p:cNvPr name="TextBox 63" id="63"/>
          <p:cNvSpPr txBox="true"/>
          <p:nvPr/>
        </p:nvSpPr>
        <p:spPr>
          <a:xfrm rot="0">
            <a:off x="9326880" y="4652391"/>
            <a:ext cx="3566160" cy="17964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98"/>
              </a:lnSpc>
            </a:pPr>
            <a:r>
              <a:rPr lang="en-US" sz="2499">
                <a:solidFill>
                  <a:srgbClr val="1B2A1F"/>
                </a:solidFill>
                <a:latin typeface="Calibri (MS)"/>
                <a:ea typeface="Calibri (MS)"/>
                <a:cs typeface="Calibri (MS)"/>
                <a:sym typeface="Calibri (MS)"/>
              </a:rPr>
              <a:t>12 tutores, 5 tarefas e SUS</a:t>
            </a:r>
          </a:p>
        </p:txBody>
      </p:sp>
      <p:sp>
        <p:nvSpPr>
          <p:cNvPr name="TextBox 64" id="64"/>
          <p:cNvSpPr txBox="true"/>
          <p:nvPr/>
        </p:nvSpPr>
        <p:spPr>
          <a:xfrm rot="0">
            <a:off x="13533120" y="4652391"/>
            <a:ext cx="3566160" cy="17964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98"/>
              </a:lnSpc>
            </a:pPr>
            <a:r>
              <a:rPr lang="en-US" sz="2499">
                <a:solidFill>
                  <a:srgbClr val="1B2A1F"/>
                </a:solidFill>
                <a:latin typeface="Calibri (MS)"/>
                <a:ea typeface="Calibri (MS)"/>
                <a:cs typeface="Calibri (MS)"/>
                <a:sym typeface="Calibri (MS)"/>
              </a:rPr>
              <a:t>20 pares fictícios, em 16/10/2026</a:t>
            </a:r>
          </a:p>
        </p:txBody>
      </p:sp>
      <p:sp>
        <p:nvSpPr>
          <p:cNvPr name="TextBox 65" id="65"/>
          <p:cNvSpPr txBox="true"/>
          <p:nvPr/>
        </p:nvSpPr>
        <p:spPr>
          <a:xfrm rot="0">
            <a:off x="16459200" y="9471660"/>
            <a:ext cx="914400" cy="3810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400"/>
              </a:lnSpc>
            </a:pPr>
            <a:r>
              <a:rPr lang="en-US" sz="2000">
                <a:solidFill>
                  <a:srgbClr val="5B6B5F"/>
                </a:solidFill>
                <a:latin typeface="Calibri (MS)"/>
                <a:ea typeface="Calibri (MS)"/>
                <a:cs typeface="Calibri (MS)"/>
                <a:sym typeface="Calibri (MS)"/>
              </a:rPr>
              <a:t>31</a:t>
            </a:r>
          </a:p>
        </p:txBody>
      </p:sp>
      <p:grpSp>
        <p:nvGrpSpPr>
          <p:cNvPr name="Group 66" id="66"/>
          <p:cNvGrpSpPr/>
          <p:nvPr/>
        </p:nvGrpSpPr>
        <p:grpSpPr>
          <a:xfrm rot="0">
            <a:off x="822960" y="9572625"/>
            <a:ext cx="8229600" cy="440055"/>
            <a:chOff x="0" y="0"/>
            <a:chExt cx="10972800" cy="586740"/>
          </a:xfrm>
        </p:grpSpPr>
        <p:sp>
          <p:nvSpPr>
            <p:cNvPr name="Freeform 67" id="67"/>
            <p:cNvSpPr/>
            <p:nvPr/>
          </p:nvSpPr>
          <p:spPr>
            <a:xfrm flipH="false" flipV="false" rot="0">
              <a:off x="0" y="0"/>
              <a:ext cx="10972800" cy="586740"/>
            </a:xfrm>
            <a:custGeom>
              <a:avLst/>
              <a:gdLst/>
              <a:ahLst/>
              <a:cxnLst/>
              <a:rect r="r" b="b" t="t" l="l"/>
              <a:pathLst>
                <a:path h="5867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586740"/>
                  </a:lnTo>
                  <a:lnTo>
                    <a:pt x="0" y="5867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314142" r="0" b="-314140"/>
              </a:stretch>
            </a:blipFill>
          </p:spPr>
        </p:sp>
      </p:grpSp>
      <p:grpSp>
        <p:nvGrpSpPr>
          <p:cNvPr name="Group 68" id="68"/>
          <p:cNvGrpSpPr/>
          <p:nvPr/>
        </p:nvGrpSpPr>
        <p:grpSpPr>
          <a:xfrm rot="0">
            <a:off x="822960" y="9544050"/>
            <a:ext cx="8229600" cy="468630"/>
            <a:chOff x="0" y="0"/>
            <a:chExt cx="10972800" cy="624840"/>
          </a:xfrm>
        </p:grpSpPr>
        <p:sp>
          <p:nvSpPr>
            <p:cNvPr name="Freeform 69" id="69"/>
            <p:cNvSpPr/>
            <p:nvPr/>
          </p:nvSpPr>
          <p:spPr>
            <a:xfrm flipH="false" flipV="false" rot="0">
              <a:off x="0" y="0"/>
              <a:ext cx="10972800" cy="624840"/>
            </a:xfrm>
            <a:custGeom>
              <a:avLst/>
              <a:gdLst/>
              <a:ahLst/>
              <a:cxnLst/>
              <a:rect r="r" b="b" t="t" l="l"/>
              <a:pathLst>
                <a:path h="6248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624840"/>
                  </a:lnTo>
                  <a:lnTo>
                    <a:pt x="0" y="6248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91939" r="0" b="-291936"/>
              </a:stretch>
            </a:blipFill>
          </p:spPr>
        </p:sp>
      </p:grpSp>
      <p:grpSp>
        <p:nvGrpSpPr>
          <p:cNvPr name="Group 70" id="70"/>
          <p:cNvGrpSpPr/>
          <p:nvPr/>
        </p:nvGrpSpPr>
        <p:grpSpPr>
          <a:xfrm rot="0">
            <a:off x="822960" y="9515475"/>
            <a:ext cx="8229600" cy="497205"/>
            <a:chOff x="0" y="0"/>
            <a:chExt cx="10972800" cy="662940"/>
          </a:xfrm>
        </p:grpSpPr>
        <p:sp>
          <p:nvSpPr>
            <p:cNvPr name="Freeform 71" id="71"/>
            <p:cNvSpPr/>
            <p:nvPr/>
          </p:nvSpPr>
          <p:spPr>
            <a:xfrm flipH="false" flipV="false" rot="0">
              <a:off x="0" y="0"/>
              <a:ext cx="10972800" cy="662940"/>
            </a:xfrm>
            <a:custGeom>
              <a:avLst/>
              <a:gdLst/>
              <a:ahLst/>
              <a:cxnLst/>
              <a:rect r="r" b="b" t="t" l="l"/>
              <a:pathLst>
                <a:path h="6629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662940"/>
                  </a:lnTo>
                  <a:lnTo>
                    <a:pt x="0" y="66294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72287" r="0" b="-272285"/>
              </a:stretch>
            </a:blipFill>
          </p:spPr>
        </p:sp>
      </p:grpSp>
      <p:grpSp>
        <p:nvGrpSpPr>
          <p:cNvPr name="Group 72" id="72"/>
          <p:cNvGrpSpPr/>
          <p:nvPr/>
        </p:nvGrpSpPr>
        <p:grpSpPr>
          <a:xfrm rot="0">
            <a:off x="822960" y="9486900"/>
            <a:ext cx="8229600" cy="525780"/>
            <a:chOff x="0" y="0"/>
            <a:chExt cx="10972800" cy="701040"/>
          </a:xfrm>
        </p:grpSpPr>
        <p:sp>
          <p:nvSpPr>
            <p:cNvPr name="Freeform 73" id="73"/>
            <p:cNvSpPr/>
            <p:nvPr/>
          </p:nvSpPr>
          <p:spPr>
            <a:xfrm flipH="false" flipV="false" rot="0">
              <a:off x="0" y="0"/>
              <a:ext cx="10972800" cy="701040"/>
            </a:xfrm>
            <a:custGeom>
              <a:avLst/>
              <a:gdLst/>
              <a:ahLst/>
              <a:cxnLst/>
              <a:rect r="r" b="b" t="t" l="l"/>
              <a:pathLst>
                <a:path h="7010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701040"/>
                  </a:lnTo>
                  <a:lnTo>
                    <a:pt x="0" y="701040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254771" r="0" b="-254769"/>
              </a:stretch>
            </a:blipFill>
          </p:spPr>
        </p:sp>
      </p:grpSp>
      <p:grpSp>
        <p:nvGrpSpPr>
          <p:cNvPr name="Group 74" id="74"/>
          <p:cNvGrpSpPr/>
          <p:nvPr/>
        </p:nvGrpSpPr>
        <p:grpSpPr>
          <a:xfrm rot="0">
            <a:off x="822960" y="9458325"/>
            <a:ext cx="8229600" cy="554355"/>
            <a:chOff x="0" y="0"/>
            <a:chExt cx="10972800" cy="739140"/>
          </a:xfrm>
        </p:grpSpPr>
        <p:sp>
          <p:nvSpPr>
            <p:cNvPr name="Freeform 75" id="75"/>
            <p:cNvSpPr/>
            <p:nvPr/>
          </p:nvSpPr>
          <p:spPr>
            <a:xfrm flipH="false" flipV="false" rot="0">
              <a:off x="0" y="0"/>
              <a:ext cx="10972800" cy="739140"/>
            </a:xfrm>
            <a:custGeom>
              <a:avLst/>
              <a:gdLst/>
              <a:ahLst/>
              <a:cxnLst/>
              <a:rect r="r" b="b" t="t" l="l"/>
              <a:pathLst>
                <a:path h="7391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739140"/>
                  </a:lnTo>
                  <a:lnTo>
                    <a:pt x="0" y="739140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l="0" t="-239061" r="0" b="-239060"/>
              </a:stretch>
            </a:blipFill>
          </p:spPr>
        </p:sp>
      </p:grpSp>
      <p:grpSp>
        <p:nvGrpSpPr>
          <p:cNvPr name="Group 76" id="76"/>
          <p:cNvGrpSpPr/>
          <p:nvPr/>
        </p:nvGrpSpPr>
        <p:grpSpPr>
          <a:xfrm rot="0">
            <a:off x="822960" y="9429750"/>
            <a:ext cx="8229600" cy="582930"/>
            <a:chOff x="0" y="0"/>
            <a:chExt cx="10972800" cy="777240"/>
          </a:xfrm>
        </p:grpSpPr>
        <p:sp>
          <p:nvSpPr>
            <p:cNvPr name="Freeform 77" id="77"/>
            <p:cNvSpPr/>
            <p:nvPr/>
          </p:nvSpPr>
          <p:spPr>
            <a:xfrm flipH="false" flipV="false" rot="0">
              <a:off x="0" y="0"/>
              <a:ext cx="10972800" cy="777240"/>
            </a:xfrm>
            <a:custGeom>
              <a:avLst/>
              <a:gdLst/>
              <a:ahLst/>
              <a:cxnLst/>
              <a:rect r="r" b="b" t="t" l="l"/>
              <a:pathLst>
                <a:path h="7772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777240"/>
                  </a:lnTo>
                  <a:lnTo>
                    <a:pt x="0" y="777240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0" t="-224892" r="0" b="-224890"/>
              </a:stretch>
            </a:blipFill>
          </p:spPr>
        </p:sp>
      </p:grpSp>
      <p:grpSp>
        <p:nvGrpSpPr>
          <p:cNvPr name="Group 78" id="78"/>
          <p:cNvGrpSpPr/>
          <p:nvPr/>
        </p:nvGrpSpPr>
        <p:grpSpPr>
          <a:xfrm rot="0">
            <a:off x="822960" y="9401175"/>
            <a:ext cx="8229600" cy="611505"/>
            <a:chOff x="0" y="0"/>
            <a:chExt cx="10972800" cy="815340"/>
          </a:xfrm>
        </p:grpSpPr>
        <p:sp>
          <p:nvSpPr>
            <p:cNvPr name="Freeform 79" id="79"/>
            <p:cNvSpPr/>
            <p:nvPr/>
          </p:nvSpPr>
          <p:spPr>
            <a:xfrm flipH="false" flipV="false" rot="0">
              <a:off x="0" y="0"/>
              <a:ext cx="10972800" cy="815340"/>
            </a:xfrm>
            <a:custGeom>
              <a:avLst/>
              <a:gdLst/>
              <a:ahLst/>
              <a:cxnLst/>
              <a:rect r="r" b="b" t="t" l="l"/>
              <a:pathLst>
                <a:path h="8153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815340"/>
                  </a:lnTo>
                  <a:lnTo>
                    <a:pt x="0" y="815340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0" t="-212228" r="0" b="-212228"/>
              </a:stretch>
            </a:blipFill>
          </p:spPr>
        </p:sp>
        <p:sp>
          <p:nvSpPr>
            <p:cNvPr name="TextBox 80" id="80"/>
            <p:cNvSpPr txBox="true"/>
            <p:nvPr/>
          </p:nvSpPr>
          <p:spPr>
            <a:xfrm>
              <a:off x="0" y="-38100"/>
              <a:ext cx="10972800" cy="8534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6B728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WeFIND  |  TCC  |  IFSul Campus Pelotas</a:t>
              </a:r>
            </a:p>
          </p:txBody>
        </p:sp>
      </p:grpSp>
    </p:spTree>
  </p:cSld>
  <p:clrMapOvr>
    <a:masterClrMapping/>
  </p:clrMapOvr>
</p:sld>
</file>

<file path=ppt/slides/slide28.xml><?xml version="1.0" encoding="utf-8"?>
<p:sld xmlns:p="http://schemas.openxmlformats.org/presentationml/2006/main" xmlns:a="http://schemas.openxmlformats.org/drawingml/2006/main" xmlns:r="http://schemas.openxmlformats.org/officeDocument/2006/relationships" show="false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914400" y="245364"/>
            <a:ext cx="6858000" cy="6324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00"/>
              </a:lnSpc>
            </a:pPr>
            <a:r>
              <a:rPr lang="en-US" b="true" sz="2000" spc="400">
                <a:solidFill>
                  <a:srgbClr val="B1734A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05  DEMONSTRAÇÃO E AVALIAÇÃO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914400" y="914400"/>
            <a:ext cx="16459200" cy="1097280"/>
            <a:chOff x="0" y="0"/>
            <a:chExt cx="21945600" cy="146304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21945600" cy="1463040"/>
            </a:xfrm>
            <a:custGeom>
              <a:avLst/>
              <a:gdLst/>
              <a:ahLst/>
              <a:cxnLst/>
              <a:rect r="r" b="b" t="t" l="l"/>
              <a:pathLst>
                <a:path h="146304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463040"/>
                  </a:lnTo>
                  <a:lnTo>
                    <a:pt x="0" y="14630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242072" r="0" b="-242072"/>
              </a:stretch>
            </a:blipFill>
          </p:spPr>
        </p:sp>
      </p:grpSp>
      <p:grpSp>
        <p:nvGrpSpPr>
          <p:cNvPr name="Group 5" id="5"/>
          <p:cNvGrpSpPr/>
          <p:nvPr/>
        </p:nvGrpSpPr>
        <p:grpSpPr>
          <a:xfrm rot="0">
            <a:off x="914400" y="907256"/>
            <a:ext cx="16459200" cy="1104424"/>
            <a:chOff x="0" y="0"/>
            <a:chExt cx="21945600" cy="1472565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21945600" cy="1472565"/>
            </a:xfrm>
            <a:custGeom>
              <a:avLst/>
              <a:gdLst/>
              <a:ahLst/>
              <a:cxnLst/>
              <a:rect r="r" b="b" t="t" l="l"/>
              <a:pathLst>
                <a:path h="1472565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472565"/>
                  </a:lnTo>
                  <a:lnTo>
                    <a:pt x="0" y="1472565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40182" r="0" b="-240183"/>
              </a:stretch>
            </a:blipFill>
          </p:spPr>
        </p:sp>
      </p:grpSp>
      <p:grpSp>
        <p:nvGrpSpPr>
          <p:cNvPr name="Group 7" id="7"/>
          <p:cNvGrpSpPr/>
          <p:nvPr/>
        </p:nvGrpSpPr>
        <p:grpSpPr>
          <a:xfrm rot="0">
            <a:off x="914400" y="900112"/>
            <a:ext cx="16459200" cy="1111568"/>
            <a:chOff x="0" y="0"/>
            <a:chExt cx="21945600" cy="148209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21945600" cy="1482090"/>
            </a:xfrm>
            <a:custGeom>
              <a:avLst/>
              <a:gdLst/>
              <a:ahLst/>
              <a:cxnLst/>
              <a:rect r="r" b="b" t="t" l="l"/>
              <a:pathLst>
                <a:path h="148209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482090"/>
                  </a:lnTo>
                  <a:lnTo>
                    <a:pt x="0" y="148209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38317" r="0" b="-238318"/>
              </a:stretch>
            </a:blipFill>
          </p:spPr>
        </p:sp>
      </p:grpSp>
      <p:grpSp>
        <p:nvGrpSpPr>
          <p:cNvPr name="Group 9" id="9"/>
          <p:cNvGrpSpPr/>
          <p:nvPr/>
        </p:nvGrpSpPr>
        <p:grpSpPr>
          <a:xfrm rot="0">
            <a:off x="914400" y="892969"/>
            <a:ext cx="16459200" cy="1118711"/>
            <a:chOff x="0" y="0"/>
            <a:chExt cx="21945600" cy="1491615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21945600" cy="1491615"/>
            </a:xfrm>
            <a:custGeom>
              <a:avLst/>
              <a:gdLst/>
              <a:ahLst/>
              <a:cxnLst/>
              <a:rect r="r" b="b" t="t" l="l"/>
              <a:pathLst>
                <a:path h="1491615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491615"/>
                  </a:lnTo>
                  <a:lnTo>
                    <a:pt x="0" y="1491615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236476" r="0" b="-236477"/>
              </a:stretch>
            </a:blipFill>
          </p:spPr>
        </p:sp>
      </p:grpSp>
      <p:grpSp>
        <p:nvGrpSpPr>
          <p:cNvPr name="Group 11" id="11"/>
          <p:cNvGrpSpPr/>
          <p:nvPr/>
        </p:nvGrpSpPr>
        <p:grpSpPr>
          <a:xfrm rot="0">
            <a:off x="914400" y="885825"/>
            <a:ext cx="16459200" cy="1125855"/>
            <a:chOff x="0" y="0"/>
            <a:chExt cx="21945600" cy="150114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21945600" cy="1501140"/>
            </a:xfrm>
            <a:custGeom>
              <a:avLst/>
              <a:gdLst/>
              <a:ahLst/>
              <a:cxnLst/>
              <a:rect r="r" b="b" t="t" l="l"/>
              <a:pathLst>
                <a:path h="150114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501140"/>
                  </a:lnTo>
                  <a:lnTo>
                    <a:pt x="0" y="1501140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l="0" t="-234659" r="0" b="-234659"/>
              </a:stretch>
            </a:blipFill>
          </p:spPr>
        </p:sp>
      </p:grpSp>
      <p:grpSp>
        <p:nvGrpSpPr>
          <p:cNvPr name="Group 13" id="13"/>
          <p:cNvGrpSpPr/>
          <p:nvPr/>
        </p:nvGrpSpPr>
        <p:grpSpPr>
          <a:xfrm rot="0">
            <a:off x="914400" y="878681"/>
            <a:ext cx="16459200" cy="1132999"/>
            <a:chOff x="0" y="0"/>
            <a:chExt cx="21945600" cy="1510665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21945600" cy="1510665"/>
            </a:xfrm>
            <a:custGeom>
              <a:avLst/>
              <a:gdLst/>
              <a:ahLst/>
              <a:cxnLst/>
              <a:rect r="r" b="b" t="t" l="l"/>
              <a:pathLst>
                <a:path h="1510665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510665"/>
                  </a:lnTo>
                  <a:lnTo>
                    <a:pt x="0" y="1510665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0" t="-232864" r="0" b="-232865"/>
              </a:stretch>
            </a:blipFill>
          </p:spPr>
        </p:sp>
      </p:grpSp>
      <p:grpSp>
        <p:nvGrpSpPr>
          <p:cNvPr name="Group 15" id="15"/>
          <p:cNvGrpSpPr/>
          <p:nvPr/>
        </p:nvGrpSpPr>
        <p:grpSpPr>
          <a:xfrm rot="0">
            <a:off x="914400" y="871538"/>
            <a:ext cx="16459200" cy="1140142"/>
            <a:chOff x="0" y="0"/>
            <a:chExt cx="21945600" cy="152019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21945600" cy="1520190"/>
            </a:xfrm>
            <a:custGeom>
              <a:avLst/>
              <a:gdLst/>
              <a:ahLst/>
              <a:cxnLst/>
              <a:rect r="r" b="b" t="t" l="l"/>
              <a:pathLst>
                <a:path h="152019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520190"/>
                  </a:lnTo>
                  <a:lnTo>
                    <a:pt x="0" y="1520190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0" t="-231287" r="0" b="-231287"/>
              </a:stretch>
            </a:blip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9525"/>
              <a:ext cx="21945600" cy="15297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6239"/>
                </a:lnSpc>
              </a:pPr>
              <a:r>
                <a:rPr lang="en-US" sz="5198" b="true">
                  <a:solidFill>
                    <a:srgbClr val="2E5634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MobSF: triagem, não certificação</a:t>
              </a:r>
            </a:p>
          </p:txBody>
        </p:sp>
      </p:grpSp>
      <p:grpSp>
        <p:nvGrpSpPr>
          <p:cNvPr name="Group 18" id="18"/>
          <p:cNvGrpSpPr/>
          <p:nvPr/>
        </p:nvGrpSpPr>
        <p:grpSpPr>
          <a:xfrm rot="0">
            <a:off x="914400" y="2377440"/>
            <a:ext cx="7680960" cy="2560320"/>
            <a:chOff x="0" y="0"/>
            <a:chExt cx="10241280" cy="3413760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10241280" cy="3413760"/>
            </a:xfrm>
            <a:custGeom>
              <a:avLst/>
              <a:gdLst/>
              <a:ahLst/>
              <a:cxnLst/>
              <a:rect r="r" b="b" t="t" l="l"/>
              <a:pathLst>
                <a:path h="3413760" w="10241280">
                  <a:moveTo>
                    <a:pt x="0" y="0"/>
                  </a:moveTo>
                  <a:lnTo>
                    <a:pt x="10241280" y="0"/>
                  </a:lnTo>
                  <a:lnTo>
                    <a:pt x="10241280" y="3413760"/>
                  </a:lnTo>
                  <a:lnTo>
                    <a:pt x="0" y="341376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8414" r="0" b="-8414"/>
              </a:stretch>
            </a:blipFill>
          </p:spPr>
        </p:sp>
      </p:grpSp>
      <p:grpSp>
        <p:nvGrpSpPr>
          <p:cNvPr name="Group 20" id="20"/>
          <p:cNvGrpSpPr/>
          <p:nvPr/>
        </p:nvGrpSpPr>
        <p:grpSpPr>
          <a:xfrm rot="0">
            <a:off x="914400" y="2377440"/>
            <a:ext cx="7680960" cy="2560320"/>
            <a:chOff x="0" y="0"/>
            <a:chExt cx="10241280" cy="3413760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10241280" cy="3413760"/>
            </a:xfrm>
            <a:custGeom>
              <a:avLst/>
              <a:gdLst/>
              <a:ahLst/>
              <a:cxnLst/>
              <a:rect r="r" b="b" t="t" l="l"/>
              <a:pathLst>
                <a:path h="3413760" w="10241280">
                  <a:moveTo>
                    <a:pt x="0" y="0"/>
                  </a:moveTo>
                  <a:lnTo>
                    <a:pt x="10241280" y="0"/>
                  </a:lnTo>
                  <a:lnTo>
                    <a:pt x="10241280" y="3413760"/>
                  </a:lnTo>
                  <a:lnTo>
                    <a:pt x="0" y="34137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8414" r="0" b="-8414"/>
              </a:stretch>
            </a:blipFill>
          </p:spPr>
        </p:sp>
      </p:grpSp>
      <p:grpSp>
        <p:nvGrpSpPr>
          <p:cNvPr name="Group 22" id="22"/>
          <p:cNvGrpSpPr/>
          <p:nvPr/>
        </p:nvGrpSpPr>
        <p:grpSpPr>
          <a:xfrm rot="0">
            <a:off x="914400" y="2377440"/>
            <a:ext cx="7680960" cy="2560320"/>
            <a:chOff x="0" y="0"/>
            <a:chExt cx="10241280" cy="3413760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10241280" cy="3413760"/>
            </a:xfrm>
            <a:custGeom>
              <a:avLst/>
              <a:gdLst/>
              <a:ahLst/>
              <a:cxnLst/>
              <a:rect r="r" b="b" t="t" l="l"/>
              <a:pathLst>
                <a:path h="3413760" w="10241280">
                  <a:moveTo>
                    <a:pt x="0" y="0"/>
                  </a:moveTo>
                  <a:lnTo>
                    <a:pt x="10241280" y="0"/>
                  </a:lnTo>
                  <a:lnTo>
                    <a:pt x="10241280" y="3413760"/>
                  </a:lnTo>
                  <a:lnTo>
                    <a:pt x="0" y="341376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8414" r="0" b="-8414"/>
              </a:stretch>
            </a:blipFill>
          </p:spPr>
        </p:sp>
      </p:grpSp>
      <p:grpSp>
        <p:nvGrpSpPr>
          <p:cNvPr name="Group 24" id="24"/>
          <p:cNvGrpSpPr/>
          <p:nvPr/>
        </p:nvGrpSpPr>
        <p:grpSpPr>
          <a:xfrm rot="0">
            <a:off x="914400" y="2377440"/>
            <a:ext cx="7680960" cy="2560320"/>
            <a:chOff x="0" y="0"/>
            <a:chExt cx="10241280" cy="3413760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10241280" cy="3413760"/>
            </a:xfrm>
            <a:custGeom>
              <a:avLst/>
              <a:gdLst/>
              <a:ahLst/>
              <a:cxnLst/>
              <a:rect r="r" b="b" t="t" l="l"/>
              <a:pathLst>
                <a:path h="3413760" w="10241280">
                  <a:moveTo>
                    <a:pt x="0" y="0"/>
                  </a:moveTo>
                  <a:lnTo>
                    <a:pt x="10241280" y="0"/>
                  </a:lnTo>
                  <a:lnTo>
                    <a:pt x="10241280" y="3413760"/>
                  </a:lnTo>
                  <a:lnTo>
                    <a:pt x="0" y="3413760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8414" r="0" b="-8414"/>
              </a:stretch>
            </a:blipFill>
          </p:spPr>
        </p:sp>
      </p:grpSp>
      <p:grpSp>
        <p:nvGrpSpPr>
          <p:cNvPr name="Group 26" id="26"/>
          <p:cNvGrpSpPr/>
          <p:nvPr/>
        </p:nvGrpSpPr>
        <p:grpSpPr>
          <a:xfrm rot="0">
            <a:off x="914400" y="2377440"/>
            <a:ext cx="7680960" cy="2560320"/>
            <a:chOff x="0" y="0"/>
            <a:chExt cx="10241280" cy="3413760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10241280" cy="3413760"/>
            </a:xfrm>
            <a:custGeom>
              <a:avLst/>
              <a:gdLst/>
              <a:ahLst/>
              <a:cxnLst/>
              <a:rect r="r" b="b" t="t" l="l"/>
              <a:pathLst>
                <a:path h="3413760" w="10241280">
                  <a:moveTo>
                    <a:pt x="0" y="0"/>
                  </a:moveTo>
                  <a:lnTo>
                    <a:pt x="10241280" y="0"/>
                  </a:lnTo>
                  <a:lnTo>
                    <a:pt x="10241280" y="3413760"/>
                  </a:lnTo>
                  <a:lnTo>
                    <a:pt x="0" y="3413760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l="0" t="-8414" r="0" b="-8414"/>
              </a:stretch>
            </a:blipFill>
          </p:spPr>
        </p:sp>
      </p:grpSp>
      <p:grpSp>
        <p:nvGrpSpPr>
          <p:cNvPr name="Group 28" id="28"/>
          <p:cNvGrpSpPr/>
          <p:nvPr/>
        </p:nvGrpSpPr>
        <p:grpSpPr>
          <a:xfrm rot="0">
            <a:off x="914400" y="2377440"/>
            <a:ext cx="7680960" cy="2560320"/>
            <a:chOff x="0" y="0"/>
            <a:chExt cx="10241280" cy="3413760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10241280" cy="3413760"/>
            </a:xfrm>
            <a:custGeom>
              <a:avLst/>
              <a:gdLst/>
              <a:ahLst/>
              <a:cxnLst/>
              <a:rect r="r" b="b" t="t" l="l"/>
              <a:pathLst>
                <a:path h="3413760" w="10241280">
                  <a:moveTo>
                    <a:pt x="0" y="0"/>
                  </a:moveTo>
                  <a:lnTo>
                    <a:pt x="10241280" y="0"/>
                  </a:lnTo>
                  <a:lnTo>
                    <a:pt x="10241280" y="3413760"/>
                  </a:lnTo>
                  <a:lnTo>
                    <a:pt x="0" y="3413760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0" t="-8414" r="0" b="-8414"/>
              </a:stretch>
            </a:blipFill>
          </p:spPr>
        </p:sp>
      </p:grpSp>
      <p:grpSp>
        <p:nvGrpSpPr>
          <p:cNvPr name="Group 30" id="30"/>
          <p:cNvGrpSpPr/>
          <p:nvPr/>
        </p:nvGrpSpPr>
        <p:grpSpPr>
          <a:xfrm rot="0">
            <a:off x="914400" y="2377440"/>
            <a:ext cx="7680960" cy="2560320"/>
            <a:chOff x="0" y="0"/>
            <a:chExt cx="10241280" cy="3413760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10241280" cy="3413760"/>
            </a:xfrm>
            <a:custGeom>
              <a:avLst/>
              <a:gdLst/>
              <a:ahLst/>
              <a:cxnLst/>
              <a:rect r="r" b="b" t="t" l="l"/>
              <a:pathLst>
                <a:path h="3413760" w="10241280">
                  <a:moveTo>
                    <a:pt x="0" y="0"/>
                  </a:moveTo>
                  <a:lnTo>
                    <a:pt x="10241280" y="0"/>
                  </a:lnTo>
                  <a:lnTo>
                    <a:pt x="10241280" y="3413760"/>
                  </a:lnTo>
                  <a:lnTo>
                    <a:pt x="0" y="3413760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0" t="-8455" r="0" b="-8455"/>
              </a:stretch>
            </a:blipFill>
          </p:spPr>
        </p:sp>
        <p:sp>
          <p:nvSpPr>
            <p:cNvPr name="TextBox 32" id="32"/>
            <p:cNvSpPr txBox="true"/>
            <p:nvPr/>
          </p:nvSpPr>
          <p:spPr>
            <a:xfrm>
              <a:off x="0" y="0"/>
              <a:ext cx="10241280" cy="341376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198"/>
                </a:lnSpc>
              </a:pPr>
              <a:r>
                <a:rPr lang="en-US" sz="15999" b="true">
                  <a:solidFill>
                    <a:srgbClr val="B1734A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51/100</a:t>
              </a:r>
            </a:p>
          </p:txBody>
        </p:sp>
      </p:grpSp>
      <p:sp>
        <p:nvSpPr>
          <p:cNvPr name="TextBox 33" id="33"/>
          <p:cNvSpPr txBox="true"/>
          <p:nvPr/>
        </p:nvSpPr>
        <p:spPr>
          <a:xfrm rot="0">
            <a:off x="9144000" y="2585085"/>
            <a:ext cx="8229600" cy="13468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079"/>
              </a:lnSpc>
            </a:pPr>
            <a:r>
              <a:rPr lang="en-US" sz="3399" b="true">
                <a:solidFill>
                  <a:srgbClr val="2E5634"/>
                </a:solidFill>
                <a:latin typeface="Cambria Bold"/>
                <a:ea typeface="Cambria Bold"/>
                <a:cs typeface="Cambria Bold"/>
                <a:sym typeface="Cambria Bold"/>
              </a:rPr>
              <a:t>Pontuação da ferramenta, não é uma certificação de segurança</a:t>
            </a:r>
          </a:p>
        </p:txBody>
      </p:sp>
      <p:sp>
        <p:nvSpPr>
          <p:cNvPr name="TextBox 34" id="34"/>
          <p:cNvSpPr txBox="true"/>
          <p:nvPr/>
        </p:nvSpPr>
        <p:spPr>
          <a:xfrm rot="0">
            <a:off x="9144000" y="3623310"/>
            <a:ext cx="8046720" cy="13144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20"/>
              </a:lnSpc>
            </a:pPr>
            <a:r>
              <a:rPr lang="en-US" sz="2600">
                <a:solidFill>
                  <a:srgbClr val="1B2A1F"/>
                </a:solidFill>
                <a:latin typeface="Calibri (MS)"/>
                <a:ea typeface="Calibri (MS)"/>
                <a:cs typeface="Calibri (MS)"/>
                <a:sym typeface="Calibri (MS)"/>
              </a:rPr>
              <a:t>Os alertas pedem revisão manual; não são vulnerabilidades confirmadas.</a:t>
            </a:r>
          </a:p>
        </p:txBody>
      </p:sp>
      <p:sp>
        <p:nvSpPr>
          <p:cNvPr name="AutoShape 35" id="35"/>
          <p:cNvSpPr/>
          <p:nvPr/>
        </p:nvSpPr>
        <p:spPr>
          <a:xfrm rot="1980">
            <a:off x="876290" y="5453062"/>
            <a:ext cx="16535410" cy="0"/>
          </a:xfrm>
          <a:prstGeom prst="line">
            <a:avLst/>
          </a:prstGeom>
          <a:ln cap="rnd" w="9525">
            <a:solidFill>
              <a:srgbClr val="C9D4C6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36" id="36"/>
          <p:cNvSpPr txBox="true"/>
          <p:nvPr/>
        </p:nvSpPr>
        <p:spPr>
          <a:xfrm rot="0">
            <a:off x="914400" y="5968365"/>
            <a:ext cx="5120640" cy="7067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7"/>
              </a:lnSpc>
            </a:pPr>
            <a:r>
              <a:rPr lang="en-US" sz="2799" b="true">
                <a:solidFill>
                  <a:srgbClr val="2E5634"/>
                </a:solidFill>
                <a:latin typeface="Cambria Bold"/>
                <a:ea typeface="Cambria Bold"/>
                <a:cs typeface="Cambria Bold"/>
                <a:sym typeface="Cambria Bold"/>
              </a:rPr>
              <a:t>1 alerta alto</a:t>
            </a:r>
          </a:p>
        </p:txBody>
      </p:sp>
      <p:sp>
        <p:nvSpPr>
          <p:cNvPr name="TextBox 37" id="37"/>
          <p:cNvSpPr txBox="true"/>
          <p:nvPr/>
        </p:nvSpPr>
        <p:spPr>
          <a:xfrm rot="0">
            <a:off x="914400" y="6536436"/>
            <a:ext cx="5120640" cy="13639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78"/>
              </a:lnSpc>
            </a:pPr>
            <a:r>
              <a:rPr lang="en-US" sz="2400">
                <a:solidFill>
                  <a:srgbClr val="1B2A1F"/>
                </a:solidFill>
                <a:latin typeface="Calibri (MS)"/>
                <a:ea typeface="Calibri (MS)"/>
                <a:cs typeface="Calibri (MS)"/>
                <a:sym typeface="Calibri (MS)"/>
              </a:rPr>
              <a:t>Instalação possível em versões antigas do Android.</a:t>
            </a:r>
          </a:p>
        </p:txBody>
      </p:sp>
      <p:sp>
        <p:nvSpPr>
          <p:cNvPr name="TextBox 38" id="38"/>
          <p:cNvSpPr txBox="true"/>
          <p:nvPr/>
        </p:nvSpPr>
        <p:spPr>
          <a:xfrm rot="0">
            <a:off x="6583680" y="5968365"/>
            <a:ext cx="5120640" cy="7067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7"/>
              </a:lnSpc>
            </a:pPr>
            <a:r>
              <a:rPr lang="en-US" sz="2799" b="true">
                <a:solidFill>
                  <a:srgbClr val="2E5634"/>
                </a:solidFill>
                <a:latin typeface="Cambria Bold"/>
                <a:ea typeface="Cambria Bold"/>
                <a:cs typeface="Cambria Bold"/>
                <a:sym typeface="Cambria Bold"/>
              </a:rPr>
              <a:t>Avisos para revisão</a:t>
            </a:r>
          </a:p>
        </p:txBody>
      </p:sp>
      <p:sp>
        <p:nvSpPr>
          <p:cNvPr name="TextBox 39" id="39"/>
          <p:cNvSpPr txBox="true"/>
          <p:nvPr/>
        </p:nvSpPr>
        <p:spPr>
          <a:xfrm rot="0">
            <a:off x="6583680" y="6536436"/>
            <a:ext cx="5120640" cy="13639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78"/>
              </a:lnSpc>
            </a:pPr>
            <a:r>
              <a:rPr lang="en-US" sz="2400">
                <a:solidFill>
                  <a:srgbClr val="1B2A1F"/>
                </a:solidFill>
                <a:latin typeface="Calibri (MS)"/>
                <a:ea typeface="Calibri (MS)"/>
                <a:cs typeface="Calibri (MS)"/>
                <a:sym typeface="Calibri (MS)"/>
              </a:rPr>
              <a:t>7 no manifesto e 7 no código; vários vêm de bibliotecas.</a:t>
            </a:r>
          </a:p>
        </p:txBody>
      </p:sp>
      <p:sp>
        <p:nvSpPr>
          <p:cNvPr name="TextBox 40" id="40"/>
          <p:cNvSpPr txBox="true"/>
          <p:nvPr/>
        </p:nvSpPr>
        <p:spPr>
          <a:xfrm rot="0">
            <a:off x="12252960" y="5968365"/>
            <a:ext cx="5120640" cy="7067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7"/>
              </a:lnSpc>
            </a:pPr>
            <a:r>
              <a:rPr lang="en-US" sz="2799" b="true">
                <a:solidFill>
                  <a:srgbClr val="2E5634"/>
                </a:solidFill>
                <a:latin typeface="Cambria Bold"/>
                <a:ea typeface="Cambria Bold"/>
                <a:cs typeface="Cambria Bold"/>
                <a:sym typeface="Cambria Bold"/>
              </a:rPr>
              <a:t>Nenhum rastreador</a:t>
            </a:r>
          </a:p>
        </p:txBody>
      </p:sp>
      <p:sp>
        <p:nvSpPr>
          <p:cNvPr name="TextBox 41" id="41"/>
          <p:cNvSpPr txBox="true"/>
          <p:nvPr/>
        </p:nvSpPr>
        <p:spPr>
          <a:xfrm rot="0">
            <a:off x="12252960" y="6536436"/>
            <a:ext cx="5120640" cy="13639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78"/>
              </a:lnSpc>
            </a:pPr>
            <a:r>
              <a:rPr lang="en-US" sz="2400">
                <a:solidFill>
                  <a:srgbClr val="1B2A1F"/>
                </a:solidFill>
                <a:latin typeface="Calibri (MS)"/>
                <a:ea typeface="Calibri (MS)"/>
                <a:cs typeface="Calibri (MS)"/>
                <a:sym typeface="Calibri (MS)"/>
              </a:rPr>
              <a:t>Entre as 432 assinaturas examinadas.</a:t>
            </a:r>
          </a:p>
        </p:txBody>
      </p:sp>
      <p:sp>
        <p:nvSpPr>
          <p:cNvPr name="TextBox 42" id="42"/>
          <p:cNvSpPr txBox="true"/>
          <p:nvPr/>
        </p:nvSpPr>
        <p:spPr>
          <a:xfrm rot="0">
            <a:off x="914400" y="8536305"/>
            <a:ext cx="16459200" cy="9734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2100">
                <a:solidFill>
                  <a:srgbClr val="5B6B5F"/>
                </a:solidFill>
                <a:latin typeface="Calibri (MS)"/>
                <a:ea typeface="Calibri (MS)"/>
                <a:cs typeface="Calibri (MS)"/>
                <a:sym typeface="Calibri (MS)"/>
              </a:rPr>
              <a:t>Análise estática do APK em 14/10/2026 (MobSF 4.5.4). Sem teste dinâmico, teste de invasão ou auditoria da infraestrutura.</a:t>
            </a:r>
          </a:p>
        </p:txBody>
      </p:sp>
      <p:sp>
        <p:nvSpPr>
          <p:cNvPr name="TextBox 43" id="43"/>
          <p:cNvSpPr txBox="true"/>
          <p:nvPr/>
        </p:nvSpPr>
        <p:spPr>
          <a:xfrm rot="0">
            <a:off x="16459200" y="9471660"/>
            <a:ext cx="914400" cy="3810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400"/>
              </a:lnSpc>
            </a:pPr>
            <a:r>
              <a:rPr lang="en-US" sz="2000">
                <a:solidFill>
                  <a:srgbClr val="5B6B5F"/>
                </a:solidFill>
                <a:latin typeface="Calibri (MS)"/>
                <a:ea typeface="Calibri (MS)"/>
                <a:cs typeface="Calibri (MS)"/>
                <a:sym typeface="Calibri (MS)"/>
              </a:rPr>
              <a:t>32</a:t>
            </a:r>
          </a:p>
        </p:txBody>
      </p:sp>
      <p:grpSp>
        <p:nvGrpSpPr>
          <p:cNvPr name="Group 44" id="44"/>
          <p:cNvGrpSpPr/>
          <p:nvPr/>
        </p:nvGrpSpPr>
        <p:grpSpPr>
          <a:xfrm rot="0">
            <a:off x="822960" y="9572625"/>
            <a:ext cx="8229600" cy="440055"/>
            <a:chOff x="0" y="0"/>
            <a:chExt cx="10972800" cy="586740"/>
          </a:xfrm>
        </p:grpSpPr>
        <p:sp>
          <p:nvSpPr>
            <p:cNvPr name="Freeform 45" id="45"/>
            <p:cNvSpPr/>
            <p:nvPr/>
          </p:nvSpPr>
          <p:spPr>
            <a:xfrm flipH="false" flipV="false" rot="0">
              <a:off x="0" y="0"/>
              <a:ext cx="10972800" cy="586740"/>
            </a:xfrm>
            <a:custGeom>
              <a:avLst/>
              <a:gdLst/>
              <a:ahLst/>
              <a:cxnLst/>
              <a:rect r="r" b="b" t="t" l="l"/>
              <a:pathLst>
                <a:path h="5867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586740"/>
                  </a:lnTo>
                  <a:lnTo>
                    <a:pt x="0" y="5867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314142" r="0" b="-314140"/>
              </a:stretch>
            </a:blipFill>
          </p:spPr>
        </p:sp>
      </p:grpSp>
      <p:grpSp>
        <p:nvGrpSpPr>
          <p:cNvPr name="Group 46" id="46"/>
          <p:cNvGrpSpPr/>
          <p:nvPr/>
        </p:nvGrpSpPr>
        <p:grpSpPr>
          <a:xfrm rot="0">
            <a:off x="822960" y="9544050"/>
            <a:ext cx="8229600" cy="468630"/>
            <a:chOff x="0" y="0"/>
            <a:chExt cx="10972800" cy="624840"/>
          </a:xfrm>
        </p:grpSpPr>
        <p:sp>
          <p:nvSpPr>
            <p:cNvPr name="Freeform 47" id="47"/>
            <p:cNvSpPr/>
            <p:nvPr/>
          </p:nvSpPr>
          <p:spPr>
            <a:xfrm flipH="false" flipV="false" rot="0">
              <a:off x="0" y="0"/>
              <a:ext cx="10972800" cy="624840"/>
            </a:xfrm>
            <a:custGeom>
              <a:avLst/>
              <a:gdLst/>
              <a:ahLst/>
              <a:cxnLst/>
              <a:rect r="r" b="b" t="t" l="l"/>
              <a:pathLst>
                <a:path h="6248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624840"/>
                  </a:lnTo>
                  <a:lnTo>
                    <a:pt x="0" y="6248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91939" r="0" b="-291936"/>
              </a:stretch>
            </a:blipFill>
          </p:spPr>
        </p:sp>
      </p:grpSp>
      <p:grpSp>
        <p:nvGrpSpPr>
          <p:cNvPr name="Group 48" id="48"/>
          <p:cNvGrpSpPr/>
          <p:nvPr/>
        </p:nvGrpSpPr>
        <p:grpSpPr>
          <a:xfrm rot="0">
            <a:off x="822960" y="9515475"/>
            <a:ext cx="8229600" cy="497205"/>
            <a:chOff x="0" y="0"/>
            <a:chExt cx="10972800" cy="662940"/>
          </a:xfrm>
        </p:grpSpPr>
        <p:sp>
          <p:nvSpPr>
            <p:cNvPr name="Freeform 49" id="49"/>
            <p:cNvSpPr/>
            <p:nvPr/>
          </p:nvSpPr>
          <p:spPr>
            <a:xfrm flipH="false" flipV="false" rot="0">
              <a:off x="0" y="0"/>
              <a:ext cx="10972800" cy="662940"/>
            </a:xfrm>
            <a:custGeom>
              <a:avLst/>
              <a:gdLst/>
              <a:ahLst/>
              <a:cxnLst/>
              <a:rect r="r" b="b" t="t" l="l"/>
              <a:pathLst>
                <a:path h="6629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662940"/>
                  </a:lnTo>
                  <a:lnTo>
                    <a:pt x="0" y="66294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72287" r="0" b="-272285"/>
              </a:stretch>
            </a:blipFill>
          </p:spPr>
        </p:sp>
      </p:grpSp>
      <p:grpSp>
        <p:nvGrpSpPr>
          <p:cNvPr name="Group 50" id="50"/>
          <p:cNvGrpSpPr/>
          <p:nvPr/>
        </p:nvGrpSpPr>
        <p:grpSpPr>
          <a:xfrm rot="0">
            <a:off x="822960" y="9486900"/>
            <a:ext cx="8229600" cy="525780"/>
            <a:chOff x="0" y="0"/>
            <a:chExt cx="10972800" cy="701040"/>
          </a:xfrm>
        </p:grpSpPr>
        <p:sp>
          <p:nvSpPr>
            <p:cNvPr name="Freeform 51" id="51"/>
            <p:cNvSpPr/>
            <p:nvPr/>
          </p:nvSpPr>
          <p:spPr>
            <a:xfrm flipH="false" flipV="false" rot="0">
              <a:off x="0" y="0"/>
              <a:ext cx="10972800" cy="701040"/>
            </a:xfrm>
            <a:custGeom>
              <a:avLst/>
              <a:gdLst/>
              <a:ahLst/>
              <a:cxnLst/>
              <a:rect r="r" b="b" t="t" l="l"/>
              <a:pathLst>
                <a:path h="7010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701040"/>
                  </a:lnTo>
                  <a:lnTo>
                    <a:pt x="0" y="701040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254771" r="0" b="-254769"/>
              </a:stretch>
            </a:blipFill>
          </p:spPr>
        </p:sp>
      </p:grpSp>
      <p:grpSp>
        <p:nvGrpSpPr>
          <p:cNvPr name="Group 52" id="52"/>
          <p:cNvGrpSpPr/>
          <p:nvPr/>
        </p:nvGrpSpPr>
        <p:grpSpPr>
          <a:xfrm rot="0">
            <a:off x="822960" y="9458325"/>
            <a:ext cx="8229600" cy="554355"/>
            <a:chOff x="0" y="0"/>
            <a:chExt cx="10972800" cy="739140"/>
          </a:xfrm>
        </p:grpSpPr>
        <p:sp>
          <p:nvSpPr>
            <p:cNvPr name="Freeform 53" id="53"/>
            <p:cNvSpPr/>
            <p:nvPr/>
          </p:nvSpPr>
          <p:spPr>
            <a:xfrm flipH="false" flipV="false" rot="0">
              <a:off x="0" y="0"/>
              <a:ext cx="10972800" cy="739140"/>
            </a:xfrm>
            <a:custGeom>
              <a:avLst/>
              <a:gdLst/>
              <a:ahLst/>
              <a:cxnLst/>
              <a:rect r="r" b="b" t="t" l="l"/>
              <a:pathLst>
                <a:path h="7391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739140"/>
                  </a:lnTo>
                  <a:lnTo>
                    <a:pt x="0" y="739140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l="0" t="-239061" r="0" b="-239060"/>
              </a:stretch>
            </a:blipFill>
          </p:spPr>
        </p:sp>
      </p:grpSp>
      <p:grpSp>
        <p:nvGrpSpPr>
          <p:cNvPr name="Group 54" id="54"/>
          <p:cNvGrpSpPr/>
          <p:nvPr/>
        </p:nvGrpSpPr>
        <p:grpSpPr>
          <a:xfrm rot="0">
            <a:off x="822960" y="9429750"/>
            <a:ext cx="8229600" cy="582930"/>
            <a:chOff x="0" y="0"/>
            <a:chExt cx="10972800" cy="777240"/>
          </a:xfrm>
        </p:grpSpPr>
        <p:sp>
          <p:nvSpPr>
            <p:cNvPr name="Freeform 55" id="55"/>
            <p:cNvSpPr/>
            <p:nvPr/>
          </p:nvSpPr>
          <p:spPr>
            <a:xfrm flipH="false" flipV="false" rot="0">
              <a:off x="0" y="0"/>
              <a:ext cx="10972800" cy="777240"/>
            </a:xfrm>
            <a:custGeom>
              <a:avLst/>
              <a:gdLst/>
              <a:ahLst/>
              <a:cxnLst/>
              <a:rect r="r" b="b" t="t" l="l"/>
              <a:pathLst>
                <a:path h="7772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777240"/>
                  </a:lnTo>
                  <a:lnTo>
                    <a:pt x="0" y="777240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0" t="-224892" r="0" b="-224890"/>
              </a:stretch>
            </a:blipFill>
          </p:spPr>
        </p:sp>
      </p:grpSp>
      <p:grpSp>
        <p:nvGrpSpPr>
          <p:cNvPr name="Group 56" id="56"/>
          <p:cNvGrpSpPr/>
          <p:nvPr/>
        </p:nvGrpSpPr>
        <p:grpSpPr>
          <a:xfrm rot="0">
            <a:off x="822960" y="9401175"/>
            <a:ext cx="8229600" cy="611505"/>
            <a:chOff x="0" y="0"/>
            <a:chExt cx="10972800" cy="815340"/>
          </a:xfrm>
        </p:grpSpPr>
        <p:sp>
          <p:nvSpPr>
            <p:cNvPr name="Freeform 57" id="57"/>
            <p:cNvSpPr/>
            <p:nvPr/>
          </p:nvSpPr>
          <p:spPr>
            <a:xfrm flipH="false" flipV="false" rot="0">
              <a:off x="0" y="0"/>
              <a:ext cx="10972800" cy="815340"/>
            </a:xfrm>
            <a:custGeom>
              <a:avLst/>
              <a:gdLst/>
              <a:ahLst/>
              <a:cxnLst/>
              <a:rect r="r" b="b" t="t" l="l"/>
              <a:pathLst>
                <a:path h="8153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815340"/>
                  </a:lnTo>
                  <a:lnTo>
                    <a:pt x="0" y="815340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0" t="-212228" r="0" b="-212228"/>
              </a:stretch>
            </a:blipFill>
          </p:spPr>
        </p:sp>
        <p:sp>
          <p:nvSpPr>
            <p:cNvPr name="TextBox 58" id="58"/>
            <p:cNvSpPr txBox="true"/>
            <p:nvPr/>
          </p:nvSpPr>
          <p:spPr>
            <a:xfrm>
              <a:off x="0" y="-38100"/>
              <a:ext cx="10972800" cy="8534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6B728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WeFIND  |  TCC  |  IFSul Campus Pelotas</a:t>
              </a:r>
            </a:p>
          </p:txBody>
        </p:sp>
      </p:grpSp>
    </p:spTree>
  </p:cSld>
  <p:clrMapOvr>
    <a:masterClrMapping/>
  </p:clrMapOvr>
</p:sld>
</file>

<file path=ppt/slides/slide29.xml><?xml version="1.0" encoding="utf-8"?>
<p:sld xmlns:p="http://schemas.openxmlformats.org/presentationml/2006/main" xmlns:a="http://schemas.openxmlformats.org/drawingml/2006/main" xmlns:r="http://schemas.openxmlformats.org/officeDocument/2006/relationships" show="false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914400" y="245364"/>
            <a:ext cx="6858000" cy="6324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00"/>
              </a:lnSpc>
            </a:pPr>
            <a:r>
              <a:rPr lang="en-US" b="true" sz="2000" spc="400">
                <a:solidFill>
                  <a:srgbClr val="B1734A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05  DEMONSTRAÇÃO E AVALIAÇÃO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914400" y="1005840"/>
            <a:ext cx="4754880" cy="16459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560"/>
              </a:lnSpc>
            </a:pPr>
            <a:r>
              <a:rPr lang="en-US" sz="3800" b="true">
                <a:solidFill>
                  <a:srgbClr val="2E5634"/>
                </a:solidFill>
                <a:latin typeface="Cambria Bold"/>
                <a:ea typeface="Cambria Bold"/>
                <a:cs typeface="Cambria Bold"/>
                <a:sym typeface="Cambria Bold"/>
              </a:rPr>
              <a:t>Usabilidade: SUS com 12 tutores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914400" y="3108960"/>
            <a:ext cx="4937760" cy="1828800"/>
            <a:chOff x="0" y="0"/>
            <a:chExt cx="6583680" cy="24384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6583680" cy="2438400"/>
            </a:xfrm>
            <a:custGeom>
              <a:avLst/>
              <a:gdLst/>
              <a:ahLst/>
              <a:cxnLst/>
              <a:rect r="r" b="b" t="t" l="l"/>
              <a:pathLst>
                <a:path h="2438400" w="6583680">
                  <a:moveTo>
                    <a:pt x="0" y="0"/>
                  </a:moveTo>
                  <a:lnTo>
                    <a:pt x="6583680" y="0"/>
                  </a:lnTo>
                  <a:lnTo>
                    <a:pt x="6583680" y="2438400"/>
                  </a:lnTo>
                  <a:lnTo>
                    <a:pt x="0" y="24384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2572" r="0" b="-2572"/>
              </a:stretch>
            </a:blipFill>
          </p:spPr>
        </p:sp>
      </p:grpSp>
      <p:grpSp>
        <p:nvGrpSpPr>
          <p:cNvPr name="Group 6" id="6"/>
          <p:cNvGrpSpPr/>
          <p:nvPr/>
        </p:nvGrpSpPr>
        <p:grpSpPr>
          <a:xfrm rot="0">
            <a:off x="914400" y="3101816"/>
            <a:ext cx="4937760" cy="1835944"/>
            <a:chOff x="0" y="0"/>
            <a:chExt cx="6583680" cy="2447925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6583680" cy="2447925"/>
            </a:xfrm>
            <a:custGeom>
              <a:avLst/>
              <a:gdLst/>
              <a:ahLst/>
              <a:cxnLst/>
              <a:rect r="r" b="b" t="t" l="l"/>
              <a:pathLst>
                <a:path h="2447925" w="6583680">
                  <a:moveTo>
                    <a:pt x="0" y="0"/>
                  </a:moveTo>
                  <a:lnTo>
                    <a:pt x="6583680" y="0"/>
                  </a:lnTo>
                  <a:lnTo>
                    <a:pt x="6583680" y="2447925"/>
                  </a:lnTo>
                  <a:lnTo>
                    <a:pt x="0" y="2447925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368" r="0" b="-2368"/>
              </a:stretch>
            </a:blipFill>
          </p:spPr>
        </p:sp>
      </p:grpSp>
      <p:grpSp>
        <p:nvGrpSpPr>
          <p:cNvPr name="Group 8" id="8"/>
          <p:cNvGrpSpPr/>
          <p:nvPr/>
        </p:nvGrpSpPr>
        <p:grpSpPr>
          <a:xfrm rot="0">
            <a:off x="914400" y="3094672"/>
            <a:ext cx="4937760" cy="1843088"/>
            <a:chOff x="0" y="0"/>
            <a:chExt cx="6583680" cy="245745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6583680" cy="2457450"/>
            </a:xfrm>
            <a:custGeom>
              <a:avLst/>
              <a:gdLst/>
              <a:ahLst/>
              <a:cxnLst/>
              <a:rect r="r" b="b" t="t" l="l"/>
              <a:pathLst>
                <a:path h="2457450" w="6583680">
                  <a:moveTo>
                    <a:pt x="0" y="0"/>
                  </a:moveTo>
                  <a:lnTo>
                    <a:pt x="6583680" y="0"/>
                  </a:lnTo>
                  <a:lnTo>
                    <a:pt x="6583680" y="2457450"/>
                  </a:lnTo>
                  <a:lnTo>
                    <a:pt x="0" y="245745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165" r="0" b="-2165"/>
              </a:stretch>
            </a:blipFill>
          </p:spPr>
        </p:sp>
      </p:grpSp>
      <p:grpSp>
        <p:nvGrpSpPr>
          <p:cNvPr name="Group 10" id="10"/>
          <p:cNvGrpSpPr/>
          <p:nvPr/>
        </p:nvGrpSpPr>
        <p:grpSpPr>
          <a:xfrm rot="0">
            <a:off x="914400" y="3087529"/>
            <a:ext cx="4937760" cy="1850231"/>
            <a:chOff x="0" y="0"/>
            <a:chExt cx="6583680" cy="2466975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6583680" cy="2466975"/>
            </a:xfrm>
            <a:custGeom>
              <a:avLst/>
              <a:gdLst/>
              <a:ahLst/>
              <a:cxnLst/>
              <a:rect r="r" b="b" t="t" l="l"/>
              <a:pathLst>
                <a:path h="2466975" w="6583680">
                  <a:moveTo>
                    <a:pt x="0" y="0"/>
                  </a:moveTo>
                  <a:lnTo>
                    <a:pt x="6583680" y="0"/>
                  </a:lnTo>
                  <a:lnTo>
                    <a:pt x="6583680" y="2466975"/>
                  </a:lnTo>
                  <a:lnTo>
                    <a:pt x="0" y="2466975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1963" r="0" b="-1963"/>
              </a:stretch>
            </a:blipFill>
          </p:spPr>
        </p:sp>
      </p:grpSp>
      <p:grpSp>
        <p:nvGrpSpPr>
          <p:cNvPr name="Group 12" id="12"/>
          <p:cNvGrpSpPr/>
          <p:nvPr/>
        </p:nvGrpSpPr>
        <p:grpSpPr>
          <a:xfrm rot="0">
            <a:off x="914400" y="3080385"/>
            <a:ext cx="4937760" cy="1857375"/>
            <a:chOff x="0" y="0"/>
            <a:chExt cx="6583680" cy="247650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6583680" cy="2476500"/>
            </a:xfrm>
            <a:custGeom>
              <a:avLst/>
              <a:gdLst/>
              <a:ahLst/>
              <a:cxnLst/>
              <a:rect r="r" b="b" t="t" l="l"/>
              <a:pathLst>
                <a:path h="2476500" w="6583680">
                  <a:moveTo>
                    <a:pt x="0" y="0"/>
                  </a:moveTo>
                  <a:lnTo>
                    <a:pt x="6583680" y="0"/>
                  </a:lnTo>
                  <a:lnTo>
                    <a:pt x="6583680" y="2476500"/>
                  </a:lnTo>
                  <a:lnTo>
                    <a:pt x="0" y="2476500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l="0" t="-1764" r="0" b="-1764"/>
              </a:stretch>
            </a:blipFill>
          </p:spPr>
        </p:sp>
      </p:grpSp>
      <p:grpSp>
        <p:nvGrpSpPr>
          <p:cNvPr name="Group 14" id="14"/>
          <p:cNvGrpSpPr/>
          <p:nvPr/>
        </p:nvGrpSpPr>
        <p:grpSpPr>
          <a:xfrm rot="0">
            <a:off x="914400" y="3073241"/>
            <a:ext cx="4937760" cy="1864519"/>
            <a:chOff x="0" y="0"/>
            <a:chExt cx="6583680" cy="2486025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6583680" cy="2486025"/>
            </a:xfrm>
            <a:custGeom>
              <a:avLst/>
              <a:gdLst/>
              <a:ahLst/>
              <a:cxnLst/>
              <a:rect r="r" b="b" t="t" l="l"/>
              <a:pathLst>
                <a:path h="2486025" w="6583680">
                  <a:moveTo>
                    <a:pt x="0" y="0"/>
                  </a:moveTo>
                  <a:lnTo>
                    <a:pt x="6583680" y="0"/>
                  </a:lnTo>
                  <a:lnTo>
                    <a:pt x="6583680" y="2486025"/>
                  </a:lnTo>
                  <a:lnTo>
                    <a:pt x="0" y="2486025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0" t="-1565" r="0" b="-1565"/>
              </a:stretch>
            </a:blipFill>
          </p:spPr>
        </p:sp>
      </p:grpSp>
      <p:grpSp>
        <p:nvGrpSpPr>
          <p:cNvPr name="Group 16" id="16"/>
          <p:cNvGrpSpPr/>
          <p:nvPr/>
        </p:nvGrpSpPr>
        <p:grpSpPr>
          <a:xfrm rot="0">
            <a:off x="914400" y="3066098"/>
            <a:ext cx="4937760" cy="1871662"/>
            <a:chOff x="0" y="0"/>
            <a:chExt cx="6583680" cy="249555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6583680" cy="2495550"/>
            </a:xfrm>
            <a:custGeom>
              <a:avLst/>
              <a:gdLst/>
              <a:ahLst/>
              <a:cxnLst/>
              <a:rect r="r" b="b" t="t" l="l"/>
              <a:pathLst>
                <a:path h="2495550" w="6583680">
                  <a:moveTo>
                    <a:pt x="0" y="0"/>
                  </a:moveTo>
                  <a:lnTo>
                    <a:pt x="6583680" y="0"/>
                  </a:lnTo>
                  <a:lnTo>
                    <a:pt x="6583680" y="2495550"/>
                  </a:lnTo>
                  <a:lnTo>
                    <a:pt x="0" y="2495550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0" t="-1404" r="0" b="-1404"/>
              </a:stretch>
            </a:blipFill>
          </p:spPr>
        </p:sp>
        <p:sp>
          <p:nvSpPr>
            <p:cNvPr name="TextBox 18" id="18"/>
            <p:cNvSpPr txBox="true"/>
            <p:nvPr/>
          </p:nvSpPr>
          <p:spPr>
            <a:xfrm>
              <a:off x="0" y="-9525"/>
              <a:ext cx="6583680" cy="250507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3439"/>
                </a:lnSpc>
              </a:pPr>
              <a:r>
                <a:rPr lang="en-US" sz="11199" b="true">
                  <a:solidFill>
                    <a:srgbClr val="2E5634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93,33</a:t>
              </a:r>
            </a:p>
          </p:txBody>
        </p:sp>
      </p:grpSp>
      <p:sp>
        <p:nvSpPr>
          <p:cNvPr name="TextBox 19" id="19"/>
          <p:cNvSpPr txBox="true"/>
          <p:nvPr/>
        </p:nvSpPr>
        <p:spPr>
          <a:xfrm rot="0">
            <a:off x="914400" y="4762500"/>
            <a:ext cx="4572000" cy="13639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78"/>
              </a:lnSpc>
            </a:pPr>
            <a:r>
              <a:rPr lang="en-US" sz="2400">
                <a:solidFill>
                  <a:srgbClr val="5B6B5F"/>
                </a:solidFill>
                <a:latin typeface="Calibri (MS)"/>
                <a:ea typeface="Calibri (MS)"/>
                <a:cs typeface="Calibri (MS)"/>
                <a:sym typeface="Calibri (MS)"/>
              </a:rPr>
              <a:t>média SUS: grau A+ (a partir de 84,1)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914400" y="6450330"/>
            <a:ext cx="4754880" cy="681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20"/>
              </a:lnSpc>
            </a:pPr>
            <a:r>
              <a:rPr lang="en-US" sz="2600" b="true">
                <a:solidFill>
                  <a:srgbClr val="B1734A"/>
                </a:solidFill>
                <a:latin typeface="Cambria Bold"/>
                <a:ea typeface="Cambria Bold"/>
                <a:cs typeface="Cambria Bold"/>
                <a:sym typeface="Cambria Bold"/>
              </a:rPr>
              <a:t>5 tarefas no aplicativo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914400" y="6957060"/>
            <a:ext cx="4572000" cy="15468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78"/>
              </a:lnSpc>
            </a:pPr>
            <a:r>
              <a:rPr lang="en-US" sz="2400">
                <a:solidFill>
                  <a:srgbClr val="1B2A1F"/>
                </a:solidFill>
                <a:latin typeface="Calibri (MS)"/>
                <a:ea typeface="Calibri (MS)"/>
                <a:cs typeface="Calibri (MS)"/>
                <a:sym typeface="Calibri (MS)"/>
              </a:rPr>
              <a:t>12 de 12 disseram ter concluído todas com facilidade</a:t>
            </a:r>
          </a:p>
        </p:txBody>
      </p:sp>
      <p:grpSp>
        <p:nvGrpSpPr>
          <p:cNvPr name="Group 22" id="22"/>
          <p:cNvGrpSpPr/>
          <p:nvPr/>
        </p:nvGrpSpPr>
        <p:grpSpPr>
          <a:xfrm rot="0">
            <a:off x="6583680" y="914400"/>
            <a:ext cx="10789920" cy="6675120"/>
            <a:chOff x="0" y="0"/>
            <a:chExt cx="14386560" cy="8900160"/>
          </a:xfrm>
        </p:grpSpPr>
        <p:sp>
          <p:nvSpPr>
            <p:cNvPr name="Freeform 23" id="23" descr="/tmp/un/ppt/media/image43.png"/>
            <p:cNvSpPr/>
            <p:nvPr/>
          </p:nvSpPr>
          <p:spPr>
            <a:xfrm flipH="false" flipV="false" rot="0">
              <a:off x="0" y="0"/>
              <a:ext cx="14386561" cy="8900160"/>
            </a:xfrm>
            <a:custGeom>
              <a:avLst/>
              <a:gdLst/>
              <a:ahLst/>
              <a:cxnLst/>
              <a:rect r="r" b="b" t="t" l="l"/>
              <a:pathLst>
                <a:path h="8900160" w="14386561">
                  <a:moveTo>
                    <a:pt x="0" y="0"/>
                  </a:moveTo>
                  <a:lnTo>
                    <a:pt x="14386561" y="0"/>
                  </a:lnTo>
                  <a:lnTo>
                    <a:pt x="14386561" y="8900160"/>
                  </a:lnTo>
                  <a:lnTo>
                    <a:pt x="0" y="890016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>
                <a:fillRect l="-29" t="0" r="-29" b="0"/>
              </a:stretch>
            </a:blipFill>
          </p:spPr>
        </p:sp>
      </p:grpSp>
      <p:sp>
        <p:nvSpPr>
          <p:cNvPr name="TextBox 24" id="24"/>
          <p:cNvSpPr txBox="true"/>
          <p:nvPr/>
        </p:nvSpPr>
        <p:spPr>
          <a:xfrm rot="0">
            <a:off x="6583680" y="7896225"/>
            <a:ext cx="10789920" cy="14306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2100">
                <a:solidFill>
                  <a:srgbClr val="5B6B5F"/>
                </a:solidFill>
                <a:latin typeface="Calibri (MS)"/>
                <a:ea typeface="Calibri (MS)"/>
                <a:cs typeface="Calibri (MS)"/>
                <a:sym typeface="Calibri (MS)"/>
              </a:rPr>
              <a:t>Escala de Sauro e Lewis (2016). Amostra pequena e conclusão autorrelatada. APK distribuído pela landing page no GitHub Pages.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16459200" y="9471660"/>
            <a:ext cx="914400" cy="3810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400"/>
              </a:lnSpc>
            </a:pPr>
            <a:r>
              <a:rPr lang="en-US" sz="2000">
                <a:solidFill>
                  <a:srgbClr val="5B6B5F"/>
                </a:solidFill>
                <a:latin typeface="Calibri (MS)"/>
                <a:ea typeface="Calibri (MS)"/>
                <a:cs typeface="Calibri (MS)"/>
                <a:sym typeface="Calibri (MS)"/>
              </a:rPr>
              <a:t>33</a:t>
            </a:r>
          </a:p>
        </p:txBody>
      </p:sp>
      <p:grpSp>
        <p:nvGrpSpPr>
          <p:cNvPr name="Group 26" id="26"/>
          <p:cNvGrpSpPr/>
          <p:nvPr/>
        </p:nvGrpSpPr>
        <p:grpSpPr>
          <a:xfrm rot="0">
            <a:off x="822960" y="9572625"/>
            <a:ext cx="8229600" cy="440055"/>
            <a:chOff x="0" y="0"/>
            <a:chExt cx="10972800" cy="586740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10972800" cy="586740"/>
            </a:xfrm>
            <a:custGeom>
              <a:avLst/>
              <a:gdLst/>
              <a:ahLst/>
              <a:cxnLst/>
              <a:rect r="r" b="b" t="t" l="l"/>
              <a:pathLst>
                <a:path h="5867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586740"/>
                  </a:lnTo>
                  <a:lnTo>
                    <a:pt x="0" y="5867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314142" r="0" b="-314140"/>
              </a:stretch>
            </a:blipFill>
          </p:spPr>
        </p:sp>
      </p:grpSp>
      <p:grpSp>
        <p:nvGrpSpPr>
          <p:cNvPr name="Group 28" id="28"/>
          <p:cNvGrpSpPr/>
          <p:nvPr/>
        </p:nvGrpSpPr>
        <p:grpSpPr>
          <a:xfrm rot="0">
            <a:off x="822960" y="9544050"/>
            <a:ext cx="8229600" cy="468630"/>
            <a:chOff x="0" y="0"/>
            <a:chExt cx="10972800" cy="624840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10972800" cy="624840"/>
            </a:xfrm>
            <a:custGeom>
              <a:avLst/>
              <a:gdLst/>
              <a:ahLst/>
              <a:cxnLst/>
              <a:rect r="r" b="b" t="t" l="l"/>
              <a:pathLst>
                <a:path h="6248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624840"/>
                  </a:lnTo>
                  <a:lnTo>
                    <a:pt x="0" y="6248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91939" r="0" b="-291936"/>
              </a:stretch>
            </a:blipFill>
          </p:spPr>
        </p:sp>
      </p:grpSp>
      <p:grpSp>
        <p:nvGrpSpPr>
          <p:cNvPr name="Group 30" id="30"/>
          <p:cNvGrpSpPr/>
          <p:nvPr/>
        </p:nvGrpSpPr>
        <p:grpSpPr>
          <a:xfrm rot="0">
            <a:off x="822960" y="9515475"/>
            <a:ext cx="8229600" cy="497205"/>
            <a:chOff x="0" y="0"/>
            <a:chExt cx="10972800" cy="662940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10972800" cy="662940"/>
            </a:xfrm>
            <a:custGeom>
              <a:avLst/>
              <a:gdLst/>
              <a:ahLst/>
              <a:cxnLst/>
              <a:rect r="r" b="b" t="t" l="l"/>
              <a:pathLst>
                <a:path h="6629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662940"/>
                  </a:lnTo>
                  <a:lnTo>
                    <a:pt x="0" y="66294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72287" r="0" b="-272285"/>
              </a:stretch>
            </a:blipFill>
          </p:spPr>
        </p:sp>
      </p:grpSp>
      <p:grpSp>
        <p:nvGrpSpPr>
          <p:cNvPr name="Group 32" id="32"/>
          <p:cNvGrpSpPr/>
          <p:nvPr/>
        </p:nvGrpSpPr>
        <p:grpSpPr>
          <a:xfrm rot="0">
            <a:off x="822960" y="9486900"/>
            <a:ext cx="8229600" cy="525780"/>
            <a:chOff x="0" y="0"/>
            <a:chExt cx="10972800" cy="701040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0" y="0"/>
              <a:ext cx="10972800" cy="701040"/>
            </a:xfrm>
            <a:custGeom>
              <a:avLst/>
              <a:gdLst/>
              <a:ahLst/>
              <a:cxnLst/>
              <a:rect r="r" b="b" t="t" l="l"/>
              <a:pathLst>
                <a:path h="7010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701040"/>
                  </a:lnTo>
                  <a:lnTo>
                    <a:pt x="0" y="701040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254771" r="0" b="-254769"/>
              </a:stretch>
            </a:blipFill>
          </p:spPr>
        </p:sp>
      </p:grpSp>
      <p:grpSp>
        <p:nvGrpSpPr>
          <p:cNvPr name="Group 34" id="34"/>
          <p:cNvGrpSpPr/>
          <p:nvPr/>
        </p:nvGrpSpPr>
        <p:grpSpPr>
          <a:xfrm rot="0">
            <a:off x="822960" y="9458325"/>
            <a:ext cx="8229600" cy="554355"/>
            <a:chOff x="0" y="0"/>
            <a:chExt cx="10972800" cy="739140"/>
          </a:xfrm>
        </p:grpSpPr>
        <p:sp>
          <p:nvSpPr>
            <p:cNvPr name="Freeform 35" id="35"/>
            <p:cNvSpPr/>
            <p:nvPr/>
          </p:nvSpPr>
          <p:spPr>
            <a:xfrm flipH="false" flipV="false" rot="0">
              <a:off x="0" y="0"/>
              <a:ext cx="10972800" cy="739140"/>
            </a:xfrm>
            <a:custGeom>
              <a:avLst/>
              <a:gdLst/>
              <a:ahLst/>
              <a:cxnLst/>
              <a:rect r="r" b="b" t="t" l="l"/>
              <a:pathLst>
                <a:path h="7391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739140"/>
                  </a:lnTo>
                  <a:lnTo>
                    <a:pt x="0" y="739140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l="0" t="-239061" r="0" b="-239060"/>
              </a:stretch>
            </a:blipFill>
          </p:spPr>
        </p:sp>
      </p:grpSp>
      <p:grpSp>
        <p:nvGrpSpPr>
          <p:cNvPr name="Group 36" id="36"/>
          <p:cNvGrpSpPr/>
          <p:nvPr/>
        </p:nvGrpSpPr>
        <p:grpSpPr>
          <a:xfrm rot="0">
            <a:off x="822960" y="9429750"/>
            <a:ext cx="8229600" cy="582930"/>
            <a:chOff x="0" y="0"/>
            <a:chExt cx="10972800" cy="777240"/>
          </a:xfrm>
        </p:grpSpPr>
        <p:sp>
          <p:nvSpPr>
            <p:cNvPr name="Freeform 37" id="37"/>
            <p:cNvSpPr/>
            <p:nvPr/>
          </p:nvSpPr>
          <p:spPr>
            <a:xfrm flipH="false" flipV="false" rot="0">
              <a:off x="0" y="0"/>
              <a:ext cx="10972800" cy="777240"/>
            </a:xfrm>
            <a:custGeom>
              <a:avLst/>
              <a:gdLst/>
              <a:ahLst/>
              <a:cxnLst/>
              <a:rect r="r" b="b" t="t" l="l"/>
              <a:pathLst>
                <a:path h="7772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777240"/>
                  </a:lnTo>
                  <a:lnTo>
                    <a:pt x="0" y="777240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0" t="-224892" r="0" b="-224890"/>
              </a:stretch>
            </a:blipFill>
          </p:spPr>
        </p:sp>
      </p:grpSp>
      <p:grpSp>
        <p:nvGrpSpPr>
          <p:cNvPr name="Group 38" id="38"/>
          <p:cNvGrpSpPr/>
          <p:nvPr/>
        </p:nvGrpSpPr>
        <p:grpSpPr>
          <a:xfrm rot="0">
            <a:off x="822960" y="9401175"/>
            <a:ext cx="8229600" cy="611505"/>
            <a:chOff x="0" y="0"/>
            <a:chExt cx="10972800" cy="815340"/>
          </a:xfrm>
        </p:grpSpPr>
        <p:sp>
          <p:nvSpPr>
            <p:cNvPr name="Freeform 39" id="39"/>
            <p:cNvSpPr/>
            <p:nvPr/>
          </p:nvSpPr>
          <p:spPr>
            <a:xfrm flipH="false" flipV="false" rot="0">
              <a:off x="0" y="0"/>
              <a:ext cx="10972800" cy="815340"/>
            </a:xfrm>
            <a:custGeom>
              <a:avLst/>
              <a:gdLst/>
              <a:ahLst/>
              <a:cxnLst/>
              <a:rect r="r" b="b" t="t" l="l"/>
              <a:pathLst>
                <a:path h="8153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815340"/>
                  </a:lnTo>
                  <a:lnTo>
                    <a:pt x="0" y="815340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0" t="-212228" r="0" b="-212228"/>
              </a:stretch>
            </a:blipFill>
          </p:spPr>
        </p:sp>
        <p:sp>
          <p:nvSpPr>
            <p:cNvPr name="TextBox 40" id="40"/>
            <p:cNvSpPr txBox="true"/>
            <p:nvPr/>
          </p:nvSpPr>
          <p:spPr>
            <a:xfrm>
              <a:off x="0" y="-38100"/>
              <a:ext cx="10972800" cy="8534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6B728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WeFIND  |  TCC  |  IFSul Campus Pelotas</a:t>
              </a:r>
            </a:p>
          </p:txBody>
        </p:sp>
      </p:grpSp>
    </p:spTree>
  </p:cSld>
  <p:clrMapOvr>
    <a:masterClrMapping/>
  </p:clrMapOvr>
</p:sld>
</file>

<file path=ppt/slides/slide30.xml><?xml version="1.0" encoding="utf-8"?>
<p:sld xmlns:p="http://schemas.openxmlformats.org/presentationml/2006/main" xmlns:a="http://schemas.openxmlformats.org/drawingml/2006/main">
  <p:cSld>
    <p:bg>
      <p:bgPr>
        <a:solidFill>
          <a:srgbClr val="2E56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463040" y="2274570"/>
            <a:ext cx="9144000" cy="78574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38"/>
              </a:lnSpc>
            </a:pPr>
            <a:r>
              <a:rPr lang="en-US" b="true" sz="2199" spc="599">
                <a:solidFill>
                  <a:srgbClr val="E3B58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A SEGUIR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1463040" y="2960370"/>
            <a:ext cx="6400800" cy="24571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00"/>
              </a:lnSpc>
            </a:pPr>
            <a:r>
              <a:rPr lang="en-US" sz="15000" b="true">
                <a:solidFill>
                  <a:srgbClr val="E3B58F"/>
                </a:solidFill>
                <a:latin typeface="Cambria Bold"/>
                <a:ea typeface="Cambria Bold"/>
                <a:cs typeface="Cambria Bold"/>
                <a:sym typeface="Cambria Bold"/>
              </a:rPr>
              <a:t>06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463040" y="5463540"/>
            <a:ext cx="15544800" cy="11144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920"/>
              </a:lnSpc>
            </a:pPr>
            <a:r>
              <a:rPr lang="en-US" sz="6600" b="true">
                <a:solidFill>
                  <a:srgbClr val="FFFFFF"/>
                </a:solidFill>
                <a:latin typeface="Cambria Bold"/>
                <a:ea typeface="Cambria Bold"/>
                <a:cs typeface="Cambria Bold"/>
                <a:sym typeface="Cambria Bold"/>
              </a:rPr>
              <a:t>Considerações finais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463040" y="6366510"/>
            <a:ext cx="15544800" cy="100004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7"/>
              </a:lnSpc>
            </a:pPr>
            <a:r>
              <a:rPr lang="en-US" sz="2799">
                <a:solidFill>
                  <a:srgbClr val="C9D8CB"/>
                </a:solidFill>
                <a:latin typeface="Calibri (MS)"/>
                <a:ea typeface="Calibri (MS)"/>
                <a:cs typeface="Calibri (MS)"/>
                <a:sym typeface="Calibri (MS)"/>
              </a:rPr>
              <a:t>Entregas, limites e próximos passos</a:t>
            </a:r>
          </a:p>
        </p:txBody>
      </p:sp>
      <p:grpSp>
        <p:nvGrpSpPr>
          <p:cNvPr name="Group 6" id="6"/>
          <p:cNvGrpSpPr/>
          <p:nvPr/>
        </p:nvGrpSpPr>
        <p:grpSpPr>
          <a:xfrm rot="0">
            <a:off x="1463040" y="8869680"/>
            <a:ext cx="1645920" cy="91440"/>
            <a:chOff x="0" y="0"/>
            <a:chExt cx="2194560" cy="12192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194560" cy="121920"/>
            </a:xfrm>
            <a:custGeom>
              <a:avLst/>
              <a:gdLst/>
              <a:ahLst/>
              <a:cxnLst/>
              <a:rect r="r" b="b" t="t" l="l"/>
              <a:pathLst>
                <a:path h="121920" w="2194560">
                  <a:moveTo>
                    <a:pt x="0" y="60960"/>
                  </a:moveTo>
                  <a:cubicBezTo>
                    <a:pt x="0" y="27305"/>
                    <a:pt x="27305" y="0"/>
                    <a:pt x="60960" y="0"/>
                  </a:cubicBezTo>
                  <a:lnTo>
                    <a:pt x="2133600" y="0"/>
                  </a:lnTo>
                  <a:cubicBezTo>
                    <a:pt x="2167255" y="0"/>
                    <a:pt x="2194560" y="27305"/>
                    <a:pt x="2194560" y="60960"/>
                  </a:cubicBezTo>
                  <a:cubicBezTo>
                    <a:pt x="2194560" y="94615"/>
                    <a:pt x="2167255" y="121920"/>
                    <a:pt x="2133600" y="121920"/>
                  </a:cubicBezTo>
                  <a:lnTo>
                    <a:pt x="60960" y="121920"/>
                  </a:lnTo>
                  <a:cubicBezTo>
                    <a:pt x="27305" y="121920"/>
                    <a:pt x="0" y="94615"/>
                    <a:pt x="0" y="60960"/>
                  </a:cubicBezTo>
                  <a:close/>
                </a:path>
              </a:pathLst>
            </a:custGeom>
            <a:solidFill>
              <a:srgbClr val="C9D8CB"/>
            </a:solidFill>
          </p:spPr>
        </p:sp>
      </p:grpSp>
      <p:sp>
        <p:nvSpPr>
          <p:cNvPr name="TextBox 8" id="8"/>
          <p:cNvSpPr txBox="true"/>
          <p:nvPr/>
        </p:nvSpPr>
        <p:spPr>
          <a:xfrm rot="0">
            <a:off x="1463040" y="8999220"/>
            <a:ext cx="1645920" cy="57145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19"/>
              </a:lnSpc>
            </a:pPr>
            <a:r>
              <a:rPr lang="en-US" sz="1599" b="true">
                <a:solidFill>
                  <a:srgbClr val="C9D8CB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01</a:t>
            </a:r>
          </a:p>
        </p:txBody>
      </p:sp>
      <p:grpSp>
        <p:nvGrpSpPr>
          <p:cNvPr name="Group 9" id="9"/>
          <p:cNvGrpSpPr/>
          <p:nvPr/>
        </p:nvGrpSpPr>
        <p:grpSpPr>
          <a:xfrm rot="0">
            <a:off x="3291840" y="8869680"/>
            <a:ext cx="1645920" cy="91440"/>
            <a:chOff x="0" y="0"/>
            <a:chExt cx="2194560" cy="121920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2194560" cy="121920"/>
            </a:xfrm>
            <a:custGeom>
              <a:avLst/>
              <a:gdLst/>
              <a:ahLst/>
              <a:cxnLst/>
              <a:rect r="r" b="b" t="t" l="l"/>
              <a:pathLst>
                <a:path h="121920" w="2194560">
                  <a:moveTo>
                    <a:pt x="0" y="60960"/>
                  </a:moveTo>
                  <a:cubicBezTo>
                    <a:pt x="0" y="27305"/>
                    <a:pt x="27305" y="0"/>
                    <a:pt x="60960" y="0"/>
                  </a:cubicBezTo>
                  <a:lnTo>
                    <a:pt x="2133600" y="0"/>
                  </a:lnTo>
                  <a:cubicBezTo>
                    <a:pt x="2167255" y="0"/>
                    <a:pt x="2194560" y="27305"/>
                    <a:pt x="2194560" y="60960"/>
                  </a:cubicBezTo>
                  <a:cubicBezTo>
                    <a:pt x="2194560" y="94615"/>
                    <a:pt x="2167255" y="121920"/>
                    <a:pt x="2133600" y="121920"/>
                  </a:cubicBezTo>
                  <a:lnTo>
                    <a:pt x="60960" y="121920"/>
                  </a:lnTo>
                  <a:cubicBezTo>
                    <a:pt x="27305" y="121920"/>
                    <a:pt x="0" y="94615"/>
                    <a:pt x="0" y="60960"/>
                  </a:cubicBezTo>
                  <a:close/>
                </a:path>
              </a:pathLst>
            </a:custGeom>
            <a:solidFill>
              <a:srgbClr val="C9D8CB"/>
            </a:solidFill>
          </p:spPr>
        </p:sp>
      </p:grpSp>
      <p:sp>
        <p:nvSpPr>
          <p:cNvPr name="TextBox 11" id="11"/>
          <p:cNvSpPr txBox="true"/>
          <p:nvPr/>
        </p:nvSpPr>
        <p:spPr>
          <a:xfrm rot="0">
            <a:off x="3291840" y="8999220"/>
            <a:ext cx="1645920" cy="57145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19"/>
              </a:lnSpc>
            </a:pPr>
            <a:r>
              <a:rPr lang="en-US" sz="1599" b="true">
                <a:solidFill>
                  <a:srgbClr val="C9D8CB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02</a:t>
            </a:r>
          </a:p>
        </p:txBody>
      </p:sp>
      <p:grpSp>
        <p:nvGrpSpPr>
          <p:cNvPr name="Group 12" id="12"/>
          <p:cNvGrpSpPr/>
          <p:nvPr/>
        </p:nvGrpSpPr>
        <p:grpSpPr>
          <a:xfrm rot="0">
            <a:off x="5120640" y="8869680"/>
            <a:ext cx="1645920" cy="91440"/>
            <a:chOff x="0" y="0"/>
            <a:chExt cx="2194560" cy="12192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2194560" cy="121920"/>
            </a:xfrm>
            <a:custGeom>
              <a:avLst/>
              <a:gdLst/>
              <a:ahLst/>
              <a:cxnLst/>
              <a:rect r="r" b="b" t="t" l="l"/>
              <a:pathLst>
                <a:path h="121920" w="2194560">
                  <a:moveTo>
                    <a:pt x="0" y="60960"/>
                  </a:moveTo>
                  <a:cubicBezTo>
                    <a:pt x="0" y="27305"/>
                    <a:pt x="27305" y="0"/>
                    <a:pt x="60960" y="0"/>
                  </a:cubicBezTo>
                  <a:lnTo>
                    <a:pt x="2133600" y="0"/>
                  </a:lnTo>
                  <a:cubicBezTo>
                    <a:pt x="2167255" y="0"/>
                    <a:pt x="2194560" y="27305"/>
                    <a:pt x="2194560" y="60960"/>
                  </a:cubicBezTo>
                  <a:cubicBezTo>
                    <a:pt x="2194560" y="94615"/>
                    <a:pt x="2167255" y="121920"/>
                    <a:pt x="2133600" y="121920"/>
                  </a:cubicBezTo>
                  <a:lnTo>
                    <a:pt x="60960" y="121920"/>
                  </a:lnTo>
                  <a:cubicBezTo>
                    <a:pt x="27305" y="121920"/>
                    <a:pt x="0" y="94615"/>
                    <a:pt x="0" y="60960"/>
                  </a:cubicBezTo>
                  <a:close/>
                </a:path>
              </a:pathLst>
            </a:custGeom>
            <a:solidFill>
              <a:srgbClr val="C9D8CB"/>
            </a:solidFill>
          </p:spPr>
        </p:sp>
      </p:grpSp>
      <p:sp>
        <p:nvSpPr>
          <p:cNvPr name="TextBox 14" id="14"/>
          <p:cNvSpPr txBox="true"/>
          <p:nvPr/>
        </p:nvSpPr>
        <p:spPr>
          <a:xfrm rot="0">
            <a:off x="5120640" y="8999220"/>
            <a:ext cx="1645920" cy="57145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19"/>
              </a:lnSpc>
            </a:pPr>
            <a:r>
              <a:rPr lang="en-US" sz="1599" b="true">
                <a:solidFill>
                  <a:srgbClr val="C9D8CB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03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6949440" y="8869680"/>
            <a:ext cx="1645920" cy="91440"/>
            <a:chOff x="0" y="0"/>
            <a:chExt cx="2194560" cy="12192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2194560" cy="121920"/>
            </a:xfrm>
            <a:custGeom>
              <a:avLst/>
              <a:gdLst/>
              <a:ahLst/>
              <a:cxnLst/>
              <a:rect r="r" b="b" t="t" l="l"/>
              <a:pathLst>
                <a:path h="121920" w="2194560">
                  <a:moveTo>
                    <a:pt x="0" y="60960"/>
                  </a:moveTo>
                  <a:cubicBezTo>
                    <a:pt x="0" y="27305"/>
                    <a:pt x="27305" y="0"/>
                    <a:pt x="60960" y="0"/>
                  </a:cubicBezTo>
                  <a:lnTo>
                    <a:pt x="2133600" y="0"/>
                  </a:lnTo>
                  <a:cubicBezTo>
                    <a:pt x="2167255" y="0"/>
                    <a:pt x="2194560" y="27305"/>
                    <a:pt x="2194560" y="60960"/>
                  </a:cubicBezTo>
                  <a:cubicBezTo>
                    <a:pt x="2194560" y="94615"/>
                    <a:pt x="2167255" y="121920"/>
                    <a:pt x="2133600" y="121920"/>
                  </a:cubicBezTo>
                  <a:lnTo>
                    <a:pt x="60960" y="121920"/>
                  </a:lnTo>
                  <a:cubicBezTo>
                    <a:pt x="27305" y="121920"/>
                    <a:pt x="0" y="94615"/>
                    <a:pt x="0" y="60960"/>
                  </a:cubicBezTo>
                  <a:close/>
                </a:path>
              </a:pathLst>
            </a:custGeom>
            <a:solidFill>
              <a:srgbClr val="C9D8CB"/>
            </a:solidFill>
          </p:spPr>
        </p:sp>
      </p:grpSp>
      <p:sp>
        <p:nvSpPr>
          <p:cNvPr name="TextBox 17" id="17"/>
          <p:cNvSpPr txBox="true"/>
          <p:nvPr/>
        </p:nvSpPr>
        <p:spPr>
          <a:xfrm rot="0">
            <a:off x="6949440" y="8999220"/>
            <a:ext cx="1645920" cy="57145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19"/>
              </a:lnSpc>
            </a:pPr>
            <a:r>
              <a:rPr lang="en-US" sz="1599" b="true">
                <a:solidFill>
                  <a:srgbClr val="C9D8CB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04</a:t>
            </a:r>
          </a:p>
        </p:txBody>
      </p:sp>
      <p:grpSp>
        <p:nvGrpSpPr>
          <p:cNvPr name="Group 18" id="18"/>
          <p:cNvGrpSpPr/>
          <p:nvPr/>
        </p:nvGrpSpPr>
        <p:grpSpPr>
          <a:xfrm rot="0">
            <a:off x="8778240" y="8869680"/>
            <a:ext cx="1645920" cy="91440"/>
            <a:chOff x="0" y="0"/>
            <a:chExt cx="2194560" cy="121920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2194560" cy="121920"/>
            </a:xfrm>
            <a:custGeom>
              <a:avLst/>
              <a:gdLst/>
              <a:ahLst/>
              <a:cxnLst/>
              <a:rect r="r" b="b" t="t" l="l"/>
              <a:pathLst>
                <a:path h="121920" w="2194560">
                  <a:moveTo>
                    <a:pt x="0" y="60960"/>
                  </a:moveTo>
                  <a:cubicBezTo>
                    <a:pt x="0" y="27305"/>
                    <a:pt x="27305" y="0"/>
                    <a:pt x="60960" y="0"/>
                  </a:cubicBezTo>
                  <a:lnTo>
                    <a:pt x="2133600" y="0"/>
                  </a:lnTo>
                  <a:cubicBezTo>
                    <a:pt x="2167255" y="0"/>
                    <a:pt x="2194560" y="27305"/>
                    <a:pt x="2194560" y="60960"/>
                  </a:cubicBezTo>
                  <a:cubicBezTo>
                    <a:pt x="2194560" y="94615"/>
                    <a:pt x="2167255" y="121920"/>
                    <a:pt x="2133600" y="121920"/>
                  </a:cubicBezTo>
                  <a:lnTo>
                    <a:pt x="60960" y="121920"/>
                  </a:lnTo>
                  <a:cubicBezTo>
                    <a:pt x="27305" y="121920"/>
                    <a:pt x="0" y="94615"/>
                    <a:pt x="0" y="60960"/>
                  </a:cubicBezTo>
                  <a:close/>
                </a:path>
              </a:pathLst>
            </a:custGeom>
            <a:solidFill>
              <a:srgbClr val="C9D8CB"/>
            </a:solidFill>
          </p:spPr>
        </p:sp>
      </p:grpSp>
      <p:sp>
        <p:nvSpPr>
          <p:cNvPr name="TextBox 20" id="20"/>
          <p:cNvSpPr txBox="true"/>
          <p:nvPr/>
        </p:nvSpPr>
        <p:spPr>
          <a:xfrm rot="0">
            <a:off x="8778240" y="8999220"/>
            <a:ext cx="1645920" cy="57145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19"/>
              </a:lnSpc>
            </a:pPr>
            <a:r>
              <a:rPr lang="en-US" sz="1599" b="true">
                <a:solidFill>
                  <a:srgbClr val="C9D8CB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05</a:t>
            </a:r>
          </a:p>
        </p:txBody>
      </p:sp>
      <p:grpSp>
        <p:nvGrpSpPr>
          <p:cNvPr name="Group 21" id="21"/>
          <p:cNvGrpSpPr/>
          <p:nvPr/>
        </p:nvGrpSpPr>
        <p:grpSpPr>
          <a:xfrm rot="0">
            <a:off x="10607040" y="8869680"/>
            <a:ext cx="1645920" cy="91440"/>
            <a:chOff x="0" y="0"/>
            <a:chExt cx="2194560" cy="121920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2194560" cy="121920"/>
            </a:xfrm>
            <a:custGeom>
              <a:avLst/>
              <a:gdLst/>
              <a:ahLst/>
              <a:cxnLst/>
              <a:rect r="r" b="b" t="t" l="l"/>
              <a:pathLst>
                <a:path h="121920" w="2194560">
                  <a:moveTo>
                    <a:pt x="0" y="60960"/>
                  </a:moveTo>
                  <a:cubicBezTo>
                    <a:pt x="0" y="27305"/>
                    <a:pt x="27305" y="0"/>
                    <a:pt x="60960" y="0"/>
                  </a:cubicBezTo>
                  <a:lnTo>
                    <a:pt x="2133600" y="0"/>
                  </a:lnTo>
                  <a:cubicBezTo>
                    <a:pt x="2167255" y="0"/>
                    <a:pt x="2194560" y="27305"/>
                    <a:pt x="2194560" y="60960"/>
                  </a:cubicBezTo>
                  <a:cubicBezTo>
                    <a:pt x="2194560" y="94615"/>
                    <a:pt x="2167255" y="121920"/>
                    <a:pt x="2133600" y="121920"/>
                  </a:cubicBezTo>
                  <a:lnTo>
                    <a:pt x="60960" y="121920"/>
                  </a:lnTo>
                  <a:cubicBezTo>
                    <a:pt x="27305" y="121920"/>
                    <a:pt x="0" y="94615"/>
                    <a:pt x="0" y="60960"/>
                  </a:cubicBezTo>
                  <a:close/>
                </a:path>
              </a:pathLst>
            </a:custGeom>
            <a:solidFill>
              <a:srgbClr val="E3B58F"/>
            </a:solidFill>
          </p:spPr>
        </p:sp>
      </p:grpSp>
      <p:sp>
        <p:nvSpPr>
          <p:cNvPr name="TextBox 23" id="23"/>
          <p:cNvSpPr txBox="true"/>
          <p:nvPr/>
        </p:nvSpPr>
        <p:spPr>
          <a:xfrm rot="0">
            <a:off x="10607040" y="8999220"/>
            <a:ext cx="1645920" cy="57145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19"/>
              </a:lnSpc>
            </a:pPr>
            <a:r>
              <a:rPr lang="en-US" sz="1599" b="true">
                <a:solidFill>
                  <a:srgbClr val="E3B58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06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16459200" y="9471660"/>
            <a:ext cx="914400" cy="3810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400"/>
              </a:lnSpc>
            </a:pPr>
            <a:r>
              <a:rPr lang="en-US" sz="2000">
                <a:solidFill>
                  <a:srgbClr val="C9D8CB"/>
                </a:solidFill>
                <a:latin typeface="Calibri (MS)"/>
                <a:ea typeface="Calibri (MS)"/>
                <a:cs typeface="Calibri (MS)"/>
                <a:sym typeface="Calibri (MS)"/>
              </a:rPr>
              <a:t>26</a:t>
            </a:r>
          </a:p>
        </p:txBody>
      </p:sp>
    </p:spTree>
  </p:cSld>
  <p:clrMapOvr>
    <a:masterClrMapping/>
  </p:clrMapOvr>
</p:sld>
</file>

<file path=ppt/slides/slide3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914400" y="245364"/>
            <a:ext cx="14630400" cy="6324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00"/>
              </a:lnSpc>
            </a:pPr>
            <a:r>
              <a:rPr lang="en-US" b="true" sz="2000" spc="400">
                <a:solidFill>
                  <a:srgbClr val="B1734A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06  CONSIDERAÇÕES FINAIS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914400" y="914400"/>
            <a:ext cx="16459200" cy="1097280"/>
            <a:chOff x="0" y="0"/>
            <a:chExt cx="21945600" cy="146304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21945600" cy="1463040"/>
            </a:xfrm>
            <a:custGeom>
              <a:avLst/>
              <a:gdLst/>
              <a:ahLst/>
              <a:cxnLst/>
              <a:rect r="r" b="b" t="t" l="l"/>
              <a:pathLst>
                <a:path h="146304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463040"/>
                  </a:lnTo>
                  <a:lnTo>
                    <a:pt x="0" y="14630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242072" r="0" b="-242072"/>
              </a:stretch>
            </a:blipFill>
          </p:spPr>
        </p:sp>
      </p:grpSp>
      <p:grpSp>
        <p:nvGrpSpPr>
          <p:cNvPr name="Group 5" id="5"/>
          <p:cNvGrpSpPr/>
          <p:nvPr/>
        </p:nvGrpSpPr>
        <p:grpSpPr>
          <a:xfrm rot="0">
            <a:off x="914400" y="907256"/>
            <a:ext cx="16459200" cy="1104424"/>
            <a:chOff x="0" y="0"/>
            <a:chExt cx="21945600" cy="1472565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21945600" cy="1472565"/>
            </a:xfrm>
            <a:custGeom>
              <a:avLst/>
              <a:gdLst/>
              <a:ahLst/>
              <a:cxnLst/>
              <a:rect r="r" b="b" t="t" l="l"/>
              <a:pathLst>
                <a:path h="1472565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472565"/>
                  </a:lnTo>
                  <a:lnTo>
                    <a:pt x="0" y="1472565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40182" r="0" b="-240183"/>
              </a:stretch>
            </a:blipFill>
          </p:spPr>
        </p:sp>
      </p:grpSp>
      <p:grpSp>
        <p:nvGrpSpPr>
          <p:cNvPr name="Group 7" id="7"/>
          <p:cNvGrpSpPr/>
          <p:nvPr/>
        </p:nvGrpSpPr>
        <p:grpSpPr>
          <a:xfrm rot="0">
            <a:off x="914400" y="900112"/>
            <a:ext cx="16459200" cy="1111568"/>
            <a:chOff x="0" y="0"/>
            <a:chExt cx="21945600" cy="148209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21945600" cy="1482090"/>
            </a:xfrm>
            <a:custGeom>
              <a:avLst/>
              <a:gdLst/>
              <a:ahLst/>
              <a:cxnLst/>
              <a:rect r="r" b="b" t="t" l="l"/>
              <a:pathLst>
                <a:path h="148209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482090"/>
                  </a:lnTo>
                  <a:lnTo>
                    <a:pt x="0" y="148209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38317" r="0" b="-238318"/>
              </a:stretch>
            </a:blipFill>
          </p:spPr>
        </p:sp>
      </p:grpSp>
      <p:grpSp>
        <p:nvGrpSpPr>
          <p:cNvPr name="Group 9" id="9"/>
          <p:cNvGrpSpPr/>
          <p:nvPr/>
        </p:nvGrpSpPr>
        <p:grpSpPr>
          <a:xfrm rot="0">
            <a:off x="914400" y="892969"/>
            <a:ext cx="16459200" cy="1118711"/>
            <a:chOff x="0" y="0"/>
            <a:chExt cx="21945600" cy="1491615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21945600" cy="1491615"/>
            </a:xfrm>
            <a:custGeom>
              <a:avLst/>
              <a:gdLst/>
              <a:ahLst/>
              <a:cxnLst/>
              <a:rect r="r" b="b" t="t" l="l"/>
              <a:pathLst>
                <a:path h="1491615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491615"/>
                  </a:lnTo>
                  <a:lnTo>
                    <a:pt x="0" y="1491615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236476" r="0" b="-236477"/>
              </a:stretch>
            </a:blipFill>
          </p:spPr>
        </p:sp>
      </p:grpSp>
      <p:grpSp>
        <p:nvGrpSpPr>
          <p:cNvPr name="Group 11" id="11"/>
          <p:cNvGrpSpPr/>
          <p:nvPr/>
        </p:nvGrpSpPr>
        <p:grpSpPr>
          <a:xfrm rot="0">
            <a:off x="914400" y="885825"/>
            <a:ext cx="16459200" cy="1125855"/>
            <a:chOff x="0" y="0"/>
            <a:chExt cx="21945600" cy="150114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21945600" cy="1501140"/>
            </a:xfrm>
            <a:custGeom>
              <a:avLst/>
              <a:gdLst/>
              <a:ahLst/>
              <a:cxnLst/>
              <a:rect r="r" b="b" t="t" l="l"/>
              <a:pathLst>
                <a:path h="150114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501140"/>
                  </a:lnTo>
                  <a:lnTo>
                    <a:pt x="0" y="1501140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l="0" t="-234659" r="0" b="-234659"/>
              </a:stretch>
            </a:blipFill>
          </p:spPr>
        </p:sp>
      </p:grpSp>
      <p:grpSp>
        <p:nvGrpSpPr>
          <p:cNvPr name="Group 13" id="13"/>
          <p:cNvGrpSpPr/>
          <p:nvPr/>
        </p:nvGrpSpPr>
        <p:grpSpPr>
          <a:xfrm rot="0">
            <a:off x="914400" y="878681"/>
            <a:ext cx="16459200" cy="1132999"/>
            <a:chOff x="0" y="0"/>
            <a:chExt cx="21945600" cy="1510665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21945600" cy="1510665"/>
            </a:xfrm>
            <a:custGeom>
              <a:avLst/>
              <a:gdLst/>
              <a:ahLst/>
              <a:cxnLst/>
              <a:rect r="r" b="b" t="t" l="l"/>
              <a:pathLst>
                <a:path h="1510665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510665"/>
                  </a:lnTo>
                  <a:lnTo>
                    <a:pt x="0" y="1510665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0" t="-232864" r="0" b="-232865"/>
              </a:stretch>
            </a:blipFill>
          </p:spPr>
        </p:sp>
      </p:grpSp>
      <p:grpSp>
        <p:nvGrpSpPr>
          <p:cNvPr name="Group 15" id="15"/>
          <p:cNvGrpSpPr/>
          <p:nvPr/>
        </p:nvGrpSpPr>
        <p:grpSpPr>
          <a:xfrm rot="0">
            <a:off x="914400" y="871538"/>
            <a:ext cx="16459200" cy="1140142"/>
            <a:chOff x="0" y="0"/>
            <a:chExt cx="21945600" cy="152019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21945600" cy="1520190"/>
            </a:xfrm>
            <a:custGeom>
              <a:avLst/>
              <a:gdLst/>
              <a:ahLst/>
              <a:cxnLst/>
              <a:rect r="r" b="b" t="t" l="l"/>
              <a:pathLst>
                <a:path h="152019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520190"/>
                  </a:lnTo>
                  <a:lnTo>
                    <a:pt x="0" y="1520190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0" t="-231287" r="0" b="-231287"/>
              </a:stretch>
            </a:blip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9525"/>
              <a:ext cx="21945600" cy="15297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6239"/>
                </a:lnSpc>
              </a:pPr>
              <a:r>
                <a:rPr lang="en-US" sz="5198" b="true">
                  <a:solidFill>
                    <a:srgbClr val="2E5634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Considerações finais</a:t>
              </a:r>
            </a:p>
          </p:txBody>
        </p:sp>
      </p:grpSp>
      <p:sp>
        <p:nvSpPr>
          <p:cNvPr name="TextBox 18" id="18"/>
          <p:cNvSpPr txBox="true"/>
          <p:nvPr/>
        </p:nvSpPr>
        <p:spPr>
          <a:xfrm rot="0">
            <a:off x="914400" y="2061210"/>
            <a:ext cx="5120640" cy="7734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 b="true">
                <a:solidFill>
                  <a:srgbClr val="2E5634"/>
                </a:solidFill>
                <a:latin typeface="Cambria Bold"/>
                <a:ea typeface="Cambria Bold"/>
                <a:cs typeface="Cambria Bold"/>
                <a:sym typeface="Cambria Bold"/>
              </a:rPr>
              <a:t>Entregue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914400" y="2891790"/>
            <a:ext cx="5120640" cy="62522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313690" indent="-156845" lvl="1">
              <a:lnSpc>
                <a:spcPts val="3120"/>
              </a:lnSpc>
              <a:buFont typeface="Arial"/>
              <a:buChar char="•"/>
            </a:pPr>
            <a:r>
              <a:rPr lang="en-US" sz="2600">
                <a:solidFill>
                  <a:srgbClr val="1B2A1F"/>
                </a:solidFill>
                <a:latin typeface="Calibri (MS)"/>
                <a:ea typeface="Calibri (MS)"/>
                <a:cs typeface="Calibri (MS)"/>
                <a:sym typeface="Calibri (MS)"/>
              </a:rPr>
              <a:t>Aplicativo WeFIND funcional</a:t>
            </a:r>
          </a:p>
          <a:p>
            <a:pPr algn="l" marL="313690" indent="-156845" lvl="1">
              <a:lnSpc>
                <a:spcPts val="3120"/>
              </a:lnSpc>
              <a:buFont typeface="Arial"/>
              <a:buChar char="•"/>
            </a:pPr>
            <a:r>
              <a:rPr lang="en-US" sz="2600">
                <a:solidFill>
                  <a:srgbClr val="1B2A1F"/>
                </a:solidFill>
                <a:latin typeface="Calibri (MS)"/>
                <a:ea typeface="Calibri (MS)"/>
                <a:cs typeface="Calibri (MS)"/>
                <a:sym typeface="Calibri (MS)"/>
              </a:rPr>
              <a:t>Mapa georreferenciado e rota</a:t>
            </a:r>
          </a:p>
          <a:p>
            <a:pPr algn="l" marL="313690" indent="-156845" lvl="1">
              <a:lnSpc>
                <a:spcPts val="3120"/>
              </a:lnSpc>
              <a:buFont typeface="Arial"/>
              <a:buChar char="•"/>
            </a:pPr>
            <a:r>
              <a:rPr lang="en-US" sz="2600">
                <a:solidFill>
                  <a:srgbClr val="1B2A1F"/>
                </a:solidFill>
                <a:latin typeface="Calibri (MS)"/>
                <a:ea typeface="Calibri (MS)"/>
                <a:cs typeface="Calibri (MS)"/>
                <a:sym typeface="Calibri (MS)"/>
              </a:rPr>
              <a:t>Avistamentos colaborativos</a:t>
            </a:r>
          </a:p>
          <a:p>
            <a:pPr algn="l" marL="313690" indent="-156845" lvl="1">
              <a:lnSpc>
                <a:spcPts val="3120"/>
              </a:lnSpc>
              <a:buFont typeface="Arial"/>
              <a:buChar char="•"/>
            </a:pPr>
            <a:r>
              <a:rPr lang="en-US" sz="2600">
                <a:solidFill>
                  <a:srgbClr val="1B2A1F"/>
                </a:solidFill>
                <a:latin typeface="Calibri (MS)"/>
                <a:ea typeface="Calibri (MS)"/>
                <a:cs typeface="Calibri (MS)"/>
                <a:sym typeface="Calibri (MS)"/>
              </a:rPr>
              <a:t>Chat, cartaz com QR e devolução segura</a:t>
            </a:r>
          </a:p>
          <a:p>
            <a:pPr algn="l" marL="313690" indent="-156845" lvl="1">
              <a:lnSpc>
                <a:spcPts val="3120"/>
              </a:lnSpc>
              <a:buFont typeface="Arial"/>
              <a:buChar char="•"/>
            </a:pPr>
            <a:r>
              <a:rPr lang="en-US" sz="2600">
                <a:solidFill>
                  <a:srgbClr val="1B2A1F"/>
                </a:solidFill>
                <a:latin typeface="Calibri (MS)"/>
                <a:ea typeface="Calibri (MS)"/>
                <a:cs typeface="Calibri (MS)"/>
                <a:sym typeface="Calibri (MS)"/>
              </a:rPr>
              <a:t>Correspondências sugeridas automaticamente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6583680" y="2061210"/>
            <a:ext cx="5120640" cy="7734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 b="true">
                <a:solidFill>
                  <a:srgbClr val="2E5634"/>
                </a:solidFill>
                <a:latin typeface="Cambria Bold"/>
                <a:ea typeface="Cambria Bold"/>
                <a:cs typeface="Cambria Bold"/>
                <a:sym typeface="Cambria Bold"/>
              </a:rPr>
              <a:t>Limites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6583680" y="2891790"/>
            <a:ext cx="5120640" cy="3571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313690" indent="-156845" lvl="1">
              <a:lnSpc>
                <a:spcPts val="3120"/>
              </a:lnSpc>
              <a:buFont typeface="Arial"/>
              <a:buChar char="•"/>
            </a:pPr>
            <a:r>
              <a:rPr lang="en-US" sz="2600">
                <a:solidFill>
                  <a:srgbClr val="1B2A1F"/>
                </a:solidFill>
                <a:latin typeface="Calibri (MS)"/>
                <a:ea typeface="Calibri (MS)"/>
                <a:cs typeface="Calibri (MS)"/>
                <a:sym typeface="Calibri (MS)"/>
              </a:rPr>
              <a:t>Avaliação com usuários ainda não realizada</a:t>
            </a:r>
          </a:p>
          <a:p>
            <a:pPr algn="l" marL="313690" indent="-156845" lvl="1">
              <a:lnSpc>
                <a:spcPts val="3120"/>
              </a:lnSpc>
              <a:buFont typeface="Arial"/>
              <a:buChar char="•"/>
            </a:pPr>
            <a:r>
              <a:rPr lang="en-US" sz="2600">
                <a:solidFill>
                  <a:srgbClr val="1B2A1F"/>
                </a:solidFill>
                <a:latin typeface="Calibri (MS)"/>
                <a:ea typeface="Calibri (MS)"/>
                <a:cs typeface="Calibri (MS)"/>
                <a:sym typeface="Calibri (MS)"/>
              </a:rPr>
              <a:t>Pesquisa de campo por conveniência</a:t>
            </a:r>
          </a:p>
          <a:p>
            <a:pPr algn="l" marL="313690" indent="-156845" lvl="1">
              <a:lnSpc>
                <a:spcPts val="3120"/>
              </a:lnSpc>
              <a:buFont typeface="Arial"/>
              <a:buChar char="•"/>
            </a:pPr>
            <a:r>
              <a:rPr lang="en-US" sz="2600">
                <a:solidFill>
                  <a:srgbClr val="1B2A1F"/>
                </a:solidFill>
                <a:latin typeface="Calibri (MS)"/>
                <a:ea typeface="Calibri (MS)"/>
                <a:cs typeface="Calibri (MS)"/>
                <a:sym typeface="Calibri (MS)"/>
              </a:rPr>
              <a:t>Pesos de correspondência ainda não calibrados</a:t>
            </a:r>
          </a:p>
          <a:p>
            <a:pPr algn="l" marL="313690" indent="-156845" lvl="1">
              <a:lnSpc>
                <a:spcPts val="3120"/>
              </a:lnSpc>
              <a:buFont typeface="Arial"/>
              <a:buChar char="•"/>
            </a:pPr>
            <a:r>
              <a:rPr lang="en-US" sz="2600">
                <a:solidFill>
                  <a:srgbClr val="1B2A1F"/>
                </a:solidFill>
                <a:latin typeface="Calibri (MS)"/>
                <a:ea typeface="Calibri (MS)"/>
                <a:cs typeface="Calibri (MS)"/>
                <a:sym typeface="Calibri (MS)"/>
              </a:rPr>
              <a:t>Limpeza de publicações só no aparelho</a:t>
            </a:r>
          </a:p>
          <a:p>
            <a:pPr algn="l" marL="313690" indent="-156845" lvl="1">
              <a:lnSpc>
                <a:spcPts val="3120"/>
              </a:lnSpc>
              <a:buFont typeface="Arial"/>
              <a:buChar char="•"/>
            </a:pPr>
            <a:r>
              <a:rPr lang="en-US" sz="2600">
                <a:solidFill>
                  <a:srgbClr val="1B2A1F"/>
                </a:solidFill>
                <a:latin typeface="Calibri (MS)"/>
                <a:ea typeface="Calibri (MS)"/>
                <a:cs typeface="Calibri (MS)"/>
                <a:sym typeface="Calibri (MS)"/>
              </a:rPr>
              <a:t>Privacidade de usuários ainda depende da interface</a:t>
            </a:r>
          </a:p>
        </p:txBody>
      </p:sp>
      <p:sp>
        <p:nvSpPr>
          <p:cNvPr name="AutoShape 22" id="22"/>
          <p:cNvSpPr/>
          <p:nvPr/>
        </p:nvSpPr>
        <p:spPr>
          <a:xfrm>
            <a:off x="6035040" y="2175397"/>
            <a:ext cx="0" cy="6710360"/>
          </a:xfrm>
          <a:prstGeom prst="line">
            <a:avLst/>
          </a:prstGeom>
          <a:ln cap="rnd" w="9525">
            <a:solidFill>
              <a:srgbClr val="C9D4C6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23" id="23"/>
          <p:cNvSpPr txBox="true"/>
          <p:nvPr/>
        </p:nvSpPr>
        <p:spPr>
          <a:xfrm rot="0">
            <a:off x="12252960" y="2061210"/>
            <a:ext cx="5120640" cy="7734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 b="true">
                <a:solidFill>
                  <a:srgbClr val="2E5634"/>
                </a:solidFill>
                <a:latin typeface="Cambria Bold"/>
                <a:ea typeface="Cambria Bold"/>
                <a:cs typeface="Cambria Bold"/>
                <a:sym typeface="Cambria Bold"/>
              </a:rPr>
              <a:t>Próximos passos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12252960" y="2891790"/>
            <a:ext cx="5120640" cy="62522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313690" indent="-156845" lvl="1">
              <a:lnSpc>
                <a:spcPts val="3120"/>
              </a:lnSpc>
              <a:buFont typeface="Arial"/>
              <a:buChar char="•"/>
            </a:pPr>
            <a:r>
              <a:rPr lang="en-US" sz="2600">
                <a:solidFill>
                  <a:srgbClr val="1B2A1F"/>
                </a:solidFill>
                <a:latin typeface="Calibri (MS)"/>
                <a:ea typeface="Calibri (MS)"/>
                <a:cs typeface="Calibri (MS)"/>
                <a:sym typeface="Calibri (MS)"/>
              </a:rPr>
              <a:t>Teste de usabilidade com Quant UX e SUS</a:t>
            </a:r>
          </a:p>
          <a:p>
            <a:pPr algn="l" marL="313690" indent="-156845" lvl="1">
              <a:lnSpc>
                <a:spcPts val="3120"/>
              </a:lnSpc>
              <a:buFont typeface="Arial"/>
              <a:buChar char="•"/>
            </a:pPr>
            <a:r>
              <a:rPr lang="en-US" sz="2600">
                <a:solidFill>
                  <a:srgbClr val="1B2A1F"/>
                </a:solidFill>
                <a:latin typeface="Calibri (MS)"/>
                <a:ea typeface="Calibri (MS)"/>
                <a:cs typeface="Calibri (MS)"/>
                <a:sym typeface="Calibri (MS)"/>
              </a:rPr>
              <a:t>Testar a correspondência com pares revisados</a:t>
            </a:r>
          </a:p>
          <a:p>
            <a:pPr algn="l" marL="313690" indent="-156845" lvl="1">
              <a:lnSpc>
                <a:spcPts val="3120"/>
              </a:lnSpc>
              <a:buFont typeface="Arial"/>
              <a:buChar char="•"/>
            </a:pPr>
            <a:r>
              <a:rPr lang="en-US" sz="2600">
                <a:solidFill>
                  <a:srgbClr val="1B2A1F"/>
                </a:solidFill>
                <a:latin typeface="Calibri (MS)"/>
                <a:ea typeface="Calibri (MS)"/>
                <a:cs typeface="Calibri (MS)"/>
                <a:sym typeface="Calibri (MS)"/>
              </a:rPr>
              <a:t>Análise de segurança do APK (MobSF)</a:t>
            </a:r>
          </a:p>
          <a:p>
            <a:pPr algn="l" marL="313690" indent="-156845" lvl="1">
              <a:lnSpc>
                <a:spcPts val="3120"/>
              </a:lnSpc>
              <a:buFont typeface="Arial"/>
              <a:buChar char="•"/>
            </a:pPr>
            <a:r>
              <a:rPr lang="en-US" sz="2600">
                <a:solidFill>
                  <a:srgbClr val="1B2A1F"/>
                </a:solidFill>
                <a:latin typeface="Calibri (MS)"/>
                <a:ea typeface="Calibri (MS)"/>
                <a:cs typeface="Calibri (MS)"/>
                <a:sym typeface="Calibri (MS)"/>
              </a:rPr>
              <a:t>Restringir no banco os dados de perfil e as coordenadas</a:t>
            </a:r>
          </a:p>
          <a:p>
            <a:pPr algn="l" marL="313690" indent="-156845" lvl="1">
              <a:lnSpc>
                <a:spcPts val="3120"/>
              </a:lnSpc>
              <a:buFont typeface="Arial"/>
              <a:buChar char="•"/>
            </a:pPr>
            <a:r>
              <a:rPr lang="en-US" sz="2600">
                <a:solidFill>
                  <a:srgbClr val="1B2A1F"/>
                </a:solidFill>
                <a:latin typeface="Calibri (MS)"/>
                <a:ea typeface="Calibri (MS)"/>
                <a:cs typeface="Calibri (MS)"/>
                <a:sym typeface="Calibri (MS)"/>
              </a:rPr>
              <a:t>Limpeza global de publicações no backend</a:t>
            </a:r>
          </a:p>
          <a:p>
            <a:pPr algn="l" marL="313690" indent="-156845" lvl="1">
              <a:lnSpc>
                <a:spcPts val="3120"/>
              </a:lnSpc>
              <a:buFont typeface="Arial"/>
              <a:buChar char="•"/>
            </a:pPr>
            <a:r>
              <a:rPr lang="en-US" sz="2600">
                <a:solidFill>
                  <a:srgbClr val="1B2A1F"/>
                </a:solidFill>
                <a:latin typeface="Calibri (MS)"/>
                <a:ea typeface="Calibri (MS)"/>
                <a:cs typeface="Calibri (MS)"/>
                <a:sym typeface="Calibri (MS)"/>
              </a:rPr>
              <a:t>Avaliar IA para comparar fotos</a:t>
            </a:r>
          </a:p>
        </p:txBody>
      </p:sp>
      <p:sp>
        <p:nvSpPr>
          <p:cNvPr name="AutoShape 25" id="25"/>
          <p:cNvSpPr/>
          <p:nvPr/>
        </p:nvSpPr>
        <p:spPr>
          <a:xfrm>
            <a:off x="12047116" y="2175397"/>
            <a:ext cx="0" cy="6710360"/>
          </a:xfrm>
          <a:prstGeom prst="line">
            <a:avLst/>
          </a:prstGeom>
          <a:ln cap="rnd" w="9525">
            <a:solidFill>
              <a:srgbClr val="C9D4C6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26" id="26"/>
          <p:cNvSpPr txBox="true"/>
          <p:nvPr/>
        </p:nvSpPr>
        <p:spPr>
          <a:xfrm rot="0">
            <a:off x="16459200" y="9471660"/>
            <a:ext cx="914400" cy="3810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400"/>
              </a:lnSpc>
            </a:pPr>
            <a:r>
              <a:rPr lang="en-US" sz="2000">
                <a:solidFill>
                  <a:srgbClr val="5B6B5F"/>
                </a:solidFill>
                <a:latin typeface="Calibri (MS)"/>
                <a:ea typeface="Calibri (MS)"/>
                <a:cs typeface="Calibri (MS)"/>
                <a:sym typeface="Calibri (MS)"/>
              </a:rPr>
              <a:t>27</a:t>
            </a:r>
          </a:p>
        </p:txBody>
      </p:sp>
      <p:grpSp>
        <p:nvGrpSpPr>
          <p:cNvPr name="Group 27" id="27"/>
          <p:cNvGrpSpPr/>
          <p:nvPr/>
        </p:nvGrpSpPr>
        <p:grpSpPr>
          <a:xfrm rot="0">
            <a:off x="822960" y="9572625"/>
            <a:ext cx="8229600" cy="440055"/>
            <a:chOff x="0" y="0"/>
            <a:chExt cx="10972800" cy="586740"/>
          </a:xfrm>
        </p:grpSpPr>
        <p:sp>
          <p:nvSpPr>
            <p:cNvPr name="Freeform 28" id="28"/>
            <p:cNvSpPr/>
            <p:nvPr/>
          </p:nvSpPr>
          <p:spPr>
            <a:xfrm flipH="false" flipV="false" rot="0">
              <a:off x="0" y="0"/>
              <a:ext cx="10972800" cy="586740"/>
            </a:xfrm>
            <a:custGeom>
              <a:avLst/>
              <a:gdLst/>
              <a:ahLst/>
              <a:cxnLst/>
              <a:rect r="r" b="b" t="t" l="l"/>
              <a:pathLst>
                <a:path h="5867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586740"/>
                  </a:lnTo>
                  <a:lnTo>
                    <a:pt x="0" y="5867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314142" r="0" b="-314140"/>
              </a:stretch>
            </a:blipFill>
          </p:spPr>
        </p:sp>
      </p:grpSp>
      <p:grpSp>
        <p:nvGrpSpPr>
          <p:cNvPr name="Group 29" id="29"/>
          <p:cNvGrpSpPr/>
          <p:nvPr/>
        </p:nvGrpSpPr>
        <p:grpSpPr>
          <a:xfrm rot="0">
            <a:off x="822960" y="9544050"/>
            <a:ext cx="8229600" cy="468630"/>
            <a:chOff x="0" y="0"/>
            <a:chExt cx="10972800" cy="624840"/>
          </a:xfrm>
        </p:grpSpPr>
        <p:sp>
          <p:nvSpPr>
            <p:cNvPr name="Freeform 30" id="30"/>
            <p:cNvSpPr/>
            <p:nvPr/>
          </p:nvSpPr>
          <p:spPr>
            <a:xfrm flipH="false" flipV="false" rot="0">
              <a:off x="0" y="0"/>
              <a:ext cx="10972800" cy="624840"/>
            </a:xfrm>
            <a:custGeom>
              <a:avLst/>
              <a:gdLst/>
              <a:ahLst/>
              <a:cxnLst/>
              <a:rect r="r" b="b" t="t" l="l"/>
              <a:pathLst>
                <a:path h="6248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624840"/>
                  </a:lnTo>
                  <a:lnTo>
                    <a:pt x="0" y="6248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91939" r="0" b="-291936"/>
              </a:stretch>
            </a:blipFill>
          </p:spPr>
        </p:sp>
      </p:grpSp>
      <p:grpSp>
        <p:nvGrpSpPr>
          <p:cNvPr name="Group 31" id="31"/>
          <p:cNvGrpSpPr/>
          <p:nvPr/>
        </p:nvGrpSpPr>
        <p:grpSpPr>
          <a:xfrm rot="0">
            <a:off x="822960" y="9515475"/>
            <a:ext cx="8229600" cy="497205"/>
            <a:chOff x="0" y="0"/>
            <a:chExt cx="10972800" cy="662940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0" y="0"/>
              <a:ext cx="10972800" cy="662940"/>
            </a:xfrm>
            <a:custGeom>
              <a:avLst/>
              <a:gdLst/>
              <a:ahLst/>
              <a:cxnLst/>
              <a:rect r="r" b="b" t="t" l="l"/>
              <a:pathLst>
                <a:path h="6629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662940"/>
                  </a:lnTo>
                  <a:lnTo>
                    <a:pt x="0" y="66294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72287" r="0" b="-272285"/>
              </a:stretch>
            </a:blipFill>
          </p:spPr>
        </p:sp>
      </p:grpSp>
      <p:grpSp>
        <p:nvGrpSpPr>
          <p:cNvPr name="Group 33" id="33"/>
          <p:cNvGrpSpPr/>
          <p:nvPr/>
        </p:nvGrpSpPr>
        <p:grpSpPr>
          <a:xfrm rot="0">
            <a:off x="822960" y="9486900"/>
            <a:ext cx="8229600" cy="525780"/>
            <a:chOff x="0" y="0"/>
            <a:chExt cx="10972800" cy="701040"/>
          </a:xfrm>
        </p:grpSpPr>
        <p:sp>
          <p:nvSpPr>
            <p:cNvPr name="Freeform 34" id="34"/>
            <p:cNvSpPr/>
            <p:nvPr/>
          </p:nvSpPr>
          <p:spPr>
            <a:xfrm flipH="false" flipV="false" rot="0">
              <a:off x="0" y="0"/>
              <a:ext cx="10972800" cy="701040"/>
            </a:xfrm>
            <a:custGeom>
              <a:avLst/>
              <a:gdLst/>
              <a:ahLst/>
              <a:cxnLst/>
              <a:rect r="r" b="b" t="t" l="l"/>
              <a:pathLst>
                <a:path h="7010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701040"/>
                  </a:lnTo>
                  <a:lnTo>
                    <a:pt x="0" y="701040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254771" r="0" b="-254769"/>
              </a:stretch>
            </a:blipFill>
          </p:spPr>
        </p:sp>
      </p:grpSp>
      <p:grpSp>
        <p:nvGrpSpPr>
          <p:cNvPr name="Group 35" id="35"/>
          <p:cNvGrpSpPr/>
          <p:nvPr/>
        </p:nvGrpSpPr>
        <p:grpSpPr>
          <a:xfrm rot="0">
            <a:off x="822960" y="9458325"/>
            <a:ext cx="8229600" cy="554355"/>
            <a:chOff x="0" y="0"/>
            <a:chExt cx="10972800" cy="739140"/>
          </a:xfrm>
        </p:grpSpPr>
        <p:sp>
          <p:nvSpPr>
            <p:cNvPr name="Freeform 36" id="36"/>
            <p:cNvSpPr/>
            <p:nvPr/>
          </p:nvSpPr>
          <p:spPr>
            <a:xfrm flipH="false" flipV="false" rot="0">
              <a:off x="0" y="0"/>
              <a:ext cx="10972800" cy="739140"/>
            </a:xfrm>
            <a:custGeom>
              <a:avLst/>
              <a:gdLst/>
              <a:ahLst/>
              <a:cxnLst/>
              <a:rect r="r" b="b" t="t" l="l"/>
              <a:pathLst>
                <a:path h="7391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739140"/>
                  </a:lnTo>
                  <a:lnTo>
                    <a:pt x="0" y="739140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l="0" t="-239061" r="0" b="-239060"/>
              </a:stretch>
            </a:blipFill>
          </p:spPr>
        </p:sp>
      </p:grpSp>
      <p:grpSp>
        <p:nvGrpSpPr>
          <p:cNvPr name="Group 37" id="37"/>
          <p:cNvGrpSpPr/>
          <p:nvPr/>
        </p:nvGrpSpPr>
        <p:grpSpPr>
          <a:xfrm rot="0">
            <a:off x="822960" y="9429750"/>
            <a:ext cx="8229600" cy="582930"/>
            <a:chOff x="0" y="0"/>
            <a:chExt cx="10972800" cy="777240"/>
          </a:xfrm>
        </p:grpSpPr>
        <p:sp>
          <p:nvSpPr>
            <p:cNvPr name="Freeform 38" id="38"/>
            <p:cNvSpPr/>
            <p:nvPr/>
          </p:nvSpPr>
          <p:spPr>
            <a:xfrm flipH="false" flipV="false" rot="0">
              <a:off x="0" y="0"/>
              <a:ext cx="10972800" cy="777240"/>
            </a:xfrm>
            <a:custGeom>
              <a:avLst/>
              <a:gdLst/>
              <a:ahLst/>
              <a:cxnLst/>
              <a:rect r="r" b="b" t="t" l="l"/>
              <a:pathLst>
                <a:path h="7772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777240"/>
                  </a:lnTo>
                  <a:lnTo>
                    <a:pt x="0" y="777240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0" t="-224892" r="0" b="-224890"/>
              </a:stretch>
            </a:blipFill>
          </p:spPr>
        </p:sp>
      </p:grpSp>
      <p:grpSp>
        <p:nvGrpSpPr>
          <p:cNvPr name="Group 39" id="39"/>
          <p:cNvGrpSpPr/>
          <p:nvPr/>
        </p:nvGrpSpPr>
        <p:grpSpPr>
          <a:xfrm rot="0">
            <a:off x="822960" y="9401175"/>
            <a:ext cx="8229600" cy="611505"/>
            <a:chOff x="0" y="0"/>
            <a:chExt cx="10972800" cy="815340"/>
          </a:xfrm>
        </p:grpSpPr>
        <p:sp>
          <p:nvSpPr>
            <p:cNvPr name="Freeform 40" id="40"/>
            <p:cNvSpPr/>
            <p:nvPr/>
          </p:nvSpPr>
          <p:spPr>
            <a:xfrm flipH="false" flipV="false" rot="0">
              <a:off x="0" y="0"/>
              <a:ext cx="10972800" cy="815340"/>
            </a:xfrm>
            <a:custGeom>
              <a:avLst/>
              <a:gdLst/>
              <a:ahLst/>
              <a:cxnLst/>
              <a:rect r="r" b="b" t="t" l="l"/>
              <a:pathLst>
                <a:path h="8153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815340"/>
                  </a:lnTo>
                  <a:lnTo>
                    <a:pt x="0" y="815340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0" t="-212228" r="0" b="-212228"/>
              </a:stretch>
            </a:blipFill>
          </p:spPr>
        </p:sp>
        <p:sp>
          <p:nvSpPr>
            <p:cNvPr name="TextBox 41" id="41"/>
            <p:cNvSpPr txBox="true"/>
            <p:nvPr/>
          </p:nvSpPr>
          <p:spPr>
            <a:xfrm>
              <a:off x="0" y="-38100"/>
              <a:ext cx="10972800" cy="8534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6B728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WeFIND  |  TCC  |  IFSul Campus Pelotas</a:t>
              </a:r>
            </a:p>
          </p:txBody>
        </p:sp>
      </p:grpSp>
    </p:spTree>
  </p:cSld>
  <p:clrMapOvr>
    <a:masterClrMapping/>
  </p:clrMapOvr>
</p:sld>
</file>

<file path=ppt/slides/slide3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914400" y="803234"/>
            <a:ext cx="16459200" cy="1097280"/>
            <a:chOff x="0" y="0"/>
            <a:chExt cx="21945600" cy="146304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1945600" cy="1463040"/>
            </a:xfrm>
            <a:custGeom>
              <a:avLst/>
              <a:gdLst/>
              <a:ahLst/>
              <a:cxnLst/>
              <a:rect r="r" b="b" t="t" l="l"/>
              <a:pathLst>
                <a:path h="146304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463040"/>
                  </a:lnTo>
                  <a:lnTo>
                    <a:pt x="0" y="14630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242072" r="0" b="-242072"/>
              </a:stretch>
            </a:blipFill>
          </p:spPr>
        </p:sp>
      </p:grpSp>
      <p:grpSp>
        <p:nvGrpSpPr>
          <p:cNvPr name="Group 4" id="4"/>
          <p:cNvGrpSpPr/>
          <p:nvPr/>
        </p:nvGrpSpPr>
        <p:grpSpPr>
          <a:xfrm rot="0">
            <a:off x="914400" y="796090"/>
            <a:ext cx="16459200" cy="1104424"/>
            <a:chOff x="0" y="0"/>
            <a:chExt cx="21945600" cy="1472565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1945600" cy="1472565"/>
            </a:xfrm>
            <a:custGeom>
              <a:avLst/>
              <a:gdLst/>
              <a:ahLst/>
              <a:cxnLst/>
              <a:rect r="r" b="b" t="t" l="l"/>
              <a:pathLst>
                <a:path h="1472565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472565"/>
                  </a:lnTo>
                  <a:lnTo>
                    <a:pt x="0" y="1472565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40182" r="0" b="-240183"/>
              </a:stretch>
            </a:blipFill>
          </p:spPr>
        </p:sp>
      </p:grpSp>
      <p:grpSp>
        <p:nvGrpSpPr>
          <p:cNvPr name="Group 6" id="6"/>
          <p:cNvGrpSpPr/>
          <p:nvPr/>
        </p:nvGrpSpPr>
        <p:grpSpPr>
          <a:xfrm rot="0">
            <a:off x="914400" y="788946"/>
            <a:ext cx="16459200" cy="1111568"/>
            <a:chOff x="0" y="0"/>
            <a:chExt cx="21945600" cy="148209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1945600" cy="1482090"/>
            </a:xfrm>
            <a:custGeom>
              <a:avLst/>
              <a:gdLst/>
              <a:ahLst/>
              <a:cxnLst/>
              <a:rect r="r" b="b" t="t" l="l"/>
              <a:pathLst>
                <a:path h="148209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482090"/>
                  </a:lnTo>
                  <a:lnTo>
                    <a:pt x="0" y="148209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38317" r="0" b="-238318"/>
              </a:stretch>
            </a:blipFill>
          </p:spPr>
        </p:sp>
      </p:grpSp>
      <p:grpSp>
        <p:nvGrpSpPr>
          <p:cNvPr name="Group 8" id="8"/>
          <p:cNvGrpSpPr/>
          <p:nvPr/>
        </p:nvGrpSpPr>
        <p:grpSpPr>
          <a:xfrm rot="0">
            <a:off x="914400" y="781802"/>
            <a:ext cx="16459200" cy="1118711"/>
            <a:chOff x="0" y="0"/>
            <a:chExt cx="21945600" cy="1491615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1945600" cy="1491615"/>
            </a:xfrm>
            <a:custGeom>
              <a:avLst/>
              <a:gdLst/>
              <a:ahLst/>
              <a:cxnLst/>
              <a:rect r="r" b="b" t="t" l="l"/>
              <a:pathLst>
                <a:path h="1491615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491615"/>
                  </a:lnTo>
                  <a:lnTo>
                    <a:pt x="0" y="1491615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236476" r="0" b="-236477"/>
              </a:stretch>
            </a:blipFill>
          </p:spPr>
        </p:sp>
      </p:grpSp>
      <p:grpSp>
        <p:nvGrpSpPr>
          <p:cNvPr name="Group 10" id="10"/>
          <p:cNvGrpSpPr/>
          <p:nvPr/>
        </p:nvGrpSpPr>
        <p:grpSpPr>
          <a:xfrm rot="0">
            <a:off x="914400" y="774659"/>
            <a:ext cx="16459200" cy="1125855"/>
            <a:chOff x="0" y="0"/>
            <a:chExt cx="21945600" cy="150114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21945600" cy="1501140"/>
            </a:xfrm>
            <a:custGeom>
              <a:avLst/>
              <a:gdLst/>
              <a:ahLst/>
              <a:cxnLst/>
              <a:rect r="r" b="b" t="t" l="l"/>
              <a:pathLst>
                <a:path h="150114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501140"/>
                  </a:lnTo>
                  <a:lnTo>
                    <a:pt x="0" y="1501140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l="0" t="-234659" r="0" b="-234659"/>
              </a:stretch>
            </a:blipFill>
          </p:spPr>
        </p:sp>
      </p:grpSp>
      <p:grpSp>
        <p:nvGrpSpPr>
          <p:cNvPr name="Group 12" id="12"/>
          <p:cNvGrpSpPr/>
          <p:nvPr/>
        </p:nvGrpSpPr>
        <p:grpSpPr>
          <a:xfrm rot="0">
            <a:off x="914400" y="767515"/>
            <a:ext cx="16459200" cy="1132999"/>
            <a:chOff x="0" y="0"/>
            <a:chExt cx="21945600" cy="1510665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21945600" cy="1510665"/>
            </a:xfrm>
            <a:custGeom>
              <a:avLst/>
              <a:gdLst/>
              <a:ahLst/>
              <a:cxnLst/>
              <a:rect r="r" b="b" t="t" l="l"/>
              <a:pathLst>
                <a:path h="1510665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510665"/>
                  </a:lnTo>
                  <a:lnTo>
                    <a:pt x="0" y="1510665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0" t="-232864" r="0" b="-232865"/>
              </a:stretch>
            </a:blipFill>
          </p:spPr>
        </p:sp>
      </p:grpSp>
      <p:grpSp>
        <p:nvGrpSpPr>
          <p:cNvPr name="Group 14" id="14"/>
          <p:cNvGrpSpPr/>
          <p:nvPr/>
        </p:nvGrpSpPr>
        <p:grpSpPr>
          <a:xfrm rot="0">
            <a:off x="914400" y="760371"/>
            <a:ext cx="16459200" cy="1140142"/>
            <a:chOff x="0" y="0"/>
            <a:chExt cx="21945600" cy="152019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21945600" cy="1520190"/>
            </a:xfrm>
            <a:custGeom>
              <a:avLst/>
              <a:gdLst/>
              <a:ahLst/>
              <a:cxnLst/>
              <a:rect r="r" b="b" t="t" l="l"/>
              <a:pathLst>
                <a:path h="152019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520190"/>
                  </a:lnTo>
                  <a:lnTo>
                    <a:pt x="0" y="1520190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0" t="-231091" r="0" b="-231092"/>
              </a:stretch>
            </a:blipFill>
          </p:spPr>
        </p:sp>
      </p:grpSp>
      <p:grpSp>
        <p:nvGrpSpPr>
          <p:cNvPr name="Group 16" id="16"/>
          <p:cNvGrpSpPr/>
          <p:nvPr/>
        </p:nvGrpSpPr>
        <p:grpSpPr>
          <a:xfrm rot="0">
            <a:off x="914400" y="753227"/>
            <a:ext cx="16459200" cy="1147286"/>
            <a:chOff x="0" y="0"/>
            <a:chExt cx="21945600" cy="1529715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21945600" cy="1529714"/>
            </a:xfrm>
            <a:custGeom>
              <a:avLst/>
              <a:gdLst/>
              <a:ahLst/>
              <a:cxnLst/>
              <a:rect r="r" b="b" t="t" l="l"/>
              <a:pathLst>
                <a:path h="1529714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529714"/>
                  </a:lnTo>
                  <a:lnTo>
                    <a:pt x="0" y="1529714"/>
                  </a:lnTo>
                  <a:close/>
                </a:path>
              </a:pathLst>
            </a:custGeom>
            <a:blipFill>
              <a:blip r:embed="rId9">
                <a:alphaModFix amt="0"/>
              </a:blip>
              <a:stretch>
                <a:fillRect l="0" t="-229536" r="0" b="-229536"/>
              </a:stretch>
            </a:blipFill>
          </p:spPr>
        </p:sp>
        <p:sp>
          <p:nvSpPr>
            <p:cNvPr name="TextBox 18" id="18"/>
            <p:cNvSpPr txBox="true"/>
            <p:nvPr/>
          </p:nvSpPr>
          <p:spPr>
            <a:xfrm>
              <a:off x="0" y="-9525"/>
              <a:ext cx="21945600" cy="15392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6239"/>
                </a:lnSpc>
              </a:pPr>
              <a:r>
                <a:rPr lang="en-US" sz="5198" b="true">
                  <a:solidFill>
                    <a:srgbClr val="2E5634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Principais referências</a:t>
              </a:r>
            </a:p>
          </p:txBody>
        </p:sp>
      </p:grpSp>
      <p:grpSp>
        <p:nvGrpSpPr>
          <p:cNvPr name="Group 19" id="19"/>
          <p:cNvGrpSpPr/>
          <p:nvPr/>
        </p:nvGrpSpPr>
        <p:grpSpPr>
          <a:xfrm rot="0">
            <a:off x="822960" y="9572625"/>
            <a:ext cx="8229600" cy="440055"/>
            <a:chOff x="0" y="0"/>
            <a:chExt cx="10972800" cy="586740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10972800" cy="586740"/>
            </a:xfrm>
            <a:custGeom>
              <a:avLst/>
              <a:gdLst/>
              <a:ahLst/>
              <a:cxnLst/>
              <a:rect r="r" b="b" t="t" l="l"/>
              <a:pathLst>
                <a:path h="5867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586740"/>
                  </a:lnTo>
                  <a:lnTo>
                    <a:pt x="0" y="5867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314142" r="0" b="-314140"/>
              </a:stretch>
            </a:blipFill>
          </p:spPr>
        </p:sp>
      </p:grpSp>
      <p:grpSp>
        <p:nvGrpSpPr>
          <p:cNvPr name="Group 21" id="21"/>
          <p:cNvGrpSpPr/>
          <p:nvPr/>
        </p:nvGrpSpPr>
        <p:grpSpPr>
          <a:xfrm rot="0">
            <a:off x="822960" y="9544050"/>
            <a:ext cx="8229600" cy="468630"/>
            <a:chOff x="0" y="0"/>
            <a:chExt cx="10972800" cy="624840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10972800" cy="624840"/>
            </a:xfrm>
            <a:custGeom>
              <a:avLst/>
              <a:gdLst/>
              <a:ahLst/>
              <a:cxnLst/>
              <a:rect r="r" b="b" t="t" l="l"/>
              <a:pathLst>
                <a:path h="6248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624840"/>
                  </a:lnTo>
                  <a:lnTo>
                    <a:pt x="0" y="6248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91939" r="0" b="-291936"/>
              </a:stretch>
            </a:blipFill>
          </p:spPr>
        </p:sp>
      </p:grpSp>
      <p:grpSp>
        <p:nvGrpSpPr>
          <p:cNvPr name="Group 23" id="23"/>
          <p:cNvGrpSpPr/>
          <p:nvPr/>
        </p:nvGrpSpPr>
        <p:grpSpPr>
          <a:xfrm rot="0">
            <a:off x="822960" y="9515475"/>
            <a:ext cx="8229600" cy="497205"/>
            <a:chOff x="0" y="0"/>
            <a:chExt cx="10972800" cy="662940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10972800" cy="662940"/>
            </a:xfrm>
            <a:custGeom>
              <a:avLst/>
              <a:gdLst/>
              <a:ahLst/>
              <a:cxnLst/>
              <a:rect r="r" b="b" t="t" l="l"/>
              <a:pathLst>
                <a:path h="6629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662940"/>
                  </a:lnTo>
                  <a:lnTo>
                    <a:pt x="0" y="66294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72287" r="0" b="-272285"/>
              </a:stretch>
            </a:blipFill>
          </p:spPr>
        </p:sp>
      </p:grpSp>
      <p:grpSp>
        <p:nvGrpSpPr>
          <p:cNvPr name="Group 25" id="25"/>
          <p:cNvGrpSpPr/>
          <p:nvPr/>
        </p:nvGrpSpPr>
        <p:grpSpPr>
          <a:xfrm rot="0">
            <a:off x="822960" y="9486900"/>
            <a:ext cx="8229600" cy="525780"/>
            <a:chOff x="0" y="0"/>
            <a:chExt cx="10972800" cy="701040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10972800" cy="701040"/>
            </a:xfrm>
            <a:custGeom>
              <a:avLst/>
              <a:gdLst/>
              <a:ahLst/>
              <a:cxnLst/>
              <a:rect r="r" b="b" t="t" l="l"/>
              <a:pathLst>
                <a:path h="7010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701040"/>
                  </a:lnTo>
                  <a:lnTo>
                    <a:pt x="0" y="701040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254771" r="0" b="-254769"/>
              </a:stretch>
            </a:blipFill>
          </p:spPr>
        </p:sp>
      </p:grpSp>
      <p:grpSp>
        <p:nvGrpSpPr>
          <p:cNvPr name="Group 27" id="27"/>
          <p:cNvGrpSpPr/>
          <p:nvPr/>
        </p:nvGrpSpPr>
        <p:grpSpPr>
          <a:xfrm rot="0">
            <a:off x="822960" y="9458325"/>
            <a:ext cx="8229600" cy="554355"/>
            <a:chOff x="0" y="0"/>
            <a:chExt cx="10972800" cy="739140"/>
          </a:xfrm>
        </p:grpSpPr>
        <p:sp>
          <p:nvSpPr>
            <p:cNvPr name="Freeform 28" id="28"/>
            <p:cNvSpPr/>
            <p:nvPr/>
          </p:nvSpPr>
          <p:spPr>
            <a:xfrm flipH="false" flipV="false" rot="0">
              <a:off x="0" y="0"/>
              <a:ext cx="10972800" cy="739140"/>
            </a:xfrm>
            <a:custGeom>
              <a:avLst/>
              <a:gdLst/>
              <a:ahLst/>
              <a:cxnLst/>
              <a:rect r="r" b="b" t="t" l="l"/>
              <a:pathLst>
                <a:path h="7391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739140"/>
                  </a:lnTo>
                  <a:lnTo>
                    <a:pt x="0" y="739140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l="0" t="-239061" r="0" b="-239060"/>
              </a:stretch>
            </a:blipFill>
          </p:spPr>
        </p:sp>
      </p:grpSp>
      <p:grpSp>
        <p:nvGrpSpPr>
          <p:cNvPr name="Group 29" id="29"/>
          <p:cNvGrpSpPr/>
          <p:nvPr/>
        </p:nvGrpSpPr>
        <p:grpSpPr>
          <a:xfrm rot="0">
            <a:off x="822960" y="9429750"/>
            <a:ext cx="8229600" cy="582930"/>
            <a:chOff x="0" y="0"/>
            <a:chExt cx="10972800" cy="777240"/>
          </a:xfrm>
        </p:grpSpPr>
        <p:sp>
          <p:nvSpPr>
            <p:cNvPr name="Freeform 30" id="30"/>
            <p:cNvSpPr/>
            <p:nvPr/>
          </p:nvSpPr>
          <p:spPr>
            <a:xfrm flipH="false" flipV="false" rot="0">
              <a:off x="0" y="0"/>
              <a:ext cx="10972800" cy="777240"/>
            </a:xfrm>
            <a:custGeom>
              <a:avLst/>
              <a:gdLst/>
              <a:ahLst/>
              <a:cxnLst/>
              <a:rect r="r" b="b" t="t" l="l"/>
              <a:pathLst>
                <a:path h="7772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777240"/>
                  </a:lnTo>
                  <a:lnTo>
                    <a:pt x="0" y="777240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0" t="-224892" r="0" b="-224890"/>
              </a:stretch>
            </a:blipFill>
          </p:spPr>
        </p:sp>
      </p:grpSp>
      <p:grpSp>
        <p:nvGrpSpPr>
          <p:cNvPr name="Group 31" id="31"/>
          <p:cNvGrpSpPr/>
          <p:nvPr/>
        </p:nvGrpSpPr>
        <p:grpSpPr>
          <a:xfrm rot="0">
            <a:off x="822960" y="9401175"/>
            <a:ext cx="8229600" cy="611505"/>
            <a:chOff x="0" y="0"/>
            <a:chExt cx="10972800" cy="815340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0" y="0"/>
              <a:ext cx="10972800" cy="815340"/>
            </a:xfrm>
            <a:custGeom>
              <a:avLst/>
              <a:gdLst/>
              <a:ahLst/>
              <a:cxnLst/>
              <a:rect r="r" b="b" t="t" l="l"/>
              <a:pathLst>
                <a:path h="8153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815340"/>
                  </a:lnTo>
                  <a:lnTo>
                    <a:pt x="0" y="815340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0" t="-212046" r="0" b="-212045"/>
              </a:stretch>
            </a:blipFill>
          </p:spPr>
        </p:sp>
      </p:grpSp>
      <p:grpSp>
        <p:nvGrpSpPr>
          <p:cNvPr name="Group 33" id="33"/>
          <p:cNvGrpSpPr/>
          <p:nvPr/>
        </p:nvGrpSpPr>
        <p:grpSpPr>
          <a:xfrm rot="0">
            <a:off x="822960" y="9372600"/>
            <a:ext cx="8229600" cy="640080"/>
            <a:chOff x="0" y="0"/>
            <a:chExt cx="10972800" cy="853440"/>
          </a:xfrm>
        </p:grpSpPr>
        <p:sp>
          <p:nvSpPr>
            <p:cNvPr name="Freeform 34" id="34"/>
            <p:cNvSpPr/>
            <p:nvPr/>
          </p:nvSpPr>
          <p:spPr>
            <a:xfrm flipH="false" flipV="false" rot="0">
              <a:off x="0" y="0"/>
              <a:ext cx="10972800" cy="853440"/>
            </a:xfrm>
            <a:custGeom>
              <a:avLst/>
              <a:gdLst/>
              <a:ahLst/>
              <a:cxnLst/>
              <a:rect r="r" b="b" t="t" l="l"/>
              <a:pathLst>
                <a:path h="8534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853440"/>
                  </a:lnTo>
                  <a:lnTo>
                    <a:pt x="0" y="853440"/>
                  </a:lnTo>
                  <a:close/>
                </a:path>
              </a:pathLst>
            </a:custGeom>
            <a:blipFill>
              <a:blip r:embed="rId9">
                <a:alphaModFix amt="0"/>
              </a:blip>
              <a:stretch>
                <a:fillRect l="0" t="-200521" r="0" b="-200521"/>
              </a:stretch>
            </a:blipFill>
          </p:spPr>
        </p:sp>
        <p:sp>
          <p:nvSpPr>
            <p:cNvPr name="TextBox 35" id="35"/>
            <p:cNvSpPr txBox="true"/>
            <p:nvPr/>
          </p:nvSpPr>
          <p:spPr>
            <a:xfrm>
              <a:off x="0" y="-38100"/>
              <a:ext cx="10972800" cy="8915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6B728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WeFIND  |  TCC  |  IFSul Campus Pelotas</a:t>
              </a:r>
            </a:p>
          </p:txBody>
        </p:sp>
      </p:grpSp>
      <p:sp>
        <p:nvSpPr>
          <p:cNvPr name="TextBox 36" id="36"/>
          <p:cNvSpPr txBox="true"/>
          <p:nvPr/>
        </p:nvSpPr>
        <p:spPr>
          <a:xfrm rot="0">
            <a:off x="914400" y="2002155"/>
            <a:ext cx="7863840" cy="71875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2100">
                <a:solidFill>
                  <a:srgbClr val="1B2A1F"/>
                </a:solidFill>
                <a:latin typeface="Calibri (MS)"/>
                <a:ea typeface="Calibri (MS)"/>
                <a:cs typeface="Calibri (MS)"/>
                <a:sym typeface="Calibri (MS)"/>
              </a:rPr>
              <a:t>BRASIL. </a:t>
            </a:r>
            <a:r>
              <a:rPr lang="en-US" sz="2100" b="true">
                <a:solidFill>
                  <a:srgbClr val="1B2A1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Lei nº 13.709, de 14 de agosto de 2018</a:t>
            </a:r>
            <a:r>
              <a:rPr lang="en-US" sz="2100">
                <a:solidFill>
                  <a:srgbClr val="1B2A1F"/>
                </a:solidFill>
                <a:latin typeface="Calibri (MS)"/>
                <a:ea typeface="Calibri (MS)"/>
                <a:cs typeface="Calibri (MS)"/>
                <a:sym typeface="Calibri (MS)"/>
              </a:rPr>
              <a:t>. Lei Geral de Proteção de Dados Pessoais (LGPD). Brasília, DF: Presidência da República, 2018.</a:t>
            </a:r>
          </a:p>
          <a:p>
            <a:pPr algn="l">
              <a:lnSpc>
                <a:spcPts val="2520"/>
              </a:lnSpc>
            </a:pPr>
            <a:r>
              <a:rPr lang="en-US" sz="2100">
                <a:solidFill>
                  <a:srgbClr val="1B2A1F"/>
                </a:solidFill>
                <a:latin typeface="Calibri (MS)"/>
                <a:ea typeface="Calibri (MS)"/>
                <a:cs typeface="Calibri (MS)"/>
                <a:sym typeface="Calibri (MS)"/>
              </a:rPr>
              <a:t>BROOKE, J. </a:t>
            </a:r>
            <a:r>
              <a:rPr lang="en-US" sz="2100" b="true">
                <a:solidFill>
                  <a:srgbClr val="1B2A1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SUS: a “quick and dirty” usability scale</a:t>
            </a:r>
            <a:r>
              <a:rPr lang="en-US" sz="2100">
                <a:solidFill>
                  <a:srgbClr val="1B2A1F"/>
                </a:solidFill>
                <a:latin typeface="Calibri (MS)"/>
                <a:ea typeface="Calibri (MS)"/>
                <a:cs typeface="Calibri (MS)"/>
                <a:sym typeface="Calibri (MS)"/>
              </a:rPr>
              <a:t>. In: JORDAN, P. W. et al. (ed.). Usability evaluation in industry. London: Taylor &amp; Francis, 1996. p. 189–194.</a:t>
            </a:r>
          </a:p>
          <a:p>
            <a:pPr algn="l">
              <a:lnSpc>
                <a:spcPts val="2520"/>
              </a:lnSpc>
            </a:pPr>
            <a:r>
              <a:rPr lang="en-US" sz="2100">
                <a:solidFill>
                  <a:srgbClr val="1B2A1F"/>
                </a:solidFill>
                <a:latin typeface="Calibri (MS)"/>
                <a:ea typeface="Calibri (MS)"/>
                <a:cs typeface="Calibri (MS)"/>
                <a:sym typeface="Calibri (MS)"/>
              </a:rPr>
              <a:t>CAVOUKIAN, A. </a:t>
            </a:r>
            <a:r>
              <a:rPr lang="en-US" sz="2100" b="true">
                <a:solidFill>
                  <a:srgbClr val="1B2A1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Privacy by Design</a:t>
            </a:r>
            <a:r>
              <a:rPr lang="en-US" sz="2100">
                <a:solidFill>
                  <a:srgbClr val="1B2A1F"/>
                </a:solidFill>
                <a:latin typeface="Calibri (MS)"/>
                <a:ea typeface="Calibri (MS)"/>
                <a:cs typeface="Calibri (MS)"/>
                <a:sym typeface="Calibri (MS)"/>
              </a:rPr>
              <a:t>: the 7 foundational principles. Toronto: Information and Privacy Commissioner of Ontario, 2009.</a:t>
            </a:r>
          </a:p>
          <a:p>
            <a:pPr algn="l">
              <a:lnSpc>
                <a:spcPts val="2520"/>
              </a:lnSpc>
            </a:pPr>
            <a:r>
              <a:rPr lang="en-US" sz="2100">
                <a:solidFill>
                  <a:srgbClr val="1B2A1F"/>
                </a:solidFill>
                <a:latin typeface="Calibri (MS)"/>
                <a:ea typeface="Calibri (MS)"/>
                <a:cs typeface="Calibri (MS)"/>
                <a:sym typeface="Calibri (MS)"/>
              </a:rPr>
              <a:t>GIL, A. C. </a:t>
            </a:r>
            <a:r>
              <a:rPr lang="en-US" sz="2100" b="true">
                <a:solidFill>
                  <a:srgbClr val="1B2A1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Como elaborar projetos de pesquisa</a:t>
            </a:r>
            <a:r>
              <a:rPr lang="en-US" sz="2100">
                <a:solidFill>
                  <a:srgbClr val="1B2A1F"/>
                </a:solidFill>
                <a:latin typeface="Calibri (MS)"/>
                <a:ea typeface="Calibri (MS)"/>
                <a:cs typeface="Calibri (MS)"/>
                <a:sym typeface="Calibri (MS)"/>
              </a:rPr>
              <a:t>. 7. ed. São Paulo: Atlas, 2022.</a:t>
            </a:r>
          </a:p>
          <a:p>
            <a:pPr algn="l">
              <a:lnSpc>
                <a:spcPts val="2520"/>
              </a:lnSpc>
            </a:pPr>
            <a:r>
              <a:rPr lang="en-US" sz="2100">
                <a:solidFill>
                  <a:srgbClr val="1B2A1F"/>
                </a:solidFill>
                <a:latin typeface="Calibri (MS)"/>
                <a:ea typeface="Calibri (MS)"/>
                <a:cs typeface="Calibri (MS)"/>
                <a:sym typeface="Calibri (MS)"/>
              </a:rPr>
              <a:t>HUANG, L. et al. </a:t>
            </a:r>
            <a:r>
              <a:rPr lang="en-US" sz="2100" b="true">
                <a:solidFill>
                  <a:srgbClr val="1B2A1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Search methods used to locate missing cats and locations where missing cats are found</a:t>
            </a:r>
            <a:r>
              <a:rPr lang="en-US" sz="2100">
                <a:solidFill>
                  <a:srgbClr val="1B2A1F"/>
                </a:solidFill>
                <a:latin typeface="Calibri (MS)"/>
                <a:ea typeface="Calibri (MS)"/>
                <a:cs typeface="Calibri (MS)"/>
                <a:sym typeface="Calibri (MS)"/>
              </a:rPr>
              <a:t>. Animals, v. 8, n. 1, art. 5, 2018.</a:t>
            </a:r>
          </a:p>
          <a:p>
            <a:pPr algn="l">
              <a:lnSpc>
                <a:spcPts val="2520"/>
              </a:lnSpc>
            </a:pPr>
            <a:r>
              <a:rPr lang="en-US" sz="2100">
                <a:solidFill>
                  <a:srgbClr val="1B2A1F"/>
                </a:solidFill>
                <a:latin typeface="Calibri (MS)"/>
                <a:ea typeface="Calibri (MS)"/>
                <a:cs typeface="Calibri (MS)"/>
                <a:sym typeface="Calibri (MS)"/>
              </a:rPr>
              <a:t>IBGE. </a:t>
            </a:r>
            <a:r>
              <a:rPr lang="en-US" sz="2100" b="true">
                <a:solidFill>
                  <a:srgbClr val="1B2A1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Pesquisa Nacional de Saúde 2019</a:t>
            </a:r>
            <a:r>
              <a:rPr lang="en-US" sz="2100">
                <a:solidFill>
                  <a:srgbClr val="1B2A1F"/>
                </a:solidFill>
                <a:latin typeface="Calibri (MS)"/>
                <a:ea typeface="Calibri (MS)"/>
                <a:cs typeface="Calibri (MS)"/>
                <a:sym typeface="Calibri (MS)"/>
              </a:rPr>
              <a:t>: informações sobre domicílios, acesso e utilização dos serviços de saúde. Rio de Janeiro: IBGE, 2020.</a:t>
            </a:r>
          </a:p>
          <a:p>
            <a:pPr algn="l">
              <a:lnSpc>
                <a:spcPts val="2520"/>
              </a:lnSpc>
            </a:pPr>
            <a:r>
              <a:rPr lang="en-US" sz="2100">
                <a:solidFill>
                  <a:srgbClr val="1B2A1F"/>
                </a:solidFill>
                <a:latin typeface="Calibri (MS)"/>
                <a:ea typeface="Calibri (MS)"/>
                <a:cs typeface="Calibri (MS)"/>
                <a:sym typeface="Calibri (MS)"/>
              </a:rPr>
              <a:t>ISO. </a:t>
            </a:r>
            <a:r>
              <a:rPr lang="en-US" sz="2100" b="true">
                <a:solidFill>
                  <a:srgbClr val="1B2A1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ISO/IEC 25010:2023</a:t>
            </a:r>
            <a:r>
              <a:rPr lang="en-US" sz="2100">
                <a:solidFill>
                  <a:srgbClr val="1B2A1F"/>
                </a:solidFill>
                <a:latin typeface="Calibri (MS)"/>
                <a:ea typeface="Calibri (MS)"/>
                <a:cs typeface="Calibri (MS)"/>
                <a:sym typeface="Calibri (MS)"/>
              </a:rPr>
              <a:t>: product quality model. Geneva: ISO, 2023.</a:t>
            </a:r>
          </a:p>
          <a:p>
            <a:pPr algn="l">
              <a:lnSpc>
                <a:spcPts val="2520"/>
              </a:lnSpc>
            </a:pPr>
            <a:r>
              <a:rPr lang="en-US" sz="2100">
                <a:solidFill>
                  <a:srgbClr val="1B2A1F"/>
                </a:solidFill>
                <a:latin typeface="Calibri (MS)"/>
                <a:ea typeface="Calibri (MS)"/>
                <a:cs typeface="Calibri (MS)"/>
                <a:sym typeface="Calibri (MS)"/>
              </a:rPr>
              <a:t>MARCONI, M. A.; LAKATOS, E. M. </a:t>
            </a:r>
            <a:r>
              <a:rPr lang="en-US" sz="2100" b="true">
                <a:solidFill>
                  <a:srgbClr val="1B2A1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Metodologia científica</a:t>
            </a:r>
            <a:r>
              <a:rPr lang="en-US" sz="2100">
                <a:solidFill>
                  <a:srgbClr val="1B2A1F"/>
                </a:solidFill>
                <a:latin typeface="Calibri (MS)"/>
                <a:ea typeface="Calibri (MS)"/>
                <a:cs typeface="Calibri (MS)"/>
                <a:sym typeface="Calibri (MS)"/>
              </a:rPr>
              <a:t>. 8. ed. São Paulo: Atlas, 2022.</a:t>
            </a:r>
          </a:p>
          <a:p>
            <a:pPr algn="l">
              <a:lnSpc>
                <a:spcPts val="2520"/>
              </a:lnSpc>
            </a:pPr>
            <a:r>
              <a:rPr lang="en-US" sz="2100">
                <a:solidFill>
                  <a:srgbClr val="1B2A1F"/>
                </a:solidFill>
                <a:latin typeface="Calibri (MS)"/>
                <a:ea typeface="Calibri (MS)"/>
                <a:cs typeface="Calibri (MS)"/>
                <a:sym typeface="Calibri (MS)"/>
              </a:rPr>
              <a:t>MOBSF. </a:t>
            </a:r>
            <a:r>
              <a:rPr lang="en-US" sz="2100" b="true">
                <a:solidFill>
                  <a:srgbClr val="1B2A1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Mobile Security Framework (MobSF)</a:t>
            </a:r>
            <a:r>
              <a:rPr lang="en-US" sz="2100">
                <a:solidFill>
                  <a:srgbClr val="1B2A1F"/>
                </a:solidFill>
                <a:latin typeface="Calibri (MS)"/>
                <a:ea typeface="Calibri (MS)"/>
                <a:cs typeface="Calibri (MS)"/>
                <a:sym typeface="Calibri (MS)"/>
              </a:rPr>
              <a:t>: automated mobile application security assessment. 2026. Disponível em: github.com/MobSF/Mobile-Security-Framework-MobSF. Acesso em: 14 out. 2026.</a:t>
            </a:r>
          </a:p>
          <a:p>
            <a:pPr algn="l">
              <a:lnSpc>
                <a:spcPts val="2520"/>
              </a:lnSpc>
            </a:pPr>
            <a:r>
              <a:rPr lang="en-US" sz="2100">
                <a:solidFill>
                  <a:srgbClr val="1B2A1F"/>
                </a:solidFill>
                <a:latin typeface="Calibri (MS)"/>
                <a:ea typeface="Calibri (MS)"/>
                <a:cs typeface="Calibri (MS)"/>
                <a:sym typeface="Calibri (MS)"/>
              </a:rPr>
              <a:t>PRESSMAN, R. S.; MAXIM, B. R. </a:t>
            </a:r>
            <a:r>
              <a:rPr lang="en-US" sz="2100" b="true">
                <a:solidFill>
                  <a:srgbClr val="1B2A1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Engenharia de software</a:t>
            </a:r>
            <a:r>
              <a:rPr lang="en-US" sz="2100">
                <a:solidFill>
                  <a:srgbClr val="1B2A1F"/>
                </a:solidFill>
                <a:latin typeface="Calibri (MS)"/>
                <a:ea typeface="Calibri (MS)"/>
                <a:cs typeface="Calibri (MS)"/>
                <a:sym typeface="Calibri (MS)"/>
              </a:rPr>
              <a:t>: uma abordagem profissional. 9. ed. Porto Alegre: AMGH, 2021.</a:t>
            </a:r>
          </a:p>
        </p:txBody>
      </p:sp>
      <p:sp>
        <p:nvSpPr>
          <p:cNvPr name="TextBox 37" id="37"/>
          <p:cNvSpPr txBox="true"/>
          <p:nvPr/>
        </p:nvSpPr>
        <p:spPr>
          <a:xfrm rot="0">
            <a:off x="9372600" y="2002155"/>
            <a:ext cx="7863840" cy="71875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2100">
                <a:solidFill>
                  <a:srgbClr val="1B2A1F"/>
                </a:solidFill>
                <a:latin typeface="Calibri (MS)"/>
                <a:ea typeface="Calibri (MS)"/>
                <a:cs typeface="Calibri (MS)"/>
                <a:sym typeface="Calibri (MS)"/>
              </a:rPr>
              <a:t>SAURO, J.; LEWIS, J. R. </a:t>
            </a:r>
            <a:r>
              <a:rPr lang="en-US" sz="2100" b="true">
                <a:solidFill>
                  <a:srgbClr val="1B2A1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Quantifying the user experience</a:t>
            </a:r>
            <a:r>
              <a:rPr lang="en-US" sz="2100">
                <a:solidFill>
                  <a:srgbClr val="1B2A1F"/>
                </a:solidFill>
                <a:latin typeface="Calibri (MS)"/>
                <a:ea typeface="Calibri (MS)"/>
                <a:cs typeface="Calibri (MS)"/>
                <a:sym typeface="Calibri (MS)"/>
              </a:rPr>
              <a:t>. 2. ed. Cambridge: Morgan Kaufmann, 2016.</a:t>
            </a:r>
          </a:p>
          <a:p>
            <a:pPr algn="l">
              <a:lnSpc>
                <a:spcPts val="2520"/>
              </a:lnSpc>
            </a:pPr>
            <a:r>
              <a:rPr lang="en-US" sz="2100">
                <a:solidFill>
                  <a:srgbClr val="1B2A1F"/>
                </a:solidFill>
                <a:latin typeface="Calibri (MS)"/>
                <a:ea typeface="Calibri (MS)"/>
                <a:cs typeface="Calibri (MS)"/>
                <a:sym typeface="Calibri (MS)"/>
              </a:rPr>
              <a:t>SINNOTT, R. W. </a:t>
            </a:r>
            <a:r>
              <a:rPr lang="en-US" sz="2100" b="true">
                <a:solidFill>
                  <a:srgbClr val="1B2A1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Virtues of the Haversine</a:t>
            </a:r>
            <a:r>
              <a:rPr lang="en-US" sz="2100">
                <a:solidFill>
                  <a:srgbClr val="1B2A1F"/>
                </a:solidFill>
                <a:latin typeface="Calibri (MS)"/>
                <a:ea typeface="Calibri (MS)"/>
                <a:cs typeface="Calibri (MS)"/>
                <a:sym typeface="Calibri (MS)"/>
              </a:rPr>
              <a:t>. Sky and Telescope, v. 68, n. 2, p. 159, 1984.</a:t>
            </a:r>
          </a:p>
          <a:p>
            <a:pPr algn="l">
              <a:lnSpc>
                <a:spcPts val="2520"/>
              </a:lnSpc>
            </a:pPr>
            <a:r>
              <a:rPr lang="en-US" sz="2100">
                <a:solidFill>
                  <a:srgbClr val="1B2A1F"/>
                </a:solidFill>
                <a:latin typeface="Calibri (MS)"/>
                <a:ea typeface="Calibri (MS)"/>
                <a:cs typeface="Calibri (MS)"/>
                <a:sym typeface="Calibri (MS)"/>
              </a:rPr>
              <a:t>SOMMERVILLE, I. </a:t>
            </a:r>
            <a:r>
              <a:rPr lang="en-US" sz="2100" b="true">
                <a:solidFill>
                  <a:srgbClr val="1B2A1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Engenharia de software</a:t>
            </a:r>
            <a:r>
              <a:rPr lang="en-US" sz="2100">
                <a:solidFill>
                  <a:srgbClr val="1B2A1F"/>
                </a:solidFill>
                <a:latin typeface="Calibri (MS)"/>
                <a:ea typeface="Calibri (MS)"/>
                <a:cs typeface="Calibri (MS)"/>
                <a:sym typeface="Calibri (MS)"/>
              </a:rPr>
              <a:t>. 10. ed. São Paulo: Pearson Education do Brasil, 2019.</a:t>
            </a:r>
          </a:p>
          <a:p>
            <a:pPr algn="l">
              <a:lnSpc>
                <a:spcPts val="2520"/>
              </a:lnSpc>
            </a:pPr>
            <a:r>
              <a:rPr lang="en-US" sz="2100">
                <a:solidFill>
                  <a:srgbClr val="1B2A1F"/>
                </a:solidFill>
                <a:latin typeface="Calibri (MS)"/>
                <a:ea typeface="Calibri (MS)"/>
                <a:cs typeface="Calibri (MS)"/>
                <a:sym typeface="Calibri (MS)"/>
              </a:rPr>
              <a:t>SOUZA, F. C. M. et al. </a:t>
            </a:r>
            <a:r>
              <a:rPr lang="en-US" sz="2100" b="true">
                <a:solidFill>
                  <a:srgbClr val="1B2A1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FugaPet-Rotas</a:t>
            </a:r>
            <a:r>
              <a:rPr lang="en-US" sz="2100">
                <a:solidFill>
                  <a:srgbClr val="1B2A1F"/>
                </a:solidFill>
                <a:latin typeface="Calibri (MS)"/>
                <a:ea typeface="Calibri (MS)"/>
                <a:cs typeface="Calibri (MS)"/>
                <a:sym typeface="Calibri (MS)"/>
              </a:rPr>
              <a:t>: um algoritmo inteligente para recomendação de rotas visando buscar animais desaparecidos. In: ESCOLA REGIONAL DE ENGENHARIA DE SOFTWARE, 6., 2022, Blumenau. Anais [...]. Porto Alegre: SBC, 2022. p. 199–208.</a:t>
            </a:r>
          </a:p>
          <a:p>
            <a:pPr algn="l">
              <a:lnSpc>
                <a:spcPts val="2520"/>
              </a:lnSpc>
            </a:pPr>
            <a:r>
              <a:rPr lang="en-US" sz="2100">
                <a:solidFill>
                  <a:srgbClr val="1B2A1F"/>
                </a:solidFill>
                <a:latin typeface="Calibri (MS)"/>
                <a:ea typeface="Calibri (MS)"/>
                <a:cs typeface="Calibri (MS)"/>
                <a:sym typeface="Calibri (MS)"/>
              </a:rPr>
              <a:t>VALENTE, M. T. </a:t>
            </a:r>
            <a:r>
              <a:rPr lang="en-US" sz="2100" b="true">
                <a:solidFill>
                  <a:srgbClr val="1B2A1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Engenharia de software moderna</a:t>
            </a:r>
            <a:r>
              <a:rPr lang="en-US" sz="2100">
                <a:solidFill>
                  <a:srgbClr val="1B2A1F"/>
                </a:solidFill>
                <a:latin typeface="Calibri (MS)"/>
                <a:ea typeface="Calibri (MS)"/>
                <a:cs typeface="Calibri (MS)"/>
                <a:sym typeface="Calibri (MS)"/>
              </a:rPr>
              <a:t>. Belo Horizonte: Edição do Autor, 2023.</a:t>
            </a:r>
          </a:p>
          <a:p>
            <a:pPr algn="l">
              <a:lnSpc>
                <a:spcPts val="2520"/>
              </a:lnSpc>
            </a:pPr>
            <a:r>
              <a:rPr lang="en-US" sz="2100">
                <a:solidFill>
                  <a:srgbClr val="1B2A1F"/>
                </a:solidFill>
                <a:latin typeface="Calibri (MS)"/>
                <a:ea typeface="Calibri (MS)"/>
                <a:cs typeface="Calibri (MS)"/>
                <a:sym typeface="Calibri (MS)"/>
              </a:rPr>
              <a:t>WEISS, E.; SLATER, M.; LORD, L. </a:t>
            </a:r>
            <a:r>
              <a:rPr lang="en-US" sz="2100" b="true">
                <a:solidFill>
                  <a:srgbClr val="1B2A1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Frequency of lost dogs and cats in the United States and the methods used to locate them</a:t>
            </a:r>
            <a:r>
              <a:rPr lang="en-US" sz="2100">
                <a:solidFill>
                  <a:srgbClr val="1B2A1F"/>
                </a:solidFill>
                <a:latin typeface="Calibri (MS)"/>
                <a:ea typeface="Calibri (MS)"/>
                <a:cs typeface="Calibri (MS)"/>
                <a:sym typeface="Calibri (MS)"/>
              </a:rPr>
              <a:t>. Animals, v. 2, n. 2, p. 301–315, 2012.</a:t>
            </a:r>
          </a:p>
        </p:txBody>
      </p:sp>
      <p:sp>
        <p:nvSpPr>
          <p:cNvPr name="TextBox 38" id="38"/>
          <p:cNvSpPr txBox="true"/>
          <p:nvPr/>
        </p:nvSpPr>
        <p:spPr>
          <a:xfrm rot="0">
            <a:off x="16459200" y="9471660"/>
            <a:ext cx="914400" cy="3810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400"/>
              </a:lnSpc>
            </a:pPr>
            <a:r>
              <a:rPr lang="en-US" sz="2000">
                <a:solidFill>
                  <a:srgbClr val="5B6B5F"/>
                </a:solidFill>
                <a:latin typeface="Calibri (MS)"/>
                <a:ea typeface="Calibri (MS)"/>
                <a:cs typeface="Calibri (MS)"/>
                <a:sym typeface="Calibri (MS)"/>
              </a:rPr>
              <a:t>28</a:t>
            </a:r>
          </a:p>
        </p:txBody>
      </p:sp>
    </p:spTree>
  </p:cSld>
  <p:clrMapOvr>
    <a:masterClrMapping/>
  </p:clrMapOvr>
</p:sld>
</file>

<file path=ppt/slides/slide3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7772400" y="1952149"/>
            <a:ext cx="2743200" cy="2651760"/>
            <a:chOff x="0" y="0"/>
            <a:chExt cx="3657600" cy="353568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3657600" cy="3535680"/>
            </a:xfrm>
            <a:custGeom>
              <a:avLst/>
              <a:gdLst/>
              <a:ahLst/>
              <a:cxnLst/>
              <a:rect r="r" b="b" t="t" l="l"/>
              <a:pathLst>
                <a:path h="3535680" w="3657600">
                  <a:moveTo>
                    <a:pt x="0" y="0"/>
                  </a:moveTo>
                  <a:lnTo>
                    <a:pt x="3657600" y="0"/>
                  </a:lnTo>
                  <a:lnTo>
                    <a:pt x="3657600" y="3535680"/>
                  </a:lnTo>
                  <a:lnTo>
                    <a:pt x="0" y="35356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-1724" r="0" b="-1724"/>
              </a:stretch>
            </a:blipFill>
          </p:spPr>
        </p:sp>
      </p:grpSp>
      <p:sp>
        <p:nvSpPr>
          <p:cNvPr name="TextBox 4" id="4"/>
          <p:cNvSpPr txBox="true"/>
          <p:nvPr/>
        </p:nvSpPr>
        <p:spPr>
          <a:xfrm rot="0">
            <a:off x="1828800" y="5236845"/>
            <a:ext cx="14630400" cy="15297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0558"/>
              </a:lnSpc>
            </a:pPr>
            <a:r>
              <a:rPr lang="en-US" sz="8799" b="true">
                <a:solidFill>
                  <a:srgbClr val="1B2A1F"/>
                </a:solidFill>
                <a:latin typeface="Cambria Bold"/>
                <a:ea typeface="Cambria Bold"/>
                <a:cs typeface="Cambria Bold"/>
                <a:sym typeface="Cambria Bold"/>
              </a:rPr>
              <a:t>Obrigado!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828800" y="6457950"/>
            <a:ext cx="14630400" cy="10401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840"/>
              </a:lnSpc>
            </a:pPr>
            <a:r>
              <a:rPr lang="en-US" sz="3200">
                <a:solidFill>
                  <a:srgbClr val="1B2A1F"/>
                </a:solidFill>
                <a:latin typeface="Calibri (MS)"/>
                <a:ea typeface="Calibri (MS)"/>
                <a:cs typeface="Calibri (MS)"/>
                <a:sym typeface="Calibri (MS)"/>
              </a:rPr>
              <a:t>Fico à disposição para perguntas e comentários.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828800" y="7579995"/>
            <a:ext cx="14630400" cy="10153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57"/>
              </a:lnSpc>
            </a:pPr>
            <a:r>
              <a:rPr lang="en-US" sz="2799" b="true">
                <a:solidFill>
                  <a:srgbClr val="1B2A1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Luis Henrique Fonseca Victoria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828800" y="8353425"/>
            <a:ext cx="14630400" cy="8820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38"/>
              </a:lnSpc>
            </a:pPr>
            <a:r>
              <a:rPr lang="en-US" sz="2199">
                <a:solidFill>
                  <a:srgbClr val="1B2A1F"/>
                </a:solidFill>
                <a:latin typeface="Calibri (MS)"/>
                <a:ea typeface="Calibri (MS)"/>
                <a:cs typeface="Calibri (MS)"/>
                <a:sym typeface="Calibri (MS)"/>
              </a:rPr>
              <a:t>IFSul Campus Pelotas  |  Curso Superior de Tecnologia em Sistemas para Internet  |  2026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4366770" y="4556284"/>
            <a:ext cx="9554461" cy="4124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507"/>
              </a:lnSpc>
            </a:pPr>
            <a:r>
              <a:rPr lang="en-US" sz="2088" u="sng">
                <a:solidFill>
                  <a:srgbClr val="0097B2"/>
                </a:solidFill>
                <a:latin typeface="Calibri (MS)"/>
                <a:ea typeface="Calibri (MS)"/>
                <a:cs typeface="Calibri (MS)"/>
                <a:sym typeface="Calibri (MS)"/>
                <a:hlinkClick r:id="rId3" tooltip="https://luishenriquetsi.github.io/wefind/"/>
              </a:rPr>
              <a:t>Acesse o link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4366770" y="4913443"/>
            <a:ext cx="9554461" cy="4124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507"/>
              </a:lnSpc>
            </a:pPr>
            <a:r>
              <a:rPr lang="en-US" sz="2088" u="sng">
                <a:solidFill>
                  <a:srgbClr val="0097B2"/>
                </a:solidFill>
                <a:latin typeface="Calibri (MS)"/>
                <a:ea typeface="Calibri (MS)"/>
                <a:cs typeface="Calibri (MS)"/>
                <a:sym typeface="Calibri (MS)"/>
              </a:rPr>
              <a:t>https://luishenriquetsi.github.io/wefind/</a:t>
            </a:r>
          </a:p>
        </p:txBody>
      </p:sp>
    </p:spTree>
  </p:cSld>
  <p:clrMapOvr>
    <a:masterClrMapping/>
  </p:clrMapOvr>
</p:sld>
</file>

<file path=ppt/slides/slide34.xml><?xml version="1.0" encoding="utf-8"?>
<p:sld xmlns:p="http://schemas.openxmlformats.org/presentationml/2006/main" xmlns:a="http://schemas.openxmlformats.org/drawingml/2006/main" xmlns:r="http://schemas.openxmlformats.org/officeDocument/2006/relationships" show="false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914400" y="245364"/>
            <a:ext cx="6858000" cy="6324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00"/>
              </a:lnSpc>
            </a:pPr>
            <a:r>
              <a:rPr lang="en-US" b="true" sz="2000" spc="400">
                <a:solidFill>
                  <a:srgbClr val="B1734A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05  DEMONSTRAÇÃO E AVALIAÇÃO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914400" y="914400"/>
            <a:ext cx="16459200" cy="1097280"/>
            <a:chOff x="0" y="0"/>
            <a:chExt cx="21945600" cy="146304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21945600" cy="1463040"/>
            </a:xfrm>
            <a:custGeom>
              <a:avLst/>
              <a:gdLst/>
              <a:ahLst/>
              <a:cxnLst/>
              <a:rect r="r" b="b" t="t" l="l"/>
              <a:pathLst>
                <a:path h="146304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463040"/>
                  </a:lnTo>
                  <a:lnTo>
                    <a:pt x="0" y="14630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242072" r="0" b="-242072"/>
              </a:stretch>
            </a:blipFill>
          </p:spPr>
        </p:sp>
      </p:grpSp>
      <p:grpSp>
        <p:nvGrpSpPr>
          <p:cNvPr name="Group 5" id="5"/>
          <p:cNvGrpSpPr/>
          <p:nvPr/>
        </p:nvGrpSpPr>
        <p:grpSpPr>
          <a:xfrm rot="0">
            <a:off x="914400" y="907256"/>
            <a:ext cx="16459200" cy="1104424"/>
            <a:chOff x="0" y="0"/>
            <a:chExt cx="21945600" cy="1472565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21945600" cy="1472565"/>
            </a:xfrm>
            <a:custGeom>
              <a:avLst/>
              <a:gdLst/>
              <a:ahLst/>
              <a:cxnLst/>
              <a:rect r="r" b="b" t="t" l="l"/>
              <a:pathLst>
                <a:path h="1472565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472565"/>
                  </a:lnTo>
                  <a:lnTo>
                    <a:pt x="0" y="1472565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40182" r="0" b="-240183"/>
              </a:stretch>
            </a:blipFill>
          </p:spPr>
        </p:sp>
      </p:grpSp>
      <p:grpSp>
        <p:nvGrpSpPr>
          <p:cNvPr name="Group 7" id="7"/>
          <p:cNvGrpSpPr/>
          <p:nvPr/>
        </p:nvGrpSpPr>
        <p:grpSpPr>
          <a:xfrm rot="0">
            <a:off x="914400" y="900112"/>
            <a:ext cx="16459200" cy="1111568"/>
            <a:chOff x="0" y="0"/>
            <a:chExt cx="21945600" cy="148209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21945600" cy="1482090"/>
            </a:xfrm>
            <a:custGeom>
              <a:avLst/>
              <a:gdLst/>
              <a:ahLst/>
              <a:cxnLst/>
              <a:rect r="r" b="b" t="t" l="l"/>
              <a:pathLst>
                <a:path h="148209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482090"/>
                  </a:lnTo>
                  <a:lnTo>
                    <a:pt x="0" y="148209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38317" r="0" b="-238318"/>
              </a:stretch>
            </a:blipFill>
          </p:spPr>
        </p:sp>
      </p:grpSp>
      <p:grpSp>
        <p:nvGrpSpPr>
          <p:cNvPr name="Group 9" id="9"/>
          <p:cNvGrpSpPr/>
          <p:nvPr/>
        </p:nvGrpSpPr>
        <p:grpSpPr>
          <a:xfrm rot="0">
            <a:off x="914400" y="892969"/>
            <a:ext cx="16459200" cy="1118711"/>
            <a:chOff x="0" y="0"/>
            <a:chExt cx="21945600" cy="1491615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21945600" cy="1491615"/>
            </a:xfrm>
            <a:custGeom>
              <a:avLst/>
              <a:gdLst/>
              <a:ahLst/>
              <a:cxnLst/>
              <a:rect r="r" b="b" t="t" l="l"/>
              <a:pathLst>
                <a:path h="1491615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491615"/>
                  </a:lnTo>
                  <a:lnTo>
                    <a:pt x="0" y="1491615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236476" r="0" b="-236477"/>
              </a:stretch>
            </a:blipFill>
          </p:spPr>
        </p:sp>
      </p:grpSp>
      <p:grpSp>
        <p:nvGrpSpPr>
          <p:cNvPr name="Group 11" id="11"/>
          <p:cNvGrpSpPr/>
          <p:nvPr/>
        </p:nvGrpSpPr>
        <p:grpSpPr>
          <a:xfrm rot="0">
            <a:off x="914400" y="885825"/>
            <a:ext cx="16459200" cy="1125855"/>
            <a:chOff x="0" y="0"/>
            <a:chExt cx="21945600" cy="150114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21945600" cy="1501140"/>
            </a:xfrm>
            <a:custGeom>
              <a:avLst/>
              <a:gdLst/>
              <a:ahLst/>
              <a:cxnLst/>
              <a:rect r="r" b="b" t="t" l="l"/>
              <a:pathLst>
                <a:path h="150114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501140"/>
                  </a:lnTo>
                  <a:lnTo>
                    <a:pt x="0" y="1501140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l="0" t="-234659" r="0" b="-234659"/>
              </a:stretch>
            </a:blipFill>
          </p:spPr>
        </p:sp>
      </p:grpSp>
      <p:grpSp>
        <p:nvGrpSpPr>
          <p:cNvPr name="Group 13" id="13"/>
          <p:cNvGrpSpPr/>
          <p:nvPr/>
        </p:nvGrpSpPr>
        <p:grpSpPr>
          <a:xfrm rot="0">
            <a:off x="914400" y="878681"/>
            <a:ext cx="16459200" cy="1132999"/>
            <a:chOff x="0" y="0"/>
            <a:chExt cx="21945600" cy="1510665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21945600" cy="1510665"/>
            </a:xfrm>
            <a:custGeom>
              <a:avLst/>
              <a:gdLst/>
              <a:ahLst/>
              <a:cxnLst/>
              <a:rect r="r" b="b" t="t" l="l"/>
              <a:pathLst>
                <a:path h="1510665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510665"/>
                  </a:lnTo>
                  <a:lnTo>
                    <a:pt x="0" y="1510665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0" t="-232864" r="0" b="-232865"/>
              </a:stretch>
            </a:blipFill>
          </p:spPr>
        </p:sp>
      </p:grpSp>
      <p:grpSp>
        <p:nvGrpSpPr>
          <p:cNvPr name="Group 15" id="15"/>
          <p:cNvGrpSpPr/>
          <p:nvPr/>
        </p:nvGrpSpPr>
        <p:grpSpPr>
          <a:xfrm rot="0">
            <a:off x="914400" y="871538"/>
            <a:ext cx="16459200" cy="1140142"/>
            <a:chOff x="0" y="0"/>
            <a:chExt cx="21945600" cy="152019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21945600" cy="1520190"/>
            </a:xfrm>
            <a:custGeom>
              <a:avLst/>
              <a:gdLst/>
              <a:ahLst/>
              <a:cxnLst/>
              <a:rect r="r" b="b" t="t" l="l"/>
              <a:pathLst>
                <a:path h="152019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520190"/>
                  </a:lnTo>
                  <a:lnTo>
                    <a:pt x="0" y="1520190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0" t="-231287" r="0" b="-231287"/>
              </a:stretch>
            </a:blip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9525"/>
              <a:ext cx="21945600" cy="15297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6239"/>
                </a:lnSpc>
              </a:pPr>
              <a:r>
                <a:rPr lang="en-US" sz="5198" b="true">
                  <a:solidFill>
                    <a:srgbClr val="2E5634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Correspondência testada com 20 pares</a:t>
              </a:r>
            </a:p>
          </p:txBody>
        </p:sp>
      </p:grpSp>
      <p:grpSp>
        <p:nvGrpSpPr>
          <p:cNvPr name="Group 18" id="18"/>
          <p:cNvGrpSpPr/>
          <p:nvPr/>
        </p:nvGrpSpPr>
        <p:grpSpPr>
          <a:xfrm rot="0">
            <a:off x="914400" y="2377440"/>
            <a:ext cx="7680960" cy="2560320"/>
            <a:chOff x="0" y="0"/>
            <a:chExt cx="10241280" cy="3413760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10241280" cy="3413760"/>
            </a:xfrm>
            <a:custGeom>
              <a:avLst/>
              <a:gdLst/>
              <a:ahLst/>
              <a:cxnLst/>
              <a:rect r="r" b="b" t="t" l="l"/>
              <a:pathLst>
                <a:path h="3413760" w="10241280">
                  <a:moveTo>
                    <a:pt x="0" y="0"/>
                  </a:moveTo>
                  <a:lnTo>
                    <a:pt x="10241280" y="0"/>
                  </a:lnTo>
                  <a:lnTo>
                    <a:pt x="10241280" y="3413760"/>
                  </a:lnTo>
                  <a:lnTo>
                    <a:pt x="0" y="341376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8414" r="0" b="-8414"/>
              </a:stretch>
            </a:blipFill>
          </p:spPr>
        </p:sp>
      </p:grpSp>
      <p:grpSp>
        <p:nvGrpSpPr>
          <p:cNvPr name="Group 20" id="20"/>
          <p:cNvGrpSpPr/>
          <p:nvPr/>
        </p:nvGrpSpPr>
        <p:grpSpPr>
          <a:xfrm rot="0">
            <a:off x="914400" y="2377440"/>
            <a:ext cx="7680960" cy="2560320"/>
            <a:chOff x="0" y="0"/>
            <a:chExt cx="10241280" cy="3413760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10241280" cy="3413760"/>
            </a:xfrm>
            <a:custGeom>
              <a:avLst/>
              <a:gdLst/>
              <a:ahLst/>
              <a:cxnLst/>
              <a:rect r="r" b="b" t="t" l="l"/>
              <a:pathLst>
                <a:path h="3413760" w="10241280">
                  <a:moveTo>
                    <a:pt x="0" y="0"/>
                  </a:moveTo>
                  <a:lnTo>
                    <a:pt x="10241280" y="0"/>
                  </a:lnTo>
                  <a:lnTo>
                    <a:pt x="10241280" y="3413760"/>
                  </a:lnTo>
                  <a:lnTo>
                    <a:pt x="0" y="34137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8414" r="0" b="-8414"/>
              </a:stretch>
            </a:blipFill>
          </p:spPr>
        </p:sp>
      </p:grpSp>
      <p:grpSp>
        <p:nvGrpSpPr>
          <p:cNvPr name="Group 22" id="22"/>
          <p:cNvGrpSpPr/>
          <p:nvPr/>
        </p:nvGrpSpPr>
        <p:grpSpPr>
          <a:xfrm rot="0">
            <a:off x="914400" y="2377440"/>
            <a:ext cx="7680960" cy="2560320"/>
            <a:chOff x="0" y="0"/>
            <a:chExt cx="10241280" cy="3413760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10241280" cy="3413760"/>
            </a:xfrm>
            <a:custGeom>
              <a:avLst/>
              <a:gdLst/>
              <a:ahLst/>
              <a:cxnLst/>
              <a:rect r="r" b="b" t="t" l="l"/>
              <a:pathLst>
                <a:path h="3413760" w="10241280">
                  <a:moveTo>
                    <a:pt x="0" y="0"/>
                  </a:moveTo>
                  <a:lnTo>
                    <a:pt x="10241280" y="0"/>
                  </a:lnTo>
                  <a:lnTo>
                    <a:pt x="10241280" y="3413760"/>
                  </a:lnTo>
                  <a:lnTo>
                    <a:pt x="0" y="341376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8414" r="0" b="-8414"/>
              </a:stretch>
            </a:blipFill>
          </p:spPr>
        </p:sp>
      </p:grpSp>
      <p:grpSp>
        <p:nvGrpSpPr>
          <p:cNvPr name="Group 24" id="24"/>
          <p:cNvGrpSpPr/>
          <p:nvPr/>
        </p:nvGrpSpPr>
        <p:grpSpPr>
          <a:xfrm rot="0">
            <a:off x="914400" y="2377440"/>
            <a:ext cx="7680960" cy="2560320"/>
            <a:chOff x="0" y="0"/>
            <a:chExt cx="10241280" cy="3413760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10241280" cy="3413760"/>
            </a:xfrm>
            <a:custGeom>
              <a:avLst/>
              <a:gdLst/>
              <a:ahLst/>
              <a:cxnLst/>
              <a:rect r="r" b="b" t="t" l="l"/>
              <a:pathLst>
                <a:path h="3413760" w="10241280">
                  <a:moveTo>
                    <a:pt x="0" y="0"/>
                  </a:moveTo>
                  <a:lnTo>
                    <a:pt x="10241280" y="0"/>
                  </a:lnTo>
                  <a:lnTo>
                    <a:pt x="10241280" y="3413760"/>
                  </a:lnTo>
                  <a:lnTo>
                    <a:pt x="0" y="3413760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8414" r="0" b="-8414"/>
              </a:stretch>
            </a:blipFill>
          </p:spPr>
        </p:sp>
      </p:grpSp>
      <p:grpSp>
        <p:nvGrpSpPr>
          <p:cNvPr name="Group 26" id="26"/>
          <p:cNvGrpSpPr/>
          <p:nvPr/>
        </p:nvGrpSpPr>
        <p:grpSpPr>
          <a:xfrm rot="0">
            <a:off x="914400" y="2377440"/>
            <a:ext cx="7680960" cy="2560320"/>
            <a:chOff x="0" y="0"/>
            <a:chExt cx="10241280" cy="3413760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10241280" cy="3413760"/>
            </a:xfrm>
            <a:custGeom>
              <a:avLst/>
              <a:gdLst/>
              <a:ahLst/>
              <a:cxnLst/>
              <a:rect r="r" b="b" t="t" l="l"/>
              <a:pathLst>
                <a:path h="3413760" w="10241280">
                  <a:moveTo>
                    <a:pt x="0" y="0"/>
                  </a:moveTo>
                  <a:lnTo>
                    <a:pt x="10241280" y="0"/>
                  </a:lnTo>
                  <a:lnTo>
                    <a:pt x="10241280" y="3413760"/>
                  </a:lnTo>
                  <a:lnTo>
                    <a:pt x="0" y="3413760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l="0" t="-8414" r="0" b="-8414"/>
              </a:stretch>
            </a:blipFill>
          </p:spPr>
        </p:sp>
      </p:grpSp>
      <p:grpSp>
        <p:nvGrpSpPr>
          <p:cNvPr name="Group 28" id="28"/>
          <p:cNvGrpSpPr/>
          <p:nvPr/>
        </p:nvGrpSpPr>
        <p:grpSpPr>
          <a:xfrm rot="0">
            <a:off x="914400" y="2377440"/>
            <a:ext cx="7680960" cy="2560320"/>
            <a:chOff x="0" y="0"/>
            <a:chExt cx="10241280" cy="3413760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10241280" cy="3413760"/>
            </a:xfrm>
            <a:custGeom>
              <a:avLst/>
              <a:gdLst/>
              <a:ahLst/>
              <a:cxnLst/>
              <a:rect r="r" b="b" t="t" l="l"/>
              <a:pathLst>
                <a:path h="3413760" w="10241280">
                  <a:moveTo>
                    <a:pt x="0" y="0"/>
                  </a:moveTo>
                  <a:lnTo>
                    <a:pt x="10241280" y="0"/>
                  </a:lnTo>
                  <a:lnTo>
                    <a:pt x="10241280" y="3413760"/>
                  </a:lnTo>
                  <a:lnTo>
                    <a:pt x="0" y="3413760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0" t="-8414" r="0" b="-8414"/>
              </a:stretch>
            </a:blipFill>
          </p:spPr>
        </p:sp>
      </p:grpSp>
      <p:grpSp>
        <p:nvGrpSpPr>
          <p:cNvPr name="Group 30" id="30"/>
          <p:cNvGrpSpPr/>
          <p:nvPr/>
        </p:nvGrpSpPr>
        <p:grpSpPr>
          <a:xfrm rot="0">
            <a:off x="914400" y="2377440"/>
            <a:ext cx="7680960" cy="2560320"/>
            <a:chOff x="0" y="0"/>
            <a:chExt cx="10241280" cy="3413760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10241280" cy="3413760"/>
            </a:xfrm>
            <a:custGeom>
              <a:avLst/>
              <a:gdLst/>
              <a:ahLst/>
              <a:cxnLst/>
              <a:rect r="r" b="b" t="t" l="l"/>
              <a:pathLst>
                <a:path h="3413760" w="10241280">
                  <a:moveTo>
                    <a:pt x="0" y="0"/>
                  </a:moveTo>
                  <a:lnTo>
                    <a:pt x="10241280" y="0"/>
                  </a:lnTo>
                  <a:lnTo>
                    <a:pt x="10241280" y="3413760"/>
                  </a:lnTo>
                  <a:lnTo>
                    <a:pt x="0" y="3413760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0" t="-8455" r="0" b="-8455"/>
              </a:stretch>
            </a:blipFill>
          </p:spPr>
        </p:sp>
        <p:sp>
          <p:nvSpPr>
            <p:cNvPr name="TextBox 32" id="32"/>
            <p:cNvSpPr txBox="true"/>
            <p:nvPr/>
          </p:nvSpPr>
          <p:spPr>
            <a:xfrm>
              <a:off x="0" y="0"/>
              <a:ext cx="10241280" cy="341376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198"/>
                </a:lnSpc>
              </a:pPr>
              <a:r>
                <a:rPr lang="en-US" sz="15999" b="true">
                  <a:solidFill>
                    <a:srgbClr val="B1734A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8/10</a:t>
              </a:r>
            </a:p>
          </p:txBody>
        </p:sp>
      </p:grpSp>
      <p:sp>
        <p:nvSpPr>
          <p:cNvPr name="TextBox 33" id="33"/>
          <p:cNvSpPr txBox="true"/>
          <p:nvPr/>
        </p:nvSpPr>
        <p:spPr>
          <a:xfrm rot="0">
            <a:off x="9144000" y="2585085"/>
            <a:ext cx="8229600" cy="13468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079"/>
              </a:lnSpc>
            </a:pPr>
            <a:r>
              <a:rPr lang="en-US" sz="3399" b="true">
                <a:solidFill>
                  <a:srgbClr val="2E5634"/>
                </a:solidFill>
                <a:latin typeface="Cambria Bold"/>
                <a:ea typeface="Cambria Bold"/>
                <a:cs typeface="Cambria Bold"/>
                <a:sym typeface="Cambria Bold"/>
              </a:rPr>
              <a:t>pares do mesmo animal foram sugeridos (limiar de 55)</a:t>
            </a:r>
          </a:p>
        </p:txBody>
      </p:sp>
      <p:sp>
        <p:nvSpPr>
          <p:cNvPr name="TextBox 34" id="34"/>
          <p:cNvSpPr txBox="true"/>
          <p:nvPr/>
        </p:nvSpPr>
        <p:spPr>
          <a:xfrm rot="0">
            <a:off x="9144000" y="3623310"/>
            <a:ext cx="8046720" cy="13144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20"/>
              </a:lnSpc>
            </a:pPr>
            <a:r>
              <a:rPr lang="en-US" sz="2600">
                <a:solidFill>
                  <a:srgbClr val="1B2A1F"/>
                </a:solidFill>
                <a:latin typeface="Calibri (MS)"/>
                <a:ea typeface="Calibri (MS)"/>
                <a:cs typeface="Calibri (MS)"/>
                <a:sym typeface="Calibri (MS)"/>
              </a:rPr>
              <a:t>Mas 6 dos 10 pares de animais diferentes também foram.</a:t>
            </a:r>
          </a:p>
        </p:txBody>
      </p:sp>
      <p:sp>
        <p:nvSpPr>
          <p:cNvPr name="AutoShape 35" id="35"/>
          <p:cNvSpPr/>
          <p:nvPr/>
        </p:nvSpPr>
        <p:spPr>
          <a:xfrm rot="1980">
            <a:off x="876290" y="5453062"/>
            <a:ext cx="16535410" cy="0"/>
          </a:xfrm>
          <a:prstGeom prst="line">
            <a:avLst/>
          </a:prstGeom>
          <a:ln cap="rnd" w="9525">
            <a:solidFill>
              <a:srgbClr val="C9D4C6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36" id="36"/>
          <p:cNvSpPr txBox="true"/>
          <p:nvPr/>
        </p:nvSpPr>
        <p:spPr>
          <a:xfrm rot="0">
            <a:off x="914400" y="5968365"/>
            <a:ext cx="5120640" cy="7067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7"/>
              </a:lnSpc>
            </a:pPr>
            <a:r>
              <a:rPr lang="en-US" sz="2799" b="true">
                <a:solidFill>
                  <a:srgbClr val="2E5634"/>
                </a:solidFill>
                <a:latin typeface="Cambria Bold"/>
                <a:ea typeface="Cambria Bold"/>
                <a:cs typeface="Cambria Bold"/>
                <a:sym typeface="Cambria Bold"/>
              </a:rPr>
              <a:t>55 pontos: lista</a:t>
            </a:r>
          </a:p>
        </p:txBody>
      </p:sp>
      <p:sp>
        <p:nvSpPr>
          <p:cNvPr name="TextBox 37" id="37"/>
          <p:cNvSpPr txBox="true"/>
          <p:nvPr/>
        </p:nvSpPr>
        <p:spPr>
          <a:xfrm rot="0">
            <a:off x="914400" y="6536436"/>
            <a:ext cx="5120640" cy="13639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78"/>
              </a:lnSpc>
            </a:pPr>
            <a:r>
              <a:rPr lang="en-US" sz="2400">
                <a:solidFill>
                  <a:srgbClr val="1B2A1F"/>
                </a:solidFill>
                <a:latin typeface="Calibri (MS)"/>
                <a:ea typeface="Calibri (MS)"/>
                <a:cs typeface="Calibri (MS)"/>
                <a:sym typeface="Calibri (MS)"/>
              </a:rPr>
              <a:t>8 corretas entre 14 sugestões (57%).</a:t>
            </a:r>
          </a:p>
        </p:txBody>
      </p:sp>
      <p:sp>
        <p:nvSpPr>
          <p:cNvPr name="TextBox 38" id="38"/>
          <p:cNvSpPr txBox="true"/>
          <p:nvPr/>
        </p:nvSpPr>
        <p:spPr>
          <a:xfrm rot="0">
            <a:off x="6583680" y="5968365"/>
            <a:ext cx="5120640" cy="7067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7"/>
              </a:lnSpc>
            </a:pPr>
            <a:r>
              <a:rPr lang="en-US" sz="2799" b="true">
                <a:solidFill>
                  <a:srgbClr val="2E5634"/>
                </a:solidFill>
                <a:latin typeface="Cambria Bold"/>
                <a:ea typeface="Cambria Bold"/>
                <a:cs typeface="Cambria Bold"/>
                <a:sym typeface="Cambria Bold"/>
              </a:rPr>
              <a:t>60 pontos: aviso</a:t>
            </a:r>
          </a:p>
        </p:txBody>
      </p:sp>
      <p:sp>
        <p:nvSpPr>
          <p:cNvPr name="TextBox 39" id="39"/>
          <p:cNvSpPr txBox="true"/>
          <p:nvPr/>
        </p:nvSpPr>
        <p:spPr>
          <a:xfrm rot="0">
            <a:off x="6583680" y="6536436"/>
            <a:ext cx="5120640" cy="13639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78"/>
              </a:lnSpc>
            </a:pPr>
            <a:r>
              <a:rPr lang="en-US" sz="2400">
                <a:solidFill>
                  <a:srgbClr val="1B2A1F"/>
                </a:solidFill>
                <a:latin typeface="Calibri (MS)"/>
                <a:ea typeface="Calibri (MS)"/>
                <a:cs typeface="Calibri (MS)"/>
                <a:sym typeface="Calibri (MS)"/>
              </a:rPr>
              <a:t>8 corretas entre 13 sugestões (62%).</a:t>
            </a:r>
          </a:p>
        </p:txBody>
      </p:sp>
      <p:sp>
        <p:nvSpPr>
          <p:cNvPr name="TextBox 40" id="40"/>
          <p:cNvSpPr txBox="true"/>
          <p:nvPr/>
        </p:nvSpPr>
        <p:spPr>
          <a:xfrm rot="0">
            <a:off x="12252960" y="5968365"/>
            <a:ext cx="5120640" cy="7067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7"/>
              </a:lnSpc>
            </a:pPr>
            <a:r>
              <a:rPr lang="en-US" sz="2799" b="true">
                <a:solidFill>
                  <a:srgbClr val="2E5634"/>
                </a:solidFill>
                <a:latin typeface="Cambria Bold"/>
                <a:ea typeface="Cambria Bold"/>
                <a:cs typeface="Cambria Bold"/>
                <a:sym typeface="Cambria Bold"/>
              </a:rPr>
              <a:t>Por que errou</a:t>
            </a:r>
          </a:p>
        </p:txBody>
      </p:sp>
      <p:sp>
        <p:nvSpPr>
          <p:cNvPr name="TextBox 41" id="41"/>
          <p:cNvSpPr txBox="true"/>
          <p:nvPr/>
        </p:nvSpPr>
        <p:spPr>
          <a:xfrm rot="0">
            <a:off x="12252960" y="6536436"/>
            <a:ext cx="5120640" cy="13639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78"/>
              </a:lnSpc>
            </a:pPr>
            <a:r>
              <a:rPr lang="en-US" sz="2400">
                <a:solidFill>
                  <a:srgbClr val="1B2A1F"/>
                </a:solidFill>
                <a:latin typeface="Calibri (MS)"/>
                <a:ea typeface="Calibri (MS)"/>
                <a:cs typeface="Calibri (MS)"/>
                <a:sym typeface="Calibri (MS)"/>
              </a:rPr>
              <a:t>Cores sinônimas, raça com hífen; idade e distância pesam pouco.</a:t>
            </a:r>
          </a:p>
        </p:txBody>
      </p:sp>
      <p:sp>
        <p:nvSpPr>
          <p:cNvPr name="TextBox 42" id="42"/>
          <p:cNvSpPr txBox="true"/>
          <p:nvPr/>
        </p:nvSpPr>
        <p:spPr>
          <a:xfrm rot="0">
            <a:off x="914400" y="8536305"/>
            <a:ext cx="16459200" cy="9734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2100">
                <a:solidFill>
                  <a:srgbClr val="5B6B5F"/>
                </a:solidFill>
                <a:latin typeface="Calibri (MS)"/>
                <a:ea typeface="Calibri (MS)"/>
                <a:cs typeface="Calibri (MS)"/>
                <a:sym typeface="Calibri (MS)"/>
              </a:rPr>
              <a:t>Teste em 16/10/2026 com 20 pares fictícios em Pelotas. A pontuação é uma sugestão; as pessoas confirmam.</a:t>
            </a:r>
          </a:p>
        </p:txBody>
      </p:sp>
      <p:sp>
        <p:nvSpPr>
          <p:cNvPr name="TextBox 43" id="43"/>
          <p:cNvSpPr txBox="true"/>
          <p:nvPr/>
        </p:nvSpPr>
        <p:spPr>
          <a:xfrm rot="0">
            <a:off x="16459200" y="9471660"/>
            <a:ext cx="914400" cy="3810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400"/>
              </a:lnSpc>
            </a:pPr>
            <a:r>
              <a:rPr lang="en-US" sz="2000">
                <a:solidFill>
                  <a:srgbClr val="5B6B5F"/>
                </a:solidFill>
                <a:latin typeface="Calibri (MS)"/>
                <a:ea typeface="Calibri (MS)"/>
                <a:cs typeface="Calibri (MS)"/>
                <a:sym typeface="Calibri (MS)"/>
              </a:rPr>
              <a:t>34</a:t>
            </a:r>
          </a:p>
        </p:txBody>
      </p:sp>
      <p:grpSp>
        <p:nvGrpSpPr>
          <p:cNvPr name="Group 44" id="44"/>
          <p:cNvGrpSpPr/>
          <p:nvPr/>
        </p:nvGrpSpPr>
        <p:grpSpPr>
          <a:xfrm rot="0">
            <a:off x="822960" y="9572625"/>
            <a:ext cx="8229600" cy="440055"/>
            <a:chOff x="0" y="0"/>
            <a:chExt cx="10972800" cy="586740"/>
          </a:xfrm>
        </p:grpSpPr>
        <p:sp>
          <p:nvSpPr>
            <p:cNvPr name="Freeform 45" id="45"/>
            <p:cNvSpPr/>
            <p:nvPr/>
          </p:nvSpPr>
          <p:spPr>
            <a:xfrm flipH="false" flipV="false" rot="0">
              <a:off x="0" y="0"/>
              <a:ext cx="10972800" cy="586740"/>
            </a:xfrm>
            <a:custGeom>
              <a:avLst/>
              <a:gdLst/>
              <a:ahLst/>
              <a:cxnLst/>
              <a:rect r="r" b="b" t="t" l="l"/>
              <a:pathLst>
                <a:path h="5867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586740"/>
                  </a:lnTo>
                  <a:lnTo>
                    <a:pt x="0" y="5867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314142" r="0" b="-314140"/>
              </a:stretch>
            </a:blipFill>
          </p:spPr>
        </p:sp>
      </p:grpSp>
      <p:grpSp>
        <p:nvGrpSpPr>
          <p:cNvPr name="Group 46" id="46"/>
          <p:cNvGrpSpPr/>
          <p:nvPr/>
        </p:nvGrpSpPr>
        <p:grpSpPr>
          <a:xfrm rot="0">
            <a:off x="822960" y="9544050"/>
            <a:ext cx="8229600" cy="468630"/>
            <a:chOff x="0" y="0"/>
            <a:chExt cx="10972800" cy="624840"/>
          </a:xfrm>
        </p:grpSpPr>
        <p:sp>
          <p:nvSpPr>
            <p:cNvPr name="Freeform 47" id="47"/>
            <p:cNvSpPr/>
            <p:nvPr/>
          </p:nvSpPr>
          <p:spPr>
            <a:xfrm flipH="false" flipV="false" rot="0">
              <a:off x="0" y="0"/>
              <a:ext cx="10972800" cy="624840"/>
            </a:xfrm>
            <a:custGeom>
              <a:avLst/>
              <a:gdLst/>
              <a:ahLst/>
              <a:cxnLst/>
              <a:rect r="r" b="b" t="t" l="l"/>
              <a:pathLst>
                <a:path h="6248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624840"/>
                  </a:lnTo>
                  <a:lnTo>
                    <a:pt x="0" y="6248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91939" r="0" b="-291936"/>
              </a:stretch>
            </a:blipFill>
          </p:spPr>
        </p:sp>
      </p:grpSp>
      <p:grpSp>
        <p:nvGrpSpPr>
          <p:cNvPr name="Group 48" id="48"/>
          <p:cNvGrpSpPr/>
          <p:nvPr/>
        </p:nvGrpSpPr>
        <p:grpSpPr>
          <a:xfrm rot="0">
            <a:off x="822960" y="9515475"/>
            <a:ext cx="8229600" cy="497205"/>
            <a:chOff x="0" y="0"/>
            <a:chExt cx="10972800" cy="662940"/>
          </a:xfrm>
        </p:grpSpPr>
        <p:sp>
          <p:nvSpPr>
            <p:cNvPr name="Freeform 49" id="49"/>
            <p:cNvSpPr/>
            <p:nvPr/>
          </p:nvSpPr>
          <p:spPr>
            <a:xfrm flipH="false" flipV="false" rot="0">
              <a:off x="0" y="0"/>
              <a:ext cx="10972800" cy="662940"/>
            </a:xfrm>
            <a:custGeom>
              <a:avLst/>
              <a:gdLst/>
              <a:ahLst/>
              <a:cxnLst/>
              <a:rect r="r" b="b" t="t" l="l"/>
              <a:pathLst>
                <a:path h="6629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662940"/>
                  </a:lnTo>
                  <a:lnTo>
                    <a:pt x="0" y="66294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72287" r="0" b="-272285"/>
              </a:stretch>
            </a:blipFill>
          </p:spPr>
        </p:sp>
      </p:grpSp>
      <p:grpSp>
        <p:nvGrpSpPr>
          <p:cNvPr name="Group 50" id="50"/>
          <p:cNvGrpSpPr/>
          <p:nvPr/>
        </p:nvGrpSpPr>
        <p:grpSpPr>
          <a:xfrm rot="0">
            <a:off x="822960" y="9486900"/>
            <a:ext cx="8229600" cy="525780"/>
            <a:chOff x="0" y="0"/>
            <a:chExt cx="10972800" cy="701040"/>
          </a:xfrm>
        </p:grpSpPr>
        <p:sp>
          <p:nvSpPr>
            <p:cNvPr name="Freeform 51" id="51"/>
            <p:cNvSpPr/>
            <p:nvPr/>
          </p:nvSpPr>
          <p:spPr>
            <a:xfrm flipH="false" flipV="false" rot="0">
              <a:off x="0" y="0"/>
              <a:ext cx="10972800" cy="701040"/>
            </a:xfrm>
            <a:custGeom>
              <a:avLst/>
              <a:gdLst/>
              <a:ahLst/>
              <a:cxnLst/>
              <a:rect r="r" b="b" t="t" l="l"/>
              <a:pathLst>
                <a:path h="7010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701040"/>
                  </a:lnTo>
                  <a:lnTo>
                    <a:pt x="0" y="701040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254771" r="0" b="-254769"/>
              </a:stretch>
            </a:blipFill>
          </p:spPr>
        </p:sp>
      </p:grpSp>
      <p:grpSp>
        <p:nvGrpSpPr>
          <p:cNvPr name="Group 52" id="52"/>
          <p:cNvGrpSpPr/>
          <p:nvPr/>
        </p:nvGrpSpPr>
        <p:grpSpPr>
          <a:xfrm rot="0">
            <a:off x="822960" y="9458325"/>
            <a:ext cx="8229600" cy="554355"/>
            <a:chOff x="0" y="0"/>
            <a:chExt cx="10972800" cy="739140"/>
          </a:xfrm>
        </p:grpSpPr>
        <p:sp>
          <p:nvSpPr>
            <p:cNvPr name="Freeform 53" id="53"/>
            <p:cNvSpPr/>
            <p:nvPr/>
          </p:nvSpPr>
          <p:spPr>
            <a:xfrm flipH="false" flipV="false" rot="0">
              <a:off x="0" y="0"/>
              <a:ext cx="10972800" cy="739140"/>
            </a:xfrm>
            <a:custGeom>
              <a:avLst/>
              <a:gdLst/>
              <a:ahLst/>
              <a:cxnLst/>
              <a:rect r="r" b="b" t="t" l="l"/>
              <a:pathLst>
                <a:path h="7391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739140"/>
                  </a:lnTo>
                  <a:lnTo>
                    <a:pt x="0" y="739140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l="0" t="-239061" r="0" b="-239060"/>
              </a:stretch>
            </a:blipFill>
          </p:spPr>
        </p:sp>
      </p:grpSp>
      <p:grpSp>
        <p:nvGrpSpPr>
          <p:cNvPr name="Group 54" id="54"/>
          <p:cNvGrpSpPr/>
          <p:nvPr/>
        </p:nvGrpSpPr>
        <p:grpSpPr>
          <a:xfrm rot="0">
            <a:off x="822960" y="9429750"/>
            <a:ext cx="8229600" cy="582930"/>
            <a:chOff x="0" y="0"/>
            <a:chExt cx="10972800" cy="777240"/>
          </a:xfrm>
        </p:grpSpPr>
        <p:sp>
          <p:nvSpPr>
            <p:cNvPr name="Freeform 55" id="55"/>
            <p:cNvSpPr/>
            <p:nvPr/>
          </p:nvSpPr>
          <p:spPr>
            <a:xfrm flipH="false" flipV="false" rot="0">
              <a:off x="0" y="0"/>
              <a:ext cx="10972800" cy="777240"/>
            </a:xfrm>
            <a:custGeom>
              <a:avLst/>
              <a:gdLst/>
              <a:ahLst/>
              <a:cxnLst/>
              <a:rect r="r" b="b" t="t" l="l"/>
              <a:pathLst>
                <a:path h="7772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777240"/>
                  </a:lnTo>
                  <a:lnTo>
                    <a:pt x="0" y="777240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0" t="-224892" r="0" b="-224890"/>
              </a:stretch>
            </a:blipFill>
          </p:spPr>
        </p:sp>
      </p:grpSp>
      <p:grpSp>
        <p:nvGrpSpPr>
          <p:cNvPr name="Group 56" id="56"/>
          <p:cNvGrpSpPr/>
          <p:nvPr/>
        </p:nvGrpSpPr>
        <p:grpSpPr>
          <a:xfrm rot="0">
            <a:off x="822960" y="9401175"/>
            <a:ext cx="8229600" cy="611505"/>
            <a:chOff x="0" y="0"/>
            <a:chExt cx="10972800" cy="815340"/>
          </a:xfrm>
        </p:grpSpPr>
        <p:sp>
          <p:nvSpPr>
            <p:cNvPr name="Freeform 57" id="57"/>
            <p:cNvSpPr/>
            <p:nvPr/>
          </p:nvSpPr>
          <p:spPr>
            <a:xfrm flipH="false" flipV="false" rot="0">
              <a:off x="0" y="0"/>
              <a:ext cx="10972800" cy="815340"/>
            </a:xfrm>
            <a:custGeom>
              <a:avLst/>
              <a:gdLst/>
              <a:ahLst/>
              <a:cxnLst/>
              <a:rect r="r" b="b" t="t" l="l"/>
              <a:pathLst>
                <a:path h="8153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815340"/>
                  </a:lnTo>
                  <a:lnTo>
                    <a:pt x="0" y="815340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0" t="-212228" r="0" b="-212228"/>
              </a:stretch>
            </a:blipFill>
          </p:spPr>
        </p:sp>
        <p:sp>
          <p:nvSpPr>
            <p:cNvPr name="TextBox 58" id="58"/>
            <p:cNvSpPr txBox="true"/>
            <p:nvPr/>
          </p:nvSpPr>
          <p:spPr>
            <a:xfrm>
              <a:off x="0" y="-38100"/>
              <a:ext cx="10972800" cy="8534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6B728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WeFIND  |  TCC  |  IFSul Campus Pelotas</a:t>
              </a:r>
            </a:p>
          </p:txBody>
        </p:sp>
      </p:grpSp>
    </p:spTree>
  </p:cSld>
  <p:clrMapOvr>
    <a:masterClrMapping/>
  </p:clrMapOvr>
</p:sld>
</file>

<file path=ppt/slides/slide35.xml><?xml version="1.0" encoding="utf-8"?>
<p:sld xmlns:p="http://schemas.openxmlformats.org/presentationml/2006/main" xmlns:a="http://schemas.openxmlformats.org/drawingml/2006/main" show="false">
  <p:cSld>
    <p:bg>
      <p:bgPr>
        <a:solidFill>
          <a:srgbClr val="2E56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463040" y="2274570"/>
            <a:ext cx="9144000" cy="78574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38"/>
              </a:lnSpc>
            </a:pPr>
            <a:r>
              <a:rPr lang="en-US" b="true" sz="2199" spc="599">
                <a:solidFill>
                  <a:srgbClr val="E3B58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A SEGUIR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1463040" y="2960370"/>
            <a:ext cx="2256681" cy="2295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00"/>
              </a:lnSpc>
            </a:pPr>
            <a:r>
              <a:rPr lang="en-US" sz="15000" b="true">
                <a:solidFill>
                  <a:srgbClr val="E3B58F"/>
                </a:solidFill>
                <a:latin typeface="Cambria Bold"/>
                <a:ea typeface="Cambria Bold"/>
                <a:cs typeface="Cambria Bold"/>
                <a:sym typeface="Cambria Bold"/>
              </a:rPr>
              <a:t>07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463040" y="5463540"/>
            <a:ext cx="15544800" cy="10191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920"/>
              </a:lnSpc>
            </a:pPr>
            <a:r>
              <a:rPr lang="en-US" sz="6600" b="true">
                <a:solidFill>
                  <a:srgbClr val="FFFFFF"/>
                </a:solidFill>
                <a:latin typeface="Cambria Bold"/>
                <a:ea typeface="Cambria Bold"/>
                <a:cs typeface="Cambria Bold"/>
                <a:sym typeface="Cambria Bold"/>
              </a:rPr>
              <a:t>Apoio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463040" y="6366510"/>
            <a:ext cx="15544800" cy="48600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7"/>
              </a:lnSpc>
            </a:pPr>
            <a:r>
              <a:rPr lang="en-US" sz="2799">
                <a:solidFill>
                  <a:srgbClr val="C9D8CB"/>
                </a:solidFill>
                <a:latin typeface="Calibri (MS)"/>
                <a:ea typeface="Calibri (MS)"/>
                <a:cs typeface="Calibri (MS)"/>
                <a:sym typeface="Calibri (MS)"/>
              </a:rPr>
              <a:t>Para perguntas da banca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6459200" y="9471660"/>
            <a:ext cx="914400" cy="3810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400"/>
              </a:lnSpc>
            </a:pPr>
            <a:r>
              <a:rPr lang="en-US" sz="2000">
                <a:solidFill>
                  <a:srgbClr val="C9D8CB"/>
                </a:solidFill>
                <a:latin typeface="Calibri (MS)"/>
                <a:ea typeface="Calibri (MS)"/>
                <a:cs typeface="Calibri (MS)"/>
                <a:sym typeface="Calibri (MS)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p="http://schemas.openxmlformats.org/presentationml/2006/main" xmlns:a="http://schemas.openxmlformats.org/drawingml/2006/main" xmlns:r="http://schemas.openxmlformats.org/officeDocument/2006/relationships" show="false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914400" y="207264"/>
            <a:ext cx="6858000" cy="6705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00"/>
              </a:lnSpc>
            </a:pPr>
            <a:r>
              <a:rPr lang="en-US" b="true" sz="2000" spc="400">
                <a:solidFill>
                  <a:srgbClr val="B1734A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04  SOLUÇÃO DESENVOLVIDA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914400" y="914400"/>
            <a:ext cx="16459200" cy="1097280"/>
            <a:chOff x="0" y="0"/>
            <a:chExt cx="21945600" cy="146304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21945600" cy="1463040"/>
            </a:xfrm>
            <a:custGeom>
              <a:avLst/>
              <a:gdLst/>
              <a:ahLst/>
              <a:cxnLst/>
              <a:rect r="r" b="b" t="t" l="l"/>
              <a:pathLst>
                <a:path h="146304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463040"/>
                  </a:lnTo>
                  <a:lnTo>
                    <a:pt x="0" y="14630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242072" r="0" b="-242072"/>
              </a:stretch>
            </a:blipFill>
          </p:spPr>
        </p:sp>
      </p:grpSp>
      <p:grpSp>
        <p:nvGrpSpPr>
          <p:cNvPr name="Group 5" id="5"/>
          <p:cNvGrpSpPr/>
          <p:nvPr/>
        </p:nvGrpSpPr>
        <p:grpSpPr>
          <a:xfrm rot="0">
            <a:off x="914400" y="907256"/>
            <a:ext cx="16459200" cy="1104424"/>
            <a:chOff x="0" y="0"/>
            <a:chExt cx="21945600" cy="1472565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21945600" cy="1472565"/>
            </a:xfrm>
            <a:custGeom>
              <a:avLst/>
              <a:gdLst/>
              <a:ahLst/>
              <a:cxnLst/>
              <a:rect r="r" b="b" t="t" l="l"/>
              <a:pathLst>
                <a:path h="1472565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472565"/>
                  </a:lnTo>
                  <a:lnTo>
                    <a:pt x="0" y="1472565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40182" r="0" b="-240183"/>
              </a:stretch>
            </a:blipFill>
          </p:spPr>
        </p:sp>
      </p:grpSp>
      <p:grpSp>
        <p:nvGrpSpPr>
          <p:cNvPr name="Group 7" id="7"/>
          <p:cNvGrpSpPr/>
          <p:nvPr/>
        </p:nvGrpSpPr>
        <p:grpSpPr>
          <a:xfrm rot="0">
            <a:off x="914400" y="900112"/>
            <a:ext cx="16459200" cy="1111568"/>
            <a:chOff x="0" y="0"/>
            <a:chExt cx="21945600" cy="148209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21945600" cy="1482090"/>
            </a:xfrm>
            <a:custGeom>
              <a:avLst/>
              <a:gdLst/>
              <a:ahLst/>
              <a:cxnLst/>
              <a:rect r="r" b="b" t="t" l="l"/>
              <a:pathLst>
                <a:path h="148209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482090"/>
                  </a:lnTo>
                  <a:lnTo>
                    <a:pt x="0" y="148209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38317" r="0" b="-238318"/>
              </a:stretch>
            </a:blipFill>
          </p:spPr>
        </p:sp>
      </p:grpSp>
      <p:grpSp>
        <p:nvGrpSpPr>
          <p:cNvPr name="Group 9" id="9"/>
          <p:cNvGrpSpPr/>
          <p:nvPr/>
        </p:nvGrpSpPr>
        <p:grpSpPr>
          <a:xfrm rot="0">
            <a:off x="914400" y="892969"/>
            <a:ext cx="16459200" cy="1118711"/>
            <a:chOff x="0" y="0"/>
            <a:chExt cx="21945600" cy="1491615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21945600" cy="1491615"/>
            </a:xfrm>
            <a:custGeom>
              <a:avLst/>
              <a:gdLst/>
              <a:ahLst/>
              <a:cxnLst/>
              <a:rect r="r" b="b" t="t" l="l"/>
              <a:pathLst>
                <a:path h="1491615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491615"/>
                  </a:lnTo>
                  <a:lnTo>
                    <a:pt x="0" y="1491615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236476" r="0" b="-236477"/>
              </a:stretch>
            </a:blipFill>
          </p:spPr>
        </p:sp>
      </p:grpSp>
      <p:grpSp>
        <p:nvGrpSpPr>
          <p:cNvPr name="Group 11" id="11"/>
          <p:cNvGrpSpPr/>
          <p:nvPr/>
        </p:nvGrpSpPr>
        <p:grpSpPr>
          <a:xfrm rot="0">
            <a:off x="914400" y="885825"/>
            <a:ext cx="16459200" cy="1125855"/>
            <a:chOff x="0" y="0"/>
            <a:chExt cx="21945600" cy="150114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21945600" cy="1501140"/>
            </a:xfrm>
            <a:custGeom>
              <a:avLst/>
              <a:gdLst/>
              <a:ahLst/>
              <a:cxnLst/>
              <a:rect r="r" b="b" t="t" l="l"/>
              <a:pathLst>
                <a:path h="150114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501140"/>
                  </a:lnTo>
                  <a:lnTo>
                    <a:pt x="0" y="1501140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l="0" t="-234659" r="0" b="-234659"/>
              </a:stretch>
            </a:blipFill>
          </p:spPr>
        </p:sp>
      </p:grpSp>
      <p:grpSp>
        <p:nvGrpSpPr>
          <p:cNvPr name="Group 13" id="13"/>
          <p:cNvGrpSpPr/>
          <p:nvPr/>
        </p:nvGrpSpPr>
        <p:grpSpPr>
          <a:xfrm rot="0">
            <a:off x="914400" y="878681"/>
            <a:ext cx="16459200" cy="1132999"/>
            <a:chOff x="0" y="0"/>
            <a:chExt cx="21945600" cy="1510665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21945600" cy="1510665"/>
            </a:xfrm>
            <a:custGeom>
              <a:avLst/>
              <a:gdLst/>
              <a:ahLst/>
              <a:cxnLst/>
              <a:rect r="r" b="b" t="t" l="l"/>
              <a:pathLst>
                <a:path h="1510665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510665"/>
                  </a:lnTo>
                  <a:lnTo>
                    <a:pt x="0" y="1510665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0" t="-232864" r="0" b="-232865"/>
              </a:stretch>
            </a:blipFill>
          </p:spPr>
        </p:sp>
      </p:grpSp>
      <p:grpSp>
        <p:nvGrpSpPr>
          <p:cNvPr name="Group 15" id="15"/>
          <p:cNvGrpSpPr/>
          <p:nvPr/>
        </p:nvGrpSpPr>
        <p:grpSpPr>
          <a:xfrm rot="0">
            <a:off x="914400" y="871538"/>
            <a:ext cx="16459200" cy="1140142"/>
            <a:chOff x="0" y="0"/>
            <a:chExt cx="21945600" cy="152019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21945600" cy="1520190"/>
            </a:xfrm>
            <a:custGeom>
              <a:avLst/>
              <a:gdLst/>
              <a:ahLst/>
              <a:cxnLst/>
              <a:rect r="r" b="b" t="t" l="l"/>
              <a:pathLst>
                <a:path h="152019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520190"/>
                  </a:lnTo>
                  <a:lnTo>
                    <a:pt x="0" y="1520190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0" t="-231091" r="0" b="-231092"/>
              </a:stretch>
            </a:blipFill>
          </p:spPr>
        </p:sp>
      </p:grpSp>
      <p:grpSp>
        <p:nvGrpSpPr>
          <p:cNvPr name="Group 17" id="17"/>
          <p:cNvGrpSpPr/>
          <p:nvPr/>
        </p:nvGrpSpPr>
        <p:grpSpPr>
          <a:xfrm rot="0">
            <a:off x="914400" y="864394"/>
            <a:ext cx="16459200" cy="1147286"/>
            <a:chOff x="0" y="0"/>
            <a:chExt cx="21945600" cy="1529715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21945600" cy="1529714"/>
            </a:xfrm>
            <a:custGeom>
              <a:avLst/>
              <a:gdLst/>
              <a:ahLst/>
              <a:cxnLst/>
              <a:rect r="r" b="b" t="t" l="l"/>
              <a:pathLst>
                <a:path h="1529714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529714"/>
                  </a:lnTo>
                  <a:lnTo>
                    <a:pt x="0" y="1529714"/>
                  </a:lnTo>
                  <a:close/>
                </a:path>
              </a:pathLst>
            </a:custGeom>
            <a:blipFill>
              <a:blip r:embed="rId9">
                <a:alphaModFix amt="0"/>
              </a:blip>
              <a:stretch>
                <a:fillRect l="0" t="-229536" r="0" b="-229536"/>
              </a:stretch>
            </a:blipFill>
          </p:spPr>
        </p:sp>
        <p:sp>
          <p:nvSpPr>
            <p:cNvPr name="TextBox 19" id="19"/>
            <p:cNvSpPr txBox="true"/>
            <p:nvPr/>
          </p:nvSpPr>
          <p:spPr>
            <a:xfrm>
              <a:off x="0" y="-9525"/>
              <a:ext cx="21945600" cy="15392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6239"/>
                </a:lnSpc>
              </a:pPr>
              <a:r>
                <a:rPr lang="en-US" sz="5198" b="true">
                  <a:solidFill>
                    <a:srgbClr val="2E5634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Correspondência: sugere, não confirma</a:t>
              </a:r>
            </a:p>
          </p:txBody>
        </p:sp>
      </p:grpSp>
      <p:sp>
        <p:nvSpPr>
          <p:cNvPr name="TextBox 20" id="20"/>
          <p:cNvSpPr txBox="true"/>
          <p:nvPr/>
        </p:nvSpPr>
        <p:spPr>
          <a:xfrm rot="0">
            <a:off x="914400" y="3968115"/>
            <a:ext cx="4846320" cy="13563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079"/>
              </a:lnSpc>
            </a:pPr>
            <a:r>
              <a:rPr lang="en-US" sz="3399" b="true">
                <a:solidFill>
                  <a:srgbClr val="2E5634"/>
                </a:solidFill>
                <a:latin typeface="Cambria Bold"/>
                <a:ea typeface="Cambria Bold"/>
                <a:cs typeface="Cambria Bold"/>
                <a:sym typeface="Cambria Bold"/>
              </a:rPr>
              <a:t>Índice heurístico de semelhança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914400" y="5292090"/>
            <a:ext cx="4846320" cy="13716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20"/>
              </a:lnSpc>
            </a:pPr>
            <a:r>
              <a:rPr lang="en-US" sz="2600">
                <a:solidFill>
                  <a:srgbClr val="1B2A1F"/>
                </a:solidFill>
                <a:latin typeface="Calibri (MS)"/>
                <a:ea typeface="Calibri (MS)"/>
                <a:cs typeface="Calibri (MS)"/>
                <a:sym typeface="Calibri (MS)"/>
              </a:rPr>
              <a:t>Não é probabilidade: os usuários confirmam ou descartam.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914400" y="6711315"/>
            <a:ext cx="4846320" cy="7162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7"/>
              </a:lnSpc>
            </a:pPr>
            <a:r>
              <a:rPr lang="en-US" sz="2799" b="true">
                <a:solidFill>
                  <a:srgbClr val="2E5634"/>
                </a:solidFill>
                <a:latin typeface="Cambria Bold"/>
                <a:ea typeface="Cambria Bold"/>
                <a:cs typeface="Cambria Bold"/>
                <a:sym typeface="Cambria Bold"/>
              </a:rPr>
              <a:t>Limiares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914400" y="7231380"/>
            <a:ext cx="4846320" cy="14020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78"/>
              </a:lnSpc>
            </a:pPr>
            <a:r>
              <a:rPr lang="en-US" sz="2400">
                <a:solidFill>
                  <a:srgbClr val="1B2A1F"/>
                </a:solidFill>
                <a:latin typeface="Calibri (MS)"/>
                <a:ea typeface="Calibri (MS)"/>
                <a:cs typeface="Calibri (MS)"/>
                <a:sym typeface="Calibri (MS)"/>
              </a:rPr>
              <a:t>55 pts: entra na lista. 60 pts: gera aviso (até 3).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914400" y="8488680"/>
            <a:ext cx="16459200" cy="10210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2100">
                <a:solidFill>
                  <a:srgbClr val="5B6B5F"/>
                </a:solidFill>
                <a:latin typeface="Calibri (MS)"/>
                <a:ea typeface="Calibri (MS)"/>
                <a:cs typeface="Calibri (MS)"/>
                <a:sym typeface="Calibri (MS)"/>
              </a:rPr>
              <a:t>Soma limitada a 0–100; pesos definidos de forma empírica, ainda sem calibração com casos reais (Quadro 4 do TCC).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16459200" y="9433560"/>
            <a:ext cx="914400" cy="3810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400"/>
              </a:lnSpc>
            </a:pPr>
            <a:r>
              <a:rPr lang="en-US" sz="2000">
                <a:solidFill>
                  <a:srgbClr val="5B6B5F"/>
                </a:solidFill>
                <a:latin typeface="Calibri (MS)"/>
                <a:ea typeface="Calibri (MS)"/>
                <a:cs typeface="Calibri (MS)"/>
                <a:sym typeface="Calibri (MS)"/>
              </a:rPr>
              <a:t>36</a:t>
            </a:r>
          </a:p>
        </p:txBody>
      </p:sp>
      <p:grpSp>
        <p:nvGrpSpPr>
          <p:cNvPr name="Group 26" id="26"/>
          <p:cNvGrpSpPr/>
          <p:nvPr/>
        </p:nvGrpSpPr>
        <p:grpSpPr>
          <a:xfrm rot="0">
            <a:off x="822960" y="9572625"/>
            <a:ext cx="8229600" cy="440055"/>
            <a:chOff x="0" y="0"/>
            <a:chExt cx="10972800" cy="586740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10972800" cy="586740"/>
            </a:xfrm>
            <a:custGeom>
              <a:avLst/>
              <a:gdLst/>
              <a:ahLst/>
              <a:cxnLst/>
              <a:rect r="r" b="b" t="t" l="l"/>
              <a:pathLst>
                <a:path h="5867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586740"/>
                  </a:lnTo>
                  <a:lnTo>
                    <a:pt x="0" y="5867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314142" r="0" b="-314140"/>
              </a:stretch>
            </a:blipFill>
          </p:spPr>
        </p:sp>
      </p:grpSp>
      <p:grpSp>
        <p:nvGrpSpPr>
          <p:cNvPr name="Group 28" id="28"/>
          <p:cNvGrpSpPr/>
          <p:nvPr/>
        </p:nvGrpSpPr>
        <p:grpSpPr>
          <a:xfrm rot="0">
            <a:off x="822960" y="9544050"/>
            <a:ext cx="8229600" cy="468630"/>
            <a:chOff x="0" y="0"/>
            <a:chExt cx="10972800" cy="624840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10972800" cy="624840"/>
            </a:xfrm>
            <a:custGeom>
              <a:avLst/>
              <a:gdLst/>
              <a:ahLst/>
              <a:cxnLst/>
              <a:rect r="r" b="b" t="t" l="l"/>
              <a:pathLst>
                <a:path h="6248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624840"/>
                  </a:lnTo>
                  <a:lnTo>
                    <a:pt x="0" y="6248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91939" r="0" b="-291936"/>
              </a:stretch>
            </a:blipFill>
          </p:spPr>
        </p:sp>
      </p:grpSp>
      <p:grpSp>
        <p:nvGrpSpPr>
          <p:cNvPr name="Group 30" id="30"/>
          <p:cNvGrpSpPr/>
          <p:nvPr/>
        </p:nvGrpSpPr>
        <p:grpSpPr>
          <a:xfrm rot="0">
            <a:off x="822960" y="9515475"/>
            <a:ext cx="8229600" cy="497205"/>
            <a:chOff x="0" y="0"/>
            <a:chExt cx="10972800" cy="662940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10972800" cy="662940"/>
            </a:xfrm>
            <a:custGeom>
              <a:avLst/>
              <a:gdLst/>
              <a:ahLst/>
              <a:cxnLst/>
              <a:rect r="r" b="b" t="t" l="l"/>
              <a:pathLst>
                <a:path h="6629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662940"/>
                  </a:lnTo>
                  <a:lnTo>
                    <a:pt x="0" y="66294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72287" r="0" b="-272285"/>
              </a:stretch>
            </a:blipFill>
          </p:spPr>
        </p:sp>
      </p:grpSp>
      <p:grpSp>
        <p:nvGrpSpPr>
          <p:cNvPr name="Group 32" id="32"/>
          <p:cNvGrpSpPr/>
          <p:nvPr/>
        </p:nvGrpSpPr>
        <p:grpSpPr>
          <a:xfrm rot="0">
            <a:off x="822960" y="9486900"/>
            <a:ext cx="8229600" cy="525780"/>
            <a:chOff x="0" y="0"/>
            <a:chExt cx="10972800" cy="701040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0" y="0"/>
              <a:ext cx="10972800" cy="701040"/>
            </a:xfrm>
            <a:custGeom>
              <a:avLst/>
              <a:gdLst/>
              <a:ahLst/>
              <a:cxnLst/>
              <a:rect r="r" b="b" t="t" l="l"/>
              <a:pathLst>
                <a:path h="7010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701040"/>
                  </a:lnTo>
                  <a:lnTo>
                    <a:pt x="0" y="701040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254771" r="0" b="-254769"/>
              </a:stretch>
            </a:blipFill>
          </p:spPr>
        </p:sp>
      </p:grpSp>
      <p:grpSp>
        <p:nvGrpSpPr>
          <p:cNvPr name="Group 34" id="34"/>
          <p:cNvGrpSpPr/>
          <p:nvPr/>
        </p:nvGrpSpPr>
        <p:grpSpPr>
          <a:xfrm rot="0">
            <a:off x="822960" y="9458325"/>
            <a:ext cx="8229600" cy="554355"/>
            <a:chOff x="0" y="0"/>
            <a:chExt cx="10972800" cy="739140"/>
          </a:xfrm>
        </p:grpSpPr>
        <p:sp>
          <p:nvSpPr>
            <p:cNvPr name="Freeform 35" id="35"/>
            <p:cNvSpPr/>
            <p:nvPr/>
          </p:nvSpPr>
          <p:spPr>
            <a:xfrm flipH="false" flipV="false" rot="0">
              <a:off x="0" y="0"/>
              <a:ext cx="10972800" cy="739140"/>
            </a:xfrm>
            <a:custGeom>
              <a:avLst/>
              <a:gdLst/>
              <a:ahLst/>
              <a:cxnLst/>
              <a:rect r="r" b="b" t="t" l="l"/>
              <a:pathLst>
                <a:path h="7391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739140"/>
                  </a:lnTo>
                  <a:lnTo>
                    <a:pt x="0" y="739140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l="0" t="-239061" r="0" b="-239060"/>
              </a:stretch>
            </a:blipFill>
          </p:spPr>
        </p:sp>
      </p:grpSp>
      <p:grpSp>
        <p:nvGrpSpPr>
          <p:cNvPr name="Group 36" id="36"/>
          <p:cNvGrpSpPr/>
          <p:nvPr/>
        </p:nvGrpSpPr>
        <p:grpSpPr>
          <a:xfrm rot="0">
            <a:off x="822960" y="9429750"/>
            <a:ext cx="8229600" cy="582930"/>
            <a:chOff x="0" y="0"/>
            <a:chExt cx="10972800" cy="777240"/>
          </a:xfrm>
        </p:grpSpPr>
        <p:sp>
          <p:nvSpPr>
            <p:cNvPr name="Freeform 37" id="37"/>
            <p:cNvSpPr/>
            <p:nvPr/>
          </p:nvSpPr>
          <p:spPr>
            <a:xfrm flipH="false" flipV="false" rot="0">
              <a:off x="0" y="0"/>
              <a:ext cx="10972800" cy="777240"/>
            </a:xfrm>
            <a:custGeom>
              <a:avLst/>
              <a:gdLst/>
              <a:ahLst/>
              <a:cxnLst/>
              <a:rect r="r" b="b" t="t" l="l"/>
              <a:pathLst>
                <a:path h="7772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777240"/>
                  </a:lnTo>
                  <a:lnTo>
                    <a:pt x="0" y="777240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0" t="-224892" r="0" b="-224890"/>
              </a:stretch>
            </a:blipFill>
          </p:spPr>
        </p:sp>
      </p:grpSp>
      <p:grpSp>
        <p:nvGrpSpPr>
          <p:cNvPr name="Group 38" id="38"/>
          <p:cNvGrpSpPr/>
          <p:nvPr/>
        </p:nvGrpSpPr>
        <p:grpSpPr>
          <a:xfrm rot="0">
            <a:off x="822960" y="9401175"/>
            <a:ext cx="8229600" cy="611505"/>
            <a:chOff x="0" y="0"/>
            <a:chExt cx="10972800" cy="815340"/>
          </a:xfrm>
        </p:grpSpPr>
        <p:sp>
          <p:nvSpPr>
            <p:cNvPr name="Freeform 39" id="39"/>
            <p:cNvSpPr/>
            <p:nvPr/>
          </p:nvSpPr>
          <p:spPr>
            <a:xfrm flipH="false" flipV="false" rot="0">
              <a:off x="0" y="0"/>
              <a:ext cx="10972800" cy="815340"/>
            </a:xfrm>
            <a:custGeom>
              <a:avLst/>
              <a:gdLst/>
              <a:ahLst/>
              <a:cxnLst/>
              <a:rect r="r" b="b" t="t" l="l"/>
              <a:pathLst>
                <a:path h="8153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815340"/>
                  </a:lnTo>
                  <a:lnTo>
                    <a:pt x="0" y="815340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0" t="-212046" r="0" b="-212045"/>
              </a:stretch>
            </a:blipFill>
          </p:spPr>
        </p:sp>
      </p:grpSp>
      <p:grpSp>
        <p:nvGrpSpPr>
          <p:cNvPr name="Group 40" id="40"/>
          <p:cNvGrpSpPr/>
          <p:nvPr/>
        </p:nvGrpSpPr>
        <p:grpSpPr>
          <a:xfrm rot="0">
            <a:off x="822960" y="9372600"/>
            <a:ext cx="8229600" cy="640080"/>
            <a:chOff x="0" y="0"/>
            <a:chExt cx="10972800" cy="853440"/>
          </a:xfrm>
        </p:grpSpPr>
        <p:sp>
          <p:nvSpPr>
            <p:cNvPr name="Freeform 41" id="41"/>
            <p:cNvSpPr/>
            <p:nvPr/>
          </p:nvSpPr>
          <p:spPr>
            <a:xfrm flipH="false" flipV="false" rot="0">
              <a:off x="0" y="0"/>
              <a:ext cx="10972800" cy="853440"/>
            </a:xfrm>
            <a:custGeom>
              <a:avLst/>
              <a:gdLst/>
              <a:ahLst/>
              <a:cxnLst/>
              <a:rect r="r" b="b" t="t" l="l"/>
              <a:pathLst>
                <a:path h="8534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853440"/>
                  </a:lnTo>
                  <a:lnTo>
                    <a:pt x="0" y="853440"/>
                  </a:lnTo>
                  <a:close/>
                </a:path>
              </a:pathLst>
            </a:custGeom>
            <a:blipFill>
              <a:blip r:embed="rId9">
                <a:alphaModFix amt="0"/>
              </a:blip>
              <a:stretch>
                <a:fillRect l="0" t="-200521" r="0" b="-200521"/>
              </a:stretch>
            </a:blipFill>
          </p:spPr>
        </p:sp>
        <p:sp>
          <p:nvSpPr>
            <p:cNvPr name="TextBox 42" id="42"/>
            <p:cNvSpPr txBox="true"/>
            <p:nvPr/>
          </p:nvSpPr>
          <p:spPr>
            <a:xfrm>
              <a:off x="0" y="-38100"/>
              <a:ext cx="10972800" cy="8915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6B728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WeFIND  |  TCC  |  IFSul Campus Pelotas</a:t>
              </a:r>
            </a:p>
          </p:txBody>
        </p:sp>
      </p:grpSp>
      <p:sp>
        <p:nvSpPr>
          <p:cNvPr name="TextBox 43" id="43"/>
          <p:cNvSpPr txBox="true"/>
          <p:nvPr/>
        </p:nvSpPr>
        <p:spPr>
          <a:xfrm rot="0">
            <a:off x="914400" y="2139315"/>
            <a:ext cx="4937760" cy="17468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200"/>
              </a:lnSpc>
            </a:pPr>
            <a:r>
              <a:rPr lang="en-US" sz="11000" b="true">
                <a:solidFill>
                  <a:srgbClr val="B1734A"/>
                </a:solidFill>
                <a:latin typeface="Cambria Bold"/>
                <a:ea typeface="Cambria Bold"/>
                <a:cs typeface="Cambria Bold"/>
                <a:sym typeface="Cambria Bold"/>
              </a:rPr>
              <a:t>0–100</a:t>
            </a:r>
          </a:p>
        </p:txBody>
      </p:sp>
      <p:graphicFrame>
        <p:nvGraphicFramePr>
          <p:cNvPr name="Table 44" id="44"/>
          <p:cNvGraphicFramePr>
            <a:graphicFrameLocks noGrp="true"/>
          </p:cNvGraphicFramePr>
          <p:nvPr/>
        </p:nvGraphicFramePr>
        <p:xfrm>
          <a:off x="6172200" y="2240280"/>
          <a:ext cx="11188700" cy="5829300"/>
        </p:xfrm>
        <a:graphic>
          <a:graphicData uri="http://schemas.openxmlformats.org/drawingml/2006/table">
            <a:tbl>
              <a:tblPr/>
              <a:tblGrid>
                <a:gridCol w="2146404"/>
                <a:gridCol w="3653453"/>
                <a:gridCol w="2922762"/>
                <a:gridCol w="2466081"/>
              </a:tblGrid>
              <a:tr h="647700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040"/>
                        </a:lnSpc>
                        <a:defRPr/>
                      </a:pPr>
                      <a:r>
                        <a:rPr lang="en-US" sz="1700" b="true">
                          <a:solidFill>
                            <a:srgbClr val="FFFFFF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Critério</a:t>
                      </a:r>
                      <a:endParaRPr lang="en-US" sz="1100"/>
                    </a:p>
                  </a:txBody>
                  <a:tcPr marL="109728" marR="109728" marT="109728" marB="109728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5634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040"/>
                        </a:lnSpc>
                        <a:defRPr/>
                      </a:pPr>
                      <a:r>
                        <a:rPr lang="en-US" sz="1700" b="true">
                          <a:solidFill>
                            <a:srgbClr val="FFFFFF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Igual</a:t>
                      </a:r>
                      <a:endParaRPr lang="en-US" sz="1100"/>
                    </a:p>
                  </a:txBody>
                  <a:tcPr marL="109728" marR="109728" marT="109728" marB="109728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5634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040"/>
                        </a:lnSpc>
                        <a:defRPr/>
                      </a:pPr>
                      <a:r>
                        <a:rPr lang="en-US" sz="1700" b="true">
                          <a:solidFill>
                            <a:srgbClr val="FFFFFF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Parcial ou não informado</a:t>
                      </a:r>
                      <a:endParaRPr lang="en-US" sz="1100"/>
                    </a:p>
                  </a:txBody>
                  <a:tcPr marL="109728" marR="109728" marT="109728" marB="109728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5634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040"/>
                        </a:lnSpc>
                        <a:defRPr/>
                      </a:pPr>
                      <a:r>
                        <a:rPr lang="en-US" sz="1700" b="true">
                          <a:solidFill>
                            <a:srgbClr val="FFFFFF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Diferente</a:t>
                      </a:r>
                      <a:endParaRPr lang="en-US" sz="1100"/>
                    </a:p>
                  </a:txBody>
                  <a:tcPr marL="109728" marR="109728" marT="109728" marB="109728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5634"/>
                    </a:solidFill>
                  </a:tcPr>
                </a:tc>
              </a:tr>
              <a:tr h="647700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919"/>
                        </a:lnSpc>
                        <a:defRPr/>
                      </a:pPr>
                      <a:r>
                        <a:rPr lang="en-US" sz="1599" b="true">
                          <a:solidFill>
                            <a:srgbClr val="2E5634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Espécie</a:t>
                      </a:r>
                      <a:endParaRPr lang="en-US" sz="1100"/>
                    </a:p>
                  </a:txBody>
                  <a:tcPr marL="109728" marR="109728" marT="109728" marB="109728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919"/>
                        </a:lnSpc>
                        <a:defRPr/>
                      </a:pPr>
                      <a:r>
                        <a:rPr lang="en-US" sz="1599">
                          <a:solidFill>
                            <a:srgbClr val="1B2A1F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+20</a:t>
                      </a:r>
                      <a:endParaRPr lang="en-US" sz="1100"/>
                    </a:p>
                  </a:txBody>
                  <a:tcPr marL="109728" marR="109728" marT="109728" marB="109728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919"/>
                        </a:lnSpc>
                        <a:defRPr/>
                      </a:pPr>
                      <a:r>
                        <a:rPr lang="en-US" sz="1599">
                          <a:solidFill>
                            <a:srgbClr val="1B2A1F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+10</a:t>
                      </a:r>
                      <a:endParaRPr lang="en-US" sz="1100"/>
                    </a:p>
                  </a:txBody>
                  <a:tcPr marL="109728" marR="109728" marT="109728" marB="109728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919"/>
                        </a:lnSpc>
                        <a:defRPr/>
                      </a:pPr>
                      <a:r>
                        <a:rPr lang="en-US" sz="1599">
                          <a:solidFill>
                            <a:srgbClr val="B1734A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descarta o par</a:t>
                      </a:r>
                      <a:endParaRPr lang="en-US" sz="1100"/>
                    </a:p>
                  </a:txBody>
                  <a:tcPr marL="109728" marR="109728" marT="109728" marB="109728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7700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919"/>
                        </a:lnSpc>
                        <a:defRPr/>
                      </a:pPr>
                      <a:r>
                        <a:rPr lang="en-US" sz="1599" b="true">
                          <a:solidFill>
                            <a:srgbClr val="2E5634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Sexo</a:t>
                      </a:r>
                      <a:endParaRPr lang="en-US" sz="1100"/>
                    </a:p>
                  </a:txBody>
                  <a:tcPr marL="109728" marR="109728" marT="109728" marB="109728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2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919"/>
                        </a:lnSpc>
                        <a:defRPr/>
                      </a:pPr>
                      <a:r>
                        <a:rPr lang="en-US" sz="1599">
                          <a:solidFill>
                            <a:srgbClr val="1B2A1F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+10</a:t>
                      </a:r>
                      <a:endParaRPr lang="en-US" sz="1100"/>
                    </a:p>
                  </a:txBody>
                  <a:tcPr marL="109728" marR="109728" marT="109728" marB="109728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2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919"/>
                        </a:lnSpc>
                        <a:defRPr/>
                      </a:pPr>
                      <a:r>
                        <a:rPr lang="en-US" sz="1599">
                          <a:solidFill>
                            <a:srgbClr val="1B2A1F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+3</a:t>
                      </a:r>
                      <a:endParaRPr lang="en-US" sz="1100"/>
                    </a:p>
                  </a:txBody>
                  <a:tcPr marL="109728" marR="109728" marT="109728" marB="109728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2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919"/>
                        </a:lnSpc>
                        <a:defRPr/>
                      </a:pPr>
                      <a:r>
                        <a:rPr lang="en-US" sz="1599">
                          <a:solidFill>
                            <a:srgbClr val="B1734A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descarta o par</a:t>
                      </a:r>
                      <a:endParaRPr lang="en-US" sz="1100"/>
                    </a:p>
                  </a:txBody>
                  <a:tcPr marL="109728" marR="109728" marT="109728" marB="109728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2"/>
                    </a:solidFill>
                  </a:tcPr>
                </a:tc>
              </a:tr>
              <a:tr h="647700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919"/>
                        </a:lnSpc>
                        <a:defRPr/>
                      </a:pPr>
                      <a:r>
                        <a:rPr lang="en-US" sz="1599" b="true">
                          <a:solidFill>
                            <a:srgbClr val="2E5634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Porte</a:t>
                      </a:r>
                      <a:endParaRPr lang="en-US" sz="1100"/>
                    </a:p>
                  </a:txBody>
                  <a:tcPr marL="109728" marR="109728" marT="109728" marB="109728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919"/>
                        </a:lnSpc>
                        <a:defRPr/>
                      </a:pPr>
                      <a:r>
                        <a:rPr lang="en-US" sz="1599">
                          <a:solidFill>
                            <a:srgbClr val="1B2A1F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+15</a:t>
                      </a:r>
                      <a:endParaRPr lang="en-US" sz="1100"/>
                    </a:p>
                  </a:txBody>
                  <a:tcPr marL="109728" marR="109728" marT="109728" marB="109728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919"/>
                        </a:lnSpc>
                        <a:defRPr/>
                      </a:pPr>
                      <a:r>
                        <a:rPr lang="en-US" sz="1599">
                          <a:solidFill>
                            <a:srgbClr val="1B2A1F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+6 diferente · +5 ausente</a:t>
                      </a:r>
                      <a:endParaRPr lang="en-US" sz="1100"/>
                    </a:p>
                  </a:txBody>
                  <a:tcPr marL="109728" marR="109728" marT="109728" marB="109728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919"/>
                        </a:lnSpc>
                        <a:defRPr/>
                      </a:pPr>
                      <a:r>
                        <a:rPr lang="en-US" sz="1599">
                          <a:solidFill>
                            <a:srgbClr val="B1734A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descarta (pequeno × grande)</a:t>
                      </a:r>
                      <a:endParaRPr lang="en-US" sz="1100"/>
                    </a:p>
                  </a:txBody>
                  <a:tcPr marL="109728" marR="109728" marT="109728" marB="109728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7700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919"/>
                        </a:lnSpc>
                        <a:defRPr/>
                      </a:pPr>
                      <a:r>
                        <a:rPr lang="en-US" sz="1599" b="true">
                          <a:solidFill>
                            <a:srgbClr val="2E5634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Raça</a:t>
                      </a:r>
                      <a:endParaRPr lang="en-US" sz="1100"/>
                    </a:p>
                  </a:txBody>
                  <a:tcPr marL="109728" marR="109728" marT="109728" marB="109728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2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919"/>
                        </a:lnSpc>
                        <a:defRPr/>
                      </a:pPr>
                      <a:r>
                        <a:rPr lang="en-US" sz="1599">
                          <a:solidFill>
                            <a:srgbClr val="1B2A1F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+25 · +18 se uma contém a outra</a:t>
                      </a:r>
                      <a:endParaRPr lang="en-US" sz="1100"/>
                    </a:p>
                  </a:txBody>
                  <a:tcPr marL="109728" marR="109728" marT="109728" marB="109728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2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919"/>
                        </a:lnSpc>
                        <a:defRPr/>
                      </a:pPr>
                      <a:r>
                        <a:rPr lang="en-US" sz="1599">
                          <a:solidFill>
                            <a:srgbClr val="1B2A1F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+8 ambos SRD · +4 SRD × raça</a:t>
                      </a:r>
                      <a:endParaRPr lang="en-US" sz="1100"/>
                    </a:p>
                  </a:txBody>
                  <a:tcPr marL="109728" marR="109728" marT="109728" marB="109728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2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919"/>
                        </a:lnSpc>
                        <a:defRPr/>
                      </a:pPr>
                      <a:r>
                        <a:rPr lang="en-US" sz="1599">
                          <a:solidFill>
                            <a:srgbClr val="B1734A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−20</a:t>
                      </a:r>
                      <a:endParaRPr lang="en-US" sz="1100"/>
                    </a:p>
                  </a:txBody>
                  <a:tcPr marL="109728" marR="109728" marT="109728" marB="109728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2"/>
                    </a:solidFill>
                  </a:tcPr>
                </a:tc>
              </a:tr>
              <a:tr h="647700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919"/>
                        </a:lnSpc>
                        <a:defRPr/>
                      </a:pPr>
                      <a:r>
                        <a:rPr lang="en-US" sz="1599" b="true">
                          <a:solidFill>
                            <a:srgbClr val="2E5634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Pelagem</a:t>
                      </a:r>
                      <a:endParaRPr lang="en-US" sz="1100"/>
                    </a:p>
                  </a:txBody>
                  <a:tcPr marL="109728" marR="109728" marT="109728" marB="109728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919"/>
                        </a:lnSpc>
                        <a:defRPr/>
                      </a:pPr>
                      <a:r>
                        <a:rPr lang="en-US" sz="1599">
                          <a:solidFill>
                            <a:srgbClr val="1B2A1F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+20 (2+ cores) · +12 (1 cor)</a:t>
                      </a:r>
                      <a:endParaRPr lang="en-US" sz="1100"/>
                    </a:p>
                  </a:txBody>
                  <a:tcPr marL="109728" marR="109728" marT="109728" marB="109728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919"/>
                        </a:lnSpc>
                        <a:defRPr/>
                      </a:pPr>
                      <a:r>
                        <a:rPr lang="en-US" sz="1599">
                          <a:solidFill>
                            <a:srgbClr val="1B2A1F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+4</a:t>
                      </a:r>
                      <a:endParaRPr lang="en-US" sz="1100"/>
                    </a:p>
                  </a:txBody>
                  <a:tcPr marL="109728" marR="109728" marT="109728" marB="109728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919"/>
                        </a:lnSpc>
                        <a:defRPr/>
                      </a:pPr>
                      <a:r>
                        <a:rPr lang="en-US" sz="1599">
                          <a:solidFill>
                            <a:srgbClr val="B1734A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−25</a:t>
                      </a:r>
                      <a:endParaRPr lang="en-US" sz="1100"/>
                    </a:p>
                  </a:txBody>
                  <a:tcPr marL="109728" marR="109728" marT="109728" marB="109728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7700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919"/>
                        </a:lnSpc>
                        <a:defRPr/>
                      </a:pPr>
                      <a:r>
                        <a:rPr lang="en-US" sz="1599" b="true">
                          <a:solidFill>
                            <a:srgbClr val="2E5634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Idade</a:t>
                      </a:r>
                      <a:endParaRPr lang="en-US" sz="1100"/>
                    </a:p>
                  </a:txBody>
                  <a:tcPr marL="109728" marR="109728" marT="109728" marB="109728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2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919"/>
                        </a:lnSpc>
                        <a:defRPr/>
                      </a:pPr>
                      <a:r>
                        <a:rPr lang="en-US" sz="1599">
                          <a:solidFill>
                            <a:srgbClr val="1B2A1F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+5</a:t>
                      </a:r>
                      <a:endParaRPr lang="en-US" sz="1100"/>
                    </a:p>
                  </a:txBody>
                  <a:tcPr marL="109728" marR="109728" marT="109728" marB="109728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2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919"/>
                        </a:lnSpc>
                        <a:defRPr/>
                      </a:pPr>
                      <a:r>
                        <a:rPr lang="en-US" sz="1599">
                          <a:solidFill>
                            <a:srgbClr val="1B2A1F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0</a:t>
                      </a:r>
                      <a:endParaRPr lang="en-US" sz="1100"/>
                    </a:p>
                  </a:txBody>
                  <a:tcPr marL="109728" marR="109728" marT="109728" marB="109728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2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919"/>
                        </a:lnSpc>
                        <a:defRPr/>
                      </a:pPr>
                      <a:r>
                        <a:rPr lang="en-US" sz="1599">
                          <a:solidFill>
                            <a:srgbClr val="B1734A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−15 (filhote × idoso)</a:t>
                      </a:r>
                      <a:endParaRPr lang="en-US" sz="1100"/>
                    </a:p>
                  </a:txBody>
                  <a:tcPr marL="109728" marR="109728" marT="109728" marB="109728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2"/>
                    </a:solidFill>
                  </a:tcPr>
                </a:tc>
              </a:tr>
              <a:tr h="647700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919"/>
                        </a:lnSpc>
                        <a:defRPr/>
                      </a:pPr>
                      <a:r>
                        <a:rPr lang="en-US" sz="1599" b="true">
                          <a:solidFill>
                            <a:srgbClr val="2E5634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Distância (GPS)</a:t>
                      </a:r>
                      <a:endParaRPr lang="en-US" sz="1100"/>
                    </a:p>
                  </a:txBody>
                  <a:tcPr marL="109728" marR="109728" marT="109728" marB="109728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919"/>
                        </a:lnSpc>
                        <a:defRPr/>
                      </a:pPr>
                      <a:r>
                        <a:rPr lang="en-US" sz="1599">
                          <a:solidFill>
                            <a:srgbClr val="1B2A1F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+15 até 1,2 km · +10 até 3,5 · +5 até 8</a:t>
                      </a:r>
                      <a:endParaRPr lang="en-US" sz="1100"/>
                    </a:p>
                  </a:txBody>
                  <a:tcPr marL="109728" marR="109728" marT="109728" marB="109728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919"/>
                        </a:lnSpc>
                        <a:defRPr/>
                      </a:pPr>
                      <a:r>
                        <a:rPr lang="en-US" sz="1599">
                          <a:solidFill>
                            <a:srgbClr val="1B2A1F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+2 de 8 a 20 km</a:t>
                      </a:r>
                      <a:endParaRPr lang="en-US" sz="1100"/>
                    </a:p>
                  </a:txBody>
                  <a:tcPr marL="109728" marR="109728" marT="109728" marB="109728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919"/>
                        </a:lnSpc>
                        <a:defRPr/>
                      </a:pPr>
                      <a:r>
                        <a:rPr lang="en-US" sz="1599">
                          <a:solidFill>
                            <a:srgbClr val="B1734A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−15 acima de 20 km</a:t>
                      </a:r>
                      <a:endParaRPr lang="en-US" sz="1100"/>
                    </a:p>
                  </a:txBody>
                  <a:tcPr marL="109728" marR="109728" marT="109728" marB="109728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7700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919"/>
                        </a:lnSpc>
                        <a:defRPr/>
                      </a:pPr>
                      <a:r>
                        <a:rPr lang="en-US" sz="1599" b="true">
                          <a:solidFill>
                            <a:srgbClr val="2E5634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Sem GPS</a:t>
                      </a:r>
                      <a:endParaRPr lang="en-US" sz="1100"/>
                    </a:p>
                  </a:txBody>
                  <a:tcPr marL="109728" marR="109728" marT="109728" marB="109728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2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919"/>
                        </a:lnSpc>
                        <a:defRPr/>
                      </a:pPr>
                      <a:r>
                        <a:rPr lang="en-US" sz="1599">
                          <a:solidFill>
                            <a:srgbClr val="1B2A1F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+12 mesmo bairro · +5 mesma cidade</a:t>
                      </a:r>
                      <a:endParaRPr lang="en-US" sz="1100"/>
                    </a:p>
                  </a:txBody>
                  <a:tcPr marL="109728" marR="109728" marT="109728" marB="109728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2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919"/>
                        </a:lnSpc>
                        <a:defRPr/>
                      </a:pPr>
                      <a:r>
                        <a:rPr lang="en-US" sz="1599">
                          <a:solidFill>
                            <a:srgbClr val="1B2A1F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0 sem dados</a:t>
                      </a:r>
                      <a:endParaRPr lang="en-US" sz="1100"/>
                    </a:p>
                  </a:txBody>
                  <a:tcPr marL="109728" marR="109728" marT="109728" marB="109728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2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919"/>
                        </a:lnSpc>
                        <a:defRPr/>
                      </a:pPr>
                      <a:r>
                        <a:rPr lang="en-US" sz="1599">
                          <a:solidFill>
                            <a:srgbClr val="B1734A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−20 cidades diferentes</a:t>
                      </a:r>
                      <a:endParaRPr lang="en-US" sz="1100"/>
                    </a:p>
                  </a:txBody>
                  <a:tcPr marL="109728" marR="109728" marT="109728" marB="109728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7.xml><?xml version="1.0" encoding="utf-8"?>
<p:sld xmlns:p="http://schemas.openxmlformats.org/presentationml/2006/main" xmlns:a="http://schemas.openxmlformats.org/drawingml/2006/main" xmlns:r="http://schemas.openxmlformats.org/officeDocument/2006/relationships" show="false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822960" y="9601200"/>
            <a:ext cx="8229600" cy="411480"/>
            <a:chOff x="0" y="0"/>
            <a:chExt cx="10972800" cy="54864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0972800" cy="548640"/>
            </a:xfrm>
            <a:custGeom>
              <a:avLst/>
              <a:gdLst/>
              <a:ahLst/>
              <a:cxnLst/>
              <a:rect r="r" b="b" t="t" l="l"/>
              <a:pathLst>
                <a:path h="5486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339430" r="0" b="-339428"/>
              </a:stretch>
            </a:blipFill>
          </p:spPr>
        </p:sp>
      </p:grpSp>
      <p:grpSp>
        <p:nvGrpSpPr>
          <p:cNvPr name="Group 4" id="4"/>
          <p:cNvGrpSpPr/>
          <p:nvPr/>
        </p:nvGrpSpPr>
        <p:grpSpPr>
          <a:xfrm rot="0">
            <a:off x="822960" y="9572625"/>
            <a:ext cx="8229600" cy="440055"/>
            <a:chOff x="0" y="0"/>
            <a:chExt cx="10972800" cy="58674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0972800" cy="586740"/>
            </a:xfrm>
            <a:custGeom>
              <a:avLst/>
              <a:gdLst/>
              <a:ahLst/>
              <a:cxnLst/>
              <a:rect r="r" b="b" t="t" l="l"/>
              <a:pathLst>
                <a:path h="5867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586740"/>
                  </a:lnTo>
                  <a:lnTo>
                    <a:pt x="0" y="5867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14142" r="0" b="-314140"/>
              </a:stretch>
            </a:blipFill>
          </p:spPr>
        </p:sp>
      </p:grpSp>
      <p:grpSp>
        <p:nvGrpSpPr>
          <p:cNvPr name="Group 6" id="6"/>
          <p:cNvGrpSpPr/>
          <p:nvPr/>
        </p:nvGrpSpPr>
        <p:grpSpPr>
          <a:xfrm rot="0">
            <a:off x="822960" y="9544050"/>
            <a:ext cx="8229600" cy="468630"/>
            <a:chOff x="0" y="0"/>
            <a:chExt cx="10972800" cy="62484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10972800" cy="624840"/>
            </a:xfrm>
            <a:custGeom>
              <a:avLst/>
              <a:gdLst/>
              <a:ahLst/>
              <a:cxnLst/>
              <a:rect r="r" b="b" t="t" l="l"/>
              <a:pathLst>
                <a:path h="6248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624840"/>
                  </a:lnTo>
                  <a:lnTo>
                    <a:pt x="0" y="62484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91939" r="0" b="-291936"/>
              </a:stretch>
            </a:blipFill>
          </p:spPr>
        </p:sp>
      </p:grpSp>
      <p:grpSp>
        <p:nvGrpSpPr>
          <p:cNvPr name="Group 8" id="8"/>
          <p:cNvGrpSpPr/>
          <p:nvPr/>
        </p:nvGrpSpPr>
        <p:grpSpPr>
          <a:xfrm rot="0">
            <a:off x="822960" y="9515475"/>
            <a:ext cx="8229600" cy="497205"/>
            <a:chOff x="0" y="0"/>
            <a:chExt cx="10972800" cy="66294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0972800" cy="662940"/>
            </a:xfrm>
            <a:custGeom>
              <a:avLst/>
              <a:gdLst/>
              <a:ahLst/>
              <a:cxnLst/>
              <a:rect r="r" b="b" t="t" l="l"/>
              <a:pathLst>
                <a:path h="6629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662940"/>
                  </a:lnTo>
                  <a:lnTo>
                    <a:pt x="0" y="662940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272287" r="0" b="-272285"/>
              </a:stretch>
            </a:blipFill>
          </p:spPr>
        </p:sp>
      </p:grpSp>
      <p:grpSp>
        <p:nvGrpSpPr>
          <p:cNvPr name="Group 10" id="10"/>
          <p:cNvGrpSpPr/>
          <p:nvPr/>
        </p:nvGrpSpPr>
        <p:grpSpPr>
          <a:xfrm rot="0">
            <a:off x="822960" y="9486900"/>
            <a:ext cx="8229600" cy="525780"/>
            <a:chOff x="0" y="0"/>
            <a:chExt cx="10972800" cy="70104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0972800" cy="701040"/>
            </a:xfrm>
            <a:custGeom>
              <a:avLst/>
              <a:gdLst/>
              <a:ahLst/>
              <a:cxnLst/>
              <a:rect r="r" b="b" t="t" l="l"/>
              <a:pathLst>
                <a:path h="7010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701040"/>
                  </a:lnTo>
                  <a:lnTo>
                    <a:pt x="0" y="701040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l="0" t="-254771" r="0" b="-254769"/>
              </a:stretch>
            </a:blipFill>
          </p:spPr>
        </p:sp>
      </p:grpSp>
      <p:grpSp>
        <p:nvGrpSpPr>
          <p:cNvPr name="Group 12" id="12"/>
          <p:cNvGrpSpPr/>
          <p:nvPr/>
        </p:nvGrpSpPr>
        <p:grpSpPr>
          <a:xfrm rot="0">
            <a:off x="822960" y="9458325"/>
            <a:ext cx="8229600" cy="554355"/>
            <a:chOff x="0" y="0"/>
            <a:chExt cx="10972800" cy="73914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10972800" cy="739140"/>
            </a:xfrm>
            <a:custGeom>
              <a:avLst/>
              <a:gdLst/>
              <a:ahLst/>
              <a:cxnLst/>
              <a:rect r="r" b="b" t="t" l="l"/>
              <a:pathLst>
                <a:path h="7391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739140"/>
                  </a:lnTo>
                  <a:lnTo>
                    <a:pt x="0" y="739140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0" t="-239061" r="0" b="-239060"/>
              </a:stretch>
            </a:blipFill>
          </p:spPr>
        </p:sp>
      </p:grpSp>
      <p:grpSp>
        <p:nvGrpSpPr>
          <p:cNvPr name="Group 14" id="14"/>
          <p:cNvGrpSpPr/>
          <p:nvPr/>
        </p:nvGrpSpPr>
        <p:grpSpPr>
          <a:xfrm rot="0">
            <a:off x="822960" y="9429750"/>
            <a:ext cx="8229600" cy="582930"/>
            <a:chOff x="0" y="0"/>
            <a:chExt cx="10972800" cy="77724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10972800" cy="777240"/>
            </a:xfrm>
            <a:custGeom>
              <a:avLst/>
              <a:gdLst/>
              <a:ahLst/>
              <a:cxnLst/>
              <a:rect r="r" b="b" t="t" l="l"/>
              <a:pathLst>
                <a:path h="7772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777240"/>
                  </a:lnTo>
                  <a:lnTo>
                    <a:pt x="0" y="777240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0" t="-224892" r="0" b="-224890"/>
              </a:stretch>
            </a:blipFill>
          </p:spPr>
        </p:sp>
      </p:grpSp>
      <p:grpSp>
        <p:nvGrpSpPr>
          <p:cNvPr name="Group 16" id="16"/>
          <p:cNvGrpSpPr/>
          <p:nvPr/>
        </p:nvGrpSpPr>
        <p:grpSpPr>
          <a:xfrm rot="0">
            <a:off x="822960" y="9401175"/>
            <a:ext cx="8229600" cy="611505"/>
            <a:chOff x="0" y="0"/>
            <a:chExt cx="10972800" cy="81534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10972800" cy="815340"/>
            </a:xfrm>
            <a:custGeom>
              <a:avLst/>
              <a:gdLst/>
              <a:ahLst/>
              <a:cxnLst/>
              <a:rect r="r" b="b" t="t" l="l"/>
              <a:pathLst>
                <a:path h="8153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815340"/>
                  </a:lnTo>
                  <a:lnTo>
                    <a:pt x="0" y="815340"/>
                  </a:lnTo>
                  <a:close/>
                </a:path>
              </a:pathLst>
            </a:custGeom>
            <a:blipFill>
              <a:blip r:embed="rId9">
                <a:alphaModFix amt="0"/>
              </a:blip>
              <a:stretch>
                <a:fillRect l="0" t="-212228" r="0" b="-212228"/>
              </a:stretch>
            </a:blipFill>
          </p:spPr>
        </p:sp>
        <p:sp>
          <p:nvSpPr>
            <p:cNvPr name="TextBox 18" id="18"/>
            <p:cNvSpPr txBox="true"/>
            <p:nvPr/>
          </p:nvSpPr>
          <p:spPr>
            <a:xfrm>
              <a:off x="0" y="-38100"/>
              <a:ext cx="10972800" cy="8534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6B728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WeFIND  |  TCC  |  IFSul Campus Pelotas</a:t>
              </a:r>
            </a:p>
          </p:txBody>
        </p:sp>
      </p:grpSp>
      <p:grpSp>
        <p:nvGrpSpPr>
          <p:cNvPr name="Group 19" id="19"/>
          <p:cNvGrpSpPr/>
          <p:nvPr/>
        </p:nvGrpSpPr>
        <p:grpSpPr>
          <a:xfrm rot="0">
            <a:off x="822960" y="850392"/>
            <a:ext cx="16596360" cy="1234440"/>
            <a:chOff x="0" y="0"/>
            <a:chExt cx="22128480" cy="1645920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22128480" cy="1645920"/>
            </a:xfrm>
            <a:custGeom>
              <a:avLst/>
              <a:gdLst/>
              <a:ahLst/>
              <a:cxnLst/>
              <a:rect r="r" b="b" t="t" l="l"/>
              <a:pathLst>
                <a:path h="1645920" w="22128480">
                  <a:moveTo>
                    <a:pt x="0" y="0"/>
                  </a:moveTo>
                  <a:lnTo>
                    <a:pt x="22128480" y="0"/>
                  </a:lnTo>
                  <a:lnTo>
                    <a:pt x="22128480" y="1645920"/>
                  </a:lnTo>
                  <a:lnTo>
                    <a:pt x="0" y="164592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211783" r="0" b="-211783"/>
              </a:stretch>
            </a:blipFill>
          </p:spPr>
        </p:sp>
      </p:grpSp>
      <p:grpSp>
        <p:nvGrpSpPr>
          <p:cNvPr name="Group 21" id="21"/>
          <p:cNvGrpSpPr/>
          <p:nvPr/>
        </p:nvGrpSpPr>
        <p:grpSpPr>
          <a:xfrm rot="0">
            <a:off x="822960" y="843248"/>
            <a:ext cx="16596360" cy="1241584"/>
            <a:chOff x="0" y="0"/>
            <a:chExt cx="22128480" cy="1655445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22128480" cy="1655445"/>
            </a:xfrm>
            <a:custGeom>
              <a:avLst/>
              <a:gdLst/>
              <a:ahLst/>
              <a:cxnLst/>
              <a:rect r="r" b="b" t="t" l="l"/>
              <a:pathLst>
                <a:path h="1655445" w="22128480">
                  <a:moveTo>
                    <a:pt x="0" y="0"/>
                  </a:moveTo>
                  <a:lnTo>
                    <a:pt x="22128480" y="0"/>
                  </a:lnTo>
                  <a:lnTo>
                    <a:pt x="22128480" y="1655445"/>
                  </a:lnTo>
                  <a:lnTo>
                    <a:pt x="0" y="1655445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10276" r="0" b="-210276"/>
              </a:stretch>
            </a:blipFill>
          </p:spPr>
        </p:sp>
      </p:grpSp>
      <p:grpSp>
        <p:nvGrpSpPr>
          <p:cNvPr name="Group 23" id="23"/>
          <p:cNvGrpSpPr/>
          <p:nvPr/>
        </p:nvGrpSpPr>
        <p:grpSpPr>
          <a:xfrm rot="0">
            <a:off x="822960" y="836105"/>
            <a:ext cx="16596360" cy="1248727"/>
            <a:chOff x="0" y="0"/>
            <a:chExt cx="22128480" cy="1664970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22128480" cy="1664970"/>
            </a:xfrm>
            <a:custGeom>
              <a:avLst/>
              <a:gdLst/>
              <a:ahLst/>
              <a:cxnLst/>
              <a:rect r="r" b="b" t="t" l="l"/>
              <a:pathLst>
                <a:path h="1664970" w="22128480">
                  <a:moveTo>
                    <a:pt x="0" y="0"/>
                  </a:moveTo>
                  <a:lnTo>
                    <a:pt x="22128480" y="0"/>
                  </a:lnTo>
                  <a:lnTo>
                    <a:pt x="22128480" y="1664970"/>
                  </a:lnTo>
                  <a:lnTo>
                    <a:pt x="0" y="166497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08787" r="0" b="-208787"/>
              </a:stretch>
            </a:blipFill>
          </p:spPr>
        </p:sp>
      </p:grpSp>
      <p:grpSp>
        <p:nvGrpSpPr>
          <p:cNvPr name="Group 25" id="25"/>
          <p:cNvGrpSpPr/>
          <p:nvPr/>
        </p:nvGrpSpPr>
        <p:grpSpPr>
          <a:xfrm rot="0">
            <a:off x="822960" y="828961"/>
            <a:ext cx="16596360" cy="1255871"/>
            <a:chOff x="0" y="0"/>
            <a:chExt cx="22128480" cy="1674495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22128480" cy="1674495"/>
            </a:xfrm>
            <a:custGeom>
              <a:avLst/>
              <a:gdLst/>
              <a:ahLst/>
              <a:cxnLst/>
              <a:rect r="r" b="b" t="t" l="l"/>
              <a:pathLst>
                <a:path h="1674495" w="22128480">
                  <a:moveTo>
                    <a:pt x="0" y="0"/>
                  </a:moveTo>
                  <a:lnTo>
                    <a:pt x="22128480" y="0"/>
                  </a:lnTo>
                  <a:lnTo>
                    <a:pt x="22128480" y="1674495"/>
                  </a:lnTo>
                  <a:lnTo>
                    <a:pt x="0" y="1674495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207315" r="0" b="-207315"/>
              </a:stretch>
            </a:blipFill>
          </p:spPr>
        </p:sp>
      </p:grpSp>
      <p:grpSp>
        <p:nvGrpSpPr>
          <p:cNvPr name="Group 27" id="27"/>
          <p:cNvGrpSpPr/>
          <p:nvPr/>
        </p:nvGrpSpPr>
        <p:grpSpPr>
          <a:xfrm rot="0">
            <a:off x="822960" y="821817"/>
            <a:ext cx="16596360" cy="1263015"/>
            <a:chOff x="0" y="0"/>
            <a:chExt cx="22128480" cy="1684020"/>
          </a:xfrm>
        </p:grpSpPr>
        <p:sp>
          <p:nvSpPr>
            <p:cNvPr name="Freeform 28" id="28"/>
            <p:cNvSpPr/>
            <p:nvPr/>
          </p:nvSpPr>
          <p:spPr>
            <a:xfrm flipH="false" flipV="false" rot="0">
              <a:off x="0" y="0"/>
              <a:ext cx="22128480" cy="1684020"/>
            </a:xfrm>
            <a:custGeom>
              <a:avLst/>
              <a:gdLst/>
              <a:ahLst/>
              <a:cxnLst/>
              <a:rect r="r" b="b" t="t" l="l"/>
              <a:pathLst>
                <a:path h="1684020" w="22128480">
                  <a:moveTo>
                    <a:pt x="0" y="0"/>
                  </a:moveTo>
                  <a:lnTo>
                    <a:pt x="22128480" y="0"/>
                  </a:lnTo>
                  <a:lnTo>
                    <a:pt x="22128480" y="1684020"/>
                  </a:lnTo>
                  <a:lnTo>
                    <a:pt x="0" y="1684020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l="0" t="-205860" r="0" b="-205860"/>
              </a:stretch>
            </a:blipFill>
          </p:spPr>
        </p:sp>
      </p:grpSp>
      <p:grpSp>
        <p:nvGrpSpPr>
          <p:cNvPr name="Group 29" id="29"/>
          <p:cNvGrpSpPr/>
          <p:nvPr/>
        </p:nvGrpSpPr>
        <p:grpSpPr>
          <a:xfrm rot="0">
            <a:off x="822960" y="814673"/>
            <a:ext cx="16596360" cy="1270159"/>
            <a:chOff x="0" y="0"/>
            <a:chExt cx="22128480" cy="1693545"/>
          </a:xfrm>
        </p:grpSpPr>
        <p:sp>
          <p:nvSpPr>
            <p:cNvPr name="Freeform 30" id="30"/>
            <p:cNvSpPr/>
            <p:nvPr/>
          </p:nvSpPr>
          <p:spPr>
            <a:xfrm flipH="false" flipV="false" rot="0">
              <a:off x="0" y="0"/>
              <a:ext cx="22128480" cy="1693545"/>
            </a:xfrm>
            <a:custGeom>
              <a:avLst/>
              <a:gdLst/>
              <a:ahLst/>
              <a:cxnLst/>
              <a:rect r="r" b="b" t="t" l="l"/>
              <a:pathLst>
                <a:path h="1693545" w="22128480">
                  <a:moveTo>
                    <a:pt x="0" y="0"/>
                  </a:moveTo>
                  <a:lnTo>
                    <a:pt x="22128480" y="0"/>
                  </a:lnTo>
                  <a:lnTo>
                    <a:pt x="22128480" y="1693545"/>
                  </a:lnTo>
                  <a:lnTo>
                    <a:pt x="0" y="1693545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0" t="-204421" r="0" b="-204421"/>
              </a:stretch>
            </a:blipFill>
          </p:spPr>
        </p:sp>
      </p:grpSp>
      <p:grpSp>
        <p:nvGrpSpPr>
          <p:cNvPr name="Group 31" id="31"/>
          <p:cNvGrpSpPr/>
          <p:nvPr/>
        </p:nvGrpSpPr>
        <p:grpSpPr>
          <a:xfrm rot="0">
            <a:off x="822960" y="807530"/>
            <a:ext cx="16596360" cy="1277302"/>
            <a:chOff x="0" y="0"/>
            <a:chExt cx="22128480" cy="1703070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0" y="0"/>
              <a:ext cx="22128480" cy="1703070"/>
            </a:xfrm>
            <a:custGeom>
              <a:avLst/>
              <a:gdLst/>
              <a:ahLst/>
              <a:cxnLst/>
              <a:rect r="r" b="b" t="t" l="l"/>
              <a:pathLst>
                <a:path h="1703070" w="22128480">
                  <a:moveTo>
                    <a:pt x="0" y="0"/>
                  </a:moveTo>
                  <a:lnTo>
                    <a:pt x="22128480" y="0"/>
                  </a:lnTo>
                  <a:lnTo>
                    <a:pt x="22128480" y="1703070"/>
                  </a:lnTo>
                  <a:lnTo>
                    <a:pt x="0" y="1703070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0" t="-202998" r="0" b="-202998"/>
              </a:stretch>
            </a:blipFill>
          </p:spPr>
        </p:sp>
      </p:grpSp>
      <p:grpSp>
        <p:nvGrpSpPr>
          <p:cNvPr name="Group 33" id="33"/>
          <p:cNvGrpSpPr/>
          <p:nvPr/>
        </p:nvGrpSpPr>
        <p:grpSpPr>
          <a:xfrm rot="0">
            <a:off x="822960" y="800386"/>
            <a:ext cx="16596360" cy="1284446"/>
            <a:chOff x="0" y="0"/>
            <a:chExt cx="22128480" cy="1712595"/>
          </a:xfrm>
        </p:grpSpPr>
        <p:sp>
          <p:nvSpPr>
            <p:cNvPr name="Freeform 34" id="34"/>
            <p:cNvSpPr/>
            <p:nvPr/>
          </p:nvSpPr>
          <p:spPr>
            <a:xfrm flipH="false" flipV="false" rot="0">
              <a:off x="0" y="0"/>
              <a:ext cx="22128480" cy="1712594"/>
            </a:xfrm>
            <a:custGeom>
              <a:avLst/>
              <a:gdLst/>
              <a:ahLst/>
              <a:cxnLst/>
              <a:rect r="r" b="b" t="t" l="l"/>
              <a:pathLst>
                <a:path h="1712594" w="22128480">
                  <a:moveTo>
                    <a:pt x="0" y="0"/>
                  </a:moveTo>
                  <a:lnTo>
                    <a:pt x="22128480" y="0"/>
                  </a:lnTo>
                  <a:lnTo>
                    <a:pt x="22128480" y="1712594"/>
                  </a:lnTo>
                  <a:lnTo>
                    <a:pt x="0" y="1712594"/>
                  </a:lnTo>
                  <a:close/>
                </a:path>
              </a:pathLst>
            </a:custGeom>
            <a:blipFill>
              <a:blip r:embed="rId9">
                <a:alphaModFix amt="0"/>
              </a:blip>
              <a:stretch>
                <a:fillRect l="0" t="-201766" r="0" b="-201766"/>
              </a:stretch>
            </a:blipFill>
          </p:spPr>
        </p:sp>
        <p:sp>
          <p:nvSpPr>
            <p:cNvPr name="TextBox 35" id="35"/>
            <p:cNvSpPr txBox="true"/>
            <p:nvPr/>
          </p:nvSpPr>
          <p:spPr>
            <a:xfrm>
              <a:off x="0" y="-9525"/>
              <a:ext cx="22128480" cy="172212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6120"/>
                </a:lnSpc>
              </a:pPr>
              <a:r>
                <a:rPr lang="en-US" sz="5100" b="true">
                  <a:solidFill>
                    <a:srgbClr val="2E5634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Busca na rua: avistamento, pista e rota</a:t>
              </a:r>
            </a:p>
          </p:txBody>
        </p:sp>
      </p:grpSp>
      <p:sp>
        <p:nvSpPr>
          <p:cNvPr name="Freeform 36" id="36"/>
          <p:cNvSpPr/>
          <p:nvPr/>
        </p:nvSpPr>
        <p:spPr>
          <a:xfrm flipH="false" flipV="false" rot="0">
            <a:off x="810454" y="2387794"/>
            <a:ext cx="8186023" cy="2905363"/>
          </a:xfrm>
          <a:custGeom>
            <a:avLst/>
            <a:gdLst/>
            <a:ahLst/>
            <a:cxnLst/>
            <a:rect r="r" b="b" t="t" l="l"/>
            <a:pathLst>
              <a:path h="2905363" w="8186023">
                <a:moveTo>
                  <a:pt x="0" y="0"/>
                </a:moveTo>
                <a:lnTo>
                  <a:pt x="8186023" y="0"/>
                </a:lnTo>
                <a:lnTo>
                  <a:pt x="8186023" y="2905363"/>
                </a:lnTo>
                <a:lnTo>
                  <a:pt x="0" y="2905363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-126" r="0" b="-126"/>
            </a:stretch>
          </a:blipFill>
        </p:spPr>
      </p:sp>
      <p:sp>
        <p:nvSpPr>
          <p:cNvPr name="Freeform 37" id="37"/>
          <p:cNvSpPr/>
          <p:nvPr/>
        </p:nvSpPr>
        <p:spPr>
          <a:xfrm flipH="false" flipV="false" rot="0">
            <a:off x="1217771" y="2863691"/>
            <a:ext cx="1267777" cy="1267778"/>
          </a:xfrm>
          <a:custGeom>
            <a:avLst/>
            <a:gdLst/>
            <a:ahLst/>
            <a:cxnLst/>
            <a:rect r="r" b="b" t="t" l="l"/>
            <a:pathLst>
              <a:path h="1267778" w="1267777">
                <a:moveTo>
                  <a:pt x="0" y="0"/>
                </a:moveTo>
                <a:lnTo>
                  <a:pt x="1267778" y="0"/>
                </a:lnTo>
                <a:lnTo>
                  <a:pt x="1267778" y="1267778"/>
                </a:lnTo>
                <a:lnTo>
                  <a:pt x="0" y="1267778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38" id="38"/>
          <p:cNvGrpSpPr/>
          <p:nvPr/>
        </p:nvGrpSpPr>
        <p:grpSpPr>
          <a:xfrm rot="0">
            <a:off x="1555394" y="3201314"/>
            <a:ext cx="592550" cy="592550"/>
            <a:chOff x="0" y="0"/>
            <a:chExt cx="790067" cy="790067"/>
          </a:xfrm>
        </p:grpSpPr>
        <p:sp>
          <p:nvSpPr>
            <p:cNvPr name="Freeform 39" id="39" descr="icone"/>
            <p:cNvSpPr/>
            <p:nvPr/>
          </p:nvSpPr>
          <p:spPr>
            <a:xfrm flipH="false" flipV="false" rot="0">
              <a:off x="0" y="0"/>
              <a:ext cx="790067" cy="790067"/>
            </a:xfrm>
            <a:custGeom>
              <a:avLst/>
              <a:gdLst/>
              <a:ahLst/>
              <a:cxnLst/>
              <a:rect r="r" b="b" t="t" l="l"/>
              <a:pathLst>
                <a:path h="790067" w="790067">
                  <a:moveTo>
                    <a:pt x="0" y="0"/>
                  </a:moveTo>
                  <a:lnTo>
                    <a:pt x="790067" y="0"/>
                  </a:lnTo>
                  <a:lnTo>
                    <a:pt x="790067" y="790067"/>
                  </a:lnTo>
                  <a:lnTo>
                    <a:pt x="0" y="79006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/>
              <a:stretch>
                <a:fillRect l="0" t="0" r="0" b="0"/>
              </a:stretch>
            </a:blipFill>
          </p:spPr>
        </p:sp>
      </p:grpSp>
      <p:sp>
        <p:nvSpPr>
          <p:cNvPr name="TextBox 40" id="40"/>
          <p:cNvSpPr txBox="true"/>
          <p:nvPr/>
        </p:nvSpPr>
        <p:spPr>
          <a:xfrm rot="0">
            <a:off x="2880360" y="2278380"/>
            <a:ext cx="5760720" cy="11506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600"/>
              </a:lnSpc>
            </a:pPr>
            <a:r>
              <a:rPr lang="en-US" sz="3000" b="true">
                <a:solidFill>
                  <a:srgbClr val="0F172A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Vi o pet</a:t>
            </a:r>
          </a:p>
        </p:txBody>
      </p:sp>
      <p:sp>
        <p:nvSpPr>
          <p:cNvPr name="TextBox 41" id="41"/>
          <p:cNvSpPr txBox="true"/>
          <p:nvPr/>
        </p:nvSpPr>
        <p:spPr>
          <a:xfrm rot="0">
            <a:off x="2880360" y="3261360"/>
            <a:ext cx="5760720" cy="18821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78"/>
              </a:lnSpc>
            </a:pPr>
            <a:r>
              <a:rPr lang="en-US" sz="2400">
                <a:solidFill>
                  <a:srgbClr val="0F172A"/>
                </a:solidFill>
                <a:latin typeface="Calibri (MS)"/>
                <a:ea typeface="Calibri (MS)"/>
                <a:cs typeface="Calibri (MS)"/>
                <a:sym typeface="Calibri (MS)"/>
              </a:rPr>
              <a:t>Quem viu marca no mapa se o animal está na rua ou em uma casa.</a:t>
            </a:r>
          </a:p>
        </p:txBody>
      </p:sp>
      <p:sp>
        <p:nvSpPr>
          <p:cNvPr name="Freeform 42" id="42"/>
          <p:cNvSpPr/>
          <p:nvPr/>
        </p:nvSpPr>
        <p:spPr>
          <a:xfrm flipH="false" flipV="false" rot="0">
            <a:off x="9245794" y="2387794"/>
            <a:ext cx="8186023" cy="2905363"/>
          </a:xfrm>
          <a:custGeom>
            <a:avLst/>
            <a:gdLst/>
            <a:ahLst/>
            <a:cxnLst/>
            <a:rect r="r" b="b" t="t" l="l"/>
            <a:pathLst>
              <a:path h="2905363" w="8186023">
                <a:moveTo>
                  <a:pt x="0" y="0"/>
                </a:moveTo>
                <a:lnTo>
                  <a:pt x="8186023" y="0"/>
                </a:lnTo>
                <a:lnTo>
                  <a:pt x="8186023" y="2905363"/>
                </a:lnTo>
                <a:lnTo>
                  <a:pt x="0" y="2905363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-126" r="0" b="-126"/>
            </a:stretch>
          </a:blipFill>
        </p:spPr>
      </p:sp>
      <p:sp>
        <p:nvSpPr>
          <p:cNvPr name="Freeform 43" id="43"/>
          <p:cNvSpPr/>
          <p:nvPr/>
        </p:nvSpPr>
        <p:spPr>
          <a:xfrm flipH="false" flipV="false" rot="0">
            <a:off x="9653111" y="2863691"/>
            <a:ext cx="1267778" cy="1267778"/>
          </a:xfrm>
          <a:custGeom>
            <a:avLst/>
            <a:gdLst/>
            <a:ahLst/>
            <a:cxnLst/>
            <a:rect r="r" b="b" t="t" l="l"/>
            <a:pathLst>
              <a:path h="1267778" w="1267778">
                <a:moveTo>
                  <a:pt x="0" y="0"/>
                </a:moveTo>
                <a:lnTo>
                  <a:pt x="1267778" y="0"/>
                </a:lnTo>
                <a:lnTo>
                  <a:pt x="1267778" y="1267778"/>
                </a:lnTo>
                <a:lnTo>
                  <a:pt x="0" y="1267778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44" id="44"/>
          <p:cNvGrpSpPr/>
          <p:nvPr/>
        </p:nvGrpSpPr>
        <p:grpSpPr>
          <a:xfrm rot="0">
            <a:off x="9990734" y="3201314"/>
            <a:ext cx="592550" cy="592550"/>
            <a:chOff x="0" y="0"/>
            <a:chExt cx="790067" cy="790067"/>
          </a:xfrm>
        </p:grpSpPr>
        <p:sp>
          <p:nvSpPr>
            <p:cNvPr name="Freeform 45" id="45" descr="icone"/>
            <p:cNvSpPr/>
            <p:nvPr/>
          </p:nvSpPr>
          <p:spPr>
            <a:xfrm flipH="false" flipV="false" rot="0">
              <a:off x="0" y="0"/>
              <a:ext cx="790067" cy="790067"/>
            </a:xfrm>
            <a:custGeom>
              <a:avLst/>
              <a:gdLst/>
              <a:ahLst/>
              <a:cxnLst/>
              <a:rect r="r" b="b" t="t" l="l"/>
              <a:pathLst>
                <a:path h="790067" w="790067">
                  <a:moveTo>
                    <a:pt x="0" y="0"/>
                  </a:moveTo>
                  <a:lnTo>
                    <a:pt x="790067" y="0"/>
                  </a:lnTo>
                  <a:lnTo>
                    <a:pt x="790067" y="790067"/>
                  </a:lnTo>
                  <a:lnTo>
                    <a:pt x="0" y="79006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5"/>
              <a:stretch>
                <a:fillRect l="0" t="0" r="0" b="0"/>
              </a:stretch>
            </a:blipFill>
          </p:spPr>
        </p:sp>
      </p:grpSp>
      <p:sp>
        <p:nvSpPr>
          <p:cNvPr name="TextBox 46" id="46"/>
          <p:cNvSpPr txBox="true"/>
          <p:nvPr/>
        </p:nvSpPr>
        <p:spPr>
          <a:xfrm rot="0">
            <a:off x="11315700" y="2278380"/>
            <a:ext cx="5760720" cy="11506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600"/>
              </a:lnSpc>
            </a:pPr>
            <a:r>
              <a:rPr lang="en-US" sz="3000" b="true">
                <a:solidFill>
                  <a:srgbClr val="0F172A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Pista quente, morna ou fria</a:t>
            </a:r>
          </a:p>
        </p:txBody>
      </p:sp>
      <p:sp>
        <p:nvSpPr>
          <p:cNvPr name="TextBox 47" id="47"/>
          <p:cNvSpPr txBox="true"/>
          <p:nvPr/>
        </p:nvSpPr>
        <p:spPr>
          <a:xfrm rot="0">
            <a:off x="11315700" y="3261360"/>
            <a:ext cx="5760720" cy="18821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78"/>
              </a:lnSpc>
            </a:pPr>
            <a:r>
              <a:rPr lang="en-US" sz="2400">
                <a:solidFill>
                  <a:srgbClr val="0F172A"/>
                </a:solidFill>
                <a:latin typeface="Calibri (MS)"/>
                <a:ea typeface="Calibri (MS)"/>
                <a:cs typeface="Calibri (MS)"/>
                <a:sym typeface="Calibri (MS)"/>
              </a:rPr>
              <a:t>Até 6 h é quente, até 48 h é morna; depois disso, fica sem rota.</a:t>
            </a:r>
          </a:p>
        </p:txBody>
      </p:sp>
      <p:sp>
        <p:nvSpPr>
          <p:cNvPr name="Freeform 48" id="48"/>
          <p:cNvSpPr/>
          <p:nvPr/>
        </p:nvSpPr>
        <p:spPr>
          <a:xfrm flipH="false" flipV="false" rot="0">
            <a:off x="810454" y="5542474"/>
            <a:ext cx="8186023" cy="2905363"/>
          </a:xfrm>
          <a:custGeom>
            <a:avLst/>
            <a:gdLst/>
            <a:ahLst/>
            <a:cxnLst/>
            <a:rect r="r" b="b" t="t" l="l"/>
            <a:pathLst>
              <a:path h="2905363" w="8186023">
                <a:moveTo>
                  <a:pt x="0" y="0"/>
                </a:moveTo>
                <a:lnTo>
                  <a:pt x="8186023" y="0"/>
                </a:lnTo>
                <a:lnTo>
                  <a:pt x="8186023" y="2905363"/>
                </a:lnTo>
                <a:lnTo>
                  <a:pt x="0" y="2905363"/>
                </a:lnTo>
                <a:lnTo>
                  <a:pt x="0" y="0"/>
                </a:lnTo>
                <a:close/>
              </a:path>
            </a:pathLst>
          </a:custGeom>
          <a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 l="0" t="-126" r="0" b="-126"/>
            </a:stretch>
          </a:blipFill>
        </p:spPr>
      </p:sp>
      <p:sp>
        <p:nvSpPr>
          <p:cNvPr name="Freeform 49" id="49"/>
          <p:cNvSpPr/>
          <p:nvPr/>
        </p:nvSpPr>
        <p:spPr>
          <a:xfrm flipH="false" flipV="false" rot="0">
            <a:off x="1217771" y="6018371"/>
            <a:ext cx="1267777" cy="1267778"/>
          </a:xfrm>
          <a:custGeom>
            <a:avLst/>
            <a:gdLst/>
            <a:ahLst/>
            <a:cxnLst/>
            <a:rect r="r" b="b" t="t" l="l"/>
            <a:pathLst>
              <a:path h="1267778" w="1267777">
                <a:moveTo>
                  <a:pt x="0" y="0"/>
                </a:moveTo>
                <a:lnTo>
                  <a:pt x="1267778" y="0"/>
                </a:lnTo>
                <a:lnTo>
                  <a:pt x="1267778" y="1267778"/>
                </a:lnTo>
                <a:lnTo>
                  <a:pt x="0" y="1267778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50" id="50"/>
          <p:cNvGrpSpPr/>
          <p:nvPr/>
        </p:nvGrpSpPr>
        <p:grpSpPr>
          <a:xfrm rot="0">
            <a:off x="1555394" y="6355994"/>
            <a:ext cx="592550" cy="592550"/>
            <a:chOff x="0" y="0"/>
            <a:chExt cx="790067" cy="790067"/>
          </a:xfrm>
        </p:grpSpPr>
        <p:sp>
          <p:nvSpPr>
            <p:cNvPr name="Freeform 51" id="51" descr="icone"/>
            <p:cNvSpPr/>
            <p:nvPr/>
          </p:nvSpPr>
          <p:spPr>
            <a:xfrm flipH="false" flipV="false" rot="0">
              <a:off x="0" y="0"/>
              <a:ext cx="790067" cy="790067"/>
            </a:xfrm>
            <a:custGeom>
              <a:avLst/>
              <a:gdLst/>
              <a:ahLst/>
              <a:cxnLst/>
              <a:rect r="r" b="b" t="t" l="l"/>
              <a:pathLst>
                <a:path h="790067" w="790067">
                  <a:moveTo>
                    <a:pt x="0" y="0"/>
                  </a:moveTo>
                  <a:lnTo>
                    <a:pt x="790067" y="0"/>
                  </a:lnTo>
                  <a:lnTo>
                    <a:pt x="790067" y="790067"/>
                  </a:lnTo>
                  <a:lnTo>
                    <a:pt x="0" y="79006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/>
              <a:stretch>
                <a:fillRect l="0" t="0" r="0" b="0"/>
              </a:stretch>
            </a:blipFill>
          </p:spPr>
        </p:sp>
      </p:grpSp>
      <p:sp>
        <p:nvSpPr>
          <p:cNvPr name="TextBox 52" id="52"/>
          <p:cNvSpPr txBox="true"/>
          <p:nvPr/>
        </p:nvSpPr>
        <p:spPr>
          <a:xfrm rot="0">
            <a:off x="2880360" y="5433060"/>
            <a:ext cx="5760720" cy="11506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600"/>
              </a:lnSpc>
            </a:pPr>
            <a:r>
              <a:rPr lang="en-US" sz="3000" b="true">
                <a:solidFill>
                  <a:srgbClr val="0F172A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Rota até uma área</a:t>
            </a:r>
          </a:p>
        </p:txBody>
      </p:sp>
      <p:sp>
        <p:nvSpPr>
          <p:cNvPr name="TextBox 53" id="53"/>
          <p:cNvSpPr txBox="true"/>
          <p:nvPr/>
        </p:nvSpPr>
        <p:spPr>
          <a:xfrm rot="0">
            <a:off x="2880360" y="6416040"/>
            <a:ext cx="5760720" cy="18821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78"/>
              </a:lnSpc>
            </a:pPr>
            <a:r>
              <a:rPr lang="en-US" sz="2400">
                <a:solidFill>
                  <a:srgbClr val="0F172A"/>
                </a:solidFill>
                <a:latin typeface="Calibri (MS)"/>
                <a:ea typeface="Calibri (MS)"/>
                <a:cs typeface="Calibri (MS)"/>
                <a:sym typeface="Calibri (MS)"/>
              </a:rPr>
              <a:t>Raio de ~150 m, deslocado 30 a 70 m; a pé, bike, carro ou ônibus.</a:t>
            </a:r>
          </a:p>
        </p:txBody>
      </p:sp>
      <p:sp>
        <p:nvSpPr>
          <p:cNvPr name="Freeform 54" id="54"/>
          <p:cNvSpPr/>
          <p:nvPr/>
        </p:nvSpPr>
        <p:spPr>
          <a:xfrm flipH="false" flipV="false" rot="0">
            <a:off x="9245794" y="5542474"/>
            <a:ext cx="8186023" cy="2905363"/>
          </a:xfrm>
          <a:custGeom>
            <a:avLst/>
            <a:gdLst/>
            <a:ahLst/>
            <a:cxnLst/>
            <a:rect r="r" b="b" t="t" l="l"/>
            <a:pathLst>
              <a:path h="2905363" w="8186023">
                <a:moveTo>
                  <a:pt x="0" y="0"/>
                </a:moveTo>
                <a:lnTo>
                  <a:pt x="8186023" y="0"/>
                </a:lnTo>
                <a:lnTo>
                  <a:pt x="8186023" y="2905363"/>
                </a:lnTo>
                <a:lnTo>
                  <a:pt x="0" y="2905363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-126" r="0" b="-126"/>
            </a:stretch>
          </a:blipFill>
        </p:spPr>
      </p:sp>
      <p:sp>
        <p:nvSpPr>
          <p:cNvPr name="Freeform 55" id="55"/>
          <p:cNvSpPr/>
          <p:nvPr/>
        </p:nvSpPr>
        <p:spPr>
          <a:xfrm flipH="false" flipV="false" rot="0">
            <a:off x="9653111" y="6018371"/>
            <a:ext cx="1267778" cy="1267778"/>
          </a:xfrm>
          <a:custGeom>
            <a:avLst/>
            <a:gdLst/>
            <a:ahLst/>
            <a:cxnLst/>
            <a:rect r="r" b="b" t="t" l="l"/>
            <a:pathLst>
              <a:path h="1267778" w="1267778">
                <a:moveTo>
                  <a:pt x="0" y="0"/>
                </a:moveTo>
                <a:lnTo>
                  <a:pt x="1267778" y="0"/>
                </a:lnTo>
                <a:lnTo>
                  <a:pt x="1267778" y="1267778"/>
                </a:lnTo>
                <a:lnTo>
                  <a:pt x="0" y="1267778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56" id="56"/>
          <p:cNvGrpSpPr/>
          <p:nvPr/>
        </p:nvGrpSpPr>
        <p:grpSpPr>
          <a:xfrm rot="0">
            <a:off x="9990734" y="6355994"/>
            <a:ext cx="592550" cy="592550"/>
            <a:chOff x="0" y="0"/>
            <a:chExt cx="790067" cy="790067"/>
          </a:xfrm>
        </p:grpSpPr>
        <p:sp>
          <p:nvSpPr>
            <p:cNvPr name="Freeform 57" id="57" descr="icone"/>
            <p:cNvSpPr/>
            <p:nvPr/>
          </p:nvSpPr>
          <p:spPr>
            <a:xfrm flipH="false" flipV="false" rot="0">
              <a:off x="0" y="0"/>
              <a:ext cx="790067" cy="790067"/>
            </a:xfrm>
            <a:custGeom>
              <a:avLst/>
              <a:gdLst/>
              <a:ahLst/>
              <a:cxnLst/>
              <a:rect r="r" b="b" t="t" l="l"/>
              <a:pathLst>
                <a:path h="790067" w="790067">
                  <a:moveTo>
                    <a:pt x="0" y="0"/>
                  </a:moveTo>
                  <a:lnTo>
                    <a:pt x="790067" y="0"/>
                  </a:lnTo>
                  <a:lnTo>
                    <a:pt x="790067" y="790067"/>
                  </a:lnTo>
                  <a:lnTo>
                    <a:pt x="0" y="79006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9"/>
              <a:stretch>
                <a:fillRect l="0" t="0" r="0" b="0"/>
              </a:stretch>
            </a:blipFill>
          </p:spPr>
        </p:sp>
      </p:grpSp>
      <p:sp>
        <p:nvSpPr>
          <p:cNvPr name="TextBox 58" id="58"/>
          <p:cNvSpPr txBox="true"/>
          <p:nvPr/>
        </p:nvSpPr>
        <p:spPr>
          <a:xfrm rot="0">
            <a:off x="11315700" y="5433060"/>
            <a:ext cx="5760720" cy="11506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600"/>
              </a:lnSpc>
            </a:pPr>
            <a:r>
              <a:rPr lang="en-US" sz="3000" b="true">
                <a:solidFill>
                  <a:srgbClr val="0F172A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Histórico no mapa</a:t>
            </a:r>
          </a:p>
        </p:txBody>
      </p:sp>
      <p:sp>
        <p:nvSpPr>
          <p:cNvPr name="TextBox 59" id="59"/>
          <p:cNvSpPr txBox="true"/>
          <p:nvPr/>
        </p:nvSpPr>
        <p:spPr>
          <a:xfrm rot="0">
            <a:off x="11315700" y="6416040"/>
            <a:ext cx="5760720" cy="18821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78"/>
              </a:lnSpc>
            </a:pPr>
            <a:r>
              <a:rPr lang="en-US" sz="2400">
                <a:solidFill>
                  <a:srgbClr val="0F172A"/>
                </a:solidFill>
                <a:latin typeface="Calibri (MS)"/>
                <a:ea typeface="Calibri (MS)"/>
                <a:cs typeface="Calibri (MS)"/>
                <a:sym typeface="Calibri (MS)"/>
              </a:rPr>
              <a:t>Círculos numerados (1 = mais recente), na cor da idade da pista.</a:t>
            </a:r>
          </a:p>
        </p:txBody>
      </p:sp>
      <p:sp>
        <p:nvSpPr>
          <p:cNvPr name="TextBox 60" id="60"/>
          <p:cNvSpPr txBox="true"/>
          <p:nvPr/>
        </p:nvSpPr>
        <p:spPr>
          <a:xfrm rot="0">
            <a:off x="822960" y="8397240"/>
            <a:ext cx="16596360" cy="9296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2100" i="true">
                <a:solidFill>
                  <a:srgbClr val="4B5563"/>
                </a:solidFill>
                <a:latin typeface="Calibri (MS) Italics"/>
                <a:ea typeface="Calibri (MS) Italics"/>
                <a:cs typeface="Calibri (MS) Italics"/>
                <a:sym typeface="Calibri (MS) Italics"/>
              </a:rPr>
              <a:t>Rotas calculadas com OSRM e Transitous. Nunca até a casa do tutor, um animal acolhido ou um animal para adoção.</a:t>
            </a:r>
          </a:p>
        </p:txBody>
      </p:sp>
      <p:sp>
        <p:nvSpPr>
          <p:cNvPr name="TextBox 61" id="61"/>
          <p:cNvSpPr txBox="true"/>
          <p:nvPr/>
        </p:nvSpPr>
        <p:spPr>
          <a:xfrm rot="0">
            <a:off x="914400" y="207264"/>
            <a:ext cx="6858000" cy="6705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00"/>
              </a:lnSpc>
            </a:pPr>
            <a:r>
              <a:rPr lang="en-US" b="true" sz="2000" spc="400">
                <a:solidFill>
                  <a:srgbClr val="B1734A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04  SOLUÇÃO DESENVOLVIDA</a:t>
            </a:r>
          </a:p>
        </p:txBody>
      </p:sp>
      <p:sp>
        <p:nvSpPr>
          <p:cNvPr name="TextBox 62" id="62"/>
          <p:cNvSpPr txBox="true"/>
          <p:nvPr/>
        </p:nvSpPr>
        <p:spPr>
          <a:xfrm rot="0">
            <a:off x="16459200" y="9433560"/>
            <a:ext cx="914400" cy="3810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400"/>
              </a:lnSpc>
            </a:pPr>
            <a:r>
              <a:rPr lang="en-US" sz="2000">
                <a:solidFill>
                  <a:srgbClr val="5B6B5F"/>
                </a:solidFill>
                <a:latin typeface="Calibri (MS)"/>
                <a:ea typeface="Calibri (MS)"/>
                <a:cs typeface="Calibri (MS)"/>
                <a:sym typeface="Calibri (MS)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p="http://schemas.openxmlformats.org/presentationml/2006/main" xmlns:a="http://schemas.openxmlformats.org/drawingml/2006/main" xmlns:r="http://schemas.openxmlformats.org/officeDocument/2006/relationships" show="false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822960" y="9601200"/>
            <a:ext cx="8229600" cy="411480"/>
            <a:chOff x="0" y="0"/>
            <a:chExt cx="10972800" cy="54864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0972800" cy="548640"/>
            </a:xfrm>
            <a:custGeom>
              <a:avLst/>
              <a:gdLst/>
              <a:ahLst/>
              <a:cxnLst/>
              <a:rect r="r" b="b" t="t" l="l"/>
              <a:pathLst>
                <a:path h="5486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339430" r="0" b="-339428"/>
              </a:stretch>
            </a:blipFill>
          </p:spPr>
        </p:sp>
      </p:grpSp>
      <p:grpSp>
        <p:nvGrpSpPr>
          <p:cNvPr name="Group 4" id="4"/>
          <p:cNvGrpSpPr/>
          <p:nvPr/>
        </p:nvGrpSpPr>
        <p:grpSpPr>
          <a:xfrm rot="0">
            <a:off x="822960" y="9572625"/>
            <a:ext cx="8229600" cy="440055"/>
            <a:chOff x="0" y="0"/>
            <a:chExt cx="10972800" cy="58674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0972800" cy="586740"/>
            </a:xfrm>
            <a:custGeom>
              <a:avLst/>
              <a:gdLst/>
              <a:ahLst/>
              <a:cxnLst/>
              <a:rect r="r" b="b" t="t" l="l"/>
              <a:pathLst>
                <a:path h="5867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586740"/>
                  </a:lnTo>
                  <a:lnTo>
                    <a:pt x="0" y="5867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14142" r="0" b="-314140"/>
              </a:stretch>
            </a:blipFill>
          </p:spPr>
        </p:sp>
      </p:grpSp>
      <p:grpSp>
        <p:nvGrpSpPr>
          <p:cNvPr name="Group 6" id="6"/>
          <p:cNvGrpSpPr/>
          <p:nvPr/>
        </p:nvGrpSpPr>
        <p:grpSpPr>
          <a:xfrm rot="0">
            <a:off x="822960" y="9544050"/>
            <a:ext cx="8229600" cy="468630"/>
            <a:chOff x="0" y="0"/>
            <a:chExt cx="10972800" cy="62484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10972800" cy="624840"/>
            </a:xfrm>
            <a:custGeom>
              <a:avLst/>
              <a:gdLst/>
              <a:ahLst/>
              <a:cxnLst/>
              <a:rect r="r" b="b" t="t" l="l"/>
              <a:pathLst>
                <a:path h="6248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624840"/>
                  </a:lnTo>
                  <a:lnTo>
                    <a:pt x="0" y="62484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91939" r="0" b="-291936"/>
              </a:stretch>
            </a:blipFill>
          </p:spPr>
        </p:sp>
      </p:grpSp>
      <p:grpSp>
        <p:nvGrpSpPr>
          <p:cNvPr name="Group 8" id="8"/>
          <p:cNvGrpSpPr/>
          <p:nvPr/>
        </p:nvGrpSpPr>
        <p:grpSpPr>
          <a:xfrm rot="0">
            <a:off x="822960" y="9515475"/>
            <a:ext cx="8229600" cy="497205"/>
            <a:chOff x="0" y="0"/>
            <a:chExt cx="10972800" cy="66294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0972800" cy="662940"/>
            </a:xfrm>
            <a:custGeom>
              <a:avLst/>
              <a:gdLst/>
              <a:ahLst/>
              <a:cxnLst/>
              <a:rect r="r" b="b" t="t" l="l"/>
              <a:pathLst>
                <a:path h="6629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662940"/>
                  </a:lnTo>
                  <a:lnTo>
                    <a:pt x="0" y="662940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272287" r="0" b="-272285"/>
              </a:stretch>
            </a:blipFill>
          </p:spPr>
        </p:sp>
      </p:grpSp>
      <p:grpSp>
        <p:nvGrpSpPr>
          <p:cNvPr name="Group 10" id="10"/>
          <p:cNvGrpSpPr/>
          <p:nvPr/>
        </p:nvGrpSpPr>
        <p:grpSpPr>
          <a:xfrm rot="0">
            <a:off x="822960" y="9486900"/>
            <a:ext cx="8229600" cy="525780"/>
            <a:chOff x="0" y="0"/>
            <a:chExt cx="10972800" cy="70104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0972800" cy="701040"/>
            </a:xfrm>
            <a:custGeom>
              <a:avLst/>
              <a:gdLst/>
              <a:ahLst/>
              <a:cxnLst/>
              <a:rect r="r" b="b" t="t" l="l"/>
              <a:pathLst>
                <a:path h="7010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701040"/>
                  </a:lnTo>
                  <a:lnTo>
                    <a:pt x="0" y="701040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l="0" t="-254771" r="0" b="-254769"/>
              </a:stretch>
            </a:blipFill>
          </p:spPr>
        </p:sp>
      </p:grpSp>
      <p:grpSp>
        <p:nvGrpSpPr>
          <p:cNvPr name="Group 12" id="12"/>
          <p:cNvGrpSpPr/>
          <p:nvPr/>
        </p:nvGrpSpPr>
        <p:grpSpPr>
          <a:xfrm rot="0">
            <a:off x="822960" y="9458325"/>
            <a:ext cx="8229600" cy="554355"/>
            <a:chOff x="0" y="0"/>
            <a:chExt cx="10972800" cy="73914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10972800" cy="739140"/>
            </a:xfrm>
            <a:custGeom>
              <a:avLst/>
              <a:gdLst/>
              <a:ahLst/>
              <a:cxnLst/>
              <a:rect r="r" b="b" t="t" l="l"/>
              <a:pathLst>
                <a:path h="7391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739140"/>
                  </a:lnTo>
                  <a:lnTo>
                    <a:pt x="0" y="739140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0" t="-239061" r="0" b="-239060"/>
              </a:stretch>
            </a:blipFill>
          </p:spPr>
        </p:sp>
      </p:grpSp>
      <p:grpSp>
        <p:nvGrpSpPr>
          <p:cNvPr name="Group 14" id="14"/>
          <p:cNvGrpSpPr/>
          <p:nvPr/>
        </p:nvGrpSpPr>
        <p:grpSpPr>
          <a:xfrm rot="0">
            <a:off x="822960" y="9429750"/>
            <a:ext cx="8229600" cy="582930"/>
            <a:chOff x="0" y="0"/>
            <a:chExt cx="10972800" cy="77724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10972800" cy="777240"/>
            </a:xfrm>
            <a:custGeom>
              <a:avLst/>
              <a:gdLst/>
              <a:ahLst/>
              <a:cxnLst/>
              <a:rect r="r" b="b" t="t" l="l"/>
              <a:pathLst>
                <a:path h="7772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777240"/>
                  </a:lnTo>
                  <a:lnTo>
                    <a:pt x="0" y="777240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0" t="-224892" r="0" b="-224890"/>
              </a:stretch>
            </a:blipFill>
          </p:spPr>
        </p:sp>
      </p:grpSp>
      <p:grpSp>
        <p:nvGrpSpPr>
          <p:cNvPr name="Group 16" id="16"/>
          <p:cNvGrpSpPr/>
          <p:nvPr/>
        </p:nvGrpSpPr>
        <p:grpSpPr>
          <a:xfrm rot="0">
            <a:off x="822960" y="9401175"/>
            <a:ext cx="8229600" cy="611505"/>
            <a:chOff x="0" y="0"/>
            <a:chExt cx="10972800" cy="81534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10972800" cy="815340"/>
            </a:xfrm>
            <a:custGeom>
              <a:avLst/>
              <a:gdLst/>
              <a:ahLst/>
              <a:cxnLst/>
              <a:rect r="r" b="b" t="t" l="l"/>
              <a:pathLst>
                <a:path h="8153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815340"/>
                  </a:lnTo>
                  <a:lnTo>
                    <a:pt x="0" y="815340"/>
                  </a:lnTo>
                  <a:close/>
                </a:path>
              </a:pathLst>
            </a:custGeom>
            <a:blipFill>
              <a:blip r:embed="rId9">
                <a:alphaModFix amt="0"/>
              </a:blip>
              <a:stretch>
                <a:fillRect l="0" t="-212228" r="0" b="-212228"/>
              </a:stretch>
            </a:blipFill>
          </p:spPr>
        </p:sp>
        <p:sp>
          <p:nvSpPr>
            <p:cNvPr name="TextBox 18" id="18"/>
            <p:cNvSpPr txBox="true"/>
            <p:nvPr/>
          </p:nvSpPr>
          <p:spPr>
            <a:xfrm>
              <a:off x="0" y="-38100"/>
              <a:ext cx="10972800" cy="8534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6B728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WeFIND  |  TCC  |  IFSul Campus Pelotas</a:t>
              </a:r>
            </a:p>
          </p:txBody>
        </p:sp>
      </p:grpSp>
      <p:grpSp>
        <p:nvGrpSpPr>
          <p:cNvPr name="Group 19" id="19"/>
          <p:cNvGrpSpPr/>
          <p:nvPr/>
        </p:nvGrpSpPr>
        <p:grpSpPr>
          <a:xfrm rot="0">
            <a:off x="822960" y="850392"/>
            <a:ext cx="16596360" cy="1234440"/>
            <a:chOff x="0" y="0"/>
            <a:chExt cx="22128480" cy="1645920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22128480" cy="1645920"/>
            </a:xfrm>
            <a:custGeom>
              <a:avLst/>
              <a:gdLst/>
              <a:ahLst/>
              <a:cxnLst/>
              <a:rect r="r" b="b" t="t" l="l"/>
              <a:pathLst>
                <a:path h="1645920" w="22128480">
                  <a:moveTo>
                    <a:pt x="0" y="0"/>
                  </a:moveTo>
                  <a:lnTo>
                    <a:pt x="22128480" y="0"/>
                  </a:lnTo>
                  <a:lnTo>
                    <a:pt x="22128480" y="1645920"/>
                  </a:lnTo>
                  <a:lnTo>
                    <a:pt x="0" y="164592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211783" r="0" b="-211783"/>
              </a:stretch>
            </a:blipFill>
          </p:spPr>
        </p:sp>
      </p:grpSp>
      <p:grpSp>
        <p:nvGrpSpPr>
          <p:cNvPr name="Group 21" id="21"/>
          <p:cNvGrpSpPr/>
          <p:nvPr/>
        </p:nvGrpSpPr>
        <p:grpSpPr>
          <a:xfrm rot="0">
            <a:off x="822960" y="843248"/>
            <a:ext cx="16596360" cy="1241584"/>
            <a:chOff x="0" y="0"/>
            <a:chExt cx="22128480" cy="1655445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22128480" cy="1655445"/>
            </a:xfrm>
            <a:custGeom>
              <a:avLst/>
              <a:gdLst/>
              <a:ahLst/>
              <a:cxnLst/>
              <a:rect r="r" b="b" t="t" l="l"/>
              <a:pathLst>
                <a:path h="1655445" w="22128480">
                  <a:moveTo>
                    <a:pt x="0" y="0"/>
                  </a:moveTo>
                  <a:lnTo>
                    <a:pt x="22128480" y="0"/>
                  </a:lnTo>
                  <a:lnTo>
                    <a:pt x="22128480" y="1655445"/>
                  </a:lnTo>
                  <a:lnTo>
                    <a:pt x="0" y="1655445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10276" r="0" b="-210276"/>
              </a:stretch>
            </a:blipFill>
          </p:spPr>
        </p:sp>
      </p:grpSp>
      <p:grpSp>
        <p:nvGrpSpPr>
          <p:cNvPr name="Group 23" id="23"/>
          <p:cNvGrpSpPr/>
          <p:nvPr/>
        </p:nvGrpSpPr>
        <p:grpSpPr>
          <a:xfrm rot="0">
            <a:off x="822960" y="836105"/>
            <a:ext cx="16596360" cy="1248727"/>
            <a:chOff x="0" y="0"/>
            <a:chExt cx="22128480" cy="1664970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22128480" cy="1664970"/>
            </a:xfrm>
            <a:custGeom>
              <a:avLst/>
              <a:gdLst/>
              <a:ahLst/>
              <a:cxnLst/>
              <a:rect r="r" b="b" t="t" l="l"/>
              <a:pathLst>
                <a:path h="1664970" w="22128480">
                  <a:moveTo>
                    <a:pt x="0" y="0"/>
                  </a:moveTo>
                  <a:lnTo>
                    <a:pt x="22128480" y="0"/>
                  </a:lnTo>
                  <a:lnTo>
                    <a:pt x="22128480" y="1664970"/>
                  </a:lnTo>
                  <a:lnTo>
                    <a:pt x="0" y="166497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08787" r="0" b="-208787"/>
              </a:stretch>
            </a:blipFill>
          </p:spPr>
        </p:sp>
      </p:grpSp>
      <p:grpSp>
        <p:nvGrpSpPr>
          <p:cNvPr name="Group 25" id="25"/>
          <p:cNvGrpSpPr/>
          <p:nvPr/>
        </p:nvGrpSpPr>
        <p:grpSpPr>
          <a:xfrm rot="0">
            <a:off x="822960" y="828961"/>
            <a:ext cx="16596360" cy="1255871"/>
            <a:chOff x="0" y="0"/>
            <a:chExt cx="22128480" cy="1674495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22128480" cy="1674495"/>
            </a:xfrm>
            <a:custGeom>
              <a:avLst/>
              <a:gdLst/>
              <a:ahLst/>
              <a:cxnLst/>
              <a:rect r="r" b="b" t="t" l="l"/>
              <a:pathLst>
                <a:path h="1674495" w="22128480">
                  <a:moveTo>
                    <a:pt x="0" y="0"/>
                  </a:moveTo>
                  <a:lnTo>
                    <a:pt x="22128480" y="0"/>
                  </a:lnTo>
                  <a:lnTo>
                    <a:pt x="22128480" y="1674495"/>
                  </a:lnTo>
                  <a:lnTo>
                    <a:pt x="0" y="1674495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207315" r="0" b="-207315"/>
              </a:stretch>
            </a:blipFill>
          </p:spPr>
        </p:sp>
      </p:grpSp>
      <p:grpSp>
        <p:nvGrpSpPr>
          <p:cNvPr name="Group 27" id="27"/>
          <p:cNvGrpSpPr/>
          <p:nvPr/>
        </p:nvGrpSpPr>
        <p:grpSpPr>
          <a:xfrm rot="0">
            <a:off x="822960" y="821817"/>
            <a:ext cx="16596360" cy="1263015"/>
            <a:chOff x="0" y="0"/>
            <a:chExt cx="22128480" cy="1684020"/>
          </a:xfrm>
        </p:grpSpPr>
        <p:sp>
          <p:nvSpPr>
            <p:cNvPr name="Freeform 28" id="28"/>
            <p:cNvSpPr/>
            <p:nvPr/>
          </p:nvSpPr>
          <p:spPr>
            <a:xfrm flipH="false" flipV="false" rot="0">
              <a:off x="0" y="0"/>
              <a:ext cx="22128480" cy="1684020"/>
            </a:xfrm>
            <a:custGeom>
              <a:avLst/>
              <a:gdLst/>
              <a:ahLst/>
              <a:cxnLst/>
              <a:rect r="r" b="b" t="t" l="l"/>
              <a:pathLst>
                <a:path h="1684020" w="22128480">
                  <a:moveTo>
                    <a:pt x="0" y="0"/>
                  </a:moveTo>
                  <a:lnTo>
                    <a:pt x="22128480" y="0"/>
                  </a:lnTo>
                  <a:lnTo>
                    <a:pt x="22128480" y="1684020"/>
                  </a:lnTo>
                  <a:lnTo>
                    <a:pt x="0" y="1684020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l="0" t="-205860" r="0" b="-205860"/>
              </a:stretch>
            </a:blipFill>
          </p:spPr>
        </p:sp>
      </p:grpSp>
      <p:grpSp>
        <p:nvGrpSpPr>
          <p:cNvPr name="Group 29" id="29"/>
          <p:cNvGrpSpPr/>
          <p:nvPr/>
        </p:nvGrpSpPr>
        <p:grpSpPr>
          <a:xfrm rot="0">
            <a:off x="822960" y="814673"/>
            <a:ext cx="16596360" cy="1270159"/>
            <a:chOff x="0" y="0"/>
            <a:chExt cx="22128480" cy="1693545"/>
          </a:xfrm>
        </p:grpSpPr>
        <p:sp>
          <p:nvSpPr>
            <p:cNvPr name="Freeform 30" id="30"/>
            <p:cNvSpPr/>
            <p:nvPr/>
          </p:nvSpPr>
          <p:spPr>
            <a:xfrm flipH="false" flipV="false" rot="0">
              <a:off x="0" y="0"/>
              <a:ext cx="22128480" cy="1693545"/>
            </a:xfrm>
            <a:custGeom>
              <a:avLst/>
              <a:gdLst/>
              <a:ahLst/>
              <a:cxnLst/>
              <a:rect r="r" b="b" t="t" l="l"/>
              <a:pathLst>
                <a:path h="1693545" w="22128480">
                  <a:moveTo>
                    <a:pt x="0" y="0"/>
                  </a:moveTo>
                  <a:lnTo>
                    <a:pt x="22128480" y="0"/>
                  </a:lnTo>
                  <a:lnTo>
                    <a:pt x="22128480" y="1693545"/>
                  </a:lnTo>
                  <a:lnTo>
                    <a:pt x="0" y="1693545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0" t="-204421" r="0" b="-204421"/>
              </a:stretch>
            </a:blipFill>
          </p:spPr>
        </p:sp>
      </p:grpSp>
      <p:grpSp>
        <p:nvGrpSpPr>
          <p:cNvPr name="Group 31" id="31"/>
          <p:cNvGrpSpPr/>
          <p:nvPr/>
        </p:nvGrpSpPr>
        <p:grpSpPr>
          <a:xfrm rot="0">
            <a:off x="822960" y="807530"/>
            <a:ext cx="16596360" cy="1277302"/>
            <a:chOff x="0" y="0"/>
            <a:chExt cx="22128480" cy="1703070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0" y="0"/>
              <a:ext cx="22128480" cy="1703070"/>
            </a:xfrm>
            <a:custGeom>
              <a:avLst/>
              <a:gdLst/>
              <a:ahLst/>
              <a:cxnLst/>
              <a:rect r="r" b="b" t="t" l="l"/>
              <a:pathLst>
                <a:path h="1703070" w="22128480">
                  <a:moveTo>
                    <a:pt x="0" y="0"/>
                  </a:moveTo>
                  <a:lnTo>
                    <a:pt x="22128480" y="0"/>
                  </a:lnTo>
                  <a:lnTo>
                    <a:pt x="22128480" y="1703070"/>
                  </a:lnTo>
                  <a:lnTo>
                    <a:pt x="0" y="1703070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0" t="-202998" r="0" b="-202998"/>
              </a:stretch>
            </a:blipFill>
          </p:spPr>
        </p:sp>
      </p:grpSp>
      <p:grpSp>
        <p:nvGrpSpPr>
          <p:cNvPr name="Group 33" id="33"/>
          <p:cNvGrpSpPr/>
          <p:nvPr/>
        </p:nvGrpSpPr>
        <p:grpSpPr>
          <a:xfrm rot="0">
            <a:off x="822960" y="800386"/>
            <a:ext cx="16596360" cy="1284446"/>
            <a:chOff x="0" y="0"/>
            <a:chExt cx="22128480" cy="1712595"/>
          </a:xfrm>
        </p:grpSpPr>
        <p:sp>
          <p:nvSpPr>
            <p:cNvPr name="Freeform 34" id="34"/>
            <p:cNvSpPr/>
            <p:nvPr/>
          </p:nvSpPr>
          <p:spPr>
            <a:xfrm flipH="false" flipV="false" rot="0">
              <a:off x="0" y="0"/>
              <a:ext cx="22128480" cy="1712594"/>
            </a:xfrm>
            <a:custGeom>
              <a:avLst/>
              <a:gdLst/>
              <a:ahLst/>
              <a:cxnLst/>
              <a:rect r="r" b="b" t="t" l="l"/>
              <a:pathLst>
                <a:path h="1712594" w="22128480">
                  <a:moveTo>
                    <a:pt x="0" y="0"/>
                  </a:moveTo>
                  <a:lnTo>
                    <a:pt x="22128480" y="0"/>
                  </a:lnTo>
                  <a:lnTo>
                    <a:pt x="22128480" y="1712594"/>
                  </a:lnTo>
                  <a:lnTo>
                    <a:pt x="0" y="1712594"/>
                  </a:lnTo>
                  <a:close/>
                </a:path>
              </a:pathLst>
            </a:custGeom>
            <a:blipFill>
              <a:blip r:embed="rId9">
                <a:alphaModFix amt="0"/>
              </a:blip>
              <a:stretch>
                <a:fillRect l="0" t="-201766" r="0" b="-201766"/>
              </a:stretch>
            </a:blipFill>
          </p:spPr>
        </p:sp>
        <p:sp>
          <p:nvSpPr>
            <p:cNvPr name="TextBox 35" id="35"/>
            <p:cNvSpPr txBox="true"/>
            <p:nvPr/>
          </p:nvSpPr>
          <p:spPr>
            <a:xfrm>
              <a:off x="0" y="-9525"/>
              <a:ext cx="22128480" cy="172212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6120"/>
                </a:lnSpc>
              </a:pPr>
              <a:r>
                <a:rPr lang="en-US" sz="5100" b="true">
                  <a:solidFill>
                    <a:srgbClr val="2E5634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Devolução segura e confiança</a:t>
              </a:r>
            </a:p>
          </p:txBody>
        </p:sp>
      </p:grpSp>
      <p:sp>
        <p:nvSpPr>
          <p:cNvPr name="Freeform 36" id="36"/>
          <p:cNvSpPr/>
          <p:nvPr/>
        </p:nvSpPr>
        <p:spPr>
          <a:xfrm flipH="false" flipV="false" rot="0">
            <a:off x="810454" y="2387794"/>
            <a:ext cx="8186023" cy="2905363"/>
          </a:xfrm>
          <a:custGeom>
            <a:avLst/>
            <a:gdLst/>
            <a:ahLst/>
            <a:cxnLst/>
            <a:rect r="r" b="b" t="t" l="l"/>
            <a:pathLst>
              <a:path h="2905363" w="8186023">
                <a:moveTo>
                  <a:pt x="0" y="0"/>
                </a:moveTo>
                <a:lnTo>
                  <a:pt x="8186023" y="0"/>
                </a:lnTo>
                <a:lnTo>
                  <a:pt x="8186023" y="2905363"/>
                </a:lnTo>
                <a:lnTo>
                  <a:pt x="0" y="2905363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-126" r="0" b="-126"/>
            </a:stretch>
          </a:blipFill>
        </p:spPr>
      </p:sp>
      <p:sp>
        <p:nvSpPr>
          <p:cNvPr name="Freeform 37" id="37"/>
          <p:cNvSpPr/>
          <p:nvPr/>
        </p:nvSpPr>
        <p:spPr>
          <a:xfrm flipH="false" flipV="false" rot="0">
            <a:off x="1217771" y="2863691"/>
            <a:ext cx="1267777" cy="1267778"/>
          </a:xfrm>
          <a:custGeom>
            <a:avLst/>
            <a:gdLst/>
            <a:ahLst/>
            <a:cxnLst/>
            <a:rect r="r" b="b" t="t" l="l"/>
            <a:pathLst>
              <a:path h="1267778" w="1267777">
                <a:moveTo>
                  <a:pt x="0" y="0"/>
                </a:moveTo>
                <a:lnTo>
                  <a:pt x="1267778" y="0"/>
                </a:lnTo>
                <a:lnTo>
                  <a:pt x="1267778" y="1267778"/>
                </a:lnTo>
                <a:lnTo>
                  <a:pt x="0" y="1267778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38" id="38"/>
          <p:cNvGrpSpPr/>
          <p:nvPr/>
        </p:nvGrpSpPr>
        <p:grpSpPr>
          <a:xfrm rot="0">
            <a:off x="1555394" y="3201314"/>
            <a:ext cx="592550" cy="592550"/>
            <a:chOff x="0" y="0"/>
            <a:chExt cx="790067" cy="790067"/>
          </a:xfrm>
        </p:grpSpPr>
        <p:sp>
          <p:nvSpPr>
            <p:cNvPr name="Freeform 39" id="39" descr="icone"/>
            <p:cNvSpPr/>
            <p:nvPr/>
          </p:nvSpPr>
          <p:spPr>
            <a:xfrm flipH="false" flipV="false" rot="0">
              <a:off x="0" y="0"/>
              <a:ext cx="790067" cy="790067"/>
            </a:xfrm>
            <a:custGeom>
              <a:avLst/>
              <a:gdLst/>
              <a:ahLst/>
              <a:cxnLst/>
              <a:rect r="r" b="b" t="t" l="l"/>
              <a:pathLst>
                <a:path h="790067" w="790067">
                  <a:moveTo>
                    <a:pt x="0" y="0"/>
                  </a:moveTo>
                  <a:lnTo>
                    <a:pt x="790067" y="0"/>
                  </a:lnTo>
                  <a:lnTo>
                    <a:pt x="790067" y="790067"/>
                  </a:lnTo>
                  <a:lnTo>
                    <a:pt x="0" y="79006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/>
              <a:stretch>
                <a:fillRect l="0" t="0" r="0" b="0"/>
              </a:stretch>
            </a:blipFill>
          </p:spPr>
        </p:sp>
      </p:grpSp>
      <p:sp>
        <p:nvSpPr>
          <p:cNvPr name="TextBox 40" id="40"/>
          <p:cNvSpPr txBox="true"/>
          <p:nvPr/>
        </p:nvSpPr>
        <p:spPr>
          <a:xfrm rot="0">
            <a:off x="2880360" y="2278380"/>
            <a:ext cx="5760720" cy="11506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600"/>
              </a:lnSpc>
            </a:pPr>
            <a:r>
              <a:rPr lang="en-US" sz="3000" b="true">
                <a:solidFill>
                  <a:srgbClr val="0F172A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Comprovação de tutela</a:t>
            </a:r>
          </a:p>
        </p:txBody>
      </p:sp>
      <p:sp>
        <p:nvSpPr>
          <p:cNvPr name="TextBox 41" id="41"/>
          <p:cNvSpPr txBox="true"/>
          <p:nvPr/>
        </p:nvSpPr>
        <p:spPr>
          <a:xfrm rot="0">
            <a:off x="2880360" y="3261360"/>
            <a:ext cx="5760720" cy="18821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78"/>
              </a:lnSpc>
            </a:pPr>
            <a:r>
              <a:rPr lang="en-US" sz="2400">
                <a:solidFill>
                  <a:srgbClr val="0F172A"/>
                </a:solidFill>
                <a:latin typeface="Calibri (MS)"/>
                <a:ea typeface="Calibri (MS)"/>
                <a:cs typeface="Calibri (MS)"/>
                <a:sym typeface="Calibri (MS)"/>
              </a:rPr>
              <a:t>Fotos, vacina ou marcas ocultas; quem acolheu analisa pelo chat.</a:t>
            </a:r>
          </a:p>
        </p:txBody>
      </p:sp>
      <p:sp>
        <p:nvSpPr>
          <p:cNvPr name="Freeform 42" id="42"/>
          <p:cNvSpPr/>
          <p:nvPr/>
        </p:nvSpPr>
        <p:spPr>
          <a:xfrm flipH="false" flipV="false" rot="0">
            <a:off x="9245794" y="2387794"/>
            <a:ext cx="8186023" cy="2905363"/>
          </a:xfrm>
          <a:custGeom>
            <a:avLst/>
            <a:gdLst/>
            <a:ahLst/>
            <a:cxnLst/>
            <a:rect r="r" b="b" t="t" l="l"/>
            <a:pathLst>
              <a:path h="2905363" w="8186023">
                <a:moveTo>
                  <a:pt x="0" y="0"/>
                </a:moveTo>
                <a:lnTo>
                  <a:pt x="8186023" y="0"/>
                </a:lnTo>
                <a:lnTo>
                  <a:pt x="8186023" y="2905363"/>
                </a:lnTo>
                <a:lnTo>
                  <a:pt x="0" y="2905363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-126" r="0" b="-126"/>
            </a:stretch>
          </a:blipFill>
        </p:spPr>
      </p:sp>
      <p:sp>
        <p:nvSpPr>
          <p:cNvPr name="Freeform 43" id="43"/>
          <p:cNvSpPr/>
          <p:nvPr/>
        </p:nvSpPr>
        <p:spPr>
          <a:xfrm flipH="false" flipV="false" rot="0">
            <a:off x="9653111" y="2863691"/>
            <a:ext cx="1267778" cy="1267778"/>
          </a:xfrm>
          <a:custGeom>
            <a:avLst/>
            <a:gdLst/>
            <a:ahLst/>
            <a:cxnLst/>
            <a:rect r="r" b="b" t="t" l="l"/>
            <a:pathLst>
              <a:path h="1267778" w="1267778">
                <a:moveTo>
                  <a:pt x="0" y="0"/>
                </a:moveTo>
                <a:lnTo>
                  <a:pt x="1267778" y="0"/>
                </a:lnTo>
                <a:lnTo>
                  <a:pt x="1267778" y="1267778"/>
                </a:lnTo>
                <a:lnTo>
                  <a:pt x="0" y="1267778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44" id="44"/>
          <p:cNvGrpSpPr/>
          <p:nvPr/>
        </p:nvGrpSpPr>
        <p:grpSpPr>
          <a:xfrm rot="0">
            <a:off x="9990734" y="3201314"/>
            <a:ext cx="592550" cy="592550"/>
            <a:chOff x="0" y="0"/>
            <a:chExt cx="790067" cy="790067"/>
          </a:xfrm>
        </p:grpSpPr>
        <p:sp>
          <p:nvSpPr>
            <p:cNvPr name="Freeform 45" id="45" descr="icone"/>
            <p:cNvSpPr/>
            <p:nvPr/>
          </p:nvSpPr>
          <p:spPr>
            <a:xfrm flipH="false" flipV="false" rot="0">
              <a:off x="0" y="0"/>
              <a:ext cx="790067" cy="790067"/>
            </a:xfrm>
            <a:custGeom>
              <a:avLst/>
              <a:gdLst/>
              <a:ahLst/>
              <a:cxnLst/>
              <a:rect r="r" b="b" t="t" l="l"/>
              <a:pathLst>
                <a:path h="790067" w="790067">
                  <a:moveTo>
                    <a:pt x="0" y="0"/>
                  </a:moveTo>
                  <a:lnTo>
                    <a:pt x="790067" y="0"/>
                  </a:lnTo>
                  <a:lnTo>
                    <a:pt x="790067" y="790067"/>
                  </a:lnTo>
                  <a:lnTo>
                    <a:pt x="0" y="79006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5"/>
              <a:stretch>
                <a:fillRect l="0" t="0" r="0" b="0"/>
              </a:stretch>
            </a:blipFill>
          </p:spPr>
        </p:sp>
      </p:grpSp>
      <p:sp>
        <p:nvSpPr>
          <p:cNvPr name="TextBox 46" id="46"/>
          <p:cNvSpPr txBox="true"/>
          <p:nvPr/>
        </p:nvSpPr>
        <p:spPr>
          <a:xfrm rot="0">
            <a:off x="11315700" y="2278380"/>
            <a:ext cx="5760720" cy="11506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600"/>
              </a:lnSpc>
            </a:pPr>
            <a:r>
              <a:rPr lang="en-US" sz="3000" b="true">
                <a:solidFill>
                  <a:srgbClr val="0F172A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Encontro em local público</a:t>
            </a:r>
          </a:p>
        </p:txBody>
      </p:sp>
      <p:sp>
        <p:nvSpPr>
          <p:cNvPr name="TextBox 47" id="47"/>
          <p:cNvSpPr txBox="true"/>
          <p:nvPr/>
        </p:nvSpPr>
        <p:spPr>
          <a:xfrm rot="0">
            <a:off x="11315700" y="3261360"/>
            <a:ext cx="5760720" cy="18821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78"/>
              </a:lnSpc>
            </a:pPr>
            <a:r>
              <a:rPr lang="en-US" sz="2400">
                <a:solidFill>
                  <a:srgbClr val="0F172A"/>
                </a:solidFill>
                <a:latin typeface="Calibri (MS)"/>
                <a:ea typeface="Calibri (MS)"/>
                <a:cs typeface="Calibri (MS)"/>
                <a:sym typeface="Calibri (MS)"/>
              </a:rPr>
              <a:t>Dia, hora e ponto no mapa; confirmar, remarcar ou cancelar.</a:t>
            </a:r>
          </a:p>
        </p:txBody>
      </p:sp>
      <p:sp>
        <p:nvSpPr>
          <p:cNvPr name="Freeform 48" id="48"/>
          <p:cNvSpPr/>
          <p:nvPr/>
        </p:nvSpPr>
        <p:spPr>
          <a:xfrm flipH="false" flipV="false" rot="0">
            <a:off x="810454" y="5542474"/>
            <a:ext cx="8186023" cy="2905363"/>
          </a:xfrm>
          <a:custGeom>
            <a:avLst/>
            <a:gdLst/>
            <a:ahLst/>
            <a:cxnLst/>
            <a:rect r="r" b="b" t="t" l="l"/>
            <a:pathLst>
              <a:path h="2905363" w="8186023">
                <a:moveTo>
                  <a:pt x="0" y="0"/>
                </a:moveTo>
                <a:lnTo>
                  <a:pt x="8186023" y="0"/>
                </a:lnTo>
                <a:lnTo>
                  <a:pt x="8186023" y="2905363"/>
                </a:lnTo>
                <a:lnTo>
                  <a:pt x="0" y="2905363"/>
                </a:lnTo>
                <a:lnTo>
                  <a:pt x="0" y="0"/>
                </a:lnTo>
                <a:close/>
              </a:path>
            </a:pathLst>
          </a:custGeom>
          <a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 l="0" t="-126" r="0" b="-126"/>
            </a:stretch>
          </a:blipFill>
        </p:spPr>
      </p:sp>
      <p:sp>
        <p:nvSpPr>
          <p:cNvPr name="Freeform 49" id="49"/>
          <p:cNvSpPr/>
          <p:nvPr/>
        </p:nvSpPr>
        <p:spPr>
          <a:xfrm flipH="false" flipV="false" rot="0">
            <a:off x="1217771" y="6018371"/>
            <a:ext cx="1267777" cy="1267778"/>
          </a:xfrm>
          <a:custGeom>
            <a:avLst/>
            <a:gdLst/>
            <a:ahLst/>
            <a:cxnLst/>
            <a:rect r="r" b="b" t="t" l="l"/>
            <a:pathLst>
              <a:path h="1267778" w="1267777">
                <a:moveTo>
                  <a:pt x="0" y="0"/>
                </a:moveTo>
                <a:lnTo>
                  <a:pt x="1267778" y="0"/>
                </a:lnTo>
                <a:lnTo>
                  <a:pt x="1267778" y="1267778"/>
                </a:lnTo>
                <a:lnTo>
                  <a:pt x="0" y="1267778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50" id="50"/>
          <p:cNvGrpSpPr/>
          <p:nvPr/>
        </p:nvGrpSpPr>
        <p:grpSpPr>
          <a:xfrm rot="0">
            <a:off x="1555394" y="6355994"/>
            <a:ext cx="592550" cy="592550"/>
            <a:chOff x="0" y="0"/>
            <a:chExt cx="790067" cy="790067"/>
          </a:xfrm>
        </p:grpSpPr>
        <p:sp>
          <p:nvSpPr>
            <p:cNvPr name="Freeform 51" id="51" descr="icone"/>
            <p:cNvSpPr/>
            <p:nvPr/>
          </p:nvSpPr>
          <p:spPr>
            <a:xfrm flipH="false" flipV="false" rot="0">
              <a:off x="0" y="0"/>
              <a:ext cx="790067" cy="790067"/>
            </a:xfrm>
            <a:custGeom>
              <a:avLst/>
              <a:gdLst/>
              <a:ahLst/>
              <a:cxnLst/>
              <a:rect r="r" b="b" t="t" l="l"/>
              <a:pathLst>
                <a:path h="790067" w="790067">
                  <a:moveTo>
                    <a:pt x="0" y="0"/>
                  </a:moveTo>
                  <a:lnTo>
                    <a:pt x="790067" y="0"/>
                  </a:lnTo>
                  <a:lnTo>
                    <a:pt x="790067" y="790067"/>
                  </a:lnTo>
                  <a:lnTo>
                    <a:pt x="0" y="79006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/>
              <a:stretch>
                <a:fillRect l="0" t="0" r="0" b="0"/>
              </a:stretch>
            </a:blipFill>
          </p:spPr>
        </p:sp>
      </p:grpSp>
      <p:sp>
        <p:nvSpPr>
          <p:cNvPr name="TextBox 52" id="52"/>
          <p:cNvSpPr txBox="true"/>
          <p:nvPr/>
        </p:nvSpPr>
        <p:spPr>
          <a:xfrm rot="0">
            <a:off x="2880360" y="5433060"/>
            <a:ext cx="5760720" cy="11506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600"/>
              </a:lnSpc>
            </a:pPr>
            <a:r>
              <a:rPr lang="en-US" sz="3000" b="true">
                <a:solidFill>
                  <a:srgbClr val="0F172A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Publicação anônima</a:t>
            </a:r>
          </a:p>
        </p:txBody>
      </p:sp>
      <p:sp>
        <p:nvSpPr>
          <p:cNvPr name="TextBox 53" id="53"/>
          <p:cNvSpPr txBox="true"/>
          <p:nvPr/>
        </p:nvSpPr>
        <p:spPr>
          <a:xfrm rot="0">
            <a:off x="2880360" y="6416040"/>
            <a:ext cx="5760720" cy="18821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78"/>
              </a:lnSpc>
            </a:pPr>
            <a:r>
              <a:rPr lang="en-US" sz="2400">
                <a:solidFill>
                  <a:srgbClr val="0F172A"/>
                </a:solidFill>
                <a:latin typeface="Calibri (MS)"/>
                <a:ea typeface="Calibri (MS)"/>
                <a:cs typeface="Calibri (MS)"/>
                <a:sym typeface="Calibri (MS)"/>
              </a:rPr>
              <a:t>Quem encontra pode publicar sem nome, para evitar julgamentos.</a:t>
            </a:r>
          </a:p>
        </p:txBody>
      </p:sp>
      <p:sp>
        <p:nvSpPr>
          <p:cNvPr name="Freeform 54" id="54"/>
          <p:cNvSpPr/>
          <p:nvPr/>
        </p:nvSpPr>
        <p:spPr>
          <a:xfrm flipH="false" flipV="false" rot="0">
            <a:off x="9245794" y="5542474"/>
            <a:ext cx="8186023" cy="2905363"/>
          </a:xfrm>
          <a:custGeom>
            <a:avLst/>
            <a:gdLst/>
            <a:ahLst/>
            <a:cxnLst/>
            <a:rect r="r" b="b" t="t" l="l"/>
            <a:pathLst>
              <a:path h="2905363" w="8186023">
                <a:moveTo>
                  <a:pt x="0" y="0"/>
                </a:moveTo>
                <a:lnTo>
                  <a:pt x="8186023" y="0"/>
                </a:lnTo>
                <a:lnTo>
                  <a:pt x="8186023" y="2905363"/>
                </a:lnTo>
                <a:lnTo>
                  <a:pt x="0" y="2905363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-126" r="0" b="-126"/>
            </a:stretch>
          </a:blipFill>
        </p:spPr>
      </p:sp>
      <p:sp>
        <p:nvSpPr>
          <p:cNvPr name="Freeform 55" id="55"/>
          <p:cNvSpPr/>
          <p:nvPr/>
        </p:nvSpPr>
        <p:spPr>
          <a:xfrm flipH="false" flipV="false" rot="0">
            <a:off x="9653111" y="6018371"/>
            <a:ext cx="1267778" cy="1267778"/>
          </a:xfrm>
          <a:custGeom>
            <a:avLst/>
            <a:gdLst/>
            <a:ahLst/>
            <a:cxnLst/>
            <a:rect r="r" b="b" t="t" l="l"/>
            <a:pathLst>
              <a:path h="1267778" w="1267778">
                <a:moveTo>
                  <a:pt x="0" y="0"/>
                </a:moveTo>
                <a:lnTo>
                  <a:pt x="1267778" y="0"/>
                </a:lnTo>
                <a:lnTo>
                  <a:pt x="1267778" y="1267778"/>
                </a:lnTo>
                <a:lnTo>
                  <a:pt x="0" y="1267778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56" id="56"/>
          <p:cNvGrpSpPr/>
          <p:nvPr/>
        </p:nvGrpSpPr>
        <p:grpSpPr>
          <a:xfrm rot="0">
            <a:off x="9990734" y="6355994"/>
            <a:ext cx="592550" cy="592550"/>
            <a:chOff x="0" y="0"/>
            <a:chExt cx="790067" cy="790067"/>
          </a:xfrm>
        </p:grpSpPr>
        <p:sp>
          <p:nvSpPr>
            <p:cNvPr name="Freeform 57" id="57" descr="icone"/>
            <p:cNvSpPr/>
            <p:nvPr/>
          </p:nvSpPr>
          <p:spPr>
            <a:xfrm flipH="false" flipV="false" rot="0">
              <a:off x="0" y="0"/>
              <a:ext cx="790067" cy="790067"/>
            </a:xfrm>
            <a:custGeom>
              <a:avLst/>
              <a:gdLst/>
              <a:ahLst/>
              <a:cxnLst/>
              <a:rect r="r" b="b" t="t" l="l"/>
              <a:pathLst>
                <a:path h="790067" w="790067">
                  <a:moveTo>
                    <a:pt x="0" y="0"/>
                  </a:moveTo>
                  <a:lnTo>
                    <a:pt x="790067" y="0"/>
                  </a:lnTo>
                  <a:lnTo>
                    <a:pt x="790067" y="790067"/>
                  </a:lnTo>
                  <a:lnTo>
                    <a:pt x="0" y="79006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9"/>
              <a:stretch>
                <a:fillRect l="0" t="0" r="0" b="0"/>
              </a:stretch>
            </a:blipFill>
          </p:spPr>
        </p:sp>
      </p:grpSp>
      <p:sp>
        <p:nvSpPr>
          <p:cNvPr name="TextBox 58" id="58"/>
          <p:cNvSpPr txBox="true"/>
          <p:nvPr/>
        </p:nvSpPr>
        <p:spPr>
          <a:xfrm rot="0">
            <a:off x="11315700" y="5433060"/>
            <a:ext cx="5760720" cy="11506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600"/>
              </a:lnSpc>
            </a:pPr>
            <a:r>
              <a:rPr lang="en-US" sz="3000" b="true">
                <a:solidFill>
                  <a:srgbClr val="0F172A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Classificação de membros</a:t>
            </a:r>
          </a:p>
        </p:txBody>
      </p:sp>
      <p:sp>
        <p:nvSpPr>
          <p:cNvPr name="TextBox 59" id="59"/>
          <p:cNvSpPr txBox="true"/>
          <p:nvPr/>
        </p:nvSpPr>
        <p:spPr>
          <a:xfrm rot="0">
            <a:off x="11315700" y="6416040"/>
            <a:ext cx="5760720" cy="18821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78"/>
              </a:lnSpc>
            </a:pPr>
            <a:r>
              <a:rPr lang="en-US" sz="2400">
                <a:solidFill>
                  <a:srgbClr val="0F172A"/>
                </a:solidFill>
                <a:latin typeface="Calibri (MS)"/>
                <a:ea typeface="Calibri (MS)"/>
                <a:cs typeface="Calibri (MS)"/>
                <a:sym typeface="Calibri (MS)"/>
              </a:rPr>
              <a:t>1 a 5 estrelas após 24 h sem mensagens; média no perfil.</a:t>
            </a:r>
          </a:p>
        </p:txBody>
      </p:sp>
      <p:sp>
        <p:nvSpPr>
          <p:cNvPr name="TextBox 60" id="60"/>
          <p:cNvSpPr txBox="true"/>
          <p:nvPr/>
        </p:nvSpPr>
        <p:spPr>
          <a:xfrm rot="0">
            <a:off x="822960" y="8397240"/>
            <a:ext cx="16596360" cy="9296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2100" i="true">
                <a:solidFill>
                  <a:srgbClr val="4B5563"/>
                </a:solidFill>
                <a:latin typeface="Calibri (MS) Italics"/>
                <a:ea typeface="Calibri (MS) Italics"/>
                <a:cs typeface="Calibri (MS) Italics"/>
                <a:sym typeface="Calibri (MS) Italics"/>
              </a:rPr>
              <a:t>O endereço de quem acolheu nunca é liberado. Todos os 48 participantes pediriam prova de tutela antes de devolver um animal.</a:t>
            </a:r>
          </a:p>
        </p:txBody>
      </p:sp>
      <p:sp>
        <p:nvSpPr>
          <p:cNvPr name="TextBox 61" id="61"/>
          <p:cNvSpPr txBox="true"/>
          <p:nvPr/>
        </p:nvSpPr>
        <p:spPr>
          <a:xfrm rot="0">
            <a:off x="914400" y="207264"/>
            <a:ext cx="6858000" cy="6705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00"/>
              </a:lnSpc>
            </a:pPr>
            <a:r>
              <a:rPr lang="en-US" b="true" sz="2000" spc="400">
                <a:solidFill>
                  <a:srgbClr val="B1734A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04  SOLUÇÃO DESENVOLVIDA</a:t>
            </a:r>
          </a:p>
        </p:txBody>
      </p:sp>
      <p:sp>
        <p:nvSpPr>
          <p:cNvPr name="TextBox 62" id="62"/>
          <p:cNvSpPr txBox="true"/>
          <p:nvPr/>
        </p:nvSpPr>
        <p:spPr>
          <a:xfrm rot="0">
            <a:off x="16459200" y="9433560"/>
            <a:ext cx="914400" cy="3810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400"/>
              </a:lnSpc>
            </a:pPr>
            <a:r>
              <a:rPr lang="en-US" sz="2000">
                <a:solidFill>
                  <a:srgbClr val="5B6B5F"/>
                </a:solidFill>
                <a:latin typeface="Calibri (MS)"/>
                <a:ea typeface="Calibri (MS)"/>
                <a:cs typeface="Calibri (MS)"/>
                <a:sym typeface="Calibri (MS)"/>
              </a:rPr>
              <a:t>38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DAG8JFa4rfI</dc:identifier>
  <dcterms:modified xsi:type="dcterms:W3CDTF">2011-08-01T06:04:30Z</dcterms:modified>
  <cp:revision>1</cp:revision>
  <dc:title>TCC_WEFIND_APREESNTACAO_QUALIFICACAO_VERSAO_ORIGINAL</dc:title>
</cp:coreProperties>
</file>