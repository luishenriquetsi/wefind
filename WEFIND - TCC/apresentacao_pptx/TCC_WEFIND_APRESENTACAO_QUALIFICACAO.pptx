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1.svg" ContentType="image/svg+xml"/>
  <Override PartName="/ppt/media/image103.svg" ContentType="image/svg+xml"/>
  <Override PartName="/ppt/media/image105.svg" ContentType="image/svg+xml"/>
  <Override PartName="/ppt/media/image14.svg" ContentType="image/svg+xml"/>
  <Override PartName="/ppt/media/image17.svg" ContentType="image/svg+xml"/>
  <Override PartName="/ppt/media/image22.svg" ContentType="image/svg+xml"/>
  <Override PartName="/ppt/media/image24.svg" ContentType="image/svg+xml"/>
  <Override PartName="/ppt/media/image32.svg" ContentType="image/svg+xml"/>
  <Override PartName="/ppt/media/image34.svg" ContentType="image/svg+xml"/>
  <Override PartName="/ppt/media/image38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89.svg" ContentType="image/svg+xml"/>
  <Override PartName="/ppt/media/image91.svg" ContentType="image/svg+xml"/>
  <Override PartName="/ppt/media/image93.svg" ContentType="image/svg+xml"/>
  <Override PartName="/ppt/media/image95.svg" ContentType="image/svg+xml"/>
  <Override PartName="/ppt/media/image97.svg" ContentType="image/svg+xml"/>
  <Override PartName="/ppt/media/image9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92" r:id="rId49"/>
    <p:sldId id="293" r:id="rId50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</p:sldIdLst>
  <p:sldSz cx="18288000" cy="10287000"/>
  <p:notesSz cx="6858000" cy="9144000"/>
  <p:embeddedFontLst>
    <p:embeddedFont>
      <p:font typeface="Cooper BT Bold" charset="1" panose="0208080404030B020404"/>
      <p:regular r:id="rId42"/>
    </p:embeddedFont>
    <p:embeddedFont>
      <p:font typeface="Cooper BT Light" charset="1" panose="0208050304030B020404"/>
      <p:regular r:id="rId43"/>
    </p:embeddedFont>
    <p:embeddedFont>
      <p:font typeface="Cambria Bold" charset="1" panose="02040803050406030204"/>
      <p:regular r:id="rId44"/>
    </p:embeddedFont>
    <p:embeddedFont>
      <p:font typeface="Calibri (MS)" charset="1" panose="020F0502020204030204"/>
      <p:regular r:id="rId45"/>
    </p:embeddedFont>
    <p:embeddedFont>
      <p:font typeface="Calibri (MS) Bold" charset="1" panose="020F0702030404030204"/>
      <p:regular r:id="rId46"/>
    </p:embeddedFont>
    <p:embeddedFont>
      <p:font typeface="Calibri (MS) Italics" charset="1" panose="020F05020202040A0204"/>
      <p:regular r:id="rId47"/>
    </p:embeddedFont>
    <p:embeddedFont>
      <p:font typeface="Roboto Bold" charset="1" panose="02000000000000000000"/>
      <p:regular r:id="rId4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font" Target="fonts/font42.fntdata"/><Relationship Id="rId43" Type="http://schemas.openxmlformats.org/officeDocument/2006/relationships/font" Target="fonts/font43.fntdata"/><Relationship Id="rId44" Type="http://schemas.openxmlformats.org/officeDocument/2006/relationships/font" Target="fonts/font44.fntdata"/><Relationship Id="rId45" Type="http://schemas.openxmlformats.org/officeDocument/2006/relationships/font" Target="fonts/font45.fntdata"/><Relationship Id="rId46" Type="http://schemas.openxmlformats.org/officeDocument/2006/relationships/font" Target="fonts/font46.fntdata"/><Relationship Id="rId47" Type="http://schemas.openxmlformats.org/officeDocument/2006/relationships/font" Target="fonts/font47.fntdata"/><Relationship Id="rId48" Type="http://schemas.openxmlformats.org/officeDocument/2006/relationships/font" Target="fonts/font48.fntdata"/><Relationship Id="rId49" Type="http://schemas.openxmlformats.org/officeDocument/2006/relationships/slide" Target="slides/slide24.xml"/><Relationship Id="rId50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13.png"/><Relationship Id="rId11" Type="http://schemas.openxmlformats.org/officeDocument/2006/relationships/image" Target="../media/image14.sv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sv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21.png"/><Relationship Id="rId11" Type="http://schemas.openxmlformats.org/officeDocument/2006/relationships/image" Target="../media/image22.svg"/><Relationship Id="rId12" Type="http://schemas.openxmlformats.org/officeDocument/2006/relationships/image" Target="../media/image23.png"/><Relationship Id="rId13" Type="http://schemas.openxmlformats.org/officeDocument/2006/relationships/image" Target="../media/image24.svg"/><Relationship Id="rId14" Type="http://schemas.openxmlformats.org/officeDocument/2006/relationships/image" Target="../media/image25.png"/><Relationship Id="rId15" Type="http://schemas.openxmlformats.org/officeDocument/2006/relationships/image" Target="../media/image26.png"/><Relationship Id="rId16" Type="http://schemas.openxmlformats.org/officeDocument/2006/relationships/image" Target="../media/image27.pn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31.png"/><Relationship Id="rId10" Type="http://schemas.openxmlformats.org/officeDocument/2006/relationships/image" Target="../media/image32.svg"/><Relationship Id="rId11" Type="http://schemas.openxmlformats.org/officeDocument/2006/relationships/image" Target="../media/image33.png"/><Relationship Id="rId12" Type="http://schemas.openxmlformats.org/officeDocument/2006/relationships/image" Target="../media/image34.svg"/><Relationship Id="rId13" Type="http://schemas.openxmlformats.org/officeDocument/2006/relationships/image" Target="../media/image35.png"/><Relationship Id="rId14" Type="http://schemas.openxmlformats.org/officeDocument/2006/relationships/image" Target="../media/image36.png"/><Relationship Id="rId15" Type="http://schemas.openxmlformats.org/officeDocument/2006/relationships/image" Target="../media/image37.png"/><Relationship Id="rId16" Type="http://schemas.openxmlformats.org/officeDocument/2006/relationships/image" Target="../media/image38.svg"/><Relationship Id="rId17" Type="http://schemas.openxmlformats.org/officeDocument/2006/relationships/image" Target="../media/image39.png"/><Relationship Id="rId18" Type="http://schemas.openxmlformats.org/officeDocument/2006/relationships/image" Target="../media/image4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41.png"/><Relationship Id="rId11" Type="http://schemas.openxmlformats.org/officeDocument/2006/relationships/image" Target="../media/image42.svg"/><Relationship Id="rId12" Type="http://schemas.openxmlformats.org/officeDocument/2006/relationships/image" Target="../media/image43.png"/><Relationship Id="rId13" Type="http://schemas.openxmlformats.org/officeDocument/2006/relationships/image" Target="../media/image44.svg"/><Relationship Id="rId14" Type="http://schemas.openxmlformats.org/officeDocument/2006/relationships/image" Target="../media/image45.png"/><Relationship Id="rId15" Type="http://schemas.openxmlformats.org/officeDocument/2006/relationships/image" Target="../media/image46.svg"/><Relationship Id="rId16" Type="http://schemas.openxmlformats.org/officeDocument/2006/relationships/image" Target="../media/image47.png"/><Relationship Id="rId17" Type="http://schemas.openxmlformats.org/officeDocument/2006/relationships/image" Target="../media/image48.svg"/><Relationship Id="rId18" Type="http://schemas.openxmlformats.org/officeDocument/2006/relationships/image" Target="../media/image49.png"/><Relationship Id="rId19" Type="http://schemas.openxmlformats.org/officeDocument/2006/relationships/image" Target="../media/image50.svg"/><Relationship Id="rId20" Type="http://schemas.openxmlformats.org/officeDocument/2006/relationships/image" Target="../media/image51.png"/><Relationship Id="rId21" Type="http://schemas.openxmlformats.org/officeDocument/2006/relationships/image" Target="../media/image52.svg"/><Relationship Id="rId22" Type="http://schemas.openxmlformats.org/officeDocument/2006/relationships/image" Target="../media/image53.png"/><Relationship Id="rId23" Type="http://schemas.openxmlformats.org/officeDocument/2006/relationships/image" Target="../media/image54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31.png"/><Relationship Id="rId11" Type="http://schemas.openxmlformats.org/officeDocument/2006/relationships/image" Target="../media/image32.svg"/><Relationship Id="rId12" Type="http://schemas.openxmlformats.org/officeDocument/2006/relationships/image" Target="../media/image33.png"/><Relationship Id="rId13" Type="http://schemas.openxmlformats.org/officeDocument/2006/relationships/image" Target="../media/image34.sv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svg"/><Relationship Id="rId18" Type="http://schemas.openxmlformats.org/officeDocument/2006/relationships/image" Target="../media/image26.png"/><Relationship Id="rId19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5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5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57.png"/><Relationship Id="rId11" Type="http://schemas.openxmlformats.org/officeDocument/2006/relationships/image" Target="../media/image58.png"/><Relationship Id="rId12" Type="http://schemas.openxmlformats.org/officeDocument/2006/relationships/image" Target="../media/image59.png"/><Relationship Id="rId13" Type="http://schemas.openxmlformats.org/officeDocument/2006/relationships/image" Target="../media/image60.png"/><Relationship Id="rId14" Type="http://schemas.openxmlformats.org/officeDocument/2006/relationships/image" Target="../media/image61.png"/><Relationship Id="rId15" Type="http://schemas.openxmlformats.org/officeDocument/2006/relationships/image" Target="../media/image62.png"/><Relationship Id="rId16" Type="http://schemas.openxmlformats.org/officeDocument/2006/relationships/image" Target="../media/image63.png"/><Relationship Id="rId17" Type="http://schemas.openxmlformats.org/officeDocument/2006/relationships/image" Target="../media/image64.png"/><Relationship Id="rId18" Type="http://schemas.openxmlformats.org/officeDocument/2006/relationships/image" Target="../media/image65.png"/><Relationship Id="rId19" Type="http://schemas.openxmlformats.org/officeDocument/2006/relationships/image" Target="../media/image66.png"/><Relationship Id="rId20" Type="http://schemas.openxmlformats.org/officeDocument/2006/relationships/image" Target="../media/image67.png"/><Relationship Id="rId21" Type="http://schemas.openxmlformats.org/officeDocument/2006/relationships/image" Target="../media/image68.png"/><Relationship Id="rId22" Type="http://schemas.openxmlformats.org/officeDocument/2006/relationships/image" Target="../media/image69.png"/><Relationship Id="rId23" Type="http://schemas.openxmlformats.org/officeDocument/2006/relationships/image" Target="../media/image70.png"/><Relationship Id="rId24" Type="http://schemas.openxmlformats.org/officeDocument/2006/relationships/image" Target="../media/image71.png"/><Relationship Id="rId25" Type="http://schemas.openxmlformats.org/officeDocument/2006/relationships/image" Target="../media/image7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57.png"/><Relationship Id="rId11" Type="http://schemas.openxmlformats.org/officeDocument/2006/relationships/image" Target="../media/image73.png"/><Relationship Id="rId12" Type="http://schemas.openxmlformats.org/officeDocument/2006/relationships/image" Target="../media/image59.png"/><Relationship Id="rId13" Type="http://schemas.openxmlformats.org/officeDocument/2006/relationships/image" Target="../media/image74.png"/><Relationship Id="rId14" Type="http://schemas.openxmlformats.org/officeDocument/2006/relationships/image" Target="../media/image75.png"/><Relationship Id="rId15" Type="http://schemas.openxmlformats.org/officeDocument/2006/relationships/image" Target="../media/image76.png"/><Relationship Id="rId16" Type="http://schemas.openxmlformats.org/officeDocument/2006/relationships/image" Target="../media/image67.png"/><Relationship Id="rId17" Type="http://schemas.openxmlformats.org/officeDocument/2006/relationships/image" Target="../media/image68.png"/><Relationship Id="rId18" Type="http://schemas.openxmlformats.org/officeDocument/2006/relationships/image" Target="../media/image69.png"/><Relationship Id="rId19" Type="http://schemas.openxmlformats.org/officeDocument/2006/relationships/image" Target="../media/image70.png"/><Relationship Id="rId20" Type="http://schemas.openxmlformats.org/officeDocument/2006/relationships/image" Target="../media/image77.png"/><Relationship Id="rId21" Type="http://schemas.openxmlformats.org/officeDocument/2006/relationships/image" Target="../media/image71.png"/><Relationship Id="rId22" Type="http://schemas.openxmlformats.org/officeDocument/2006/relationships/image" Target="../media/image78.png"/><Relationship Id="rId23" Type="http://schemas.openxmlformats.org/officeDocument/2006/relationships/image" Target="../media/image79.png"/><Relationship Id="rId24" Type="http://schemas.openxmlformats.org/officeDocument/2006/relationships/image" Target="../media/image80.png"/><Relationship Id="rId25" Type="http://schemas.openxmlformats.org/officeDocument/2006/relationships/image" Target="../media/image81.png"/><Relationship Id="rId26" Type="http://schemas.openxmlformats.org/officeDocument/2006/relationships/image" Target="../media/image82.png"/><Relationship Id="rId27" Type="http://schemas.openxmlformats.org/officeDocument/2006/relationships/image" Target="../media/image83.png"/><Relationship Id="rId28" Type="http://schemas.openxmlformats.org/officeDocument/2006/relationships/image" Target="../media/image84.png"/><Relationship Id="rId29" Type="http://schemas.openxmlformats.org/officeDocument/2006/relationships/image" Target="../media/image85.png"/><Relationship Id="rId30" Type="http://schemas.openxmlformats.org/officeDocument/2006/relationships/image" Target="../media/image8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svg"/><Relationship Id="rId12" Type="http://schemas.openxmlformats.org/officeDocument/2006/relationships/image" Target="../media/image90.png"/><Relationship Id="rId13" Type="http://schemas.openxmlformats.org/officeDocument/2006/relationships/image" Target="../media/image91.svg"/><Relationship Id="rId14" Type="http://schemas.openxmlformats.org/officeDocument/2006/relationships/image" Target="../media/image92.png"/><Relationship Id="rId15" Type="http://schemas.openxmlformats.org/officeDocument/2006/relationships/image" Target="../media/image93.svg"/><Relationship Id="rId16" Type="http://schemas.openxmlformats.org/officeDocument/2006/relationships/image" Target="../media/image94.png"/><Relationship Id="rId17" Type="http://schemas.openxmlformats.org/officeDocument/2006/relationships/image" Target="../media/image95.svg"/><Relationship Id="rId18" Type="http://schemas.openxmlformats.org/officeDocument/2006/relationships/image" Target="../media/image96.png"/><Relationship Id="rId19" Type="http://schemas.openxmlformats.org/officeDocument/2006/relationships/image" Target="../media/image97.svg"/><Relationship Id="rId20" Type="http://schemas.openxmlformats.org/officeDocument/2006/relationships/image" Target="../media/image98.png"/><Relationship Id="rId21" Type="http://schemas.openxmlformats.org/officeDocument/2006/relationships/image" Target="../media/image99.svg"/><Relationship Id="rId22" Type="http://schemas.openxmlformats.org/officeDocument/2006/relationships/image" Target="../media/image100.png"/><Relationship Id="rId23" Type="http://schemas.openxmlformats.org/officeDocument/2006/relationships/image" Target="../media/image101.svg"/><Relationship Id="rId24" Type="http://schemas.openxmlformats.org/officeDocument/2006/relationships/image" Target="../media/image102.png"/><Relationship Id="rId25" Type="http://schemas.openxmlformats.org/officeDocument/2006/relationships/image" Target="../media/image103.svg"/><Relationship Id="rId26" Type="http://schemas.openxmlformats.org/officeDocument/2006/relationships/image" Target="../media/image104.png"/><Relationship Id="rId27" Type="http://schemas.openxmlformats.org/officeDocument/2006/relationships/image" Target="../media/image105.sv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Relationship Id="rId9" Type="http://schemas.openxmlformats.org/officeDocument/2006/relationships/image" Target="../media/image10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hyperlink" Target="https://luishenriquetsi.github.io/wefind/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jpeg"/><Relationship Id="rId4" Type="http://schemas.openxmlformats.org/officeDocument/2006/relationships/image" Target="../media/image6.jpeg"/><Relationship Id="rId5" Type="http://schemas.openxmlformats.org/officeDocument/2006/relationships/image" Target="../media/image7.jpeg"/><Relationship Id="rId6" Type="http://schemas.openxmlformats.org/officeDocument/2006/relationships/image" Target="../media/image8.jpeg"/><Relationship Id="rId7" Type="http://schemas.openxmlformats.org/officeDocument/2006/relationships/image" Target="../media/image9.jpeg"/><Relationship Id="rId8" Type="http://schemas.openxmlformats.org/officeDocument/2006/relationships/image" Target="../media/image10.jpe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31.png"/><Relationship Id="rId11" Type="http://schemas.openxmlformats.org/officeDocument/2006/relationships/image" Target="../media/image32.svg"/><Relationship Id="rId12" Type="http://schemas.openxmlformats.org/officeDocument/2006/relationships/image" Target="../media/image33.png"/><Relationship Id="rId13" Type="http://schemas.openxmlformats.org/officeDocument/2006/relationships/image" Target="../media/image34.sv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svg"/><Relationship Id="rId18" Type="http://schemas.openxmlformats.org/officeDocument/2006/relationships/image" Target="../media/image26.png"/><Relationship Id="rId19" Type="http://schemas.openxmlformats.org/officeDocument/2006/relationships/image" Target="../media/image29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image" Target="../media/image5.jpeg"/><Relationship Id="rId5" Type="http://schemas.openxmlformats.org/officeDocument/2006/relationships/image" Target="../media/image6.jpeg"/><Relationship Id="rId6" Type="http://schemas.openxmlformats.org/officeDocument/2006/relationships/image" Target="../media/image7.jpeg"/><Relationship Id="rId7" Type="http://schemas.openxmlformats.org/officeDocument/2006/relationships/image" Target="../media/image8.jpeg"/><Relationship Id="rId8" Type="http://schemas.openxmlformats.org/officeDocument/2006/relationships/image" Target="../media/image9.jpeg"/><Relationship Id="rId9" Type="http://schemas.openxmlformats.org/officeDocument/2006/relationships/image" Target="../media/image10.jpeg"/><Relationship Id="rId10" Type="http://schemas.openxmlformats.org/officeDocument/2006/relationships/image" Target="../media/image31.png"/><Relationship Id="rId11" Type="http://schemas.openxmlformats.org/officeDocument/2006/relationships/image" Target="../media/image32.svg"/><Relationship Id="rId12" Type="http://schemas.openxmlformats.org/officeDocument/2006/relationships/image" Target="../media/image33.png"/><Relationship Id="rId13" Type="http://schemas.openxmlformats.org/officeDocument/2006/relationships/image" Target="../media/image34.svg"/><Relationship Id="rId14" Type="http://schemas.openxmlformats.org/officeDocument/2006/relationships/image" Target="../media/image35.png"/><Relationship Id="rId15" Type="http://schemas.openxmlformats.org/officeDocument/2006/relationships/image" Target="../media/image36.png"/><Relationship Id="rId16" Type="http://schemas.openxmlformats.org/officeDocument/2006/relationships/image" Target="../media/image37.png"/><Relationship Id="rId17" Type="http://schemas.openxmlformats.org/officeDocument/2006/relationships/image" Target="../media/image38.svg"/><Relationship Id="rId18" Type="http://schemas.openxmlformats.org/officeDocument/2006/relationships/image" Target="../media/image26.png"/><Relationship Id="rId19" Type="http://schemas.openxmlformats.org/officeDocument/2006/relationships/image" Target="../media/image29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53561" y="147123"/>
            <a:ext cx="1557242" cy="1470184"/>
            <a:chOff x="0" y="0"/>
            <a:chExt cx="2076323" cy="196024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6323" cy="1960245"/>
            </a:xfrm>
            <a:custGeom>
              <a:avLst/>
              <a:gdLst/>
              <a:ahLst/>
              <a:cxnLst/>
              <a:rect r="r" b="b" t="t" l="l"/>
              <a:pathLst>
                <a:path h="1960245" w="2076323">
                  <a:moveTo>
                    <a:pt x="0" y="0"/>
                  </a:moveTo>
                  <a:lnTo>
                    <a:pt x="2076323" y="0"/>
                  </a:lnTo>
                  <a:lnTo>
                    <a:pt x="2076323" y="1960245"/>
                  </a:lnTo>
                  <a:lnTo>
                    <a:pt x="0" y="19602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906750" y="362026"/>
            <a:ext cx="2184273" cy="1333309"/>
            <a:chOff x="0" y="0"/>
            <a:chExt cx="2912364" cy="1777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912364" cy="1777746"/>
            </a:xfrm>
            <a:custGeom>
              <a:avLst/>
              <a:gdLst/>
              <a:ahLst/>
              <a:cxnLst/>
              <a:rect r="r" b="b" t="t" l="l"/>
              <a:pathLst>
                <a:path h="1777746" w="2912364">
                  <a:moveTo>
                    <a:pt x="0" y="0"/>
                  </a:moveTo>
                  <a:lnTo>
                    <a:pt x="2912364" y="0"/>
                  </a:lnTo>
                  <a:lnTo>
                    <a:pt x="2912364" y="1777746"/>
                  </a:lnTo>
                  <a:lnTo>
                    <a:pt x="0" y="17777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" r="0" b="-2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32202" y="4846958"/>
            <a:ext cx="15823606" cy="11778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99"/>
              </a:lnSpc>
            </a:pPr>
            <a:r>
              <a:rPr lang="en-US" sz="3999" b="true">
                <a:solidFill>
                  <a:srgbClr val="1B2A1F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WeFIND: Aplicativo móvel para divulgação de animais perdidos, encontrados e para adoção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10832" y="409899"/>
            <a:ext cx="13922893" cy="41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INSTITUTO FEDERAL DE EDUCAÇÃO, CIÊNCIA E TECNOLOGIA SUL-RIO-GRANDENSE - CAMPUS PELOTAS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3880" y="7930515"/>
            <a:ext cx="13525500" cy="72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Aluno: Luis Henrique Fonseca Victoria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381250" y="8329936"/>
            <a:ext cx="13525500" cy="72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Orientadora: Prof.ª Me. Marla Cristina da Silva Sopeña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91851" y="8696325"/>
            <a:ext cx="13525500" cy="7226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8"/>
              </a:lnSpc>
            </a:pPr>
            <a:r>
              <a:rPr lang="en-US" sz="2298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Coorientadora: Prof.ª Dra. Adriane Pires Rodrigues Ramires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354266" y="777459"/>
            <a:ext cx="13600671" cy="416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88"/>
              </a:lnSpc>
            </a:pPr>
            <a:r>
              <a:rPr lang="en-US" sz="2100">
                <a:solidFill>
                  <a:srgbClr val="1B2A1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CURSO SUPERIOR DE TECNOLOGIA EM SISTEMAS PARA INTERNET | 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28700" y="-878420"/>
            <a:ext cx="16459200" cy="3814241"/>
            <a:chOff x="0" y="0"/>
            <a:chExt cx="21945600" cy="508565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5085652"/>
            </a:xfrm>
            <a:custGeom>
              <a:avLst/>
              <a:gdLst/>
              <a:ahLst/>
              <a:cxnLst/>
              <a:rect r="r" b="b" t="t" l="l"/>
              <a:pathLst>
                <a:path h="50856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652"/>
                  </a:lnTo>
                  <a:lnTo>
                    <a:pt x="0" y="508565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69042" r="0" b="87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5095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Roteiro de Apresentação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14400" y="2560320"/>
            <a:ext cx="1828800" cy="1463040"/>
            <a:chOff x="0" y="0"/>
            <a:chExt cx="2438400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914400" y="2553176"/>
            <a:ext cx="1828800" cy="1470184"/>
            <a:chOff x="0" y="0"/>
            <a:chExt cx="2438400" cy="19602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" y="2546033"/>
            <a:ext cx="1828800" cy="1477327"/>
            <a:chOff x="0" y="0"/>
            <a:chExt cx="2438400" cy="19697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14400" y="2538889"/>
            <a:ext cx="1828800" cy="1484471"/>
            <a:chOff x="0" y="0"/>
            <a:chExt cx="2438400" cy="19792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14400" y="2531745"/>
            <a:ext cx="1828800" cy="1491615"/>
            <a:chOff x="0" y="0"/>
            <a:chExt cx="2438400" cy="19888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2524601"/>
            <a:ext cx="1828800" cy="1498759"/>
            <a:chOff x="0" y="0"/>
            <a:chExt cx="2438400" cy="1998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914400" y="2517458"/>
            <a:ext cx="1828800" cy="1505902"/>
            <a:chOff x="0" y="0"/>
            <a:chExt cx="2438400" cy="2007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4400" y="2510314"/>
            <a:ext cx="1828800" cy="1513046"/>
            <a:chOff x="0" y="0"/>
            <a:chExt cx="2438400" cy="20173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01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2926080" y="2667000"/>
            <a:ext cx="60350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926080" y="3115056"/>
            <a:ext cx="4981164" cy="7622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problema e objetivos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9326880" y="2560320"/>
            <a:ext cx="1828800" cy="1463040"/>
            <a:chOff x="0" y="0"/>
            <a:chExt cx="2438400" cy="19507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9326880" y="2553176"/>
            <a:ext cx="1828800" cy="1470184"/>
            <a:chOff x="0" y="0"/>
            <a:chExt cx="2438400" cy="196024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9326880" y="2546033"/>
            <a:ext cx="1828800" cy="1477327"/>
            <a:chOff x="0" y="0"/>
            <a:chExt cx="2438400" cy="196977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538889"/>
            <a:ext cx="1828800" cy="1484471"/>
            <a:chOff x="0" y="0"/>
            <a:chExt cx="2438400" cy="197929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9326880" y="2531745"/>
            <a:ext cx="1828800" cy="1491615"/>
            <a:chOff x="0" y="0"/>
            <a:chExt cx="2438400" cy="19888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9326880" y="2524601"/>
            <a:ext cx="1828800" cy="1498759"/>
            <a:chOff x="0" y="0"/>
            <a:chExt cx="2438400" cy="1998345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326880" y="2517458"/>
            <a:ext cx="1828800" cy="1505902"/>
            <a:chOff x="0" y="0"/>
            <a:chExt cx="2438400" cy="200787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9326880" y="2510314"/>
            <a:ext cx="1828800" cy="1513046"/>
            <a:chOff x="0" y="0"/>
            <a:chExt cx="2438400" cy="2017395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02</a:t>
              </a:r>
            </a:p>
          </p:txBody>
        </p:sp>
      </p:grpSp>
      <p:sp>
        <p:nvSpPr>
          <p:cNvPr name="TextBox 55" id="55"/>
          <p:cNvSpPr txBox="true"/>
          <p:nvPr/>
        </p:nvSpPr>
        <p:spPr>
          <a:xfrm rot="0">
            <a:off x="11338560" y="2667000"/>
            <a:ext cx="6035040" cy="5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 e p</a:t>
            </a: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esquisa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338560" y="3115056"/>
            <a:ext cx="6035040" cy="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Metodologia, pesquisa de campo e similares</a:t>
            </a: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914400" y="4846320"/>
            <a:ext cx="1828800" cy="1463040"/>
            <a:chOff x="0" y="0"/>
            <a:chExt cx="2438400" cy="195072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14400" y="4839176"/>
            <a:ext cx="1828800" cy="1470184"/>
            <a:chOff x="0" y="0"/>
            <a:chExt cx="2438400" cy="1960245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14400" y="4832032"/>
            <a:ext cx="1828800" cy="1477327"/>
            <a:chOff x="0" y="0"/>
            <a:chExt cx="2438400" cy="196977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914400" y="4824889"/>
            <a:ext cx="1828800" cy="1484471"/>
            <a:chOff x="0" y="0"/>
            <a:chExt cx="2438400" cy="197929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14400" y="4817745"/>
            <a:ext cx="1828800" cy="1491615"/>
            <a:chOff x="0" y="0"/>
            <a:chExt cx="2438400" cy="198882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914400" y="4810601"/>
            <a:ext cx="1828800" cy="1498759"/>
            <a:chOff x="0" y="0"/>
            <a:chExt cx="2438400" cy="1998345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914400" y="4803458"/>
            <a:ext cx="1828800" cy="1505902"/>
            <a:chOff x="0" y="0"/>
            <a:chExt cx="2438400" cy="200787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914400" y="4796314"/>
            <a:ext cx="1828800" cy="1513046"/>
            <a:chOff x="0" y="0"/>
            <a:chExt cx="2438400" cy="201739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03</a:t>
              </a:r>
            </a:p>
          </p:txBody>
        </p:sp>
      </p:grpSp>
      <p:sp>
        <p:nvSpPr>
          <p:cNvPr name="TextBox 74" id="74"/>
          <p:cNvSpPr txBox="true"/>
          <p:nvPr/>
        </p:nvSpPr>
        <p:spPr>
          <a:xfrm rot="0">
            <a:off x="2926080" y="4953000"/>
            <a:ext cx="60350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2926080" y="5401056"/>
            <a:ext cx="6035040" cy="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76" id="76"/>
          <p:cNvGrpSpPr/>
          <p:nvPr/>
        </p:nvGrpSpPr>
        <p:grpSpPr>
          <a:xfrm rot="0">
            <a:off x="9326880" y="4846320"/>
            <a:ext cx="1828800" cy="1463040"/>
            <a:chOff x="0" y="0"/>
            <a:chExt cx="2438400" cy="195072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9326880" y="4839176"/>
            <a:ext cx="1828800" cy="1470184"/>
            <a:chOff x="0" y="0"/>
            <a:chExt cx="2438400" cy="1960245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9326880" y="4832032"/>
            <a:ext cx="1828800" cy="1477327"/>
            <a:chOff x="0" y="0"/>
            <a:chExt cx="2438400" cy="196977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9326880" y="4824889"/>
            <a:ext cx="1828800" cy="1484471"/>
            <a:chOff x="0" y="0"/>
            <a:chExt cx="2438400" cy="1979295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9326880" y="4817745"/>
            <a:ext cx="1828800" cy="1491615"/>
            <a:chOff x="0" y="0"/>
            <a:chExt cx="2438400" cy="198882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326880" y="4810601"/>
            <a:ext cx="1828800" cy="1498759"/>
            <a:chOff x="0" y="0"/>
            <a:chExt cx="2438400" cy="1998345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9326880" y="4803458"/>
            <a:ext cx="1828800" cy="1505902"/>
            <a:chOff x="0" y="0"/>
            <a:chExt cx="2438400" cy="200787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9326880" y="4796314"/>
            <a:ext cx="1828800" cy="1513046"/>
            <a:chOff x="0" y="0"/>
            <a:chExt cx="2438400" cy="2017395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04</a:t>
              </a:r>
            </a:p>
          </p:txBody>
        </p:sp>
      </p:grpSp>
      <p:sp>
        <p:nvSpPr>
          <p:cNvPr name="TextBox 93" id="93"/>
          <p:cNvSpPr txBox="true"/>
          <p:nvPr/>
        </p:nvSpPr>
        <p:spPr>
          <a:xfrm rot="0">
            <a:off x="11338560" y="4953000"/>
            <a:ext cx="603504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1338560" y="5401056"/>
            <a:ext cx="6035040" cy="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design e demonstração em vídeo</a:t>
            </a:r>
          </a:p>
        </p:txBody>
      </p:sp>
      <p:grpSp>
        <p:nvGrpSpPr>
          <p:cNvPr name="Group 95" id="95"/>
          <p:cNvGrpSpPr/>
          <p:nvPr/>
        </p:nvGrpSpPr>
        <p:grpSpPr>
          <a:xfrm rot="0">
            <a:off x="914400" y="7132320"/>
            <a:ext cx="1828800" cy="1463040"/>
            <a:chOff x="0" y="0"/>
            <a:chExt cx="2438400" cy="195072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97" id="97"/>
          <p:cNvGrpSpPr/>
          <p:nvPr/>
        </p:nvGrpSpPr>
        <p:grpSpPr>
          <a:xfrm rot="0">
            <a:off x="914400" y="7125176"/>
            <a:ext cx="1828800" cy="1470184"/>
            <a:chOff x="0" y="0"/>
            <a:chExt cx="2438400" cy="1960245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914400" y="7118032"/>
            <a:ext cx="1828800" cy="1477327"/>
            <a:chOff x="0" y="0"/>
            <a:chExt cx="2438400" cy="196977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914400" y="7110889"/>
            <a:ext cx="1828800" cy="1484471"/>
            <a:chOff x="0" y="0"/>
            <a:chExt cx="2438400" cy="1979295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914400" y="7103745"/>
            <a:ext cx="1828800" cy="1491615"/>
            <a:chOff x="0" y="0"/>
            <a:chExt cx="2438400" cy="198882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14400" y="7096601"/>
            <a:ext cx="1828800" cy="1498759"/>
            <a:chOff x="0" y="0"/>
            <a:chExt cx="2438400" cy="1998345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914400" y="7089457"/>
            <a:ext cx="1828800" cy="1505902"/>
            <a:chOff x="0" y="0"/>
            <a:chExt cx="2438400" cy="200787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914400" y="7082314"/>
            <a:ext cx="1828800" cy="1513046"/>
            <a:chOff x="0" y="0"/>
            <a:chExt cx="2438400" cy="2017395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05</a:t>
              </a:r>
            </a:p>
          </p:txBody>
        </p:sp>
      </p:grpSp>
      <p:sp>
        <p:nvSpPr>
          <p:cNvPr name="TextBox 112" id="112"/>
          <p:cNvSpPr txBox="true"/>
          <p:nvPr/>
        </p:nvSpPr>
        <p:spPr>
          <a:xfrm rot="0">
            <a:off x="2926080" y="7239000"/>
            <a:ext cx="6035040" cy="5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Próximas etapas</a:t>
            </a: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/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2926080" y="7687056"/>
            <a:ext cx="6035040" cy="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9326880" y="7132320"/>
            <a:ext cx="1828800" cy="1463040"/>
            <a:chOff x="0" y="0"/>
            <a:chExt cx="2438400" cy="195072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24384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52714" t="0" r="-52714" b="0"/>
              </a:stretch>
            </a:blip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326880" y="7125176"/>
            <a:ext cx="1828800" cy="1470184"/>
            <a:chOff x="0" y="0"/>
            <a:chExt cx="2438400" cy="1960245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24384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53215" t="0" r="-53216" b="0"/>
              </a:stretch>
            </a:blipFill>
          </p:spPr>
        </p:sp>
      </p:grpSp>
      <p:grpSp>
        <p:nvGrpSpPr>
          <p:cNvPr name="Group 118" id="118"/>
          <p:cNvGrpSpPr/>
          <p:nvPr/>
        </p:nvGrpSpPr>
        <p:grpSpPr>
          <a:xfrm rot="0">
            <a:off x="9326880" y="7118032"/>
            <a:ext cx="1828800" cy="1477327"/>
            <a:chOff x="0" y="0"/>
            <a:chExt cx="2438400" cy="196977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24384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53717" t="0" r="-53717" b="0"/>
              </a:stretch>
            </a:blipFill>
          </p:spPr>
        </p:sp>
      </p:grpSp>
      <p:grpSp>
        <p:nvGrpSpPr>
          <p:cNvPr name="Group 120" id="120"/>
          <p:cNvGrpSpPr/>
          <p:nvPr/>
        </p:nvGrpSpPr>
        <p:grpSpPr>
          <a:xfrm rot="0">
            <a:off x="9326880" y="7110889"/>
            <a:ext cx="1828800" cy="1484471"/>
            <a:chOff x="0" y="0"/>
            <a:chExt cx="2438400" cy="1979295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4384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54218" t="0" r="-54218" b="0"/>
              </a:stretch>
            </a:blip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9326880" y="7103745"/>
            <a:ext cx="1828800" cy="1491615"/>
            <a:chOff x="0" y="0"/>
            <a:chExt cx="2438400" cy="1988820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24384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4720" t="0" r="-54720" b="0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9326880" y="7096601"/>
            <a:ext cx="1828800" cy="1498759"/>
            <a:chOff x="0" y="0"/>
            <a:chExt cx="2438400" cy="1998345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24384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55221" t="0" r="-55221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9326880" y="7089457"/>
            <a:ext cx="1828800" cy="1505902"/>
            <a:chOff x="0" y="0"/>
            <a:chExt cx="2438400" cy="2007870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4384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5723" t="0" r="-55723" b="0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9326880" y="7082314"/>
            <a:ext cx="1828800" cy="1513046"/>
            <a:chOff x="0" y="0"/>
            <a:chExt cx="2438400" cy="2017395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4384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56151" t="0" r="-56151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24384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sz="56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06</a:t>
              </a:r>
            </a:p>
          </p:txBody>
        </p:sp>
      </p:grpSp>
      <p:sp>
        <p:nvSpPr>
          <p:cNvPr name="TextBox 131" id="131"/>
          <p:cNvSpPr txBox="true"/>
          <p:nvPr/>
        </p:nvSpPr>
        <p:spPr>
          <a:xfrm rot="0">
            <a:off x="11338560" y="7239000"/>
            <a:ext cx="6035040" cy="523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11338560" y="7687056"/>
            <a:ext cx="6035040" cy="400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133" id="13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34" id="13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35" id="13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136" id="13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137" id="13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39" id="13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41" id="14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150" id="150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Introdução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Motivação, p</a:t>
            </a: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roblema e objetivos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Uma busca real virou um objetivo claro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4089559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5461159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Motivação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5925979"/>
            <a:ext cx="4937760" cy="15336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Acompanhei de perto a busca de uma pessoa próxima pelo se</a:t>
            </a: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 animal desaparecido, feita pelas redes sociais.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43600" y="4247674"/>
            <a:ext cx="548640" cy="1097280"/>
            <a:chOff x="0" y="0"/>
            <a:chExt cx="7315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4154805"/>
            <a:ext cx="548640" cy="1190149"/>
            <a:chOff x="0" y="0"/>
            <a:chExt cx="731520" cy="1586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4061936"/>
            <a:ext cx="548640" cy="1283018"/>
            <a:chOff x="0" y="0"/>
            <a:chExt cx="731520" cy="1710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3969068"/>
            <a:ext cx="548640" cy="1375886"/>
            <a:chOff x="0" y="0"/>
            <a:chExt cx="731520" cy="18345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3876199"/>
            <a:ext cx="548640" cy="1468755"/>
            <a:chOff x="0" y="0"/>
            <a:chExt cx="731520" cy="1958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5943600" y="3783330"/>
            <a:ext cx="548640" cy="1561624"/>
            <a:chOff x="0" y="0"/>
            <a:chExt cx="731520" cy="20821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5943600" y="3690461"/>
            <a:ext cx="548640" cy="1654492"/>
            <a:chOff x="0" y="0"/>
            <a:chExt cx="731520" cy="22059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6583680" y="4089559"/>
            <a:ext cx="1828800" cy="11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583680" y="5461159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 que observei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83680" y="5925979"/>
            <a:ext cx="4937760" cy="19052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Montar o cartaz levava tempo, as p</a:t>
            </a: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ublicações sumiam em poucas horas e, se faltava alguma informação, não dava para corrigir o que já estava sendo compartilhado.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612880" y="4247674"/>
            <a:ext cx="548640" cy="1097280"/>
            <a:chOff x="0" y="0"/>
            <a:chExt cx="73152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4154805"/>
            <a:ext cx="548640" cy="1190149"/>
            <a:chOff x="0" y="0"/>
            <a:chExt cx="731520" cy="15868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4061936"/>
            <a:ext cx="548640" cy="1283018"/>
            <a:chOff x="0" y="0"/>
            <a:chExt cx="731520" cy="1710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3969068"/>
            <a:ext cx="548640" cy="1375886"/>
            <a:chOff x="0" y="0"/>
            <a:chExt cx="731520" cy="18345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2880" y="3876199"/>
            <a:ext cx="548640" cy="1468755"/>
            <a:chOff x="0" y="0"/>
            <a:chExt cx="731520" cy="19583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612880" y="3783330"/>
            <a:ext cx="548640" cy="1561624"/>
            <a:chOff x="0" y="0"/>
            <a:chExt cx="731520" cy="20821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612880" y="3690461"/>
            <a:ext cx="548640" cy="1654492"/>
            <a:chOff x="0" y="0"/>
            <a:chExt cx="731520" cy="22059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54" id="54"/>
          <p:cNvSpPr txBox="true"/>
          <p:nvPr/>
        </p:nvSpPr>
        <p:spPr>
          <a:xfrm rot="0">
            <a:off x="12252960" y="4089559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252960" y="5461159"/>
            <a:ext cx="512064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O que fal</a:t>
            </a: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tava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52960" y="5925979"/>
            <a:ext cx="4937760" cy="1162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U</a:t>
            </a: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 forma rápida de divulgar e manter a informação sempre atualizada.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-444080"/>
            <a:ext cx="16459200" cy="3814241"/>
            <a:chOff x="0" y="0"/>
            <a:chExt cx="21945600" cy="50856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085655"/>
            </a:xfrm>
            <a:custGeom>
              <a:avLst/>
              <a:gdLst/>
              <a:ahLst/>
              <a:cxnLst/>
              <a:rect r="r" b="b" t="t" l="l"/>
              <a:pathLst>
                <a:path h="508565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5655"/>
                  </a:lnTo>
                  <a:lnTo>
                    <a:pt x="0" y="5085655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9135" r="0" b="972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509517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Panorama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2148840"/>
            <a:ext cx="7955280" cy="6720840"/>
            <a:chOff x="0" y="0"/>
            <a:chExt cx="10607040" cy="89611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71600" y="2440305"/>
            <a:ext cx="70408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ESTUDOS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71600" y="3108960"/>
            <a:ext cx="3200400" cy="2468880"/>
            <a:chOff x="0" y="0"/>
            <a:chExt cx="4267200" cy="32918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8977" t="0" r="-48977" b="0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267200" cy="3301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33,8 mi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572000" y="3108960"/>
            <a:ext cx="3840480" cy="2468880"/>
            <a:chOff x="0" y="0"/>
            <a:chExt cx="5120640" cy="3291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1206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5120640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lares brasileiros têm cachorro, e 14,1 milhões têm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IBGE, 2020</a:t>
              </a:r>
            </a:p>
          </p:txBody>
        </p:sp>
      </p:grpSp>
      <p:sp>
        <p:nvSpPr>
          <p:cNvPr name="AutoShape 42" id="42"/>
          <p:cNvSpPr/>
          <p:nvPr/>
        </p:nvSpPr>
        <p:spPr>
          <a:xfrm rot="6180">
            <a:off x="1365247" y="5682806"/>
            <a:ext cx="705359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371600" y="5852160"/>
            <a:ext cx="3200400" cy="2468880"/>
            <a:chOff x="0" y="0"/>
            <a:chExt cx="4267200" cy="32918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267200" cy="3291840"/>
            </a:xfrm>
            <a:custGeom>
              <a:avLst/>
              <a:gdLst/>
              <a:ahLst/>
              <a:cxnLst/>
              <a:rect r="r" b="b" t="t" l="l"/>
              <a:pathLst>
                <a:path h="32918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48977" t="0" r="-48977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4267200" cy="3301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4572000" y="5852160"/>
            <a:ext cx="3840480" cy="2468880"/>
            <a:chOff x="0" y="0"/>
            <a:chExt cx="5120640" cy="3291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120639" cy="3291840"/>
            </a:xfrm>
            <a:custGeom>
              <a:avLst/>
              <a:gdLst/>
              <a:ahLst/>
              <a:cxnLst/>
              <a:rect r="r" b="b" t="t" l="l"/>
              <a:pathLst>
                <a:path h="3291840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3291840"/>
                  </a:lnTo>
                  <a:lnTo>
                    <a:pt x="0" y="32918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2480" t="0" r="-32480" b="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5120640" cy="33299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dos tutores já perderam um cão ou gato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EUA · Weiss et al., 2012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18320" y="2148840"/>
            <a:ext cx="7955280" cy="6720840"/>
            <a:chOff x="0" y="0"/>
            <a:chExt cx="10607040" cy="89611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607039" cy="8961120"/>
            </a:xfrm>
            <a:custGeom>
              <a:avLst/>
              <a:gdLst/>
              <a:ahLst/>
              <a:cxnLst/>
              <a:rect r="r" b="b" t="t" l="l"/>
              <a:pathLst>
                <a:path h="8961120" w="10607039">
                  <a:moveTo>
                    <a:pt x="0" y="358394"/>
                  </a:moveTo>
                  <a:cubicBezTo>
                    <a:pt x="0" y="160528"/>
                    <a:pt x="160528" y="0"/>
                    <a:pt x="358394" y="0"/>
                  </a:cubicBezTo>
                  <a:lnTo>
                    <a:pt x="10248646" y="0"/>
                  </a:lnTo>
                  <a:cubicBezTo>
                    <a:pt x="10446639" y="0"/>
                    <a:pt x="10607039" y="160528"/>
                    <a:pt x="10607039" y="358394"/>
                  </a:cubicBezTo>
                  <a:lnTo>
                    <a:pt x="10607039" y="8602726"/>
                  </a:lnTo>
                  <a:cubicBezTo>
                    <a:pt x="10607039" y="8800719"/>
                    <a:pt x="10446512" y="8961120"/>
                    <a:pt x="10248646" y="8961120"/>
                  </a:cubicBezTo>
                  <a:lnTo>
                    <a:pt x="358394" y="8961120"/>
                  </a:lnTo>
                  <a:cubicBezTo>
                    <a:pt x="160528" y="8961120"/>
                    <a:pt x="0" y="8800592"/>
                    <a:pt x="0" y="8602726"/>
                  </a:cubicBezTo>
                  <a:close/>
                </a:path>
              </a:pathLst>
            </a:custGeom>
            <a:solidFill>
              <a:srgbClr val="F8EFE8"/>
            </a:solidFill>
          </p:spPr>
        </p:sp>
      </p:grpSp>
      <p:sp>
        <p:nvSpPr>
          <p:cNvPr name="TextBox 51" id="51"/>
          <p:cNvSpPr txBox="true"/>
          <p:nvPr/>
        </p:nvSpPr>
        <p:spPr>
          <a:xfrm rot="0">
            <a:off x="9875520" y="2440305"/>
            <a:ext cx="704088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DE CAMPO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875520" y="3108960"/>
            <a:ext cx="3200400" cy="1554480"/>
            <a:chOff x="0" y="0"/>
            <a:chExt cx="4267200" cy="2072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426720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3075920" y="3108960"/>
            <a:ext cx="3840480" cy="1554480"/>
            <a:chOff x="0" y="0"/>
            <a:chExt cx="5120640" cy="20726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1206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512064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não usam coleira, plaquinha ou microchip no animal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23 de 48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6180">
            <a:off x="9869167" y="4768406"/>
            <a:ext cx="705359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9875520" y="4937760"/>
            <a:ext cx="3200400" cy="1554480"/>
            <a:chOff x="0" y="0"/>
            <a:chExt cx="4267200" cy="2072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426720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32%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3075920" y="4937760"/>
            <a:ext cx="3840480" cy="1554480"/>
            <a:chOff x="0" y="0"/>
            <a:chExt cx="5120640" cy="20726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1206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512064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 quem já perdeu um animal nunca o reencontrou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8 de 25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6180">
            <a:off x="9869167" y="6597206"/>
            <a:ext cx="7053596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875520" y="6766560"/>
            <a:ext cx="3200400" cy="1554480"/>
            <a:chOff x="0" y="0"/>
            <a:chExt cx="4267200" cy="20726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2672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4267200">
                  <a:moveTo>
                    <a:pt x="0" y="0"/>
                  </a:moveTo>
                  <a:lnTo>
                    <a:pt x="4267200" y="0"/>
                  </a:lnTo>
                  <a:lnTo>
                    <a:pt x="42672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2318" t="0" r="-12318" b="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4267200" cy="20821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37,5%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3075920" y="6766560"/>
            <a:ext cx="3840480" cy="1554480"/>
            <a:chOff x="0" y="0"/>
            <a:chExt cx="5120640" cy="207264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120639" cy="2072640"/>
            </a:xfrm>
            <a:custGeom>
              <a:avLst/>
              <a:gdLst/>
              <a:ahLst/>
              <a:cxnLst/>
              <a:rect r="r" b="b" t="t" l="l"/>
              <a:pathLst>
                <a:path h="2072640" w="5120639">
                  <a:moveTo>
                    <a:pt x="0" y="0"/>
                  </a:moveTo>
                  <a:lnTo>
                    <a:pt x="5120639" y="0"/>
                  </a:lnTo>
                  <a:lnTo>
                    <a:pt x="5120639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932" t="0" r="-1932" b="0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38100"/>
              <a:ext cx="512064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já viram golpes ou trotes nas divulgações</a:t>
              </a:r>
            </a:p>
            <a:p>
              <a:pPr algn="l">
                <a:lnSpc>
                  <a:spcPts val="1680"/>
                </a:lnSpc>
              </a:pPr>
              <a:r>
                <a:rPr lang="en-US" sz="14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Pesquisa de campo · 18 de 48</a:t>
              </a:r>
            </a:p>
          </p:txBody>
        </p:sp>
      </p:grpSp>
      <p:sp>
        <p:nvSpPr>
          <p:cNvPr name="TextBox 72" id="72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  INTRODUÇÃO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Objetivos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14400" y="2148840"/>
            <a:ext cx="16459200" cy="1600200"/>
            <a:chOff x="0" y="0"/>
            <a:chExt cx="21945600" cy="213360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0" cy="2133600"/>
            </a:xfrm>
            <a:custGeom>
              <a:avLst/>
              <a:gdLst/>
              <a:ahLst/>
              <a:cxnLst/>
              <a:rect r="r" b="b" t="t" l="l"/>
              <a:pathLst>
                <a:path h="2133600" w="21945600">
                  <a:moveTo>
                    <a:pt x="0" y="213360"/>
                  </a:moveTo>
                  <a:cubicBezTo>
                    <a:pt x="0" y="95504"/>
                    <a:pt x="95504" y="0"/>
                    <a:pt x="213360" y="0"/>
                  </a:cubicBezTo>
                  <a:lnTo>
                    <a:pt x="21732239" y="0"/>
                  </a:lnTo>
                  <a:cubicBezTo>
                    <a:pt x="21850096" y="0"/>
                    <a:pt x="21945600" y="95504"/>
                    <a:pt x="21945600" y="213360"/>
                  </a:cubicBezTo>
                  <a:lnTo>
                    <a:pt x="21945600" y="1920240"/>
                  </a:lnTo>
                  <a:cubicBezTo>
                    <a:pt x="21945600" y="2038096"/>
                    <a:pt x="21850096" y="2133600"/>
                    <a:pt x="21732239" y="2133600"/>
                  </a:cubicBezTo>
                  <a:lnTo>
                    <a:pt x="213360" y="2133600"/>
                  </a:lnTo>
                  <a:cubicBezTo>
                    <a:pt x="95504" y="2133600"/>
                    <a:pt x="0" y="2038096"/>
                    <a:pt x="0" y="192024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371600" y="2377440"/>
            <a:ext cx="2926080" cy="1143000"/>
            <a:chOff x="0" y="0"/>
            <a:chExt cx="3901440" cy="15240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90144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901440">
                  <a:moveTo>
                    <a:pt x="0" y="0"/>
                  </a:moveTo>
                  <a:lnTo>
                    <a:pt x="3901440" y="0"/>
                  </a:lnTo>
                  <a:lnTo>
                    <a:pt x="3901440" y="1524000"/>
                  </a:lnTo>
                  <a:lnTo>
                    <a:pt x="0" y="152400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118" t="0" r="-118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47625"/>
              <a:ext cx="3901440" cy="15716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99"/>
                </a:lnSpc>
              </a:pPr>
              <a:r>
                <a:rPr lang="en-US" sz="1999" b="true">
                  <a:solidFill>
                    <a:srgbClr val="E6C9B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OBJETIVO GERAL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4206240" y="2331720"/>
            <a:ext cx="12710160" cy="1234440"/>
            <a:chOff x="0" y="0"/>
            <a:chExt cx="16946880" cy="16459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69468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16946880">
                  <a:moveTo>
                    <a:pt x="0" y="0"/>
                  </a:moveTo>
                  <a:lnTo>
                    <a:pt x="16946880" y="0"/>
                  </a:lnTo>
                  <a:lnTo>
                    <a:pt x="169468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50623" r="0" b="-15062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66675"/>
              <a:ext cx="169468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FFFFF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 uma aplicação móvel colaborativa que apoie tutores e a comunidade na divulgação e na busca por animais perdidos e encontrados.</a:t>
              </a: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914400" y="4067175"/>
            <a:ext cx="9144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99"/>
              </a:lnSpc>
            </a:pPr>
            <a:r>
              <a:rPr lang="en-US" sz="19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OBJETIVOS ESPECÍFICOS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906466" y="4655506"/>
            <a:ext cx="3924938" cy="1890398"/>
            <a:chOff x="0" y="0"/>
            <a:chExt cx="5233251" cy="252053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118872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057400" y="4880610"/>
            <a:ext cx="25374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Identificar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 dificuldades de tutores e protetores na divulgação e na busca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5089846" y="4655506"/>
            <a:ext cx="3924938" cy="1890398"/>
            <a:chOff x="0" y="0"/>
            <a:chExt cx="5233251" cy="25205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537210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240780" y="4880610"/>
            <a:ext cx="25374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Analisar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sistemas similares de animais perdidos e encontrados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273226" y="4655506"/>
            <a:ext cx="3924938" cy="1890398"/>
            <a:chOff x="0" y="0"/>
            <a:chExt cx="5233251" cy="252053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955548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0424160" y="4880610"/>
            <a:ext cx="253746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Definir e modelar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requisitos e os diagramas em UML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3456606" y="4655506"/>
            <a:ext cx="3924938" cy="1890398"/>
            <a:chOff x="0" y="0"/>
            <a:chExt cx="5233251" cy="252053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3738860" y="489204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07540" y="4880610"/>
            <a:ext cx="2537460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Projetar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interface do aplicativo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06466" y="6804346"/>
            <a:ext cx="3924938" cy="1890398"/>
            <a:chOff x="0" y="0"/>
            <a:chExt cx="5233251" cy="252053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118872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057400" y="7029450"/>
            <a:ext cx="253746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Implementar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aplicativo móvel com suas funcionalidades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5089846" y="6804346"/>
            <a:ext cx="3924938" cy="1890398"/>
            <a:chOff x="0" y="0"/>
            <a:chExt cx="5233251" cy="252053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537210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240780" y="7029450"/>
            <a:ext cx="2537460" cy="130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mecanismo de correspondência entre anúncios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9273226" y="6804346"/>
            <a:ext cx="3924938" cy="1890398"/>
            <a:chOff x="0" y="0"/>
            <a:chExt cx="5233251" cy="2520531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5233289" cy="2520569"/>
            </a:xfrm>
            <a:custGeom>
              <a:avLst/>
              <a:gdLst/>
              <a:ahLst/>
              <a:cxnLst/>
              <a:rect r="r" b="b" t="t" l="l"/>
              <a:pathLst>
                <a:path h="2520569" w="5233289">
                  <a:moveTo>
                    <a:pt x="0" y="201676"/>
                  </a:moveTo>
                  <a:cubicBezTo>
                    <a:pt x="0" y="90297"/>
                    <a:pt x="90297" y="0"/>
                    <a:pt x="201676" y="0"/>
                  </a:cubicBezTo>
                  <a:lnTo>
                    <a:pt x="5031613" y="0"/>
                  </a:lnTo>
                  <a:cubicBezTo>
                    <a:pt x="5142992" y="0"/>
                    <a:pt x="5233289" y="90297"/>
                    <a:pt x="5233289" y="201676"/>
                  </a:cubicBezTo>
                  <a:lnTo>
                    <a:pt x="5233289" y="2318893"/>
                  </a:lnTo>
                  <a:cubicBezTo>
                    <a:pt x="5233289" y="2430272"/>
                    <a:pt x="5142992" y="2520569"/>
                    <a:pt x="5031613" y="2520569"/>
                  </a:cubicBezTo>
                  <a:lnTo>
                    <a:pt x="201676" y="2520569"/>
                  </a:lnTo>
                  <a:cubicBezTo>
                    <a:pt x="90297" y="2520569"/>
                    <a:pt x="0" y="2430272"/>
                    <a:pt x="0" y="2318893"/>
                  </a:cubicBezTo>
                  <a:close/>
                </a:path>
              </a:pathLst>
            </a:custGeom>
            <a:solidFill>
              <a:srgbClr val="FFFFFF"/>
            </a:solidFill>
            <a:ln w="15875" cap="sq">
              <a:solidFill>
                <a:srgbClr val="C9D4C6"/>
              </a:solidFill>
              <a:prstDash val="solid"/>
              <a:miter/>
            </a:ln>
          </p:spPr>
        </p:sp>
      </p:grpSp>
      <p:sp>
        <p:nvSpPr>
          <p:cNvPr name="TextBox 68" id="68"/>
          <p:cNvSpPr txBox="true"/>
          <p:nvPr/>
        </p:nvSpPr>
        <p:spPr>
          <a:xfrm rot="0">
            <a:off x="9555480" y="7040880"/>
            <a:ext cx="914400" cy="57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59"/>
              </a:lnSpc>
            </a:pPr>
            <a:r>
              <a:rPr lang="en-US" sz="3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0424160" y="7029450"/>
            <a:ext cx="2537460" cy="1009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3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Avaliar</a:t>
            </a:r>
          </a:p>
          <a:p>
            <a:pPr algn="l">
              <a:lnSpc>
                <a:spcPts val="2399"/>
              </a:lnSpc>
            </a:pPr>
            <a:r>
              <a:rPr lang="en-US" sz="19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 usabilidade com tarefas e a escala SUS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Método e p</a:t>
            </a: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esquisa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Metodologia, pesquisa de campo e similares</a:t>
            </a: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/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Metodologia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2211705"/>
            <a:ext cx="731520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O TRABALHO FOI FEITO</a:t>
            </a:r>
          </a:p>
        </p:txBody>
      </p:sp>
      <p:sp>
        <p:nvSpPr>
          <p:cNvPr name="AutoShape 33" id="33"/>
          <p:cNvSpPr/>
          <p:nvPr/>
        </p:nvSpPr>
        <p:spPr>
          <a:xfrm rot="5363640">
            <a:off x="69532" y="4324731"/>
            <a:ext cx="2402977" cy="0"/>
          </a:xfrm>
          <a:prstGeom prst="line">
            <a:avLst/>
          </a:prstGeom>
          <a:ln cap="rnd" w="19050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914400" y="2788920"/>
            <a:ext cx="713232" cy="713232"/>
            <a:chOff x="0" y="0"/>
            <a:chExt cx="950976" cy="95097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920240" y="2715768"/>
            <a:ext cx="6400800" cy="868680"/>
            <a:chOff x="0" y="0"/>
            <a:chExt cx="8534400" cy="1158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47625"/>
              <a:ext cx="8534400" cy="120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Ouvir e pesquisar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Questionário com 48 participantes e análise de 4 plataformas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14400" y="3977640"/>
            <a:ext cx="713232" cy="713232"/>
            <a:chOff x="0" y="0"/>
            <a:chExt cx="950976" cy="95097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920240" y="3904488"/>
            <a:ext cx="6400800" cy="868680"/>
            <a:chOff x="0" y="0"/>
            <a:chExt cx="8534400" cy="11582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47625"/>
              <a:ext cx="8534400" cy="120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Construir o aplicativo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 6 partes, uma de cada vez  →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14400" y="5166360"/>
            <a:ext cx="713232" cy="713232"/>
            <a:chOff x="0" y="0"/>
            <a:chExt cx="950976" cy="95097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950976" cy="950976"/>
            </a:xfrm>
            <a:custGeom>
              <a:avLst/>
              <a:gdLst/>
              <a:ahLst/>
              <a:cxnLst/>
              <a:rect r="r" b="b" t="t" l="l"/>
              <a:pathLst>
                <a:path h="950976" w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950976" cy="9890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79"/>
                </a:lnSpc>
              </a:pPr>
              <a:r>
                <a:rPr lang="en-US" sz="24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920240" y="5093208"/>
            <a:ext cx="6400800" cy="868680"/>
            <a:chOff x="0" y="0"/>
            <a:chExt cx="8534400" cy="115824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8534400" cy="1158240"/>
            </a:xfrm>
            <a:custGeom>
              <a:avLst/>
              <a:gdLst/>
              <a:ahLst/>
              <a:cxnLst/>
              <a:rect r="r" b="b" t="t" l="l"/>
              <a:pathLst>
                <a:path h="1158240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93573" r="0" b="-9357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8534400" cy="120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Testar com tutores</a:t>
              </a:r>
            </a:p>
            <a:p>
              <a:pPr algn="l">
                <a:lnSpc>
                  <a:spcPts val="1919"/>
                </a:lnSpc>
              </a:pPr>
              <a:r>
                <a:rPr lang="en-US" sz="1599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Testes funcionais, segurança e usabilidade (SUS)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14400" y="6400800"/>
            <a:ext cx="7223760" cy="868680"/>
            <a:chOff x="0" y="0"/>
            <a:chExt cx="9631680" cy="11582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96316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631680">
                  <a:moveTo>
                    <a:pt x="0" y="231648"/>
                  </a:moveTo>
                  <a:cubicBezTo>
                    <a:pt x="0" y="103759"/>
                    <a:pt x="103759" y="0"/>
                    <a:pt x="231648" y="0"/>
                  </a:cubicBezTo>
                  <a:lnTo>
                    <a:pt x="9400032" y="0"/>
                  </a:lnTo>
                  <a:cubicBezTo>
                    <a:pt x="9527921" y="0"/>
                    <a:pt x="9631680" y="103759"/>
                    <a:pt x="9631680" y="231648"/>
                  </a:cubicBezTo>
                  <a:lnTo>
                    <a:pt x="9631680" y="926592"/>
                  </a:lnTo>
                  <a:cubicBezTo>
                    <a:pt x="9631680" y="1054481"/>
                    <a:pt x="9527921" y="1158240"/>
                    <a:pt x="9400032" y="1158240"/>
                  </a:cubicBezTo>
                  <a:lnTo>
                    <a:pt x="231648" y="1158240"/>
                  </a:lnTo>
                  <a:cubicBezTo>
                    <a:pt x="103759" y="1158240"/>
                    <a:pt x="0" y="1054481"/>
                    <a:pt x="0" y="926592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88720" y="6400800"/>
            <a:ext cx="6766560" cy="868680"/>
            <a:chOff x="0" y="0"/>
            <a:chExt cx="9022080" cy="1158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022080" cy="1158240"/>
            </a:xfrm>
            <a:custGeom>
              <a:avLst/>
              <a:gdLst/>
              <a:ahLst/>
              <a:cxnLst/>
              <a:rect r="r" b="b" t="t" l="l"/>
              <a:pathLst>
                <a:path h="1158240" w="9022080">
                  <a:moveTo>
                    <a:pt x="0" y="0"/>
                  </a:moveTo>
                  <a:lnTo>
                    <a:pt x="9022080" y="0"/>
                  </a:lnTo>
                  <a:lnTo>
                    <a:pt x="9022080" y="1158240"/>
                  </a:lnTo>
                  <a:lnTo>
                    <a:pt x="0" y="1158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01778" r="0" b="-10177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9022080" cy="1196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40"/>
                </a:lnSpc>
              </a:pPr>
              <a:r>
                <a:rPr lang="en-US" sz="1700" b="true">
                  <a:solidFill>
                    <a:srgbClr val="1B2A1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Pesquisa aplicada, exploratória e descritiva</a:t>
              </a:r>
            </a:p>
            <a:p>
              <a:pPr algn="l">
                <a:lnSpc>
                  <a:spcPts val="1439"/>
                </a:lnSpc>
              </a:pPr>
              <a:r>
                <a:rPr lang="en-US" sz="1200">
                  <a:solidFill>
                    <a:srgbClr val="5B6B5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Gil (2022); Marconi e Lakatos (2022)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8047" y="7537447"/>
            <a:ext cx="3216278" cy="1475737"/>
            <a:chOff x="0" y="0"/>
            <a:chExt cx="4288371" cy="1967649"/>
          </a:xfrm>
        </p:grpSpPr>
        <p:sp>
          <p:nvSpPr>
            <p:cNvPr name="Freeform 58" id="58" descr="quadro_kanban_trello_wefind.png"/>
            <p:cNvSpPr/>
            <p:nvPr/>
          </p:nvSpPr>
          <p:spPr>
            <a:xfrm flipH="false" flipV="false" rot="0">
              <a:off x="0" y="0"/>
              <a:ext cx="4288330" cy="1967611"/>
            </a:xfrm>
            <a:custGeom>
              <a:avLst/>
              <a:gdLst/>
              <a:ahLst/>
              <a:cxnLst/>
              <a:rect r="r" b="b" t="t" l="l"/>
              <a:pathLst>
                <a:path h="1967611" w="4288330">
                  <a:moveTo>
                    <a:pt x="0" y="0"/>
                  </a:moveTo>
                  <a:lnTo>
                    <a:pt x="4288330" y="0"/>
                  </a:lnTo>
                  <a:lnTo>
                    <a:pt x="4288330" y="1967611"/>
                  </a:lnTo>
                  <a:lnTo>
                    <a:pt x="0" y="19676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2768" r="0" b="-2770"/>
              </a:stretch>
            </a:blipFill>
          </p:spPr>
        </p:sp>
      </p:grpSp>
      <p:sp>
        <p:nvSpPr>
          <p:cNvPr name="TextBox 59" id="59"/>
          <p:cNvSpPr txBox="true"/>
          <p:nvPr/>
        </p:nvSpPr>
        <p:spPr>
          <a:xfrm rot="0">
            <a:off x="4210050" y="7698105"/>
            <a:ext cx="3928110" cy="1217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Tarefas no Trello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quadro Kanban</a:t>
            </a:r>
          </a:p>
        </p:txBody>
      </p:sp>
      <p:grpSp>
        <p:nvGrpSpPr>
          <p:cNvPr name="Group 60" id="60"/>
          <p:cNvGrpSpPr/>
          <p:nvPr/>
        </p:nvGrpSpPr>
        <p:grpSpPr>
          <a:xfrm rot="0">
            <a:off x="8961120" y="2148840"/>
            <a:ext cx="8412480" cy="6675120"/>
            <a:chOff x="0" y="0"/>
            <a:chExt cx="11216640" cy="890016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216640" cy="8900161"/>
            </a:xfrm>
            <a:custGeom>
              <a:avLst/>
              <a:gdLst/>
              <a:ahLst/>
              <a:cxnLst/>
              <a:rect r="r" b="b" t="t" l="l"/>
              <a:pathLst>
                <a:path h="8900161" w="11216640">
                  <a:moveTo>
                    <a:pt x="0" y="355981"/>
                  </a:moveTo>
                  <a:cubicBezTo>
                    <a:pt x="0" y="159385"/>
                    <a:pt x="159385" y="0"/>
                    <a:pt x="355981" y="0"/>
                  </a:cubicBezTo>
                  <a:lnTo>
                    <a:pt x="10860659" y="0"/>
                  </a:lnTo>
                  <a:cubicBezTo>
                    <a:pt x="11057255" y="0"/>
                    <a:pt x="11216640" y="159385"/>
                    <a:pt x="11216640" y="355981"/>
                  </a:cubicBezTo>
                  <a:lnTo>
                    <a:pt x="11216640" y="8544179"/>
                  </a:lnTo>
                  <a:cubicBezTo>
                    <a:pt x="11216640" y="8740775"/>
                    <a:pt x="11057255" y="8900161"/>
                    <a:pt x="10860659" y="8900161"/>
                  </a:cubicBezTo>
                  <a:lnTo>
                    <a:pt x="355981" y="8900161"/>
                  </a:lnTo>
                  <a:cubicBezTo>
                    <a:pt x="159385" y="8900160"/>
                    <a:pt x="0" y="8740775"/>
                    <a:pt x="0" y="8544179"/>
                  </a:cubicBezTo>
                  <a:close/>
                </a:path>
              </a:pathLst>
            </a:custGeom>
            <a:solidFill>
              <a:srgbClr val="EEF3ED"/>
            </a:solidFill>
          </p:spPr>
        </p:sp>
      </p:grpSp>
      <p:sp>
        <p:nvSpPr>
          <p:cNvPr name="TextBox 62" id="62"/>
          <p:cNvSpPr txBox="true"/>
          <p:nvPr/>
        </p:nvSpPr>
        <p:spPr>
          <a:xfrm rot="0">
            <a:off x="9418320" y="2394585"/>
            <a:ext cx="7589520" cy="394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CONSTRUÇÃO EM 6 PARTES (ITERATIVA E INCREMENTAL)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9418320" y="2926080"/>
            <a:ext cx="292608" cy="292608"/>
            <a:chOff x="0" y="0"/>
            <a:chExt cx="390144" cy="390144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9802368" y="2898648"/>
            <a:ext cx="1828800" cy="365760"/>
            <a:chOff x="0" y="0"/>
            <a:chExt cx="2438400" cy="4876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2438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Planejar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018520" y="2926080"/>
            <a:ext cx="292608" cy="292608"/>
            <a:chOff x="0" y="0"/>
            <a:chExt cx="390144" cy="39014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1402568" y="2898648"/>
            <a:ext cx="1828800" cy="365760"/>
            <a:chOff x="0" y="0"/>
            <a:chExt cx="2438400" cy="4876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28575"/>
              <a:ext cx="2438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Desenvolver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2920472" y="2926080"/>
            <a:ext cx="292608" cy="292608"/>
            <a:chOff x="0" y="0"/>
            <a:chExt cx="390144" cy="390144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3304520" y="2898648"/>
            <a:ext cx="1828800" cy="365760"/>
            <a:chOff x="0" y="0"/>
            <a:chExt cx="2438400" cy="48768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2438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Testar no celular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5425928" y="2926080"/>
            <a:ext cx="292608" cy="292608"/>
            <a:chOff x="0" y="0"/>
            <a:chExt cx="390144" cy="3901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90144" cy="390144"/>
            </a:xfrm>
            <a:custGeom>
              <a:avLst/>
              <a:gdLst/>
              <a:ahLst/>
              <a:cxnLst/>
              <a:rect r="r" b="b" t="t" l="l"/>
              <a:pathLst>
                <a:path h="390144" w="390144">
                  <a:moveTo>
                    <a:pt x="0" y="65024"/>
                  </a:moveTo>
                  <a:cubicBezTo>
                    <a:pt x="0" y="29083"/>
                    <a:pt x="29083" y="0"/>
                    <a:pt x="65024" y="0"/>
                  </a:cubicBezTo>
                  <a:lnTo>
                    <a:pt x="325120" y="0"/>
                  </a:lnTo>
                  <a:cubicBezTo>
                    <a:pt x="361061" y="0"/>
                    <a:pt x="390144" y="29083"/>
                    <a:pt x="390144" y="65024"/>
                  </a:cubicBezTo>
                  <a:lnTo>
                    <a:pt x="390144" y="325120"/>
                  </a:lnTo>
                  <a:cubicBezTo>
                    <a:pt x="390144" y="361061"/>
                    <a:pt x="361061" y="390144"/>
                    <a:pt x="325120" y="390144"/>
                  </a:cubicBezTo>
                  <a:lnTo>
                    <a:pt x="65024" y="390144"/>
                  </a:lnTo>
                  <a:cubicBezTo>
                    <a:pt x="29083" y="390144"/>
                    <a:pt x="0" y="361061"/>
                    <a:pt x="0" y="325120"/>
                  </a:cubicBez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5809976" y="2898648"/>
            <a:ext cx="1828800" cy="365760"/>
            <a:chOff x="0" y="0"/>
            <a:chExt cx="2438400" cy="48768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438400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28575"/>
              <a:ext cx="2438400" cy="516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59"/>
                </a:lnSpc>
              </a:pPr>
              <a:r>
                <a:rPr lang="en-US" sz="12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Entregar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9418320" y="3520440"/>
            <a:ext cx="1463040" cy="502920"/>
            <a:chOff x="0" y="0"/>
            <a:chExt cx="1950720" cy="67056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  Acesso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972800" y="3575304"/>
            <a:ext cx="749808" cy="402336"/>
            <a:chOff x="0" y="0"/>
            <a:chExt cx="999744" cy="536448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1777472" y="3575304"/>
            <a:ext cx="749808" cy="402336"/>
            <a:chOff x="0" y="0"/>
            <a:chExt cx="999744" cy="5364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12582144" y="3575304"/>
            <a:ext cx="749808" cy="402336"/>
            <a:chOff x="0" y="0"/>
            <a:chExt cx="999744" cy="5364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386816" y="3575304"/>
            <a:ext cx="749808" cy="402336"/>
            <a:chOff x="0" y="0"/>
            <a:chExt cx="999744" cy="536448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9418320" y="4233672"/>
            <a:ext cx="1463040" cy="502920"/>
            <a:chOff x="0" y="0"/>
            <a:chExt cx="1950720" cy="67056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  Mapa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1484864" y="4288536"/>
            <a:ext cx="749808" cy="402336"/>
            <a:chOff x="0" y="0"/>
            <a:chExt cx="999744" cy="536448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99" id="99"/>
          <p:cNvGrpSpPr/>
          <p:nvPr/>
        </p:nvGrpSpPr>
        <p:grpSpPr>
          <a:xfrm rot="0">
            <a:off x="12289536" y="4288536"/>
            <a:ext cx="749808" cy="402336"/>
            <a:chOff x="0" y="0"/>
            <a:chExt cx="999744" cy="536448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3094208" y="4288536"/>
            <a:ext cx="749808" cy="402336"/>
            <a:chOff x="0" y="0"/>
            <a:chExt cx="999744" cy="536448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3898880" y="4288536"/>
            <a:ext cx="749808" cy="402336"/>
            <a:chOff x="0" y="0"/>
            <a:chExt cx="999744" cy="536448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9418320" y="4946904"/>
            <a:ext cx="1463040" cy="502920"/>
            <a:chOff x="0" y="0"/>
            <a:chExt cx="1950720" cy="67056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  Publicações</a:t>
              </a:r>
            </a:p>
          </p:txBody>
        </p:sp>
      </p:grpSp>
      <p:grpSp>
        <p:nvGrpSpPr>
          <p:cNvPr name="Group 108" id="108"/>
          <p:cNvGrpSpPr/>
          <p:nvPr/>
        </p:nvGrpSpPr>
        <p:grpSpPr>
          <a:xfrm rot="0">
            <a:off x="11996928" y="5001768"/>
            <a:ext cx="749808" cy="402336"/>
            <a:chOff x="0" y="0"/>
            <a:chExt cx="999744" cy="53644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2801600" y="5001768"/>
            <a:ext cx="749808" cy="402336"/>
            <a:chOff x="0" y="0"/>
            <a:chExt cx="999744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12" id="112"/>
          <p:cNvGrpSpPr/>
          <p:nvPr/>
        </p:nvGrpSpPr>
        <p:grpSpPr>
          <a:xfrm rot="0">
            <a:off x="13606272" y="5001768"/>
            <a:ext cx="749808" cy="402336"/>
            <a:chOff x="0" y="0"/>
            <a:chExt cx="999744" cy="536448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14" id="114"/>
          <p:cNvGrpSpPr/>
          <p:nvPr/>
        </p:nvGrpSpPr>
        <p:grpSpPr>
          <a:xfrm rot="0">
            <a:off x="14410944" y="5001768"/>
            <a:ext cx="749808" cy="402336"/>
            <a:chOff x="0" y="0"/>
            <a:chExt cx="999744" cy="536448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16" id="116"/>
          <p:cNvGrpSpPr/>
          <p:nvPr/>
        </p:nvGrpSpPr>
        <p:grpSpPr>
          <a:xfrm rot="0">
            <a:off x="9418320" y="5660136"/>
            <a:ext cx="1463040" cy="502920"/>
            <a:chOff x="0" y="0"/>
            <a:chExt cx="1950720" cy="670560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  Comunicação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2508992" y="5715000"/>
            <a:ext cx="749808" cy="402336"/>
            <a:chOff x="0" y="0"/>
            <a:chExt cx="999744" cy="536448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13313664" y="5715000"/>
            <a:ext cx="749808" cy="402336"/>
            <a:chOff x="0" y="0"/>
            <a:chExt cx="999744" cy="536448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23" id="123"/>
          <p:cNvGrpSpPr/>
          <p:nvPr/>
        </p:nvGrpSpPr>
        <p:grpSpPr>
          <a:xfrm rot="0">
            <a:off x="14118336" y="5715000"/>
            <a:ext cx="749808" cy="402336"/>
            <a:chOff x="0" y="0"/>
            <a:chExt cx="999744" cy="536448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4923008" y="5715000"/>
            <a:ext cx="749808" cy="402336"/>
            <a:chOff x="0" y="0"/>
            <a:chExt cx="999744" cy="536448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27" id="127"/>
          <p:cNvGrpSpPr/>
          <p:nvPr/>
        </p:nvGrpSpPr>
        <p:grpSpPr>
          <a:xfrm rot="0">
            <a:off x="9418320" y="6373368"/>
            <a:ext cx="1463040" cy="502920"/>
            <a:chOff x="0" y="0"/>
            <a:chExt cx="1950720" cy="670560"/>
          </a:xfrm>
        </p:grpSpPr>
        <p:sp>
          <p:nvSpPr>
            <p:cNvPr name="Freeform 128" id="128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29" id="129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2E563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  Cartaz QR</a:t>
              </a:r>
            </a:p>
          </p:txBody>
        </p:sp>
      </p:grpSp>
      <p:grpSp>
        <p:nvGrpSpPr>
          <p:cNvPr name="Group 130" id="130"/>
          <p:cNvGrpSpPr/>
          <p:nvPr/>
        </p:nvGrpSpPr>
        <p:grpSpPr>
          <a:xfrm rot="0">
            <a:off x="13021056" y="6428232"/>
            <a:ext cx="749808" cy="402336"/>
            <a:chOff x="0" y="0"/>
            <a:chExt cx="999744" cy="536448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13825728" y="6428232"/>
            <a:ext cx="749808" cy="402336"/>
            <a:chOff x="0" y="0"/>
            <a:chExt cx="999744" cy="536448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14630400" y="6428232"/>
            <a:ext cx="749808" cy="402336"/>
            <a:chOff x="0" y="0"/>
            <a:chExt cx="999744" cy="5364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15435072" y="6428232"/>
            <a:ext cx="749808" cy="402336"/>
            <a:chOff x="0" y="0"/>
            <a:chExt cx="999744" cy="536448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9418320" y="7086600"/>
            <a:ext cx="1463040" cy="502920"/>
            <a:chOff x="0" y="0"/>
            <a:chExt cx="1950720" cy="670560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1950720" cy="670560"/>
            </a:xfrm>
            <a:custGeom>
              <a:avLst/>
              <a:gdLst/>
              <a:ahLst/>
              <a:cxnLst/>
              <a:rect r="r" b="b" t="t" l="l"/>
              <a:pathLst>
                <a:path h="670560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670560"/>
                  </a:lnTo>
                  <a:lnTo>
                    <a:pt x="0" y="6705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683" r="0" b="-6683"/>
              </a:stretch>
            </a:blipFill>
          </p:spPr>
        </p:sp>
        <p:sp>
          <p:nvSpPr>
            <p:cNvPr name="TextBox 140" id="140"/>
            <p:cNvSpPr txBox="true"/>
            <p:nvPr/>
          </p:nvSpPr>
          <p:spPr>
            <a:xfrm>
              <a:off x="0" y="-28575"/>
              <a:ext cx="1950720" cy="6991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80"/>
                </a:lnSpc>
              </a:pPr>
              <a:r>
                <a:rPr lang="en-US" sz="1400" b="true">
                  <a:solidFill>
                    <a:srgbClr val="B1734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6  Reencontro</a:t>
              </a:r>
            </a:p>
          </p:txBody>
        </p:sp>
      </p:grpSp>
      <p:grpSp>
        <p:nvGrpSpPr>
          <p:cNvPr name="Group 141" id="141"/>
          <p:cNvGrpSpPr/>
          <p:nvPr/>
        </p:nvGrpSpPr>
        <p:grpSpPr>
          <a:xfrm rot="0">
            <a:off x="13533120" y="7141464"/>
            <a:ext cx="749808" cy="402336"/>
            <a:chOff x="0" y="0"/>
            <a:chExt cx="999744" cy="536448"/>
          </a:xfrm>
        </p:grpSpPr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8FB38F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4337792" y="7141464"/>
            <a:ext cx="749808" cy="402336"/>
            <a:chOff x="0" y="0"/>
            <a:chExt cx="999744" cy="536448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2E5634"/>
            </a:solid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15142464" y="7141464"/>
            <a:ext cx="749808" cy="402336"/>
            <a:chOff x="0" y="0"/>
            <a:chExt cx="999744" cy="536448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B1734A"/>
            </a:solid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15947136" y="7141464"/>
            <a:ext cx="749808" cy="402336"/>
            <a:chOff x="0" y="0"/>
            <a:chExt cx="999744" cy="536448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999744" cy="536448"/>
            </a:xfrm>
            <a:custGeom>
              <a:avLst/>
              <a:gdLst/>
              <a:ahLst/>
              <a:cxnLst/>
              <a:rect r="r" b="b" t="t" l="l"/>
              <a:pathLst>
                <a:path h="536448" w="999744">
                  <a:moveTo>
                    <a:pt x="0" y="0"/>
                  </a:moveTo>
                  <a:lnTo>
                    <a:pt x="999744" y="0"/>
                  </a:lnTo>
                  <a:lnTo>
                    <a:pt x="999744" y="536448"/>
                  </a:lnTo>
                  <a:lnTo>
                    <a:pt x="0" y="536448"/>
                  </a:lnTo>
                  <a:close/>
                </a:path>
              </a:pathLst>
            </a:custGeom>
            <a:solidFill>
              <a:srgbClr val="7A4B2C"/>
            </a:solidFill>
          </p:spPr>
        </p:sp>
      </p:grpSp>
      <p:sp>
        <p:nvSpPr>
          <p:cNvPr name="AutoShape 149" id="149"/>
          <p:cNvSpPr/>
          <p:nvPr/>
        </p:nvSpPr>
        <p:spPr>
          <a:xfrm rot="10680">
            <a:off x="10963256" y="7836027"/>
            <a:ext cx="6145559" cy="0"/>
          </a:xfrm>
          <a:prstGeom prst="line">
            <a:avLst/>
          </a:prstGeom>
          <a:ln cap="rnd" w="19050">
            <a:solidFill>
              <a:srgbClr val="5B6B5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150" id="150"/>
          <p:cNvSpPr txBox="true"/>
          <p:nvPr/>
        </p:nvSpPr>
        <p:spPr>
          <a:xfrm rot="0">
            <a:off x="13898880" y="7890129"/>
            <a:ext cx="3200400" cy="348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59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tempo do projeto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9418320" y="8155305"/>
            <a:ext cx="7680960" cy="577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Cada parte foi planejada, feita, testada no celular e entregue antes da próxima (Valente, 2023).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16459200" y="94716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8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914400" y="207264"/>
            <a:ext cx="6858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 participantes descreveram o problema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887200" y="2194560"/>
            <a:ext cx="2743200" cy="1463040"/>
            <a:chOff x="0" y="0"/>
            <a:chExt cx="3657600" cy="19507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887200" y="2187416"/>
            <a:ext cx="2743200" cy="1470184"/>
            <a:chOff x="0" y="0"/>
            <a:chExt cx="3657600" cy="19602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887200" y="2180272"/>
            <a:ext cx="2743200" cy="1477327"/>
            <a:chOff x="0" y="0"/>
            <a:chExt cx="3657600" cy="19697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887200" y="2173129"/>
            <a:ext cx="2743200" cy="1484471"/>
            <a:chOff x="0" y="0"/>
            <a:chExt cx="3657600" cy="19792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1887200" y="2165985"/>
            <a:ext cx="2743200" cy="1491615"/>
            <a:chOff x="0" y="0"/>
            <a:chExt cx="3657600" cy="19888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0" y="2158841"/>
            <a:ext cx="2743200" cy="1498759"/>
            <a:chOff x="0" y="0"/>
            <a:chExt cx="3657600" cy="19983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1887200" y="2151698"/>
            <a:ext cx="2743200" cy="1505902"/>
            <a:chOff x="0" y="0"/>
            <a:chExt cx="3657600" cy="20078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1887200" y="2144554"/>
            <a:ext cx="2743200" cy="1513046"/>
            <a:chOff x="0" y="0"/>
            <a:chExt cx="3657600" cy="20173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6576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767" t="0" r="-20767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6576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48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14630400" y="1996440"/>
            <a:ext cx="2743200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respondentes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4630400" y="2819400"/>
            <a:ext cx="27432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52 questões; consulta em out. de 2026</a:t>
            </a:r>
          </a:p>
        </p:txBody>
      </p:sp>
      <p:sp>
        <p:nvSpPr>
          <p:cNvPr name="AutoShape 38" id="38"/>
          <p:cNvSpPr/>
          <p:nvPr/>
        </p:nvSpPr>
        <p:spPr>
          <a:xfrm rot="5880">
            <a:off x="11844318" y="4168140"/>
            <a:ext cx="557222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39" id="39"/>
          <p:cNvGrpSpPr/>
          <p:nvPr/>
        </p:nvGrpSpPr>
        <p:grpSpPr>
          <a:xfrm rot="0">
            <a:off x="11887200" y="4389120"/>
            <a:ext cx="2743200" cy="1463040"/>
            <a:chOff x="0" y="0"/>
            <a:chExt cx="3657600" cy="195072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0" y="4381976"/>
            <a:ext cx="2743200" cy="1470184"/>
            <a:chOff x="0" y="0"/>
            <a:chExt cx="3657600" cy="196024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887200" y="4374832"/>
            <a:ext cx="2743200" cy="1477327"/>
            <a:chOff x="0" y="0"/>
            <a:chExt cx="3657600" cy="196977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887200" y="4367689"/>
            <a:ext cx="2743200" cy="1484471"/>
            <a:chOff x="0" y="0"/>
            <a:chExt cx="3657600" cy="197929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887200" y="4360545"/>
            <a:ext cx="2743200" cy="1491615"/>
            <a:chOff x="0" y="0"/>
            <a:chExt cx="3657600" cy="19888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1887200" y="4353401"/>
            <a:ext cx="2743200" cy="1498759"/>
            <a:chOff x="0" y="0"/>
            <a:chExt cx="3657600" cy="199834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1887200" y="4346258"/>
            <a:ext cx="2743200" cy="1505902"/>
            <a:chOff x="0" y="0"/>
            <a:chExt cx="3657600" cy="200787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87200" y="4339114"/>
            <a:ext cx="2743200" cy="1513046"/>
            <a:chOff x="0" y="0"/>
            <a:chExt cx="3657600" cy="2017395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6576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767" t="0" r="-20767" b="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36576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52%</a:t>
              </a:r>
            </a:p>
          </p:txBody>
        </p:sp>
      </p:grpSp>
      <p:sp>
        <p:nvSpPr>
          <p:cNvPr name="TextBox 56" id="56"/>
          <p:cNvSpPr txBox="true"/>
          <p:nvPr/>
        </p:nvSpPr>
        <p:spPr>
          <a:xfrm rot="0">
            <a:off x="14630400" y="4191000"/>
            <a:ext cx="2743200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já perderam um animal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4630400" y="5013960"/>
            <a:ext cx="27432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 de 48 participantes</a:t>
            </a:r>
          </a:p>
        </p:txBody>
      </p:sp>
      <p:sp>
        <p:nvSpPr>
          <p:cNvPr name="AutoShape 58" id="58"/>
          <p:cNvSpPr/>
          <p:nvPr/>
        </p:nvSpPr>
        <p:spPr>
          <a:xfrm rot="5880">
            <a:off x="11844318" y="6362700"/>
            <a:ext cx="557222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grpSp>
        <p:nvGrpSpPr>
          <p:cNvPr name="Group 59" id="59"/>
          <p:cNvGrpSpPr/>
          <p:nvPr/>
        </p:nvGrpSpPr>
        <p:grpSpPr>
          <a:xfrm rot="0">
            <a:off x="11887200" y="6583680"/>
            <a:ext cx="2743200" cy="1463040"/>
            <a:chOff x="0" y="0"/>
            <a:chExt cx="3657600" cy="19507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57600" cy="1950720"/>
            </a:xfrm>
            <a:custGeom>
              <a:avLst/>
              <a:gdLst/>
              <a:ahLst/>
              <a:cxnLst/>
              <a:rect r="r" b="b" t="t" l="l"/>
              <a:pathLst>
                <a:path h="19507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50720"/>
                  </a:lnTo>
                  <a:lnTo>
                    <a:pt x="0" y="1950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8476" t="0" r="-18476" b="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11887200" y="6576536"/>
            <a:ext cx="2743200" cy="1470184"/>
            <a:chOff x="0" y="0"/>
            <a:chExt cx="3657600" cy="1960245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3657600" cy="1960245"/>
            </a:xfrm>
            <a:custGeom>
              <a:avLst/>
              <a:gdLst/>
              <a:ahLst/>
              <a:cxnLst/>
              <a:rect r="r" b="b" t="t" l="l"/>
              <a:pathLst>
                <a:path h="19602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0245"/>
                  </a:lnTo>
                  <a:lnTo>
                    <a:pt x="0" y="19602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810" t="0" r="-18810" b="0"/>
              </a:stretch>
            </a:blipFill>
          </p:spPr>
        </p:sp>
      </p:grpSp>
      <p:grpSp>
        <p:nvGrpSpPr>
          <p:cNvPr name="Group 63" id="63"/>
          <p:cNvGrpSpPr/>
          <p:nvPr/>
        </p:nvGrpSpPr>
        <p:grpSpPr>
          <a:xfrm rot="0">
            <a:off x="11887200" y="6569393"/>
            <a:ext cx="2743200" cy="1477327"/>
            <a:chOff x="0" y="0"/>
            <a:chExt cx="3657600" cy="196977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3657600" cy="1969770"/>
            </a:xfrm>
            <a:custGeom>
              <a:avLst/>
              <a:gdLst/>
              <a:ahLst/>
              <a:cxnLst/>
              <a:rect r="r" b="b" t="t" l="l"/>
              <a:pathLst>
                <a:path h="19697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69770"/>
                  </a:lnTo>
                  <a:lnTo>
                    <a:pt x="0" y="19697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19144" t="0" r="-19145" b="0"/>
              </a:stretch>
            </a:blip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887200" y="6562249"/>
            <a:ext cx="2743200" cy="1484471"/>
            <a:chOff x="0" y="0"/>
            <a:chExt cx="3657600" cy="197929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657600" cy="1979295"/>
            </a:xfrm>
            <a:custGeom>
              <a:avLst/>
              <a:gdLst/>
              <a:ahLst/>
              <a:cxnLst/>
              <a:rect r="r" b="b" t="t" l="l"/>
              <a:pathLst>
                <a:path h="197929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79295"/>
                  </a:lnTo>
                  <a:lnTo>
                    <a:pt x="0" y="19792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19479" t="0" r="-19479" b="0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1887200" y="6555105"/>
            <a:ext cx="2743200" cy="1491615"/>
            <a:chOff x="0" y="0"/>
            <a:chExt cx="3657600" cy="19888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657600" cy="1988820"/>
            </a:xfrm>
            <a:custGeom>
              <a:avLst/>
              <a:gdLst/>
              <a:ahLst/>
              <a:cxnLst/>
              <a:rect r="r" b="b" t="t" l="l"/>
              <a:pathLst>
                <a:path h="198882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88820"/>
                  </a:lnTo>
                  <a:lnTo>
                    <a:pt x="0" y="19888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9813" t="0" r="-19813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1887200" y="6547961"/>
            <a:ext cx="2743200" cy="1498759"/>
            <a:chOff x="0" y="0"/>
            <a:chExt cx="3657600" cy="199834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3657600" cy="1998345"/>
            </a:xfrm>
            <a:custGeom>
              <a:avLst/>
              <a:gdLst/>
              <a:ahLst/>
              <a:cxnLst/>
              <a:rect r="r" b="b" t="t" l="l"/>
              <a:pathLst>
                <a:path h="1998345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1998345"/>
                  </a:lnTo>
                  <a:lnTo>
                    <a:pt x="0" y="19983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20147" t="0" r="-20147" b="0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1887200" y="6540818"/>
            <a:ext cx="2743200" cy="1505902"/>
            <a:chOff x="0" y="0"/>
            <a:chExt cx="3657600" cy="200787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3657600" cy="2007870"/>
            </a:xfrm>
            <a:custGeom>
              <a:avLst/>
              <a:gdLst/>
              <a:ahLst/>
              <a:cxnLst/>
              <a:rect r="r" b="b" t="t" l="l"/>
              <a:pathLst>
                <a:path h="200787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07870"/>
                  </a:lnTo>
                  <a:lnTo>
                    <a:pt x="0" y="20078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20482" t="0" r="-20482" b="0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1887200" y="6533674"/>
            <a:ext cx="2743200" cy="1513046"/>
            <a:chOff x="0" y="0"/>
            <a:chExt cx="3657600" cy="2017395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657600" cy="2017394"/>
            </a:xfrm>
            <a:custGeom>
              <a:avLst/>
              <a:gdLst/>
              <a:ahLst/>
              <a:cxnLst/>
              <a:rect r="r" b="b" t="t" l="l"/>
              <a:pathLst>
                <a:path h="2017394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2017394"/>
                  </a:lnTo>
                  <a:lnTo>
                    <a:pt x="0" y="20173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20767" t="0" r="-20767" b="0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-9525"/>
              <a:ext cx="3657600" cy="2026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9600"/>
                </a:lnSpc>
              </a:pPr>
              <a:r>
                <a:rPr lang="en-US" sz="8000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83%</a:t>
              </a:r>
            </a:p>
          </p:txBody>
        </p:sp>
      </p:grpSp>
      <p:sp>
        <p:nvSpPr>
          <p:cNvPr name="TextBox 76" id="76"/>
          <p:cNvSpPr txBox="true"/>
          <p:nvPr/>
        </p:nvSpPr>
        <p:spPr>
          <a:xfrm rot="0">
            <a:off x="14630400" y="6385560"/>
            <a:ext cx="2743200" cy="1203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publicariam em até 3 min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4630400" y="7208520"/>
            <a:ext cx="27432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40 de 48 participantes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914400" y="8397240"/>
            <a:ext cx="16459200" cy="962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Amostra por conveniência: formulário divulgado em dois grupos públicos do Facebook; 72,9% moram em Pelotas. Os resultados descrevem apenas o grupo consultado.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6459200" y="9433560"/>
            <a:ext cx="9144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3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9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82" id="8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4" id="8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97" id="97"/>
          <p:cNvSpPr txBox="true"/>
          <p:nvPr/>
        </p:nvSpPr>
        <p:spPr>
          <a:xfrm rot="0">
            <a:off x="914400" y="2053590"/>
            <a:ext cx="10241280" cy="643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 que mais fez falta nas primeiras horas da busca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914400" y="207264"/>
            <a:ext cx="6858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3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914400" y="2606040"/>
            <a:ext cx="105156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0">
                <a:solidFill>
                  <a:srgbClr val="5B6B5F"/>
                </a:solidFill>
                <a:latin typeface="Calibri (MS)"/>
              </a:rPr>
              <a:t>Respostas dos 25 que já perderam um animal; cada pessoa marcou até 3 opções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14400" y="3246120"/>
            <a:ext cx="4389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2A1F"/>
                </a:solidFill>
                <a:latin typeface="Calibri (MS) Bold"/>
              </a:rPr>
              <a:t>Avisos de quem viu o animal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B1734A"/>
                </a:solidFill>
                <a:latin typeface="Calibri (MS)"/>
              </a:rPr>
              <a:t>No WeFIND: avistamentos no mapa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486400" y="3493008"/>
            <a:ext cx="4754880" cy="475488"/>
          </a:xfrm>
          <a:prstGeom prst="rect">
            <a:avLst/>
          </a:prstGeom>
          <a:solidFill>
            <a:srgbClr val="E4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0" y="3493008"/>
            <a:ext cx="3994099" cy="475488"/>
          </a:xfrm>
          <a:prstGeom prst="rect">
            <a:avLst/>
          </a:prstGeom>
          <a:solidFill>
            <a:srgbClr val="B17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9617659" y="349300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B1734A"/>
                </a:solidFill>
                <a:latin typeface="Calibri (MS) Bold"/>
              </a:rPr>
              <a:t>84%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914400" y="4434840"/>
            <a:ext cx="4389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2A1F"/>
                </a:solidFill>
                <a:latin typeface="Calibri (MS) Bold"/>
              </a:rPr>
              <a:t>Alcance no próprio bairro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5B6B5F"/>
                </a:solidFill>
                <a:latin typeface="Calibri (MS)"/>
              </a:rPr>
              <a:t>No WeFIND: casos mais próximos primeiro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486400" y="4681727"/>
            <a:ext cx="4754880" cy="475488"/>
          </a:xfrm>
          <a:prstGeom prst="rect">
            <a:avLst/>
          </a:prstGeom>
          <a:solidFill>
            <a:srgbClr val="E4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5486400" y="4681727"/>
            <a:ext cx="3423513" cy="475488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47073" y="4681727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E5634"/>
                </a:solidFill>
                <a:latin typeface="Calibri (MS) Bold"/>
              </a:rPr>
              <a:t>72%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14400" y="5623559"/>
            <a:ext cx="4389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2A1F"/>
                </a:solidFill>
                <a:latin typeface="Calibri (MS) Bold"/>
              </a:rPr>
              <a:t>Alerta de animal parecido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5B6B5F"/>
                </a:solidFill>
                <a:latin typeface="Calibri (MS)"/>
              </a:rPr>
              <a:t>No WeFIND: correspondência automática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5486400" y="5870448"/>
            <a:ext cx="4754880" cy="475488"/>
          </a:xfrm>
          <a:prstGeom prst="rect">
            <a:avLst/>
          </a:prstGeom>
          <a:solidFill>
            <a:srgbClr val="E4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486400" y="5870448"/>
            <a:ext cx="2282342" cy="475488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905902" y="587044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E5634"/>
                </a:solidFill>
                <a:latin typeface="Calibri (MS) Bold"/>
              </a:rPr>
              <a:t>48%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914400" y="6812279"/>
            <a:ext cx="4389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1B2A1F"/>
                </a:solidFill>
                <a:latin typeface="Calibri (MS) Bold"/>
              </a:rPr>
              <a:t>Orientação para começar a busca</a:t>
            </a:r>
          </a:p>
          <a:p>
            <a:pPr algn="l">
              <a:spcBef>
                <a:spcPts val="200"/>
              </a:spcBef>
            </a:pPr>
            <a:r>
              <a:rPr sz="1800" b="0">
                <a:solidFill>
                  <a:srgbClr val="5B6B5F"/>
                </a:solidFill>
                <a:latin typeface="Calibri (MS)"/>
              </a:rPr>
              <a:t>No WeFIND: publicação rápida e guiada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486400" y="7059167"/>
            <a:ext cx="4754880" cy="475488"/>
          </a:xfrm>
          <a:prstGeom prst="rect">
            <a:avLst/>
          </a:prstGeom>
          <a:solidFill>
            <a:srgbClr val="E4E9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5486400" y="7059167"/>
            <a:ext cx="1901952" cy="475488"/>
          </a:xfrm>
          <a:prstGeom prst="rect">
            <a:avLst/>
          </a:prstGeom>
          <a:solidFill>
            <a:srgbClr val="2E56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525512" y="7059167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300" b="1">
                <a:solidFill>
                  <a:srgbClr val="2E5634"/>
                </a:solidFill>
                <a:latin typeface="Calibri (MS) Bold"/>
              </a:rPr>
              <a:t>40%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Sistemas similares analisados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90051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1645920" y="3086129"/>
            <a:ext cx="2103120" cy="2103120"/>
            <a:chOff x="0" y="0"/>
            <a:chExt cx="2804160" cy="2804160"/>
          </a:xfrm>
        </p:grpSpPr>
        <p:sp>
          <p:nvSpPr>
            <p:cNvPr name="Freeform 38" id="38" descr="viumeu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sp>
        <p:nvSpPr>
          <p:cNvPr name="Freeform 39" id="39"/>
          <p:cNvSpPr/>
          <p:nvPr/>
        </p:nvSpPr>
        <p:spPr>
          <a:xfrm flipH="false" flipV="false" rot="0">
            <a:off x="519819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5943600" y="3086129"/>
            <a:ext cx="2103120" cy="2103120"/>
            <a:chOff x="0" y="0"/>
            <a:chExt cx="2804160" cy="28041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-16964" t="0" r="-16964" b="0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949587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10241280" y="3086129"/>
            <a:ext cx="2103120" cy="2103120"/>
            <a:chOff x="0" y="0"/>
            <a:chExt cx="2804160" cy="2804160"/>
          </a:xfrm>
        </p:grpSpPr>
        <p:sp>
          <p:nvSpPr>
            <p:cNvPr name="Freeform 44" id="44" descr="alertpet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335" t="0" r="-335" b="0"/>
              </a:stretch>
            </a:blipFill>
          </p:spPr>
        </p:sp>
      </p:grpSp>
      <p:sp>
        <p:nvSpPr>
          <p:cNvPr name="Freeform 45" id="45"/>
          <p:cNvSpPr/>
          <p:nvPr/>
        </p:nvSpPr>
        <p:spPr>
          <a:xfrm flipH="false" flipV="false" rot="0">
            <a:off x="13793553" y="2569321"/>
            <a:ext cx="3593878" cy="5148358"/>
          </a:xfrm>
          <a:custGeom>
            <a:avLst/>
            <a:gdLst/>
            <a:ahLst/>
            <a:cxnLst/>
            <a:rect r="r" b="b" t="t" l="l"/>
            <a:pathLst>
              <a:path h="5148358" w="3593878">
                <a:moveTo>
                  <a:pt x="0" y="0"/>
                </a:moveTo>
                <a:lnTo>
                  <a:pt x="3593877" y="0"/>
                </a:lnTo>
                <a:lnTo>
                  <a:pt x="3593877" y="5148358"/>
                </a:lnTo>
                <a:lnTo>
                  <a:pt x="0" y="514835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4538960" y="3086129"/>
            <a:ext cx="2103120" cy="2103120"/>
            <a:chOff x="0" y="0"/>
            <a:chExt cx="2804160" cy="2804160"/>
          </a:xfrm>
        </p:grpSpPr>
        <p:sp>
          <p:nvSpPr>
            <p:cNvPr name="Freeform 47" id="47" descr="facebook.png"/>
            <p:cNvSpPr/>
            <p:nvPr/>
          </p:nvSpPr>
          <p:spPr>
            <a:xfrm flipH="false" flipV="false" rot="0">
              <a:off x="0" y="0"/>
              <a:ext cx="280416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804160">
                  <a:moveTo>
                    <a:pt x="0" y="0"/>
                  </a:moveTo>
                  <a:lnTo>
                    <a:pt x="2804160" y="0"/>
                  </a:lnTo>
                  <a:lnTo>
                    <a:pt x="2804160" y="2804160"/>
                  </a:lnTo>
                  <a:lnTo>
                    <a:pt x="0" y="2804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097280" y="5490239"/>
            <a:ext cx="32004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Viu Meu Pet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097280" y="6301769"/>
            <a:ext cx="32004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site e app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5394960" y="5490239"/>
            <a:ext cx="32004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PawBoost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394960" y="6301769"/>
            <a:ext cx="32004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Internacional · site e app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9692640" y="5490239"/>
            <a:ext cx="32004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AlertPet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692640" y="6301769"/>
            <a:ext cx="32004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Brasileiro · campanhas pagas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3990320" y="5490239"/>
            <a:ext cx="3200400" cy="750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Facebook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3990320" y="6301769"/>
            <a:ext cx="320040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Rede social · grupos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10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07264"/>
            <a:ext cx="6858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Nenhuma reúne mapa, rota e correspondência</a:t>
              </a:r>
            </a:p>
          </p:txBody>
        </p:sp>
      </p:grpSp>
      <p:graphicFrame>
        <p:nvGraphicFramePr>
          <p:cNvPr name="Table 17" id="17"/>
          <p:cNvGraphicFramePr>
            <a:graphicFrameLocks noGrp="true"/>
          </p:cNvGraphicFramePr>
          <p:nvPr/>
        </p:nvGraphicFramePr>
        <p:xfrm>
          <a:off x="914400" y="2194560"/>
          <a:ext cx="16217900" cy="6654800"/>
        </p:xfrm>
        <a:graphic>
          <a:graphicData uri="http://schemas.openxmlformats.org/drawingml/2006/table">
            <a:tbl>
              <a:tblPr/>
              <a:tblGrid>
                <a:gridCol w="6667359"/>
                <a:gridCol w="1910108"/>
                <a:gridCol w="1910108"/>
                <a:gridCol w="1910108"/>
                <a:gridCol w="1910108"/>
                <a:gridCol w="1910108"/>
              </a:tblGrid>
              <a:tr h="61859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Funcionalidade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Viu Meu 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PawBoost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AlertPet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Facebook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B1734A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WeFIND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5875">
                      <a:solidFill>
                        <a:srgbClr val="2E56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095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Cadastrar animal com fotos e descrição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Disponibilizar aplicativo móvel para busca de animais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Gerar cartazes digitais de busca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Filtrar animais por espécie e município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Enviar alertas sobre publicações relevantes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Visualizar animais em mapa interativo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Registrar relatos de avistamento com localização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Permitir comunicação privada entre usuários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3C5D4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256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Traçar rota até o local informado na publicação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47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Sugerir correspondências entre animais perdidos e encontrados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CC0D0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✗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760"/>
                        </a:lnSpc>
                        <a:defRPr/>
                      </a:pPr>
                      <a:r>
                        <a:rPr lang="en-US" sz="2300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✓</a:t>
                      </a:r>
                      <a:endParaRPr lang="en-US" sz="1100"/>
                    </a:p>
                  </a:txBody>
                  <a:tcPr marL="73152" marR="73152" marT="73152" marB="73152" anchor="ctr">
                    <a:lnL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name="TextBox 18" id="18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11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914400" y="207264"/>
            <a:ext cx="685800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  MÉTODO E PESQUISA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Requisitos e modelagem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Requisitos, regras de negócio e UML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12594"/>
            </a:xfrm>
            <a:custGeom>
              <a:avLst/>
              <a:gdLst/>
              <a:ahLst/>
              <a:cxnLst/>
              <a:rect r="r" b="b" t="t" l="l"/>
              <a:pathLst>
                <a:path h="17125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4"/>
                  </a:lnTo>
                  <a:lnTo>
                    <a:pt x="0" y="17125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766" r="0" b="-2017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1284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21 requisitos funcionais centrais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1045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08061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46911" y="2776738"/>
            <a:ext cx="460820" cy="460820"/>
            <a:chOff x="0" y="0"/>
            <a:chExt cx="614426" cy="614426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331720" y="21842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Conta e perfil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331720" y="27404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RF01 e RF02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3401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6704171" y="2510438"/>
            <a:ext cx="993458" cy="993457"/>
          </a:xfrm>
          <a:custGeom>
            <a:avLst/>
            <a:gdLst/>
            <a:ahLst/>
            <a:cxnLst/>
            <a:rect r="r" b="b" t="t" l="l"/>
            <a:pathLst>
              <a:path h="993457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970471" y="2776738"/>
            <a:ext cx="460820" cy="460820"/>
            <a:chOff x="0" y="0"/>
            <a:chExt cx="614426" cy="614426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7955280" y="21842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Publicações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955280" y="27404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RF03 a RF05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2057574" y="22402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327731" y="2510438"/>
            <a:ext cx="993457" cy="993457"/>
          </a:xfrm>
          <a:custGeom>
            <a:avLst/>
            <a:gdLst/>
            <a:ahLst/>
            <a:cxnLst/>
            <a:rect r="r" b="b" t="t" l="l"/>
            <a:pathLst>
              <a:path h="993457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2594031" y="2776738"/>
            <a:ext cx="460820" cy="460820"/>
            <a:chOff x="0" y="0"/>
            <a:chExt cx="614426" cy="614426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13578840" y="21842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Mapa e busca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3578840" y="27404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RF06 a RF08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81045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108061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1346911" y="4605538"/>
            <a:ext cx="460820" cy="460820"/>
            <a:chOff x="0" y="0"/>
            <a:chExt cx="614426" cy="614426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2331720" y="40130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331720" y="45692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RF09 e RF10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643401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6704171" y="4339238"/>
            <a:ext cx="993458" cy="993458"/>
          </a:xfrm>
          <a:custGeom>
            <a:avLst/>
            <a:gdLst/>
            <a:ahLst/>
            <a:cxnLst/>
            <a:rect r="r" b="b" t="t" l="l"/>
            <a:pathLst>
              <a:path h="993458" w="993458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6970471" y="4605538"/>
            <a:ext cx="460820" cy="460820"/>
            <a:chOff x="0" y="0"/>
            <a:chExt cx="614426" cy="614426"/>
          </a:xfrm>
        </p:grpSpPr>
        <p:sp>
          <p:nvSpPr>
            <p:cNvPr name="Freeform 63" id="63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64" id="64"/>
          <p:cNvSpPr txBox="true"/>
          <p:nvPr/>
        </p:nvSpPr>
        <p:spPr>
          <a:xfrm rot="0">
            <a:off x="7955280" y="40130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Comunicação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955280" y="45692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RF11 e RF12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2057574" y="4069080"/>
            <a:ext cx="5374243" cy="1554480"/>
          </a:xfrm>
          <a:custGeom>
            <a:avLst/>
            <a:gdLst/>
            <a:ahLst/>
            <a:cxnLst/>
            <a:rect r="r" b="b" t="t" l="l"/>
            <a:pathLst>
              <a:path h="1554480" w="5374243">
                <a:moveTo>
                  <a:pt x="0" y="0"/>
                </a:moveTo>
                <a:lnTo>
                  <a:pt x="5374243" y="0"/>
                </a:lnTo>
                <a:lnTo>
                  <a:pt x="5374243" y="1554480"/>
                </a:lnTo>
                <a:lnTo>
                  <a:pt x="0" y="15544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9145" r="0" b="-19145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12327731" y="4339238"/>
            <a:ext cx="993457" cy="993458"/>
          </a:xfrm>
          <a:custGeom>
            <a:avLst/>
            <a:gdLst/>
            <a:ahLst/>
            <a:cxnLst/>
            <a:rect r="r" b="b" t="t" l="l"/>
            <a:pathLst>
              <a:path h="993458" w="993457">
                <a:moveTo>
                  <a:pt x="0" y="0"/>
                </a:moveTo>
                <a:lnTo>
                  <a:pt x="993458" y="0"/>
                </a:lnTo>
                <a:lnTo>
                  <a:pt x="993458" y="993457"/>
                </a:lnTo>
                <a:lnTo>
                  <a:pt x="0" y="9934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2594031" y="4605538"/>
            <a:ext cx="460820" cy="460820"/>
            <a:chOff x="0" y="0"/>
            <a:chExt cx="614426" cy="614426"/>
          </a:xfrm>
        </p:grpSpPr>
        <p:sp>
          <p:nvSpPr>
            <p:cNvPr name="Freeform 69" id="69" descr="icone"/>
            <p:cNvSpPr/>
            <p:nvPr/>
          </p:nvSpPr>
          <p:spPr>
            <a:xfrm flipH="false" flipV="false" rot="0">
              <a:off x="0" y="0"/>
              <a:ext cx="614426" cy="614426"/>
            </a:xfrm>
            <a:custGeom>
              <a:avLst/>
              <a:gdLst/>
              <a:ahLst/>
              <a:cxnLst/>
              <a:rect r="r" b="b" t="t" l="l"/>
              <a:pathLst>
                <a:path h="614426" w="614426">
                  <a:moveTo>
                    <a:pt x="0" y="0"/>
                  </a:moveTo>
                  <a:lnTo>
                    <a:pt x="614426" y="0"/>
                  </a:lnTo>
                  <a:lnTo>
                    <a:pt x="614426" y="614426"/>
                  </a:lnTo>
                  <a:lnTo>
                    <a:pt x="0" y="61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70" id="70"/>
          <p:cNvSpPr txBox="true"/>
          <p:nvPr/>
        </p:nvSpPr>
        <p:spPr>
          <a:xfrm rot="0">
            <a:off x="13578840" y="4013006"/>
            <a:ext cx="3703320" cy="9372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Moderação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3578840" y="4569266"/>
            <a:ext cx="3703320" cy="76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RF13 e RF14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2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13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813816" y="5943600"/>
            <a:ext cx="5376672" cy="1143000"/>
            <a:chOff x="0" y="0"/>
            <a:chExt cx="7168896" cy="152400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6" id="76"/>
          <p:cNvSpPr txBox="true"/>
          <p:nvPr/>
        </p:nvSpPr>
        <p:spPr>
          <a:xfrm rot="0">
            <a:off x="1161288" y="5932170"/>
            <a:ext cx="4754880" cy="8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RF15  Cartaz com QR</a:t>
            </a:r>
          </a:p>
        </p:txBody>
      </p:sp>
      <p:grpSp>
        <p:nvGrpSpPr>
          <p:cNvPr name="Group 77" id="77"/>
          <p:cNvGrpSpPr/>
          <p:nvPr/>
        </p:nvGrpSpPr>
        <p:grpSpPr>
          <a:xfrm rot="0">
            <a:off x="6437376" y="5943600"/>
            <a:ext cx="5376672" cy="1143000"/>
            <a:chOff x="0" y="0"/>
            <a:chExt cx="7168896" cy="152400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79" id="79"/>
          <p:cNvSpPr txBox="true"/>
          <p:nvPr/>
        </p:nvSpPr>
        <p:spPr>
          <a:xfrm rot="0">
            <a:off x="6784848" y="5932170"/>
            <a:ext cx="475488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RF16  Ciclo de vida da publicação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2060936" y="5943600"/>
            <a:ext cx="5376672" cy="1143000"/>
            <a:chOff x="0" y="0"/>
            <a:chExt cx="7168896" cy="15240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2" id="82"/>
          <p:cNvSpPr txBox="true"/>
          <p:nvPr/>
        </p:nvSpPr>
        <p:spPr>
          <a:xfrm rot="0">
            <a:off x="12408408" y="5932170"/>
            <a:ext cx="4754880" cy="8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RF17  Correspondências</a:t>
            </a:r>
          </a:p>
        </p:txBody>
      </p:sp>
      <p:grpSp>
        <p:nvGrpSpPr>
          <p:cNvPr name="Group 83" id="83"/>
          <p:cNvGrpSpPr/>
          <p:nvPr/>
        </p:nvGrpSpPr>
        <p:grpSpPr>
          <a:xfrm rot="0">
            <a:off x="813816" y="7315200"/>
            <a:ext cx="5376672" cy="1143000"/>
            <a:chOff x="0" y="0"/>
            <a:chExt cx="7168896" cy="152400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5" id="85"/>
          <p:cNvSpPr txBox="true"/>
          <p:nvPr/>
        </p:nvSpPr>
        <p:spPr>
          <a:xfrm rot="0">
            <a:off x="1161288" y="7303770"/>
            <a:ext cx="4754880" cy="8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RF18  Tutela e encontro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6437376" y="7315200"/>
            <a:ext cx="5376672" cy="1143000"/>
            <a:chOff x="0" y="0"/>
            <a:chExt cx="7168896" cy="15240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88" id="88"/>
          <p:cNvSpPr txBox="true"/>
          <p:nvPr/>
        </p:nvSpPr>
        <p:spPr>
          <a:xfrm rot="0">
            <a:off x="6784848" y="7303770"/>
            <a:ext cx="4754880" cy="8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RF19 e RF20  Meus pets e adoção</a:t>
            </a:r>
          </a:p>
        </p:txBody>
      </p:sp>
      <p:grpSp>
        <p:nvGrpSpPr>
          <p:cNvPr name="Group 89" id="89"/>
          <p:cNvGrpSpPr/>
          <p:nvPr/>
        </p:nvGrpSpPr>
        <p:grpSpPr>
          <a:xfrm rot="0">
            <a:off x="12060936" y="7315200"/>
            <a:ext cx="5376672" cy="1143000"/>
            <a:chOff x="0" y="0"/>
            <a:chExt cx="7168896" cy="1524000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168897" cy="1524000"/>
            </a:xfrm>
            <a:custGeom>
              <a:avLst/>
              <a:gdLst/>
              <a:ahLst/>
              <a:cxnLst/>
              <a:rect r="r" b="b" t="t" l="l"/>
              <a:pathLst>
                <a:path h="1524000" w="7168897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6986016" y="0"/>
                  </a:lnTo>
                  <a:cubicBezTo>
                    <a:pt x="7086981" y="0"/>
                    <a:pt x="7168897" y="81915"/>
                    <a:pt x="7168897" y="182880"/>
                  </a:cubicBezTo>
                  <a:lnTo>
                    <a:pt x="7168897" y="1341120"/>
                  </a:lnTo>
                  <a:cubicBezTo>
                    <a:pt x="7168897" y="1442085"/>
                    <a:pt x="7086981" y="1524000"/>
                    <a:pt x="6986016" y="1524000"/>
                  </a:cubicBezTo>
                  <a:lnTo>
                    <a:pt x="182880" y="1524000"/>
                  </a:lnTo>
                  <a:cubicBezTo>
                    <a:pt x="81915" y="1524000"/>
                    <a:pt x="0" y="1442085"/>
                    <a:pt x="0" y="1341120"/>
                  </a:cubicBezTo>
                  <a:close/>
                </a:path>
              </a:pathLst>
            </a:custGeom>
            <a:solidFill>
              <a:srgbClr val="F3E7DB"/>
            </a:solidFill>
          </p:spPr>
        </p:sp>
      </p:grpSp>
      <p:sp>
        <p:nvSpPr>
          <p:cNvPr name="TextBox 91" id="91"/>
          <p:cNvSpPr txBox="true"/>
          <p:nvPr/>
        </p:nvSpPr>
        <p:spPr>
          <a:xfrm rot="0">
            <a:off x="12408408" y="7303770"/>
            <a:ext cx="4754880" cy="889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RF21  Classificação de membros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5082" r="0" b="-225082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0972800" cy="8153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3174" r="0" b="-20317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9525"/>
              <a:ext cx="22128480" cy="17125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Qualidade: acesso, privacidade e imagens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5" id="3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288036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RNF01  Autenticação e acesso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88036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 e políticas RLS: ninguém altera ou exclui dados de outra conta.</a:t>
            </a:r>
          </a:p>
        </p:txBody>
      </p:sp>
      <p:sp>
        <p:nvSpPr>
          <p:cNvPr name="Freeform 38" id="38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1" id="4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1315700" y="234505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RNF02  Privacidade da localização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315700" y="329946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Telas públicas mostram o endereço de forma aproximada (nenhum dos 48 participantes exibiria o endereço completo).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6" id="46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47" id="4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288036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RNF03  Comunicação segura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88036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Todas as requisições entre o aplicativo e a nuvem usam HTTPS.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3" id="53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4" id="54"/>
          <p:cNvSpPr txBox="true"/>
          <p:nvPr/>
        </p:nvSpPr>
        <p:spPr>
          <a:xfrm rot="0">
            <a:off x="11315700" y="5499735"/>
            <a:ext cx="5760720" cy="1083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RNF04  Compressão de imagens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15700" y="6454140"/>
            <a:ext cx="576072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As fotos são comprimidas no aparelho antes do envio.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822960" y="8444865"/>
            <a:ext cx="1659636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ISO/IEC 25010. Verificados por inspeção do código e da configuração, sem medições independentes.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822960" y="-189757"/>
            <a:ext cx="16459200" cy="3814953"/>
            <a:chOff x="0" y="0"/>
            <a:chExt cx="21945600" cy="508660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086604"/>
            </a:xfrm>
            <a:custGeom>
              <a:avLst/>
              <a:gdLst/>
              <a:ahLst/>
              <a:cxnLst/>
              <a:rect r="r" b="b" t="t" l="l"/>
              <a:pathLst>
                <a:path h="50866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6604"/>
                  </a:lnTo>
                  <a:lnTo>
                    <a:pt x="0" y="50866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007" r="0" b="-34007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822960" y="-196901"/>
            <a:ext cx="16459200" cy="3822097"/>
            <a:chOff x="0" y="0"/>
            <a:chExt cx="21945600" cy="509612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5096129"/>
            </a:xfrm>
            <a:custGeom>
              <a:avLst/>
              <a:gdLst/>
              <a:ahLst/>
              <a:cxnLst/>
              <a:rect r="r" b="b" t="t" l="l"/>
              <a:pathLst>
                <a:path h="50961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96129"/>
                  </a:lnTo>
                  <a:lnTo>
                    <a:pt x="0" y="509612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3850" r="0" b="-3385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822960" y="-204045"/>
            <a:ext cx="16459200" cy="3829240"/>
            <a:chOff x="0" y="0"/>
            <a:chExt cx="21945600" cy="510565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5105654"/>
            </a:xfrm>
            <a:custGeom>
              <a:avLst/>
              <a:gdLst/>
              <a:ahLst/>
              <a:cxnLst/>
              <a:rect r="r" b="b" t="t" l="l"/>
              <a:pathLst>
                <a:path h="510565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05654"/>
                  </a:lnTo>
                  <a:lnTo>
                    <a:pt x="0" y="5105654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33694" r="0" b="-33694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22960" y="-211188"/>
            <a:ext cx="16459200" cy="3836384"/>
            <a:chOff x="0" y="0"/>
            <a:chExt cx="21945600" cy="51151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5115179"/>
            </a:xfrm>
            <a:custGeom>
              <a:avLst/>
              <a:gdLst/>
              <a:ahLst/>
              <a:cxnLst/>
              <a:rect r="r" b="b" t="t" l="l"/>
              <a:pathLst>
                <a:path h="511517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15179"/>
                  </a:lnTo>
                  <a:lnTo>
                    <a:pt x="0" y="511517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538" r="0" b="-33538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22960" y="-218332"/>
            <a:ext cx="16459200" cy="3843528"/>
            <a:chOff x="0" y="0"/>
            <a:chExt cx="21945600" cy="51247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5124704"/>
            </a:xfrm>
            <a:custGeom>
              <a:avLst/>
              <a:gdLst/>
              <a:ahLst/>
              <a:cxnLst/>
              <a:rect r="r" b="b" t="t" l="l"/>
              <a:pathLst>
                <a:path h="512470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24704"/>
                  </a:lnTo>
                  <a:lnTo>
                    <a:pt x="0" y="512470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3382" r="0" b="-33383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22960" y="-225476"/>
            <a:ext cx="16459200" cy="3850691"/>
            <a:chOff x="0" y="0"/>
            <a:chExt cx="21945600" cy="51342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5134229"/>
            </a:xfrm>
            <a:custGeom>
              <a:avLst/>
              <a:gdLst/>
              <a:ahLst/>
              <a:cxnLst/>
              <a:rect r="r" b="b" t="t" l="l"/>
              <a:pathLst>
                <a:path h="513422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34229"/>
                  </a:lnTo>
                  <a:lnTo>
                    <a:pt x="0" y="5134229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3228" r="0" b="-33228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22960" y="-232620"/>
            <a:ext cx="16459200" cy="3857835"/>
            <a:chOff x="0" y="0"/>
            <a:chExt cx="21945600" cy="514377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5143780"/>
            </a:xfrm>
            <a:custGeom>
              <a:avLst/>
              <a:gdLst/>
              <a:ahLst/>
              <a:cxnLst/>
              <a:rect r="r" b="b" t="t" l="l"/>
              <a:pathLst>
                <a:path h="51437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143780"/>
                  </a:lnTo>
                  <a:lnTo>
                    <a:pt x="0" y="514378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3131" r="0" b="-3313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515330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RF16: ciclo de vida da publicação</a:t>
              </a:r>
            </a:p>
          </p:txBody>
        </p:sp>
      </p:grpSp>
      <p:sp>
        <p:nvSpPr>
          <p:cNvPr name="AutoShape 20" id="20"/>
          <p:cNvSpPr/>
          <p:nvPr/>
        </p:nvSpPr>
        <p:spPr>
          <a:xfrm rot="1980">
            <a:off x="868356" y="2942844"/>
            <a:ext cx="16551297" cy="0"/>
          </a:xfrm>
          <a:prstGeom prst="line">
            <a:avLst/>
          </a:prstGeom>
          <a:ln cap="rnd" w="9525">
            <a:solidFill>
              <a:srgbClr val="D9DF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89217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14400" y="3444240"/>
            <a:ext cx="384048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ATIVA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4130040"/>
            <a:ext cx="38404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4831080"/>
            <a:ext cx="374904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Contados do cadastro ou da última renovação.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509841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120640" y="3444240"/>
            <a:ext cx="384048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20640" y="4130040"/>
            <a:ext cx="38404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 dias antes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20640" y="4831080"/>
            <a:ext cx="374904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responsável é avisado para renovar o anúncio.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930465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9326880" y="3444240"/>
            <a:ext cx="384048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CARÊNCIA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326880" y="4130040"/>
            <a:ext cx="38404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30 dias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326880" y="4831080"/>
            <a:ext cx="374904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Oculta do mural e do mapa; ainda pode ser renovada.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510898" y="2812418"/>
            <a:ext cx="337090" cy="337090"/>
          </a:xfrm>
          <a:custGeom>
            <a:avLst/>
            <a:gdLst/>
            <a:ahLst/>
            <a:cxnLst/>
            <a:rect r="r" b="b" t="t" l="l"/>
            <a:pathLst>
              <a:path h="337090" w="337090">
                <a:moveTo>
                  <a:pt x="0" y="0"/>
                </a:moveTo>
                <a:lnTo>
                  <a:pt x="337090" y="0"/>
                </a:lnTo>
                <a:lnTo>
                  <a:pt x="337090" y="337090"/>
                </a:lnTo>
                <a:lnTo>
                  <a:pt x="0" y="33709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13533120" y="3444240"/>
            <a:ext cx="384048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5B6B5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REMOÇÃO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533120" y="4130040"/>
            <a:ext cx="384048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18"/>
              </a:lnSpc>
            </a:pPr>
            <a:r>
              <a:rPr lang="en-US" sz="45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depois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533120" y="4831080"/>
            <a:ext cx="3749040" cy="184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Rotina de limpeza exclui a publicação e as fotos.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89611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499616" y="6909816"/>
            <a:ext cx="33832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E67E22"/>
                </a:solidFill>
                <a:latin typeface="Cambria Bold"/>
                <a:ea typeface="Cambria Bold"/>
                <a:cs typeface="Cambria Bold"/>
                <a:sym typeface="Cambria Bold"/>
              </a:rPr>
              <a:t>Perdido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99616" y="7208520"/>
            <a:ext cx="3383280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 tutor procura o animal.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510235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5705856" y="6909816"/>
            <a:ext cx="33832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16A34A"/>
                </a:solidFill>
                <a:latin typeface="Cambria Bold"/>
                <a:ea typeface="Cambria Bold"/>
                <a:cs typeface="Cambria Bold"/>
                <a:sym typeface="Cambria Bold"/>
              </a:rPr>
              <a:t>Encontrado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705856" y="7208520"/>
            <a:ext cx="3383280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Quem achou ou viu o animal.</a:t>
            </a:r>
          </a:p>
        </p:txBody>
      </p:sp>
      <p:sp>
        <p:nvSpPr>
          <p:cNvPr name="Freeform 43" id="43"/>
          <p:cNvSpPr/>
          <p:nvPr/>
        </p:nvSpPr>
        <p:spPr>
          <a:xfrm flipH="false" flipV="false" rot="0">
            <a:off x="13514832" y="7164962"/>
            <a:ext cx="300514" cy="300514"/>
          </a:xfrm>
          <a:custGeom>
            <a:avLst/>
            <a:gdLst/>
            <a:ahLst/>
            <a:cxnLst/>
            <a:rect r="r" b="b" t="t" l="l"/>
            <a:pathLst>
              <a:path h="300514" w="300514">
                <a:moveTo>
                  <a:pt x="0" y="0"/>
                </a:moveTo>
                <a:lnTo>
                  <a:pt x="300514" y="0"/>
                </a:lnTo>
                <a:lnTo>
                  <a:pt x="300514" y="300514"/>
                </a:lnTo>
                <a:lnTo>
                  <a:pt x="0" y="300514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4118336" y="6909816"/>
            <a:ext cx="33832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Reencontrado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118336" y="7208520"/>
            <a:ext cx="3383280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Encerra a busca.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14400" y="8580120"/>
            <a:ext cx="16459200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Limite: a limpeza roda ao abrir o mural e só alcança as publicações do próprio usuário.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15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9308592" y="7164962"/>
            <a:ext cx="300514" cy="300514"/>
            <a:chOff x="0" y="0"/>
            <a:chExt cx="400685" cy="400685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00685" cy="400685"/>
            </a:xfrm>
            <a:custGeom>
              <a:avLst/>
              <a:gdLst/>
              <a:ahLst/>
              <a:cxnLst/>
              <a:rect r="r" b="b" t="t" l="l"/>
              <a:pathLst>
                <a:path h="400685" w="400685">
                  <a:moveTo>
                    <a:pt x="0" y="200279"/>
                  </a:moveTo>
                  <a:cubicBezTo>
                    <a:pt x="0" y="89662"/>
                    <a:pt x="89662" y="0"/>
                    <a:pt x="200279" y="0"/>
                  </a:cubicBezTo>
                  <a:cubicBezTo>
                    <a:pt x="310896" y="0"/>
                    <a:pt x="400685" y="89662"/>
                    <a:pt x="400685" y="200279"/>
                  </a:cubicBezTo>
                  <a:cubicBezTo>
                    <a:pt x="400685" y="310896"/>
                    <a:pt x="311023" y="400685"/>
                    <a:pt x="200406" y="400685"/>
                  </a:cubicBezTo>
                  <a:cubicBezTo>
                    <a:pt x="89789" y="400685"/>
                    <a:pt x="0" y="311023"/>
                    <a:pt x="0" y="200279"/>
                  </a:cubicBezTo>
                  <a:close/>
                </a:path>
              </a:pathLst>
            </a:custGeom>
            <a:solidFill>
              <a:srgbClr val="BE185D"/>
            </a:solidFill>
          </p:spPr>
        </p:sp>
      </p:grpSp>
      <p:sp>
        <p:nvSpPr>
          <p:cNvPr name="TextBox 67" id="67"/>
          <p:cNvSpPr txBox="true"/>
          <p:nvPr/>
        </p:nvSpPr>
        <p:spPr>
          <a:xfrm rot="0">
            <a:off x="9912096" y="6909816"/>
            <a:ext cx="3383280" cy="624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E185D"/>
                </a:solidFill>
                <a:latin typeface="Cambria Bold"/>
                <a:ea typeface="Cambria Bold"/>
                <a:cs typeface="Cambria Bold"/>
                <a:sym typeface="Cambria Bold"/>
              </a:rPr>
              <a:t>Para adoção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912096" y="7208520"/>
            <a:ext cx="3383280" cy="1478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Encontrado, após 7 dias de busca.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12594"/>
            </a:xfrm>
            <a:custGeom>
              <a:avLst/>
              <a:gdLst/>
              <a:ahLst/>
              <a:cxnLst/>
              <a:rect r="r" b="b" t="t" l="l"/>
              <a:pathLst>
                <a:path h="17125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4"/>
                  </a:lnTo>
                  <a:lnTo>
                    <a:pt x="0" y="17125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766" r="0" b="-2017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1284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Privacidade e reencontro seguro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e fotos do tutor; a devolução é combinada em local público.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Privacidade por padrão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Público vê bairro e rua, sem número; no mapa, grade de ~1 km.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288036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Meus pets e carteirinha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8036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Cadastro preventivo com QR; “Meu pet fugiu” vira publicação.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31570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 responsável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31570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Animal encontrado só vai para adoção após 7 dias de busca.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2960" y="83972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Base: LGPD e Privacy by Design (Cavoukian, 2009). Nenhum dos 48 participantes exibiria o endereço completo de um animal acolhido.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-144437"/>
            <a:ext cx="16459200" cy="2781967"/>
            <a:chOff x="0" y="0"/>
            <a:chExt cx="21945600" cy="370928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200" r="0" b="-65201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3709289"/>
            </a:xfrm>
            <a:custGeom>
              <a:avLst/>
              <a:gdLst/>
              <a:ahLst/>
              <a:cxnLst/>
              <a:rect r="r" b="b" t="t" l="l"/>
              <a:pathLst>
                <a:path h="370928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89"/>
                  </a:lnTo>
                  <a:lnTo>
                    <a:pt x="0" y="3709289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65201" r="0" b="-6520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-144437"/>
            <a:ext cx="16459200" cy="2781948"/>
            <a:chOff x="0" y="0"/>
            <a:chExt cx="21945600" cy="37092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3709264"/>
            </a:xfrm>
            <a:custGeom>
              <a:avLst/>
              <a:gdLst/>
              <a:ahLst/>
              <a:cxnLst/>
              <a:rect r="r" b="b" t="t" l="l"/>
              <a:pathLst>
                <a:path h="370926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3709264"/>
                  </a:lnTo>
                  <a:lnTo>
                    <a:pt x="0" y="3709264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65281" r="0" b="-6528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21945600" cy="37092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Diagrama de casos de uso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2960" y="2508885"/>
            <a:ext cx="6172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visitante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2960" y="2790825"/>
            <a:ext cx="617220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Consulta publicações, mapa e detalhes; cria conta e entra.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2960" y="4337685"/>
            <a:ext cx="6172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Usuário autenticado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2960" y="4619625"/>
            <a:ext cx="6172200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visitante. Publica (com recompensa ou de forma anônima), registra avistamentos, conversa, cadastra seus pets, pede ou analisa a tutela, combina o encontro e classifica membros.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2960" y="7080885"/>
            <a:ext cx="6172200" cy="615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Administrador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822960" y="7362825"/>
            <a:ext cx="6172200" cy="25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Herda do usuário autenticado. Analisa denúncias e modera conteúdo.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17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7835877" y="32265"/>
            <a:ext cx="9147198" cy="10254735"/>
            <a:chOff x="0" y="0"/>
            <a:chExt cx="12406376" cy="139085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406376" cy="13908532"/>
            </a:xfrm>
            <a:custGeom>
              <a:avLst/>
              <a:gdLst/>
              <a:ahLst/>
              <a:cxnLst/>
              <a:rect r="r" b="b" t="t" l="l"/>
              <a:pathLst>
                <a:path h="13908532" w="12406376">
                  <a:moveTo>
                    <a:pt x="0" y="0"/>
                  </a:moveTo>
                  <a:lnTo>
                    <a:pt x="12406376" y="0"/>
                  </a:lnTo>
                  <a:lnTo>
                    <a:pt x="12406376" y="13908532"/>
                  </a:lnTo>
                  <a:lnTo>
                    <a:pt x="0" y="139085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18" t="0" r="-18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125953" y="695188"/>
            <a:ext cx="10247676" cy="9591812"/>
            <a:chOff x="0" y="0"/>
            <a:chExt cx="14662277" cy="1372387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662277" cy="13723874"/>
            </a:xfrm>
            <a:custGeom>
              <a:avLst/>
              <a:gdLst/>
              <a:ahLst/>
              <a:cxnLst/>
              <a:rect r="r" b="b" t="t" l="l"/>
              <a:pathLst>
                <a:path h="13723874" w="14662277">
                  <a:moveTo>
                    <a:pt x="0" y="0"/>
                  </a:moveTo>
                  <a:lnTo>
                    <a:pt x="14662277" y="0"/>
                  </a:lnTo>
                  <a:lnTo>
                    <a:pt x="14662277" y="13723874"/>
                  </a:lnTo>
                  <a:lnTo>
                    <a:pt x="0" y="137238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-80" r="0" b="-8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  REQUISITOS E MODELAGEM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914400"/>
            <a:ext cx="6035040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Diagrama de classes de domínio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207264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Usuario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247497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Conta, perfil e animais (AnimalEstimacao)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" y="326136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Publicacao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4400" y="366369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FotoPublicacao e Recompensa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14400" y="445008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Avistamento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" y="485241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Relato com local, hora e foto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14400" y="563880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Conversa e Mensagem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4400" y="604113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 privado e Notificacao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14400" y="682752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Reencontro e prevenção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14400" y="722985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SolicitacaoDevolucao e EncontroDevolucao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8016240"/>
            <a:ext cx="6035040" cy="707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Denuncia e Classificacao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" y="8418576"/>
            <a:ext cx="603504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Moderação e notas entre membros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214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Solução desenvolvida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Arquitetura, funcionalidades, design e demonstração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Arquitetura em três partes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54869" y="2135029"/>
            <a:ext cx="5971222" cy="6611303"/>
            <a:chOff x="0" y="0"/>
            <a:chExt cx="7961630" cy="881507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961630" cy="8815070"/>
            </a:xfrm>
            <a:custGeom>
              <a:avLst/>
              <a:gdLst/>
              <a:ahLst/>
              <a:cxnLst/>
              <a:rect r="r" b="b" t="t" l="l"/>
              <a:pathLst>
                <a:path h="8815070" w="7961630">
                  <a:moveTo>
                    <a:pt x="0" y="0"/>
                  </a:moveTo>
                  <a:lnTo>
                    <a:pt x="7961630" y="0"/>
                  </a:lnTo>
                  <a:lnTo>
                    <a:pt x="7961630" y="8815070"/>
                  </a:lnTo>
                  <a:lnTo>
                    <a:pt x="0" y="88150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188720" y="2188464"/>
            <a:ext cx="530352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 móvel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7895749" y="2135029"/>
            <a:ext cx="5422582" cy="6611303"/>
            <a:chOff x="0" y="0"/>
            <a:chExt cx="7230110" cy="88150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30110" cy="8815070"/>
            </a:xfrm>
            <a:custGeom>
              <a:avLst/>
              <a:gdLst/>
              <a:ahLst/>
              <a:cxnLst/>
              <a:rect r="r" b="b" t="t" l="l"/>
              <a:pathLst>
                <a:path h="8815070" w="7230110">
                  <a:moveTo>
                    <a:pt x="0" y="0"/>
                  </a:moveTo>
                  <a:lnTo>
                    <a:pt x="7230110" y="0"/>
                  </a:lnTo>
                  <a:lnTo>
                    <a:pt x="7230110" y="8815070"/>
                  </a:lnTo>
                  <a:lnTo>
                    <a:pt x="0" y="88150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8229600" y="2188464"/>
            <a:ext cx="475488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Nuvem (Supabase)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4387989" y="2135029"/>
            <a:ext cx="3045142" cy="6611303"/>
            <a:chOff x="0" y="0"/>
            <a:chExt cx="4060190" cy="881507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060190" cy="8815070"/>
            </a:xfrm>
            <a:custGeom>
              <a:avLst/>
              <a:gdLst/>
              <a:ahLst/>
              <a:cxnLst/>
              <a:rect r="r" b="b" t="t" l="l"/>
              <a:pathLst>
                <a:path h="8815070" w="4060190">
                  <a:moveTo>
                    <a:pt x="0" y="0"/>
                  </a:moveTo>
                  <a:lnTo>
                    <a:pt x="4060190" y="0"/>
                  </a:lnTo>
                  <a:lnTo>
                    <a:pt x="4060190" y="8815070"/>
                  </a:lnTo>
                  <a:lnTo>
                    <a:pt x="0" y="8815070"/>
                  </a:ln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DFD6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14721840" y="2188464"/>
            <a:ext cx="237744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1188720" y="3108960"/>
            <a:ext cx="621792" cy="621792"/>
            <a:chOff x="0" y="0"/>
            <a:chExt cx="829056" cy="829056"/>
          </a:xfrm>
        </p:grpSpPr>
        <p:sp>
          <p:nvSpPr>
            <p:cNvPr name="Freeform 30" id="30" descr="/tmp/un/ppt/media/image53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956816" y="3108960"/>
            <a:ext cx="1920240" cy="621792"/>
            <a:chOff x="0" y="0"/>
            <a:chExt cx="2560320" cy="8290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956816" y="3073241"/>
            <a:ext cx="1920240" cy="657511"/>
            <a:chOff x="0" y="0"/>
            <a:chExt cx="2560320" cy="87668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956816" y="3037522"/>
            <a:ext cx="1920240" cy="693230"/>
            <a:chOff x="0" y="0"/>
            <a:chExt cx="2560320" cy="92430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956816" y="3001804"/>
            <a:ext cx="1920240" cy="728948"/>
            <a:chOff x="0" y="0"/>
            <a:chExt cx="2560320" cy="97193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56816" y="2966085"/>
            <a:ext cx="1920240" cy="764667"/>
            <a:chOff x="0" y="0"/>
            <a:chExt cx="2560320" cy="101955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956816" y="2930366"/>
            <a:ext cx="1920240" cy="800386"/>
            <a:chOff x="0" y="0"/>
            <a:chExt cx="2560320" cy="106718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956816" y="2894648"/>
            <a:ext cx="1920240" cy="836105"/>
            <a:chOff x="0" y="0"/>
            <a:chExt cx="2560320" cy="111480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956816" y="2858929"/>
            <a:ext cx="1920240" cy="871823"/>
            <a:chOff x="0" y="0"/>
            <a:chExt cx="2560320" cy="116243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Native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88720" y="4206240"/>
            <a:ext cx="621792" cy="621792"/>
            <a:chOff x="0" y="0"/>
            <a:chExt cx="829056" cy="829056"/>
          </a:xfrm>
        </p:grpSpPr>
        <p:sp>
          <p:nvSpPr>
            <p:cNvPr name="Freeform 49" id="49" descr="/tmp/un/ppt/media/image5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956816" y="4206240"/>
            <a:ext cx="1920240" cy="621792"/>
            <a:chOff x="0" y="0"/>
            <a:chExt cx="2560320" cy="829056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956816" y="4170521"/>
            <a:ext cx="1920240" cy="657511"/>
            <a:chOff x="0" y="0"/>
            <a:chExt cx="2560320" cy="87668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956816" y="4134803"/>
            <a:ext cx="1920240" cy="693230"/>
            <a:chOff x="0" y="0"/>
            <a:chExt cx="2560320" cy="92430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956816" y="4099084"/>
            <a:ext cx="1920240" cy="728948"/>
            <a:chOff x="0" y="0"/>
            <a:chExt cx="2560320" cy="97193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956816" y="4063365"/>
            <a:ext cx="1920240" cy="764667"/>
            <a:chOff x="0" y="0"/>
            <a:chExt cx="2560320" cy="10195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956816" y="4027646"/>
            <a:ext cx="1920240" cy="800386"/>
            <a:chOff x="0" y="0"/>
            <a:chExt cx="2560320" cy="1067181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956816" y="3991928"/>
            <a:ext cx="1920240" cy="836105"/>
            <a:chOff x="0" y="0"/>
            <a:chExt cx="2560320" cy="111480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956816" y="3956209"/>
            <a:ext cx="1920240" cy="871823"/>
            <a:chOff x="0" y="0"/>
            <a:chExt cx="2560320" cy="1162431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Expo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188720" y="5303520"/>
            <a:ext cx="621792" cy="621792"/>
            <a:chOff x="0" y="0"/>
            <a:chExt cx="829056" cy="829056"/>
          </a:xfrm>
        </p:grpSpPr>
        <p:sp>
          <p:nvSpPr>
            <p:cNvPr name="Freeform 68" id="68" descr="/tmp/un/ppt/media/image5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1956816" y="5303520"/>
            <a:ext cx="1920240" cy="621792"/>
            <a:chOff x="0" y="0"/>
            <a:chExt cx="2560320" cy="82905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956816" y="5267801"/>
            <a:ext cx="1920240" cy="657511"/>
            <a:chOff x="0" y="0"/>
            <a:chExt cx="2560320" cy="87668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73" id="73"/>
          <p:cNvGrpSpPr/>
          <p:nvPr/>
        </p:nvGrpSpPr>
        <p:grpSpPr>
          <a:xfrm rot="0">
            <a:off x="1956816" y="5232082"/>
            <a:ext cx="1920240" cy="693230"/>
            <a:chOff x="0" y="0"/>
            <a:chExt cx="2560320" cy="92430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956816" y="5196364"/>
            <a:ext cx="1920240" cy="728948"/>
            <a:chOff x="0" y="0"/>
            <a:chExt cx="2560320" cy="97193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956816" y="5160645"/>
            <a:ext cx="1920240" cy="764667"/>
            <a:chOff x="0" y="0"/>
            <a:chExt cx="2560320" cy="101955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956816" y="5124926"/>
            <a:ext cx="1920240" cy="800386"/>
            <a:chOff x="0" y="0"/>
            <a:chExt cx="2560320" cy="1067181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1956816" y="5089208"/>
            <a:ext cx="1920240" cy="836105"/>
            <a:chOff x="0" y="0"/>
            <a:chExt cx="2560320" cy="111480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956816" y="5053489"/>
            <a:ext cx="1920240" cy="871823"/>
            <a:chOff x="0" y="0"/>
            <a:chExt cx="2560320" cy="1162431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JavaScript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3931920" y="3109722"/>
            <a:ext cx="621792" cy="621792"/>
            <a:chOff x="0" y="0"/>
            <a:chExt cx="829056" cy="829056"/>
          </a:xfrm>
        </p:grpSpPr>
        <p:sp>
          <p:nvSpPr>
            <p:cNvPr name="Freeform 87" id="87" descr="/tmp/un/ppt/media/image7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4700016" y="3109722"/>
            <a:ext cx="1920240" cy="621792"/>
            <a:chOff x="0" y="0"/>
            <a:chExt cx="2560320" cy="82905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90" id="90"/>
          <p:cNvGrpSpPr/>
          <p:nvPr/>
        </p:nvGrpSpPr>
        <p:grpSpPr>
          <a:xfrm rot="0">
            <a:off x="4700016" y="3074003"/>
            <a:ext cx="1920240" cy="657511"/>
            <a:chOff x="0" y="0"/>
            <a:chExt cx="2560320" cy="876681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4700016" y="3038285"/>
            <a:ext cx="1920240" cy="693230"/>
            <a:chOff x="0" y="0"/>
            <a:chExt cx="2560320" cy="924306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4700016" y="3002566"/>
            <a:ext cx="1920240" cy="728948"/>
            <a:chOff x="0" y="0"/>
            <a:chExt cx="2560320" cy="971931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4700016" y="2966847"/>
            <a:ext cx="1920240" cy="764667"/>
            <a:chOff x="0" y="0"/>
            <a:chExt cx="2560320" cy="101955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4700016" y="2931128"/>
            <a:ext cx="1920240" cy="800386"/>
            <a:chOff x="0" y="0"/>
            <a:chExt cx="2560320" cy="106718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00" id="100"/>
          <p:cNvGrpSpPr/>
          <p:nvPr/>
        </p:nvGrpSpPr>
        <p:grpSpPr>
          <a:xfrm rot="0">
            <a:off x="4700016" y="2895410"/>
            <a:ext cx="1920240" cy="836105"/>
            <a:chOff x="0" y="0"/>
            <a:chExt cx="2560320" cy="1114806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4700016" y="2859691"/>
            <a:ext cx="1920240" cy="871823"/>
            <a:chOff x="0" y="0"/>
            <a:chExt cx="2560320" cy="1162431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GPS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3931920" y="4206240"/>
            <a:ext cx="621792" cy="621792"/>
            <a:chOff x="0" y="0"/>
            <a:chExt cx="829056" cy="829056"/>
          </a:xfrm>
        </p:grpSpPr>
        <p:sp>
          <p:nvSpPr>
            <p:cNvPr name="Freeform 106" id="106" descr="/tmp/un/ppt/media/image56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4700016" y="4206240"/>
            <a:ext cx="1920240" cy="621792"/>
            <a:chOff x="0" y="0"/>
            <a:chExt cx="2560320" cy="829056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09" id="109"/>
          <p:cNvGrpSpPr/>
          <p:nvPr/>
        </p:nvGrpSpPr>
        <p:grpSpPr>
          <a:xfrm rot="0">
            <a:off x="4700016" y="4170521"/>
            <a:ext cx="1920240" cy="657511"/>
            <a:chOff x="0" y="0"/>
            <a:chExt cx="2560320" cy="876681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11" id="111"/>
          <p:cNvGrpSpPr/>
          <p:nvPr/>
        </p:nvGrpSpPr>
        <p:grpSpPr>
          <a:xfrm rot="0">
            <a:off x="4700016" y="4134803"/>
            <a:ext cx="1920240" cy="693230"/>
            <a:chOff x="0" y="0"/>
            <a:chExt cx="2560320" cy="924306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13" id="113"/>
          <p:cNvGrpSpPr/>
          <p:nvPr/>
        </p:nvGrpSpPr>
        <p:grpSpPr>
          <a:xfrm rot="0">
            <a:off x="4700016" y="4099084"/>
            <a:ext cx="1920240" cy="728948"/>
            <a:chOff x="0" y="0"/>
            <a:chExt cx="2560320" cy="971931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4700016" y="4063365"/>
            <a:ext cx="1920240" cy="764667"/>
            <a:chOff x="0" y="0"/>
            <a:chExt cx="2560320" cy="1019556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4700016" y="4027646"/>
            <a:ext cx="1920240" cy="800386"/>
            <a:chOff x="0" y="0"/>
            <a:chExt cx="2560320" cy="1067181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4700016" y="3991928"/>
            <a:ext cx="1920240" cy="836105"/>
            <a:chOff x="0" y="0"/>
            <a:chExt cx="2560320" cy="1114806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121" id="121"/>
          <p:cNvGrpSpPr/>
          <p:nvPr/>
        </p:nvGrpSpPr>
        <p:grpSpPr>
          <a:xfrm rot="0">
            <a:off x="4700016" y="3956209"/>
            <a:ext cx="1920240" cy="871823"/>
            <a:chOff x="0" y="0"/>
            <a:chExt cx="2560320" cy="1162431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Mapa interativo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931920" y="5303520"/>
            <a:ext cx="621792" cy="621792"/>
            <a:chOff x="0" y="0"/>
            <a:chExt cx="829056" cy="829056"/>
          </a:xfrm>
        </p:grpSpPr>
        <p:sp>
          <p:nvSpPr>
            <p:cNvPr name="Freeform 125" id="125" descr="/tmp/un/ppt/media/image7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126" id="126"/>
          <p:cNvGrpSpPr/>
          <p:nvPr/>
        </p:nvGrpSpPr>
        <p:grpSpPr>
          <a:xfrm rot="0">
            <a:off x="4700016" y="5303520"/>
            <a:ext cx="1920240" cy="621792"/>
            <a:chOff x="0" y="0"/>
            <a:chExt cx="2560320" cy="829056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4700016" y="5267801"/>
            <a:ext cx="1920240" cy="657511"/>
            <a:chOff x="0" y="0"/>
            <a:chExt cx="2560320" cy="876681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30" id="130"/>
          <p:cNvGrpSpPr/>
          <p:nvPr/>
        </p:nvGrpSpPr>
        <p:grpSpPr>
          <a:xfrm rot="0">
            <a:off x="4700016" y="5232082"/>
            <a:ext cx="1920240" cy="693230"/>
            <a:chOff x="0" y="0"/>
            <a:chExt cx="2560320" cy="924306"/>
          </a:xfrm>
        </p:grpSpPr>
        <p:sp>
          <p:nvSpPr>
            <p:cNvPr name="Freeform 131" id="131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32" id="132"/>
          <p:cNvGrpSpPr/>
          <p:nvPr/>
        </p:nvGrpSpPr>
        <p:grpSpPr>
          <a:xfrm rot="0">
            <a:off x="4700016" y="5196364"/>
            <a:ext cx="1920240" cy="728948"/>
            <a:chOff x="0" y="0"/>
            <a:chExt cx="2560320" cy="971931"/>
          </a:xfrm>
        </p:grpSpPr>
        <p:sp>
          <p:nvSpPr>
            <p:cNvPr name="Freeform 133" id="133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34" id="134"/>
          <p:cNvGrpSpPr/>
          <p:nvPr/>
        </p:nvGrpSpPr>
        <p:grpSpPr>
          <a:xfrm rot="0">
            <a:off x="4700016" y="5160645"/>
            <a:ext cx="1920240" cy="764667"/>
            <a:chOff x="0" y="0"/>
            <a:chExt cx="2560320" cy="1019556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36" id="136"/>
          <p:cNvGrpSpPr/>
          <p:nvPr/>
        </p:nvGrpSpPr>
        <p:grpSpPr>
          <a:xfrm rot="0">
            <a:off x="4700016" y="5124926"/>
            <a:ext cx="1920240" cy="800386"/>
            <a:chOff x="0" y="0"/>
            <a:chExt cx="2560320" cy="1067181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38" id="138"/>
          <p:cNvGrpSpPr/>
          <p:nvPr/>
        </p:nvGrpSpPr>
        <p:grpSpPr>
          <a:xfrm rot="0">
            <a:off x="4700016" y="5089208"/>
            <a:ext cx="1920240" cy="836105"/>
            <a:chOff x="0" y="0"/>
            <a:chExt cx="2560320" cy="1114806"/>
          </a:xfrm>
        </p:grpSpPr>
        <p:sp>
          <p:nvSpPr>
            <p:cNvPr name="Freeform 139" id="139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140" id="140"/>
          <p:cNvGrpSpPr/>
          <p:nvPr/>
        </p:nvGrpSpPr>
        <p:grpSpPr>
          <a:xfrm rot="0">
            <a:off x="4700016" y="5053489"/>
            <a:ext cx="1920240" cy="871823"/>
            <a:chOff x="0" y="0"/>
            <a:chExt cx="2560320" cy="1162431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Câmera e galeria</a:t>
              </a:r>
            </a:p>
          </p:txBody>
        </p:sp>
      </p:grpSp>
      <p:grpSp>
        <p:nvGrpSpPr>
          <p:cNvPr name="Group 143" id="143"/>
          <p:cNvGrpSpPr/>
          <p:nvPr/>
        </p:nvGrpSpPr>
        <p:grpSpPr>
          <a:xfrm rot="0">
            <a:off x="3931920" y="6400800"/>
            <a:ext cx="621792" cy="621792"/>
            <a:chOff x="0" y="0"/>
            <a:chExt cx="829056" cy="829056"/>
          </a:xfrm>
        </p:grpSpPr>
        <p:sp>
          <p:nvSpPr>
            <p:cNvPr name="Freeform 144" id="144" descr="/tmp/un/ppt/media/image7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grpSp>
        <p:nvGrpSpPr>
          <p:cNvPr name="Group 145" id="145"/>
          <p:cNvGrpSpPr/>
          <p:nvPr/>
        </p:nvGrpSpPr>
        <p:grpSpPr>
          <a:xfrm rot="0">
            <a:off x="4700016" y="6400800"/>
            <a:ext cx="1920240" cy="621792"/>
            <a:chOff x="0" y="0"/>
            <a:chExt cx="2560320" cy="829056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47" id="147"/>
          <p:cNvGrpSpPr/>
          <p:nvPr/>
        </p:nvGrpSpPr>
        <p:grpSpPr>
          <a:xfrm rot="0">
            <a:off x="4700016" y="6365081"/>
            <a:ext cx="1920240" cy="657511"/>
            <a:chOff x="0" y="0"/>
            <a:chExt cx="2560320" cy="876681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4700016" y="6329363"/>
            <a:ext cx="1920240" cy="693230"/>
            <a:chOff x="0" y="0"/>
            <a:chExt cx="2560320" cy="924306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51" id="151"/>
          <p:cNvGrpSpPr/>
          <p:nvPr/>
        </p:nvGrpSpPr>
        <p:grpSpPr>
          <a:xfrm rot="0">
            <a:off x="4700016" y="6293644"/>
            <a:ext cx="1920240" cy="728948"/>
            <a:chOff x="0" y="0"/>
            <a:chExt cx="2560320" cy="971931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4700016" y="6257925"/>
            <a:ext cx="1920240" cy="764667"/>
            <a:chOff x="0" y="0"/>
            <a:chExt cx="2560320" cy="1019556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55" id="155"/>
          <p:cNvGrpSpPr/>
          <p:nvPr/>
        </p:nvGrpSpPr>
        <p:grpSpPr>
          <a:xfrm rot="0">
            <a:off x="4700016" y="6222206"/>
            <a:ext cx="1920240" cy="800386"/>
            <a:chOff x="0" y="0"/>
            <a:chExt cx="2560320" cy="1067181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57" id="157"/>
          <p:cNvGrpSpPr/>
          <p:nvPr/>
        </p:nvGrpSpPr>
        <p:grpSpPr>
          <a:xfrm rot="0">
            <a:off x="4700016" y="6186488"/>
            <a:ext cx="1920240" cy="836105"/>
            <a:chOff x="0" y="0"/>
            <a:chExt cx="2560320" cy="1114806"/>
          </a:xfrm>
        </p:grpSpPr>
        <p:sp>
          <p:nvSpPr>
            <p:cNvPr name="Freeform 158" id="158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159" id="159"/>
          <p:cNvGrpSpPr/>
          <p:nvPr/>
        </p:nvGrpSpPr>
        <p:grpSpPr>
          <a:xfrm rot="0">
            <a:off x="4700016" y="6150769"/>
            <a:ext cx="1920240" cy="871823"/>
            <a:chOff x="0" y="0"/>
            <a:chExt cx="2560320" cy="1162431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Notificações</a:t>
              </a:r>
            </a:p>
          </p:txBody>
        </p:sp>
      </p:grpSp>
      <p:grpSp>
        <p:nvGrpSpPr>
          <p:cNvPr name="Group 181" id="181"/>
          <p:cNvGrpSpPr/>
          <p:nvPr/>
        </p:nvGrpSpPr>
        <p:grpSpPr>
          <a:xfrm rot="0">
            <a:off x="3931920" y="7498841"/>
            <a:ext cx="621792" cy="621792"/>
            <a:chOff x="0" y="0"/>
            <a:chExt cx="829056" cy="829056"/>
          </a:xfrm>
        </p:grpSpPr>
        <p:sp>
          <p:nvSpPr>
            <p:cNvPr name="Freeform 182" id="182" descr="/tmp/un/ppt/media/image74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4700016" y="7498841"/>
            <a:ext cx="1920240" cy="621792"/>
            <a:chOff x="0" y="0"/>
            <a:chExt cx="2560320" cy="829056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2560320" cy="829056"/>
            </a:xfrm>
            <a:custGeom>
              <a:avLst/>
              <a:gdLst/>
              <a:ahLst/>
              <a:cxnLst/>
              <a:rect r="r" b="b" t="t" l="l"/>
              <a:pathLst>
                <a:path h="8290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33" r="0" b="-10131"/>
              </a:stretch>
            </a:blip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4700016" y="7463122"/>
            <a:ext cx="1920240" cy="657511"/>
            <a:chOff x="0" y="0"/>
            <a:chExt cx="2560320" cy="876681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2560320" cy="876681"/>
            </a:xfrm>
            <a:custGeom>
              <a:avLst/>
              <a:gdLst/>
              <a:ahLst/>
              <a:cxnLst/>
              <a:rect r="r" b="b" t="t" l="l"/>
              <a:pathLst>
                <a:path h="8766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876681"/>
                  </a:lnTo>
                  <a:lnTo>
                    <a:pt x="0" y="87668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66" r="0" b="-6865"/>
              </a:stretch>
            </a:blipFill>
          </p:spPr>
        </p:sp>
      </p:grpSp>
      <p:grpSp>
        <p:nvGrpSpPr>
          <p:cNvPr name="Group 187" id="187"/>
          <p:cNvGrpSpPr/>
          <p:nvPr/>
        </p:nvGrpSpPr>
        <p:grpSpPr>
          <a:xfrm rot="0">
            <a:off x="4700016" y="7427404"/>
            <a:ext cx="1920240" cy="693230"/>
            <a:chOff x="0" y="0"/>
            <a:chExt cx="2560320" cy="924306"/>
          </a:xfrm>
        </p:grpSpPr>
        <p:sp>
          <p:nvSpPr>
            <p:cNvPr name="Freeform 188" id="188"/>
            <p:cNvSpPr/>
            <p:nvPr/>
          </p:nvSpPr>
          <p:spPr>
            <a:xfrm flipH="false" flipV="false" rot="0">
              <a:off x="0" y="0"/>
              <a:ext cx="2560320" cy="924306"/>
            </a:xfrm>
            <a:custGeom>
              <a:avLst/>
              <a:gdLst/>
              <a:ahLst/>
              <a:cxnLst/>
              <a:rect r="r" b="b" t="t" l="l"/>
              <a:pathLst>
                <a:path h="9243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24306"/>
                  </a:lnTo>
                  <a:lnTo>
                    <a:pt x="0" y="92430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35" r="0" b="-3936"/>
              </a:stretch>
            </a:blipFill>
          </p:spPr>
        </p:sp>
      </p:grpSp>
      <p:grpSp>
        <p:nvGrpSpPr>
          <p:cNvPr name="Group 189" id="189"/>
          <p:cNvGrpSpPr/>
          <p:nvPr/>
        </p:nvGrpSpPr>
        <p:grpSpPr>
          <a:xfrm rot="0">
            <a:off x="4700016" y="7391685"/>
            <a:ext cx="1920240" cy="728948"/>
            <a:chOff x="0" y="0"/>
            <a:chExt cx="2560320" cy="971931"/>
          </a:xfrm>
        </p:grpSpPr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560320" cy="971931"/>
            </a:xfrm>
            <a:custGeom>
              <a:avLst/>
              <a:gdLst/>
              <a:ahLst/>
              <a:cxnLst/>
              <a:rect r="r" b="b" t="t" l="l"/>
              <a:pathLst>
                <a:path h="97193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971931"/>
                  </a:lnTo>
                  <a:lnTo>
                    <a:pt x="0" y="971931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93" r="0" b="-1292"/>
              </a:stretch>
            </a:blip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4700016" y="7355966"/>
            <a:ext cx="1920240" cy="764667"/>
            <a:chOff x="0" y="0"/>
            <a:chExt cx="2560320" cy="1019556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0" y="0"/>
              <a:ext cx="2560320" cy="1019556"/>
            </a:xfrm>
            <a:custGeom>
              <a:avLst/>
              <a:gdLst/>
              <a:ahLst/>
              <a:cxnLst/>
              <a:rect r="r" b="b" t="t" l="l"/>
              <a:pathLst>
                <a:path h="101955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19556"/>
                  </a:lnTo>
                  <a:lnTo>
                    <a:pt x="0" y="10195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127" t="0" r="-1127" b="0"/>
              </a:stretch>
            </a:blipFill>
          </p:spPr>
        </p:sp>
      </p:grpSp>
      <p:grpSp>
        <p:nvGrpSpPr>
          <p:cNvPr name="Group 193" id="193"/>
          <p:cNvGrpSpPr/>
          <p:nvPr/>
        </p:nvGrpSpPr>
        <p:grpSpPr>
          <a:xfrm rot="0">
            <a:off x="4700016" y="7320247"/>
            <a:ext cx="1920240" cy="800386"/>
            <a:chOff x="0" y="0"/>
            <a:chExt cx="2560320" cy="1067181"/>
          </a:xfrm>
        </p:grpSpPr>
        <p:sp>
          <p:nvSpPr>
            <p:cNvPr name="Freeform 194" id="194"/>
            <p:cNvSpPr/>
            <p:nvPr/>
          </p:nvSpPr>
          <p:spPr>
            <a:xfrm flipH="false" flipV="false" rot="0">
              <a:off x="0" y="0"/>
              <a:ext cx="2560320" cy="1067181"/>
            </a:xfrm>
            <a:custGeom>
              <a:avLst/>
              <a:gdLst/>
              <a:ahLst/>
              <a:cxnLst/>
              <a:rect r="r" b="b" t="t" l="l"/>
              <a:pathLst>
                <a:path h="1067181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067181"/>
                  </a:lnTo>
                  <a:lnTo>
                    <a:pt x="0" y="106718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516" t="0" r="-3515" b="0"/>
              </a:stretch>
            </a:blipFill>
          </p:spPr>
        </p:sp>
      </p:grpSp>
      <p:grpSp>
        <p:nvGrpSpPr>
          <p:cNvPr name="Group 195" id="195"/>
          <p:cNvGrpSpPr/>
          <p:nvPr/>
        </p:nvGrpSpPr>
        <p:grpSpPr>
          <a:xfrm rot="0">
            <a:off x="4700016" y="7284529"/>
            <a:ext cx="1920240" cy="836105"/>
            <a:chOff x="0" y="0"/>
            <a:chExt cx="2560320" cy="1114806"/>
          </a:xfrm>
        </p:grpSpPr>
        <p:sp>
          <p:nvSpPr>
            <p:cNvPr name="Freeform 196" id="196"/>
            <p:cNvSpPr/>
            <p:nvPr/>
          </p:nvSpPr>
          <p:spPr>
            <a:xfrm flipH="false" flipV="false" rot="0">
              <a:off x="0" y="0"/>
              <a:ext cx="2560320" cy="1114806"/>
            </a:xfrm>
            <a:custGeom>
              <a:avLst/>
              <a:gdLst/>
              <a:ahLst/>
              <a:cxnLst/>
              <a:rect r="r" b="b" t="t" l="l"/>
              <a:pathLst>
                <a:path h="1114806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14806"/>
                  </a:lnTo>
                  <a:lnTo>
                    <a:pt x="0" y="1114806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5904" t="0" r="-5904" b="0"/>
              </a:stretch>
            </a:blipFill>
          </p:spPr>
        </p:sp>
      </p:grpSp>
      <p:grpSp>
        <p:nvGrpSpPr>
          <p:cNvPr name="Group 197" id="197"/>
          <p:cNvGrpSpPr/>
          <p:nvPr/>
        </p:nvGrpSpPr>
        <p:grpSpPr>
          <a:xfrm rot="0">
            <a:off x="4700016" y="7248810"/>
            <a:ext cx="1920240" cy="871823"/>
            <a:chOff x="0" y="0"/>
            <a:chExt cx="2560320" cy="1162431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2560320" cy="1162432"/>
            </a:xfrm>
            <a:custGeom>
              <a:avLst/>
              <a:gdLst/>
              <a:ahLst/>
              <a:cxnLst/>
              <a:rect r="r" b="b" t="t" l="l"/>
              <a:pathLst>
                <a:path h="1162432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1162432"/>
                  </a:lnTo>
                  <a:lnTo>
                    <a:pt x="0" y="1162432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-8252" t="0" r="-8252" b="0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47625"/>
              <a:ext cx="2560320" cy="12100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8"/>
                </a:lnSpc>
              </a:pPr>
              <a:r>
                <a:rPr lang="en-US" sz="2199">
                  <a:solidFill>
                    <a:srgbClr val="1B2A1F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Google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8229600" y="3182112"/>
            <a:ext cx="621792" cy="621792"/>
            <a:chOff x="0" y="0"/>
            <a:chExt cx="829056" cy="829056"/>
          </a:xfrm>
        </p:grpSpPr>
        <p:sp>
          <p:nvSpPr>
            <p:cNvPr name="Freeform 201" id="201" descr="/tmp/un/ppt/media/image75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202" id="202"/>
          <p:cNvSpPr txBox="true"/>
          <p:nvPr/>
        </p:nvSpPr>
        <p:spPr>
          <a:xfrm rot="0">
            <a:off x="9052560" y="2727960"/>
            <a:ext cx="402336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Supabase Auth</a:t>
            </a:r>
          </a:p>
        </p:txBody>
      </p:sp>
      <p:sp>
        <p:nvSpPr>
          <p:cNvPr name="TextBox 203" id="203"/>
          <p:cNvSpPr txBox="true"/>
          <p:nvPr/>
        </p:nvSpPr>
        <p:spPr>
          <a:xfrm rot="0">
            <a:off x="9052560" y="3206496"/>
            <a:ext cx="402336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login, sessão e Google (OAuth)</a:t>
            </a:r>
          </a:p>
        </p:txBody>
      </p:sp>
      <p:grpSp>
        <p:nvGrpSpPr>
          <p:cNvPr name="Group 204" id="204"/>
          <p:cNvGrpSpPr/>
          <p:nvPr/>
        </p:nvGrpSpPr>
        <p:grpSpPr>
          <a:xfrm rot="0">
            <a:off x="8229600" y="4279392"/>
            <a:ext cx="621792" cy="621792"/>
            <a:chOff x="0" y="0"/>
            <a:chExt cx="829056" cy="829056"/>
          </a:xfrm>
        </p:grpSpPr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-2127" r="0" b="-2127"/>
              </a:stretch>
            </a:blipFill>
          </p:spPr>
        </p:sp>
      </p:grpSp>
      <p:sp>
        <p:nvSpPr>
          <p:cNvPr name="TextBox 206" id="206"/>
          <p:cNvSpPr txBox="true"/>
          <p:nvPr/>
        </p:nvSpPr>
        <p:spPr>
          <a:xfrm rot="0">
            <a:off x="9052560" y="3825240"/>
            <a:ext cx="402336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PostgreSQL + RLS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9052560" y="4303776"/>
            <a:ext cx="402336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dados e controle de acesso</a:t>
            </a:r>
          </a:p>
        </p:txBody>
      </p:sp>
      <p:grpSp>
        <p:nvGrpSpPr>
          <p:cNvPr name="Group 208" id="208"/>
          <p:cNvGrpSpPr/>
          <p:nvPr/>
        </p:nvGrpSpPr>
        <p:grpSpPr>
          <a:xfrm rot="0">
            <a:off x="8229600" y="5376672"/>
            <a:ext cx="621792" cy="621792"/>
            <a:chOff x="0" y="0"/>
            <a:chExt cx="829056" cy="829056"/>
          </a:xfrm>
        </p:grpSpPr>
        <p:sp>
          <p:nvSpPr>
            <p:cNvPr name="Freeform 209" id="209" descr="/tmp/un/ppt/media/image60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TextBox 210" id="210"/>
          <p:cNvSpPr txBox="true"/>
          <p:nvPr/>
        </p:nvSpPr>
        <p:spPr>
          <a:xfrm rot="0">
            <a:off x="9052560" y="4922520"/>
            <a:ext cx="402336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Storage</a:t>
            </a:r>
          </a:p>
        </p:txBody>
      </p:sp>
      <p:sp>
        <p:nvSpPr>
          <p:cNvPr name="TextBox 211" id="211"/>
          <p:cNvSpPr txBox="true"/>
          <p:nvPr/>
        </p:nvSpPr>
        <p:spPr>
          <a:xfrm rot="0">
            <a:off x="9052560" y="5401056"/>
            <a:ext cx="402336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armazenamento de imagens</a:t>
            </a:r>
          </a:p>
        </p:txBody>
      </p:sp>
      <p:grpSp>
        <p:nvGrpSpPr>
          <p:cNvPr name="Group 212" id="212"/>
          <p:cNvGrpSpPr/>
          <p:nvPr/>
        </p:nvGrpSpPr>
        <p:grpSpPr>
          <a:xfrm rot="0">
            <a:off x="8229600" y="6473952"/>
            <a:ext cx="621792" cy="621792"/>
            <a:chOff x="0" y="0"/>
            <a:chExt cx="829056" cy="829056"/>
          </a:xfrm>
        </p:grpSpPr>
        <p:sp>
          <p:nvSpPr>
            <p:cNvPr name="Freeform 213" id="213" descr="/tmp/un/ppt/media/image61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sp>
        <p:nvSpPr>
          <p:cNvPr name="TextBox 214" id="214"/>
          <p:cNvSpPr txBox="true"/>
          <p:nvPr/>
        </p:nvSpPr>
        <p:spPr>
          <a:xfrm rot="0">
            <a:off x="9052560" y="6019800"/>
            <a:ext cx="402336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Realtime</a:t>
            </a:r>
          </a:p>
        </p:txBody>
      </p:sp>
      <p:sp>
        <p:nvSpPr>
          <p:cNvPr name="TextBox 215" id="215"/>
          <p:cNvSpPr txBox="true"/>
          <p:nvPr/>
        </p:nvSpPr>
        <p:spPr>
          <a:xfrm rot="0">
            <a:off x="9052560" y="6498336"/>
            <a:ext cx="402336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atualizações em tempo real</a:t>
            </a:r>
          </a:p>
        </p:txBody>
      </p:sp>
      <p:grpSp>
        <p:nvGrpSpPr>
          <p:cNvPr name="Group 216" id="216"/>
          <p:cNvGrpSpPr/>
          <p:nvPr/>
        </p:nvGrpSpPr>
        <p:grpSpPr>
          <a:xfrm rot="0">
            <a:off x="8229600" y="7571232"/>
            <a:ext cx="621792" cy="621792"/>
            <a:chOff x="0" y="0"/>
            <a:chExt cx="829056" cy="829056"/>
          </a:xfrm>
        </p:grpSpPr>
        <p:sp>
          <p:nvSpPr>
            <p:cNvPr name="Freeform 217" id="217" descr="/tmp/un/ppt/media/image62.png"/>
            <p:cNvSpPr/>
            <p:nvPr/>
          </p:nvSpPr>
          <p:spPr>
            <a:xfrm flipH="false" flipV="false" rot="0">
              <a:off x="0" y="0"/>
              <a:ext cx="829056" cy="829056"/>
            </a:xfrm>
            <a:custGeom>
              <a:avLst/>
              <a:gdLst/>
              <a:ahLst/>
              <a:cxnLst/>
              <a:rect r="r" b="b" t="t" l="l"/>
              <a:pathLst>
                <a:path h="829056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829056"/>
                  </a:lnTo>
                  <a:lnTo>
                    <a:pt x="0" y="8290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sp>
        <p:nvSpPr>
          <p:cNvPr name="TextBox 218" id="218"/>
          <p:cNvSpPr txBox="true"/>
          <p:nvPr/>
        </p:nvSpPr>
        <p:spPr>
          <a:xfrm rot="0">
            <a:off x="9052560" y="7117080"/>
            <a:ext cx="402336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Edge Functions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9052560" y="7595616"/>
            <a:ext cx="4023360" cy="853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guardam chaves de serviços externos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14721840" y="4282440"/>
            <a:ext cx="256032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Evolution API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14721840" y="4760976"/>
            <a:ext cx="256032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hospedada no Render</a:t>
            </a:r>
          </a:p>
        </p:txBody>
      </p:sp>
      <p:grpSp>
        <p:nvGrpSpPr>
          <p:cNvPr name="Group 222" id="222"/>
          <p:cNvGrpSpPr/>
          <p:nvPr/>
        </p:nvGrpSpPr>
        <p:grpSpPr>
          <a:xfrm rot="0">
            <a:off x="14721840" y="5989320"/>
            <a:ext cx="731520" cy="731520"/>
            <a:chOff x="0" y="0"/>
            <a:chExt cx="975360" cy="975360"/>
          </a:xfrm>
        </p:grpSpPr>
        <p:sp>
          <p:nvSpPr>
            <p:cNvPr name="Freeform 223" id="223" descr="/tmp/un/ppt/media/image64.png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sp>
        <p:nvSpPr>
          <p:cNvPr name="TextBox 224" id="224"/>
          <p:cNvSpPr txBox="true"/>
          <p:nvPr/>
        </p:nvSpPr>
        <p:spPr>
          <a:xfrm rot="0">
            <a:off x="14721840" y="6717030"/>
            <a:ext cx="2560320" cy="7833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WhatsApp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14721840" y="7193280"/>
            <a:ext cx="256032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envia mensagens</a:t>
            </a:r>
          </a:p>
        </p:txBody>
      </p:sp>
      <p:sp>
        <p:nvSpPr>
          <p:cNvPr name="AutoShape 226" id="226"/>
          <p:cNvSpPr/>
          <p:nvPr/>
        </p:nvSpPr>
        <p:spPr>
          <a:xfrm rot="54900">
            <a:off x="6764750" y="5227320"/>
            <a:ext cx="1192320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7" id="227"/>
          <p:cNvSpPr txBox="true"/>
          <p:nvPr/>
        </p:nvSpPr>
        <p:spPr>
          <a:xfrm rot="0">
            <a:off x="6675120" y="4358640"/>
            <a:ext cx="13716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</a:t>
            </a:r>
          </a:p>
        </p:txBody>
      </p:sp>
      <p:sp>
        <p:nvSpPr>
          <p:cNvPr name="AutoShape 228" id="228"/>
          <p:cNvSpPr/>
          <p:nvPr/>
        </p:nvSpPr>
        <p:spPr>
          <a:xfrm rot="54900">
            <a:off x="13256990" y="5227320"/>
            <a:ext cx="1192320" cy="0"/>
          </a:xfrm>
          <a:prstGeom prst="line">
            <a:avLst/>
          </a:prstGeom>
          <a:ln cap="rnd" w="19050">
            <a:solidFill>
              <a:srgbClr val="B1734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229" id="229"/>
          <p:cNvSpPr txBox="true"/>
          <p:nvPr/>
        </p:nvSpPr>
        <p:spPr>
          <a:xfrm rot="0">
            <a:off x="13167360" y="4358640"/>
            <a:ext cx="1371600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HTTPS/API</a:t>
            </a:r>
          </a:p>
        </p:txBody>
      </p:sp>
      <p:sp>
        <p:nvSpPr>
          <p:cNvPr name="TextBox 230" id="230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20</a:t>
            </a:r>
          </a:p>
        </p:txBody>
      </p:sp>
      <p:grpSp>
        <p:nvGrpSpPr>
          <p:cNvPr name="Group 231" id="231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33" id="233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34" id="234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5" id="235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36" id="236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7" id="237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38" id="238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39" id="239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40" id="240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41" id="241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42" id="242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43" id="243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244" id="244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245" id="245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246" id="246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247" id="247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248" id="248"/>
          <p:cNvGrpSpPr/>
          <p:nvPr/>
        </p:nvGrpSpPr>
        <p:grpSpPr>
          <a:xfrm rot="0">
            <a:off x="14721840" y="3474720"/>
            <a:ext cx="731520" cy="731520"/>
            <a:chOff x="0" y="0"/>
            <a:chExt cx="975360" cy="975360"/>
          </a:xfrm>
        </p:grpSpPr>
        <p:sp>
          <p:nvSpPr>
            <p:cNvPr name="Freeform 249" id="249"/>
            <p:cNvSpPr/>
            <p:nvPr/>
          </p:nvSpPr>
          <p:spPr>
            <a:xfrm flipH="false" flipV="false" rot="0">
              <a:off x="0" y="0"/>
              <a:ext cx="975360" cy="975360"/>
            </a:xfrm>
            <a:custGeom>
              <a:avLst/>
              <a:gdLst/>
              <a:ahLst/>
              <a:cxnLst/>
              <a:rect r="r" b="b" t="t" l="l"/>
              <a:pathLst>
                <a:path h="975360" w="975360">
                  <a:moveTo>
                    <a:pt x="0" y="0"/>
                  </a:moveTo>
                  <a:lnTo>
                    <a:pt x="975360" y="0"/>
                  </a:lnTo>
                  <a:lnTo>
                    <a:pt x="975360" y="975360"/>
                  </a:lnTo>
                  <a:lnTo>
                    <a:pt x="0" y="975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-4444" r="0" b="-4445"/>
              </a:stretch>
            </a:blipFill>
          </p:spPr>
        </p:sp>
      </p:grpSp>
      <p:grpSp>
        <p:nvGrpSpPr>
          <p:cNvPr name="Group 250" id="250"/>
          <p:cNvGrpSpPr/>
          <p:nvPr/>
        </p:nvGrpSpPr>
        <p:grpSpPr>
          <a:xfrm rot="0">
            <a:off x="15087600" y="5824728"/>
            <a:ext cx="329184" cy="329184"/>
            <a:chOff x="0" y="0"/>
            <a:chExt cx="438912" cy="438912"/>
          </a:xfrm>
        </p:grpSpPr>
        <p:sp>
          <p:nvSpPr>
            <p:cNvPr name="Freeform 251" id="251" descr="/tmp/un/ppt/media/image72.png"/>
            <p:cNvSpPr/>
            <p:nvPr/>
          </p:nvSpPr>
          <p:spPr>
            <a:xfrm flipH="false" flipV="false" rot="0">
              <a:off x="0" y="0"/>
              <a:ext cx="438912" cy="438912"/>
            </a:xfrm>
            <a:custGeom>
              <a:avLst/>
              <a:gdLst/>
              <a:ahLst/>
              <a:cxnLst/>
              <a:rect r="r" b="b" t="t" l="l"/>
              <a:pathLst>
                <a:path h="438912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438912"/>
                  </a:lnTo>
                  <a:lnTo>
                    <a:pt x="0" y="4389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Tecnologias: uma base de código móvel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" y="2474976"/>
            <a:ext cx="4572000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Uma base de código para as plataformas móveis; sem benchmark contra o desenvolvimento nativo.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6528816" y="2286000"/>
            <a:ext cx="768096" cy="768096"/>
            <a:chOff x="0" y="0"/>
            <a:chExt cx="1024128" cy="1024128"/>
          </a:xfrm>
        </p:grpSpPr>
        <p:sp>
          <p:nvSpPr>
            <p:cNvPr name="Freeform 21" id="21" descr="/tmp/un/ppt/media/image5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8412480" y="2286000"/>
            <a:ext cx="768096" cy="768096"/>
            <a:chOff x="0" y="0"/>
            <a:chExt cx="1024128" cy="1024128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0296144" y="2286000"/>
            <a:ext cx="768096" cy="768096"/>
            <a:chOff x="0" y="0"/>
            <a:chExt cx="1024128" cy="1024128"/>
          </a:xfrm>
        </p:grpSpPr>
        <p:sp>
          <p:nvSpPr>
            <p:cNvPr name="Freeform 25" id="25" descr="/tmp/un/ppt/media/image5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2179808" y="2286000"/>
            <a:ext cx="768096" cy="768096"/>
            <a:chOff x="0" y="0"/>
            <a:chExt cx="1024128" cy="10241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4063472" y="2286000"/>
            <a:ext cx="768096" cy="768096"/>
            <a:chOff x="0" y="0"/>
            <a:chExt cx="1024128" cy="1024128"/>
          </a:xfrm>
        </p:grpSpPr>
        <p:sp>
          <p:nvSpPr>
            <p:cNvPr name="Freeform 29" id="29" descr="/tmp/un/ppt/media/image57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AutoShape 30" id="30"/>
          <p:cNvSpPr/>
          <p:nvPr/>
        </p:nvSpPr>
        <p:spPr>
          <a:xfrm rot="1980">
            <a:off x="871528" y="3930396"/>
            <a:ext cx="165449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914400" y="4358640"/>
            <a:ext cx="4572000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Menos infraestrutura própria para manter; depende da disponibilidade do provedor.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559536" y="4169664"/>
            <a:ext cx="768096" cy="768096"/>
            <a:chOff x="0" y="0"/>
            <a:chExt cx="1024128" cy="1024128"/>
          </a:xfrm>
        </p:grpSpPr>
        <p:sp>
          <p:nvSpPr>
            <p:cNvPr name="Freeform 33" id="33" descr="/tmp/un/ppt/media/image58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443200" y="4169664"/>
            <a:ext cx="768096" cy="768096"/>
            <a:chOff x="0" y="0"/>
            <a:chExt cx="1024128" cy="10241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2127" r="0" b="-2126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2326864" y="4169664"/>
            <a:ext cx="768096" cy="768096"/>
            <a:chOff x="0" y="0"/>
            <a:chExt cx="1024128" cy="1024128"/>
          </a:xfrm>
        </p:grpSpPr>
        <p:sp>
          <p:nvSpPr>
            <p:cNvPr name="Freeform 37" id="37" descr="/tmp/un/ppt/media/image60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4210528" y="4169664"/>
            <a:ext cx="768096" cy="768096"/>
            <a:chOff x="0" y="0"/>
            <a:chExt cx="1024128" cy="1024128"/>
          </a:xfrm>
        </p:grpSpPr>
        <p:sp>
          <p:nvSpPr>
            <p:cNvPr name="Freeform 39" id="39" descr="/tmp/un/ppt/media/image61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6094192" y="4169664"/>
            <a:ext cx="768096" cy="768096"/>
            <a:chOff x="0" y="0"/>
            <a:chExt cx="1024128" cy="1024128"/>
          </a:xfrm>
        </p:grpSpPr>
        <p:sp>
          <p:nvSpPr>
            <p:cNvPr name="Freeform 41" id="41" descr="/tmp/un/ppt/media/image62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AutoShape 42" id="42"/>
          <p:cNvSpPr/>
          <p:nvPr/>
        </p:nvSpPr>
        <p:spPr>
          <a:xfrm rot="1980">
            <a:off x="871528" y="5814060"/>
            <a:ext cx="165449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3" id="43"/>
          <p:cNvSpPr txBox="true"/>
          <p:nvPr/>
        </p:nvSpPr>
        <p:spPr>
          <a:xfrm rot="0">
            <a:off x="914400" y="6242304"/>
            <a:ext cx="4572000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Códigos de verificação e avisos de avistamento, correspondência e devolução.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528816" y="6053328"/>
            <a:ext cx="768096" cy="768096"/>
            <a:chOff x="0" y="0"/>
            <a:chExt cx="1024128" cy="1024128"/>
          </a:xfrm>
        </p:grpSpPr>
        <p:sp>
          <p:nvSpPr>
            <p:cNvPr name="Freeform 45" id="45" descr="/tmp/un/ppt/media/image63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0" t="0" r="0" b="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412480" y="6053328"/>
            <a:ext cx="768096" cy="768096"/>
            <a:chOff x="0" y="0"/>
            <a:chExt cx="1024128" cy="1024128"/>
          </a:xfrm>
        </p:grpSpPr>
        <p:sp>
          <p:nvSpPr>
            <p:cNvPr name="Freeform 47" id="47" descr="/tmp/un/ppt/media/image64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1"/>
              <a:stretch>
                <a:fillRect l="0" t="0" r="0" b="0"/>
              </a:stretch>
            </a:blipFill>
          </p:spPr>
        </p:sp>
      </p:grpSp>
      <p:sp>
        <p:nvSpPr>
          <p:cNvPr name="AutoShape 48" id="48"/>
          <p:cNvSpPr/>
          <p:nvPr/>
        </p:nvSpPr>
        <p:spPr>
          <a:xfrm rot="1980">
            <a:off x="871528" y="7697724"/>
            <a:ext cx="16544935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9" id="49"/>
          <p:cNvSpPr txBox="true"/>
          <p:nvPr/>
        </p:nvSpPr>
        <p:spPr>
          <a:xfrm rot="0">
            <a:off x="914400" y="8125968"/>
            <a:ext cx="4572000" cy="1493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Copilot no código; ChatGPT na busca exploratória e na identidade visual, com revisão do autor.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6528816" y="7938802"/>
            <a:ext cx="768096" cy="768096"/>
            <a:chOff x="0" y="0"/>
            <a:chExt cx="1024128" cy="1024128"/>
          </a:xfrm>
        </p:grpSpPr>
        <p:sp>
          <p:nvSpPr>
            <p:cNvPr name="Freeform 51" id="51" descr="/tmp/un/ppt/media/image65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57413" y="7938802"/>
            <a:ext cx="768096" cy="768096"/>
            <a:chOff x="0" y="0"/>
            <a:chExt cx="1024128" cy="1024128"/>
          </a:xfrm>
        </p:grpSpPr>
        <p:sp>
          <p:nvSpPr>
            <p:cNvPr name="Freeform 53" id="53" descr="/tmp/un/ppt/media/image66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/>
              <a:stretch>
                <a:fillRect l="0" t="0" r="0" b="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455270" y="7938802"/>
            <a:ext cx="768096" cy="768096"/>
            <a:chOff x="0" y="0"/>
            <a:chExt cx="1024128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/>
              <a:stretch>
                <a:fillRect l="0" t="0" r="0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3183857" y="7938802"/>
            <a:ext cx="768096" cy="768096"/>
            <a:chOff x="0" y="0"/>
            <a:chExt cx="1024128" cy="102412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/>
              <a:stretch>
                <a:fillRect l="0" t="0" r="0" b="0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4912454" y="7938802"/>
            <a:ext cx="768096" cy="768096"/>
            <a:chOff x="0" y="0"/>
            <a:chExt cx="1024128" cy="1024128"/>
          </a:xfrm>
        </p:grpSpPr>
        <p:sp>
          <p:nvSpPr>
            <p:cNvPr name="Freeform 59" id="59" descr="/tmp/un/ppt/media/image69.png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/>
              <a:stretch>
                <a:fillRect l="0" t="0" r="0" b="0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6528816" y="4169664"/>
            <a:ext cx="768096" cy="768096"/>
            <a:chOff x="0" y="0"/>
            <a:chExt cx="1024128" cy="102412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/>
              <a:stretch>
                <a:fillRect l="0" t="0" r="0" b="0"/>
              </a:stretch>
            </a:blipFill>
          </p:spPr>
        </p:sp>
      </p:grpSp>
      <p:grpSp>
        <p:nvGrpSpPr>
          <p:cNvPr name="Group 79" id="79"/>
          <p:cNvGrpSpPr/>
          <p:nvPr/>
        </p:nvGrpSpPr>
        <p:grpSpPr>
          <a:xfrm rot="0">
            <a:off x="15809214" y="2359152"/>
            <a:ext cx="1080516" cy="768096"/>
            <a:chOff x="0" y="0"/>
            <a:chExt cx="1440688" cy="1024128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44068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440688">
                  <a:moveTo>
                    <a:pt x="0" y="0"/>
                  </a:moveTo>
                  <a:lnTo>
                    <a:pt x="1440688" y="0"/>
                  </a:lnTo>
                  <a:lnTo>
                    <a:pt x="144068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/>
              <a:stretch>
                <a:fillRect l="-49590" t="0" r="-49590" b="0"/>
              </a:stretch>
            </a:blipFill>
          </p:spPr>
        </p:sp>
      </p:grpSp>
      <p:grpSp>
        <p:nvGrpSpPr>
          <p:cNvPr name="Group 81" id="81"/>
          <p:cNvGrpSpPr/>
          <p:nvPr/>
        </p:nvGrpSpPr>
        <p:grpSpPr>
          <a:xfrm rot="0">
            <a:off x="9986010" y="7950232"/>
            <a:ext cx="508730" cy="745236"/>
            <a:chOff x="0" y="0"/>
            <a:chExt cx="678307" cy="99364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678307" cy="993648"/>
            </a:xfrm>
            <a:custGeom>
              <a:avLst/>
              <a:gdLst/>
              <a:ahLst/>
              <a:cxnLst/>
              <a:rect r="r" b="b" t="t" l="l"/>
              <a:pathLst>
                <a:path h="993648" w="678307">
                  <a:moveTo>
                    <a:pt x="0" y="0"/>
                  </a:moveTo>
                  <a:lnTo>
                    <a:pt x="678307" y="0"/>
                  </a:lnTo>
                  <a:lnTo>
                    <a:pt x="678307" y="993648"/>
                  </a:lnTo>
                  <a:lnTo>
                    <a:pt x="0" y="9936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9"/>
              <a:stretch>
                <a:fillRect l="0" t="-1197" r="0" b="-1198"/>
              </a:stretch>
            </a:blipFill>
          </p:spPr>
        </p:sp>
      </p:grpSp>
      <p:sp>
        <p:nvSpPr>
          <p:cNvPr name="TextBox 83" id="83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14400" y="2042160"/>
            <a:ext cx="4572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Aplicativo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998464" y="3060192"/>
            <a:ext cx="1828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React Native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7882128" y="3060192"/>
            <a:ext cx="18288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Expo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765792" y="3060192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JavaScript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1649456" y="3060192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Maps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13533120" y="3060192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NativeWind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914400" y="3925824"/>
            <a:ext cx="45720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Backend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8029184" y="4943856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 Auth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9912848" y="4943856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PostgreSQL + RLS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11796512" y="4943856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Storage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3680176" y="4943856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Realtime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15563840" y="4943856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Edge Functions</a:t>
            </a:r>
          </a:p>
        </p:txBody>
      </p:sp>
      <p:sp>
        <p:nvSpPr>
          <p:cNvPr name="TextBox 96" id="96"/>
          <p:cNvSpPr txBox="true"/>
          <p:nvPr/>
        </p:nvSpPr>
        <p:spPr>
          <a:xfrm rot="0">
            <a:off x="914400" y="5809488"/>
            <a:ext cx="4572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Mensageria</a:t>
            </a:r>
          </a:p>
        </p:txBody>
      </p:sp>
      <p:sp>
        <p:nvSpPr>
          <p:cNvPr name="TextBox 97" id="97"/>
          <p:cNvSpPr txBox="true"/>
          <p:nvPr/>
        </p:nvSpPr>
        <p:spPr>
          <a:xfrm rot="0">
            <a:off x="5998464" y="6827520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Evolution API (Render)</a:t>
            </a:r>
          </a:p>
        </p:txBody>
      </p:sp>
      <p:sp>
        <p:nvSpPr>
          <p:cNvPr name="TextBox 98" id="98"/>
          <p:cNvSpPr txBox="true"/>
          <p:nvPr/>
        </p:nvSpPr>
        <p:spPr>
          <a:xfrm rot="0">
            <a:off x="7882128" y="6827520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WhatsApp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914400" y="7693152"/>
            <a:ext cx="4572000" cy="70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5998464" y="8711184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 e GitHub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7772400" y="8711184"/>
            <a:ext cx="1828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Trello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9390888" y="8711184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Figma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11043780" y="8711184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Astah UML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12808953" y="8711184"/>
            <a:ext cx="1828800" cy="1036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VS Code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14363814" y="8711184"/>
            <a:ext cx="18653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ChatGPT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16459200" y="9433560"/>
            <a:ext cx="9144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21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6053328" y="4928616"/>
            <a:ext cx="1828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Supabase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5345918" y="3060192"/>
            <a:ext cx="1828800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Google API</a:t>
            </a:r>
          </a:p>
        </p:txBody>
      </p:sp>
      <p:grpSp>
        <p:nvGrpSpPr>
          <p:cNvPr name="Group 109" id="109"/>
          <p:cNvGrpSpPr/>
          <p:nvPr/>
        </p:nvGrpSpPr>
        <p:grpSpPr>
          <a:xfrm rot="0">
            <a:off x="16641051" y="7938802"/>
            <a:ext cx="768096" cy="768096"/>
            <a:chOff x="0" y="0"/>
            <a:chExt cx="1024128" cy="1024128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/>
              <a:stretch>
                <a:fillRect l="0" t="0" r="0" b="0"/>
              </a:stretch>
            </a:blipFill>
          </p:spPr>
        </p:sp>
      </p:grpSp>
      <p:sp>
        <p:nvSpPr>
          <p:cNvPr name="TextBox 111" id="111"/>
          <p:cNvSpPr txBox="true"/>
          <p:nvPr/>
        </p:nvSpPr>
        <p:spPr>
          <a:xfrm rot="0">
            <a:off x="16110699" y="8714794"/>
            <a:ext cx="186537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GitHub Copilot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Identidade visual: encontrar em conjunto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37360" y="2560320"/>
            <a:ext cx="4754880" cy="4608576"/>
            <a:chOff x="0" y="0"/>
            <a:chExt cx="6339840" cy="6144768"/>
          </a:xfrm>
        </p:grpSpPr>
        <p:sp>
          <p:nvSpPr>
            <p:cNvPr name="Freeform 19" id="19" descr="/tmp/un/ppt/media/image37.png"/>
            <p:cNvSpPr/>
            <p:nvPr/>
          </p:nvSpPr>
          <p:spPr>
            <a:xfrm flipH="false" flipV="false" rot="0">
              <a:off x="0" y="0"/>
              <a:ext cx="6339840" cy="6144768"/>
            </a:xfrm>
            <a:custGeom>
              <a:avLst/>
              <a:gdLst/>
              <a:ahLst/>
              <a:cxnLst/>
              <a:rect r="r" b="b" t="t" l="l"/>
              <a:pathLst>
                <a:path h="6144768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6144768"/>
                  </a:lnTo>
                  <a:lnTo>
                    <a:pt x="0" y="61447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397481" y="7634688"/>
            <a:ext cx="3891848" cy="561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nós  </a:t>
            </a:r>
            <a:r>
              <a:rPr lang="en-US" sz="2600" b="true">
                <a:solidFill>
                  <a:srgbClr val="2E563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Find</a:t>
            </a:r>
            <a:r>
              <a:rPr lang="en-US" sz="26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= encontrar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8549640"/>
            <a:ext cx="6400800" cy="1089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Cão e gato em volta de um pin de localização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22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3037132" y="6862124"/>
            <a:ext cx="2612546" cy="104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8"/>
              </a:lnSpc>
            </a:pPr>
            <a:r>
              <a:rPr lang="en-US" b="true" sz="5553" spc="52">
                <a:solidFill>
                  <a:srgbClr val="B57645"/>
                </a:solidFill>
                <a:latin typeface="Roboto Bold"/>
                <a:ea typeface="Roboto Bold"/>
                <a:cs typeface="Roboto Bold"/>
                <a:sym typeface="Roboto Bold"/>
              </a:rPr>
              <a:t>We</a:t>
            </a:r>
            <a:r>
              <a:rPr lang="en-US" b="true" sz="5553" spc="52">
                <a:solidFill>
                  <a:srgbClr val="3C5D40"/>
                </a:solidFill>
                <a:latin typeface="Roboto Bold"/>
                <a:ea typeface="Roboto Bold"/>
                <a:cs typeface="Roboto Bold"/>
                <a:sym typeface="Roboto Bold"/>
              </a:rPr>
              <a:t>FIND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7389362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99" t="0" r="-198" b="0"/>
            </a:stretch>
          </a:blipFill>
        </p:spPr>
      </p:sp>
      <p:sp>
        <p:nvSpPr>
          <p:cNvPr name="TextBox 40" id="40"/>
          <p:cNvSpPr txBox="true"/>
          <p:nvPr/>
        </p:nvSpPr>
        <p:spPr>
          <a:xfrm rot="0">
            <a:off x="7397115" y="3754022"/>
            <a:ext cx="10479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Primária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397115" y="4258847"/>
            <a:ext cx="8734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#2E5634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339844" y="2567235"/>
            <a:ext cx="1762392" cy="1236688"/>
          </a:xfrm>
          <a:custGeom>
            <a:avLst/>
            <a:gdLst/>
            <a:ahLst/>
            <a:cxnLst/>
            <a:rect r="r" b="b" t="t" l="l"/>
            <a:pathLst>
              <a:path h="1236688" w="1762392">
                <a:moveTo>
                  <a:pt x="0" y="0"/>
                </a:moveTo>
                <a:lnTo>
                  <a:pt x="1762391" y="0"/>
                </a:lnTo>
                <a:lnTo>
                  <a:pt x="1762391" y="1236688"/>
                </a:lnTo>
                <a:lnTo>
                  <a:pt x="0" y="123668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199" t="0" r="-198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9347597" y="3754022"/>
            <a:ext cx="132714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Secundária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347597" y="4258847"/>
            <a:ext cx="95361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#B1734A</a:t>
            </a:r>
          </a:p>
        </p:txBody>
      </p:sp>
      <p:sp>
        <p:nvSpPr>
          <p:cNvPr name="Freeform 45" id="45"/>
          <p:cNvSpPr/>
          <p:nvPr/>
        </p:nvSpPr>
        <p:spPr>
          <a:xfrm flipH="false" flipV="false" rot="0">
            <a:off x="7389409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7397115" y="6470523"/>
            <a:ext cx="140976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Encontrado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397115" y="6971300"/>
            <a:ext cx="9552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#15803D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1270371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4" y="0"/>
                </a:lnTo>
                <a:lnTo>
                  <a:pt x="1752304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11278076" y="6466475"/>
            <a:ext cx="9221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Adoção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278076" y="6971300"/>
            <a:ext cx="92215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#DB2777</a:t>
            </a:r>
          </a:p>
        </p:txBody>
      </p:sp>
      <p:sp>
        <p:nvSpPr>
          <p:cNvPr name="Freeform 51" id="51"/>
          <p:cNvSpPr/>
          <p:nvPr/>
        </p:nvSpPr>
        <p:spPr>
          <a:xfrm flipH="false" flipV="false" rot="0">
            <a:off x="9329890" y="5286727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52" id="52"/>
          <p:cNvSpPr txBox="true"/>
          <p:nvPr/>
        </p:nvSpPr>
        <p:spPr>
          <a:xfrm rot="0">
            <a:off x="9347597" y="6470523"/>
            <a:ext cx="95361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Perdido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347597" y="6971300"/>
            <a:ext cx="95361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#D64545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7397115" y="1931346"/>
            <a:ext cx="3756431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a. Principais cores do aplicativo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397115" y="4650791"/>
            <a:ext cx="364336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b. Tipos de Publicação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7389409" y="7999171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7397115" y="9178919"/>
            <a:ext cx="704888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Aviso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7397115" y="9683744"/>
            <a:ext cx="9552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#D97706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7397115" y="7363244"/>
            <a:ext cx="4083787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c. Avisos e elementos da interface</a:t>
            </a:r>
          </a:p>
        </p:txBody>
      </p:sp>
      <p:sp>
        <p:nvSpPr>
          <p:cNvPr name="Freeform 60" id="60"/>
          <p:cNvSpPr/>
          <p:nvPr/>
        </p:nvSpPr>
        <p:spPr>
          <a:xfrm flipH="false" flipV="false" rot="0">
            <a:off x="9339891" y="8003229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9347597" y="9182976"/>
            <a:ext cx="180595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Texto Principal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9347597" y="9687801"/>
            <a:ext cx="9552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#0F172A</a:t>
            </a:r>
          </a:p>
        </p:txBody>
      </p:sp>
      <p:sp>
        <p:nvSpPr>
          <p:cNvPr name="Freeform 63" id="63"/>
          <p:cNvSpPr/>
          <p:nvPr/>
        </p:nvSpPr>
        <p:spPr>
          <a:xfrm flipH="false" flipV="false" rot="0">
            <a:off x="11290373" y="8007286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1"/>
                </a:lnTo>
                <a:lnTo>
                  <a:pt x="0" y="1229611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64" id="64"/>
          <p:cNvSpPr txBox="true"/>
          <p:nvPr/>
        </p:nvSpPr>
        <p:spPr>
          <a:xfrm rot="0">
            <a:off x="11298079" y="9187024"/>
            <a:ext cx="8484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Fundo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298079" y="9691849"/>
            <a:ext cx="9552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#F6F8F6</a:t>
            </a:r>
          </a:p>
        </p:txBody>
      </p:sp>
      <p:sp>
        <p:nvSpPr>
          <p:cNvPr name="Freeform 66" id="66"/>
          <p:cNvSpPr/>
          <p:nvPr/>
        </p:nvSpPr>
        <p:spPr>
          <a:xfrm flipH="false" flipV="false" rot="0">
            <a:off x="13240855" y="8011335"/>
            <a:ext cx="1752305" cy="1229611"/>
          </a:xfrm>
          <a:custGeom>
            <a:avLst/>
            <a:gdLst/>
            <a:ahLst/>
            <a:cxnLst/>
            <a:rect r="r" b="b" t="t" l="l"/>
            <a:pathLst>
              <a:path h="1229611" w="1752305">
                <a:moveTo>
                  <a:pt x="0" y="0"/>
                </a:moveTo>
                <a:lnTo>
                  <a:pt x="1752305" y="0"/>
                </a:lnTo>
                <a:lnTo>
                  <a:pt x="1752305" y="1229610"/>
                </a:lnTo>
                <a:lnTo>
                  <a:pt x="0" y="1229610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-343" r="0" b="-342"/>
            </a:stretch>
          </a:blipFill>
        </p:spPr>
      </p:sp>
      <p:sp>
        <p:nvSpPr>
          <p:cNvPr name="TextBox 67" id="67"/>
          <p:cNvSpPr txBox="true"/>
          <p:nvPr/>
        </p:nvSpPr>
        <p:spPr>
          <a:xfrm rot="0">
            <a:off x="13248561" y="9191082"/>
            <a:ext cx="1223953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00"/>
              </a:lnSpc>
            </a:pPr>
            <a:r>
              <a:rPr lang="en-US" sz="225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Superfície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3248561" y="9695907"/>
            <a:ext cx="955281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40"/>
              </a:lnSpc>
            </a:pPr>
            <a:r>
              <a:rPr lang="en-US" sz="1950">
                <a:solidFill>
                  <a:srgbClr val="4B5563"/>
                </a:solidFill>
                <a:latin typeface="Calibri (MS)"/>
                <a:ea typeface="Calibri (MS)"/>
                <a:cs typeface="Calibri (MS)"/>
                <a:sym typeface="Calibri (MS)"/>
              </a:rPr>
              <a:t>#FFFFFF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Demonstração do WeFIND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Próximas etapas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Testes que ainda serão realizados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PRÓXIMAS ETAPAS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será avaliado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773805"/>
            <a:ext cx="40233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Conferir cada requisito nos fluxos principais, no celular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26280" y="2003108"/>
            <a:ext cx="548640" cy="1654492"/>
            <a:chOff x="0" y="0"/>
            <a:chExt cx="731520" cy="22059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12064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2064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Segurança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2064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com o MobSF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732520" y="2003108"/>
            <a:ext cx="548640" cy="1654492"/>
            <a:chOff x="0" y="0"/>
            <a:chExt cx="731520" cy="22059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38760" y="2095976"/>
            <a:ext cx="548640" cy="1561624"/>
            <a:chOff x="0" y="0"/>
            <a:chExt cx="731520" cy="20821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38760" y="2003108"/>
            <a:ext cx="548640" cy="1654492"/>
            <a:chOff x="0" y="0"/>
            <a:chExt cx="731520" cy="22059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32688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3312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2688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3312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32688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Tarefas no Quant UX e questionário SUS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53312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Pares do mesmo animal e de animais diferentes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25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914400" y="5989320"/>
            <a:ext cx="16459200" cy="2606040"/>
          </a:xfrm>
          <a:prstGeom prst="roundRect">
            <a:avLst>
              <a:gd name="adj" fmla="val 8000"/>
            </a:avLst>
          </a:prstGeom>
          <a:solidFill>
            <a:srgbClr val="EE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371600" y="5989320"/>
            <a:ext cx="7315200" cy="2606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B1734A"/>
                </a:solidFill>
                <a:latin typeface="Calibri (MS) Bold"/>
              </a:rPr>
              <a:t>FOCO: USABILIDADE COM O QUANT UX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1B2A1F"/>
                </a:solidFill>
                <a:latin typeface="Calibri (MS)"/>
              </a:rPr>
              <a:t>Tutores fazem tarefas reais no aplicativo, como publicar um animal perdido e registrar um avistamento.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01200" y="5989320"/>
            <a:ext cx="7315200" cy="2606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000" b="1">
                <a:solidFill>
                  <a:srgbClr val="B1734A"/>
                </a:solidFill>
                <a:latin typeface="Calibri (MS) Bold"/>
              </a:rPr>
              <a:t>O QUE SERÁ MEDIDO</a:t>
            </a:r>
          </a:p>
          <a:p>
            <a:pPr>
              <a:spcBef>
                <a:spcPts val="1000"/>
              </a:spcBef>
            </a:pPr>
            <a:r>
              <a:rPr sz="2400" b="0">
                <a:solidFill>
                  <a:srgbClr val="1B2A1F"/>
                </a:solidFill>
                <a:latin typeface="Calibri (MS)"/>
              </a:rPr>
              <a:t>Conclusão de cada tarefa, tempo gasto e onde as pessoas tocam. Ao final, o questionário SUS.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8778240"/>
            <a:ext cx="1554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800" b="0">
                <a:solidFill>
                  <a:srgbClr val="5B6B5F"/>
                </a:solidFill>
                <a:latin typeface="Calibri (MS)"/>
              </a:rPr>
              <a:t>Etapa prevista para depois da qualificação; os resultados entram na versão final do TCC.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Testes e Feedback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Usabilidade, segurança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5E8063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5E8063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30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Como o aplicativo foi examinado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01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3773805"/>
            <a:ext cx="402336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Verificação funcional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Pelo autor, em set. e out. de 2026, no Redmi Note 13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5943600" y="2560320"/>
            <a:ext cx="548640" cy="1097280"/>
            <a:chOff x="0" y="0"/>
            <a:chExt cx="731520" cy="14630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5943600" y="2467451"/>
            <a:ext cx="548640" cy="1190149"/>
            <a:chOff x="0" y="0"/>
            <a:chExt cx="731520" cy="158686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5943600" y="2374583"/>
            <a:ext cx="548640" cy="1283018"/>
            <a:chOff x="0" y="0"/>
            <a:chExt cx="731520" cy="171069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943600" y="2281714"/>
            <a:ext cx="548640" cy="1375886"/>
            <a:chOff x="0" y="0"/>
            <a:chExt cx="731520" cy="183451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5943600" y="2188845"/>
            <a:ext cx="548640" cy="1468755"/>
            <a:chOff x="0" y="0"/>
            <a:chExt cx="731520" cy="19583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4526280" y="2095976"/>
            <a:ext cx="548640" cy="1561624"/>
            <a:chOff x="0" y="0"/>
            <a:chExt cx="731520" cy="208216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4526280" y="2003108"/>
            <a:ext cx="548640" cy="1654492"/>
            <a:chOff x="0" y="0"/>
            <a:chExt cx="731520" cy="220599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512064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2064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Análise estática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2064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 4.5.4, em 14/10/2026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1612880" y="2560320"/>
            <a:ext cx="548640" cy="1097280"/>
            <a:chOff x="0" y="0"/>
            <a:chExt cx="731520" cy="14630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31520" cy="1463040"/>
            </a:xfrm>
            <a:custGeom>
              <a:avLst/>
              <a:gdLst/>
              <a:ahLst/>
              <a:cxnLst/>
              <a:rect r="r" b="b" t="t" l="l"/>
              <a:pathLst>
                <a:path h="14630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06786" t="0" r="-206784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612880" y="2467451"/>
            <a:ext cx="548640" cy="1190149"/>
            <a:chOff x="0" y="0"/>
            <a:chExt cx="731520" cy="1586865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31520" cy="1586865"/>
            </a:xfrm>
            <a:custGeom>
              <a:avLst/>
              <a:gdLst/>
              <a:ahLst/>
              <a:cxnLst/>
              <a:rect r="r" b="b" t="t" l="l"/>
              <a:pathLst>
                <a:path h="15868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586865"/>
                  </a:lnTo>
                  <a:lnTo>
                    <a:pt x="0" y="15868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8519" t="0" r="-228519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612880" y="2374583"/>
            <a:ext cx="548640" cy="1283018"/>
            <a:chOff x="0" y="0"/>
            <a:chExt cx="731520" cy="17106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1520" cy="1710690"/>
            </a:xfrm>
            <a:custGeom>
              <a:avLst/>
              <a:gdLst/>
              <a:ahLst/>
              <a:cxnLst/>
              <a:rect r="r" b="b" t="t" l="l"/>
              <a:pathLst>
                <a:path h="17106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710690"/>
                  </a:lnTo>
                  <a:lnTo>
                    <a:pt x="0" y="17106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250251" t="0" r="-250251" b="0"/>
              </a:stretch>
            </a:blip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612880" y="2281714"/>
            <a:ext cx="548640" cy="1375886"/>
            <a:chOff x="0" y="0"/>
            <a:chExt cx="731520" cy="1834515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1520" cy="1834515"/>
            </a:xfrm>
            <a:custGeom>
              <a:avLst/>
              <a:gdLst/>
              <a:ahLst/>
              <a:cxnLst/>
              <a:rect r="r" b="b" t="t" l="l"/>
              <a:pathLst>
                <a:path h="183451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834515"/>
                  </a:lnTo>
                  <a:lnTo>
                    <a:pt x="0" y="18345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-271984" t="0" r="-271986" b="0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1612880" y="2188845"/>
            <a:ext cx="548640" cy="1468755"/>
            <a:chOff x="0" y="0"/>
            <a:chExt cx="731520" cy="195834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1520" cy="1958340"/>
            </a:xfrm>
            <a:custGeom>
              <a:avLst/>
              <a:gdLst/>
              <a:ahLst/>
              <a:cxnLst/>
              <a:rect r="r" b="b" t="t" l="l"/>
              <a:pathLst>
                <a:path h="195834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1958340"/>
                  </a:lnTo>
                  <a:lnTo>
                    <a:pt x="0" y="19583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93718" t="0" r="-293718" b="0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8732520" y="2095976"/>
            <a:ext cx="548640" cy="1561624"/>
            <a:chOff x="0" y="0"/>
            <a:chExt cx="731520" cy="208216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8732520" y="2003108"/>
            <a:ext cx="548640" cy="1654492"/>
            <a:chOff x="0" y="0"/>
            <a:chExt cx="731520" cy="220599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2938760" y="2095976"/>
            <a:ext cx="548640" cy="1561624"/>
            <a:chOff x="0" y="0"/>
            <a:chExt cx="731520" cy="2082165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31520" cy="2082165"/>
            </a:xfrm>
            <a:custGeom>
              <a:avLst/>
              <a:gdLst/>
              <a:ahLst/>
              <a:cxnLst/>
              <a:rect r="r" b="b" t="t" l="l"/>
              <a:pathLst>
                <a:path h="2082165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082165"/>
                  </a:lnTo>
                  <a:lnTo>
                    <a:pt x="0" y="20821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-315451" t="0" r="-315451" b="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938760" y="2003108"/>
            <a:ext cx="548640" cy="1654492"/>
            <a:chOff x="0" y="0"/>
            <a:chExt cx="731520" cy="220599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731520" cy="2205990"/>
            </a:xfrm>
            <a:custGeom>
              <a:avLst/>
              <a:gdLst/>
              <a:ahLst/>
              <a:cxnLst/>
              <a:rect r="r" b="b" t="t" l="l"/>
              <a:pathLst>
                <a:path h="220599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2205990"/>
                  </a:lnTo>
                  <a:lnTo>
                    <a:pt x="0" y="22059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-336915" t="0" r="-336915" b="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23825"/>
              <a:ext cx="731520" cy="2329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>
                  <a:solidFill>
                    <a:srgbClr val="A9B8A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›</a:t>
              </a:r>
            </a:p>
          </p:txBody>
        </p:sp>
      </p:grpSp>
      <p:sp>
        <p:nvSpPr>
          <p:cNvPr name="TextBox 59" id="59"/>
          <p:cNvSpPr txBox="true"/>
          <p:nvPr/>
        </p:nvSpPr>
        <p:spPr>
          <a:xfrm rot="0">
            <a:off x="932688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03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3533120" y="2402205"/>
            <a:ext cx="18288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18"/>
              </a:lnSpc>
            </a:pPr>
            <a:r>
              <a:rPr lang="en-US" sz="7598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04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32688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3533120" y="3773805"/>
            <a:ext cx="384048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Correspondência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32688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tutores, 5 tarefas e SUS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3533120" y="4652391"/>
            <a:ext cx="3566160" cy="1796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20 pares fictícios, em 16/10/2026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31</a:t>
            </a:r>
          </a:p>
        </p:txBody>
      </p:sp>
      <p:grpSp>
        <p:nvGrpSpPr>
          <p:cNvPr name="Group 66" id="6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MobSF: triagem, não certificação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51/100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0" y="2585085"/>
            <a:ext cx="82296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Pontuação da ferramenta, não é uma certificação de segurança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3623310"/>
            <a:ext cx="80467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Os alertas pedem revisão manual; não são vulnerabilidades confirmadas.</a:t>
            </a:r>
          </a:p>
        </p:txBody>
      </p:sp>
      <p:sp>
        <p:nvSpPr>
          <p:cNvPr name="AutoShape 35" id="35"/>
          <p:cNvSpPr/>
          <p:nvPr/>
        </p:nvSpPr>
        <p:spPr>
          <a:xfrm rot="1980">
            <a:off x="876290" y="545306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1 alerta alto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Instalação possível em versões antigas do Android.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8368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Avisos para revisão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8368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7 no manifesto e 7 no código; vários vêm de bibliotecas.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5296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Nenhum rastreador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296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Entre as 432 assinaturas examinadas.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853630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estática do APK em 14/10/2026 (MobSF 4.5.4). Sem teste dinâmico, teste de invasão ou auditoria da infraestrutura.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32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005840"/>
            <a:ext cx="4754880" cy="164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Usabilidade: SUS com 12 tutores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3108960"/>
            <a:ext cx="4937760" cy="1828800"/>
            <a:chOff x="0" y="0"/>
            <a:chExt cx="6583680" cy="2438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583680" cy="2438400"/>
            </a:xfrm>
            <a:custGeom>
              <a:avLst/>
              <a:gdLst/>
              <a:ahLst/>
              <a:cxnLst/>
              <a:rect r="r" b="b" t="t" l="l"/>
              <a:pathLst>
                <a:path h="24384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38400"/>
                  </a:lnTo>
                  <a:lnTo>
                    <a:pt x="0" y="2438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72" r="0" b="-257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3101816"/>
            <a:ext cx="4937760" cy="1835944"/>
            <a:chOff x="0" y="0"/>
            <a:chExt cx="6583680" cy="24479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583680" cy="2447925"/>
            </a:xfrm>
            <a:custGeom>
              <a:avLst/>
              <a:gdLst/>
              <a:ahLst/>
              <a:cxnLst/>
              <a:rect r="r" b="b" t="t" l="l"/>
              <a:pathLst>
                <a:path h="24479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47925"/>
                  </a:lnTo>
                  <a:lnTo>
                    <a:pt x="0" y="244792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68" r="0" b="-236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3094672"/>
            <a:ext cx="4937760" cy="1843088"/>
            <a:chOff x="0" y="0"/>
            <a:chExt cx="6583680" cy="2457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583680" cy="2457450"/>
            </a:xfrm>
            <a:custGeom>
              <a:avLst/>
              <a:gdLst/>
              <a:ahLst/>
              <a:cxnLst/>
              <a:rect r="r" b="b" t="t" l="l"/>
              <a:pathLst>
                <a:path h="24574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57450"/>
                  </a:lnTo>
                  <a:lnTo>
                    <a:pt x="0" y="24574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65" r="0" b="-216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3087529"/>
            <a:ext cx="4937760" cy="1850231"/>
            <a:chOff x="0" y="0"/>
            <a:chExt cx="6583680" cy="24669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3680" cy="2466975"/>
            </a:xfrm>
            <a:custGeom>
              <a:avLst/>
              <a:gdLst/>
              <a:ahLst/>
              <a:cxnLst/>
              <a:rect r="r" b="b" t="t" l="l"/>
              <a:pathLst>
                <a:path h="246697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66975"/>
                  </a:lnTo>
                  <a:lnTo>
                    <a:pt x="0" y="246697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963" r="0" b="-1963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3080385"/>
            <a:ext cx="4937760" cy="1857375"/>
            <a:chOff x="0" y="0"/>
            <a:chExt cx="6583680" cy="2476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583680" cy="2476500"/>
            </a:xfrm>
            <a:custGeom>
              <a:avLst/>
              <a:gdLst/>
              <a:ahLst/>
              <a:cxnLst/>
              <a:rect r="r" b="b" t="t" l="l"/>
              <a:pathLst>
                <a:path h="247650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76500"/>
                  </a:lnTo>
                  <a:lnTo>
                    <a:pt x="0" y="24765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764" r="0" b="-1764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3073241"/>
            <a:ext cx="4937760" cy="1864519"/>
            <a:chOff x="0" y="0"/>
            <a:chExt cx="6583680" cy="24860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583680" cy="2486025"/>
            </a:xfrm>
            <a:custGeom>
              <a:avLst/>
              <a:gdLst/>
              <a:ahLst/>
              <a:cxnLst/>
              <a:rect r="r" b="b" t="t" l="l"/>
              <a:pathLst>
                <a:path h="2486025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86025"/>
                  </a:lnTo>
                  <a:lnTo>
                    <a:pt x="0" y="248602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565" r="0" b="-1565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3066098"/>
            <a:ext cx="4937760" cy="1871662"/>
            <a:chOff x="0" y="0"/>
            <a:chExt cx="6583680" cy="24955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583680" cy="2495550"/>
            </a:xfrm>
            <a:custGeom>
              <a:avLst/>
              <a:gdLst/>
              <a:ahLst/>
              <a:cxnLst/>
              <a:rect r="r" b="b" t="t" l="l"/>
              <a:pathLst>
                <a:path h="2495550" w="6583680">
                  <a:moveTo>
                    <a:pt x="0" y="0"/>
                  </a:moveTo>
                  <a:lnTo>
                    <a:pt x="6583680" y="0"/>
                  </a:lnTo>
                  <a:lnTo>
                    <a:pt x="6583680" y="2495550"/>
                  </a:lnTo>
                  <a:lnTo>
                    <a:pt x="0" y="249555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404" r="0" b="-1404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6583680" cy="25050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439"/>
                </a:lnSpc>
              </a:pPr>
              <a:r>
                <a:rPr lang="en-US" sz="11199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93,33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914400" y="4762500"/>
            <a:ext cx="457200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média SUS: grau A+ (a partir de 84,1)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14400" y="6450330"/>
            <a:ext cx="475488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5 tarefas no aplicativo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6957060"/>
            <a:ext cx="4572000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12 de 12 disseram ter concluído todas com facilidade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583680" y="914400"/>
            <a:ext cx="10789920" cy="6675120"/>
            <a:chOff x="0" y="0"/>
            <a:chExt cx="14386560" cy="8900160"/>
          </a:xfrm>
        </p:grpSpPr>
        <p:sp>
          <p:nvSpPr>
            <p:cNvPr name="Freeform 23" id="23" descr="/tmp/un/ppt/media/image43.png"/>
            <p:cNvSpPr/>
            <p:nvPr/>
          </p:nvSpPr>
          <p:spPr>
            <a:xfrm flipH="false" flipV="false" rot="0">
              <a:off x="0" y="0"/>
              <a:ext cx="14386561" cy="8900160"/>
            </a:xfrm>
            <a:custGeom>
              <a:avLst/>
              <a:gdLst/>
              <a:ahLst/>
              <a:cxnLst/>
              <a:rect r="r" b="b" t="t" l="l"/>
              <a:pathLst>
                <a:path h="8900160" w="14386561">
                  <a:moveTo>
                    <a:pt x="0" y="0"/>
                  </a:moveTo>
                  <a:lnTo>
                    <a:pt x="14386561" y="0"/>
                  </a:lnTo>
                  <a:lnTo>
                    <a:pt x="14386561" y="8900160"/>
                  </a:lnTo>
                  <a:lnTo>
                    <a:pt x="0" y="8900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-29" t="0" r="-29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583680" y="7896225"/>
            <a:ext cx="10789920" cy="1430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Escala de Sauro e Lewis (2016). Amostra pequena e conclusão autorrelatada. APK distribuído pela landing page no GitHub Pages.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33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6400800" cy="245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11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Considerações finais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1000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Entregas, limites e próximos passos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3040" y="8869680"/>
            <a:ext cx="1645920" cy="91440"/>
            <a:chOff x="0" y="0"/>
            <a:chExt cx="2194560" cy="12192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8" id="8"/>
          <p:cNvSpPr txBox="true"/>
          <p:nvPr/>
        </p:nvSpPr>
        <p:spPr>
          <a:xfrm rot="0">
            <a:off x="1463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3291840" y="8869680"/>
            <a:ext cx="1645920" cy="91440"/>
            <a:chOff x="0" y="0"/>
            <a:chExt cx="2194560" cy="12192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2918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02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5120640" y="8869680"/>
            <a:ext cx="1645920" cy="91440"/>
            <a:chOff x="0" y="0"/>
            <a:chExt cx="2194560" cy="1219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1206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03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949440" y="8869680"/>
            <a:ext cx="1645920" cy="91440"/>
            <a:chOff x="0" y="0"/>
            <a:chExt cx="2194560" cy="121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494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8778240" y="8869680"/>
            <a:ext cx="1645920" cy="91440"/>
            <a:chOff x="0" y="0"/>
            <a:chExt cx="2194560" cy="1219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C9D8CB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87782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C9D8CB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607040" y="8869680"/>
            <a:ext cx="1645920" cy="91440"/>
            <a:chOff x="0" y="0"/>
            <a:chExt cx="2194560" cy="12192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94560" cy="121920"/>
            </a:xfrm>
            <a:custGeom>
              <a:avLst/>
              <a:gdLst/>
              <a:ahLst/>
              <a:cxnLst/>
              <a:rect r="r" b="b" t="t" l="l"/>
              <a:pathLst>
                <a:path h="121920" w="2194560">
                  <a:moveTo>
                    <a:pt x="0" y="60960"/>
                  </a:moveTo>
                  <a:cubicBezTo>
                    <a:pt x="0" y="27305"/>
                    <a:pt x="27305" y="0"/>
                    <a:pt x="60960" y="0"/>
                  </a:cubicBezTo>
                  <a:lnTo>
                    <a:pt x="2133600" y="0"/>
                  </a:lnTo>
                  <a:cubicBezTo>
                    <a:pt x="2167255" y="0"/>
                    <a:pt x="2194560" y="27305"/>
                    <a:pt x="2194560" y="60960"/>
                  </a:cubicBezTo>
                  <a:cubicBezTo>
                    <a:pt x="2194560" y="94615"/>
                    <a:pt x="2167255" y="121920"/>
                    <a:pt x="2133600" y="121920"/>
                  </a:cubicBezTo>
                  <a:lnTo>
                    <a:pt x="60960" y="121920"/>
                  </a:lnTo>
                  <a:cubicBezTo>
                    <a:pt x="27305" y="121920"/>
                    <a:pt x="0" y="94615"/>
                    <a:pt x="0" y="60960"/>
                  </a:cubicBezTo>
                  <a:close/>
                </a:path>
              </a:pathLst>
            </a:custGeom>
            <a:solidFill>
              <a:srgbClr val="E3B58F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607040" y="8999220"/>
            <a:ext cx="1645920" cy="5714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 b="true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26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146304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06  CONSIDERAÇÕES FINAIS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Considerações finais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914400" y="2061210"/>
            <a:ext cx="512064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Entregue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" y="2891790"/>
            <a:ext cx="5120640" cy="62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Aplicativo WeFIND funcional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Mapa georreferenciado e rota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Avistamentos colaborativos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Chat, cartaz com QR e devolução segura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Correspondências sugeridas automaticamente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583680" y="2061210"/>
            <a:ext cx="512064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583680" y="2891790"/>
            <a:ext cx="5120640" cy="3571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Avaliação com usuários ainda não realizada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Pesquisa de campo por conveniência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Pesos de correspondência ainda não calibrados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de publicações só no aparelho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Privacidade de usuários ainda depende da interface</a:t>
            </a:r>
          </a:p>
        </p:txBody>
      </p:sp>
      <p:sp>
        <p:nvSpPr>
          <p:cNvPr name="AutoShape 22" id="22"/>
          <p:cNvSpPr/>
          <p:nvPr/>
        </p:nvSpPr>
        <p:spPr>
          <a:xfrm>
            <a:off x="6035040" y="2175397"/>
            <a:ext cx="0" cy="671036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12252960" y="2061210"/>
            <a:ext cx="5120640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Próximos passos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52960" y="2891790"/>
            <a:ext cx="5120640" cy="625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de usabilidade com Quant UX e SUS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Testar a correspondência com pares revisados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Análise de segurança do APK (MobSF)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Restringir no banco os dados de perfil e as coordenadas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Limpeza global de publicações no backend</a:t>
            </a:r>
          </a:p>
          <a:p>
            <a:pPr algn="l" marL="313690" indent="-156845" lvl="1">
              <a:lnSpc>
                <a:spcPts val="3120"/>
              </a:lnSpc>
              <a:buFont typeface="Arial"/>
              <a:buChar char="•"/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Avaliar IA para comparar fotos</a:t>
            </a:r>
          </a:p>
        </p:txBody>
      </p:sp>
      <p:sp>
        <p:nvSpPr>
          <p:cNvPr name="AutoShape 25" id="25"/>
          <p:cNvSpPr/>
          <p:nvPr/>
        </p:nvSpPr>
        <p:spPr>
          <a:xfrm>
            <a:off x="12047116" y="2175397"/>
            <a:ext cx="0" cy="671036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27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803234"/>
            <a:ext cx="16459200" cy="1097280"/>
            <a:chOff x="0" y="0"/>
            <a:chExt cx="21945600" cy="14630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14400" y="796090"/>
            <a:ext cx="16459200" cy="1104424"/>
            <a:chOff x="0" y="0"/>
            <a:chExt cx="21945600" cy="147256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" y="788946"/>
            <a:ext cx="16459200" cy="1111568"/>
            <a:chOff x="0" y="0"/>
            <a:chExt cx="21945600" cy="148209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781802"/>
            <a:ext cx="16459200" cy="1118711"/>
            <a:chOff x="0" y="0"/>
            <a:chExt cx="21945600" cy="14916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14400" y="774659"/>
            <a:ext cx="16459200" cy="1125855"/>
            <a:chOff x="0" y="0"/>
            <a:chExt cx="21945600" cy="15011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14400" y="767515"/>
            <a:ext cx="16459200" cy="1132999"/>
            <a:chOff x="0" y="0"/>
            <a:chExt cx="21945600" cy="15106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760371"/>
            <a:ext cx="16459200" cy="1140142"/>
            <a:chOff x="0" y="0"/>
            <a:chExt cx="21945600" cy="152019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914400" y="753227"/>
            <a:ext cx="16459200" cy="1147286"/>
            <a:chOff x="0" y="0"/>
            <a:chExt cx="21945600" cy="152971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Principais referências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36" id="36"/>
          <p:cNvSpPr txBox="true"/>
          <p:nvPr/>
        </p:nvSpPr>
        <p:spPr>
          <a:xfrm rot="0">
            <a:off x="914400" y="2002155"/>
            <a:ext cx="7863840" cy="718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BRASIL.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Lei nº 13.709, de 14 de agosto de 2018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Lei Geral de Proteção de Dados Pessoais (LGPD). Brasília, DF: Presidência da República,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BROOKE, J.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SUS: a “quick and dirty” usability scale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In: JORDAN, P. W. et al. (ed.). Usability evaluation in industry. London: Taylor &amp; Francis, 1996. p. 189–194.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CAVOUKIAN, A.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Privacy by Design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the 7 foundational principles. Toronto: Information and Privacy Commissioner of Ontario, 2009.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GIL, A. C.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Como elaborar projetos de pesquisa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7.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HUANG, L.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Search methods used to locate missing cats and locations where missing cats are found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8, n. 1, art. 5, 2018.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IBGE.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Pesquisa Nacional de Saúde 2019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informações sobre domicílios, acesso e utilização dos serviços de saúde. Rio de Janeiro: IBGE, 2020.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ISO.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ISO/IEC 25010:2023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product quality model. Geneva: ISO,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MARCONI, M. A.; LAKATOS, E. M.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Metodologia científica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8. ed. São Paulo: Atlas, 2022.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MOBSF.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Mobile Security Framework (MobSF)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automated mobile application security assessment. 2026. Disponível em: github.com/MobSF/Mobile-Security-Framework-MobSF. Acesso em: 14 out. 2026.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PRESSMAN, R. S.; MAXIM, B.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uma abordagem profissional. 9. ed. Porto Alegre: AMGH, 2021.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372600" y="2002155"/>
            <a:ext cx="7863840" cy="7187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SAURO, J.; LEWIS, J. R.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Quantifying the user experience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2. ed. Cambridge: Morgan Kaufmann, 2016.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SINNOTT, R. W.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Virtues of the Haversine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Sky and Telescope, v. 68, n. 2, p. 159, 1984.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SOMMERVILLE, I.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10. ed. São Paulo: Pearson Education do Brasil, 2019.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SOUZA, F. C. M. et al.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FugaPet-Rotas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: um algoritmo inteligente para recomendação de rotas visando buscar animais desaparecidos. In: ESCOLA REGIONAL DE ENGENHARIA DE SOFTWARE, 6., 2022, Blumenau. Anais [...]. Porto Alegre: SBC, 2022. p. 199–208.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VALENTE, M. T.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Engenharia de software moderna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Belo Horizonte: Edição do Autor,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WEISS, E.; SLATER, M.; LORD, L. </a:t>
            </a:r>
            <a:r>
              <a:rPr lang="en-US" sz="2100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Frequency of lost dogs and cats in the United States and the methods used to locate them</a:t>
            </a:r>
            <a:r>
              <a:rPr lang="en-US" sz="21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. Animals, v. 2, n. 2, p. 301–315, 2012.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28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72400" y="1952149"/>
            <a:ext cx="2743200" cy="2651760"/>
            <a:chOff x="0" y="0"/>
            <a:chExt cx="3657600" cy="35356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657600" cy="3535680"/>
            </a:xfrm>
            <a:custGeom>
              <a:avLst/>
              <a:gdLst/>
              <a:ahLst/>
              <a:cxnLst/>
              <a:rect r="r" b="b" t="t" l="l"/>
              <a:pathLst>
                <a:path h="3535680" w="3657600">
                  <a:moveTo>
                    <a:pt x="0" y="0"/>
                  </a:moveTo>
                  <a:lnTo>
                    <a:pt x="3657600" y="0"/>
                  </a:lnTo>
                  <a:lnTo>
                    <a:pt x="3657600" y="3535680"/>
                  </a:lnTo>
                  <a:lnTo>
                    <a:pt x="0" y="35356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1724" r="0" b="-1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828800" y="5236845"/>
            <a:ext cx="14630400" cy="1529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8"/>
              </a:lnSpc>
            </a:pPr>
            <a:r>
              <a:rPr lang="en-US" sz="8799" b="true">
                <a:solidFill>
                  <a:srgbClr val="1B2A1F"/>
                </a:solidFill>
                <a:latin typeface="Cambria Bold"/>
                <a:ea typeface="Cambria Bold"/>
                <a:cs typeface="Cambria Bold"/>
                <a:sym typeface="Cambria Bold"/>
              </a:rPr>
              <a:t>Obrigado!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28800" y="6457950"/>
            <a:ext cx="14630400" cy="1040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Fico à disposição para perguntas e comentários.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28800" y="7579995"/>
            <a:ext cx="14630400" cy="1015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7"/>
              </a:lnSpc>
            </a:pPr>
            <a:r>
              <a:rPr lang="en-US" sz="2799" b="true">
                <a:solidFill>
                  <a:srgbClr val="1B2A1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Luis Henrique Fonseca Victoria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828800" y="8353425"/>
            <a:ext cx="14630400" cy="882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8"/>
              </a:lnSpc>
            </a:pPr>
            <a:r>
              <a:rPr lang="en-US" sz="2199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IFSul Campus Pelotas  |  Curso Superior de Tecnologia em Sistemas para Internet  | 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366770" y="4556284"/>
            <a:ext cx="9554461" cy="41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8" u="sng">
                <a:solidFill>
                  <a:srgbClr val="0097B2"/>
                </a:solidFill>
                <a:latin typeface="Calibri (MS)"/>
                <a:ea typeface="Calibri (MS)"/>
                <a:cs typeface="Calibri (MS)"/>
                <a:sym typeface="Calibri (MS)"/>
                <a:hlinkClick r:id="rId3" tooltip="https://luishenriquetsi.github.io/wefind/"/>
              </a:rPr>
              <a:t>Acesse o link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366770" y="4913443"/>
            <a:ext cx="9554461" cy="41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7"/>
              </a:lnSpc>
            </a:pPr>
            <a:r>
              <a:rPr lang="en-US" sz="2088" u="sng">
                <a:solidFill>
                  <a:srgbClr val="0097B2"/>
                </a:solidFill>
                <a:latin typeface="Calibri (MS)"/>
                <a:ea typeface="Calibri (MS)"/>
                <a:cs typeface="Calibri (MS)"/>
                <a:sym typeface="Calibri (MS)"/>
              </a:rPr>
              <a:t>https://luishenriquetsi.github.io/wefind/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45364"/>
            <a:ext cx="6858000" cy="63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05  DEMONSTRAÇÃO E AVALIAÇÃO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287" r="0" b="-231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1945600" cy="1529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 testada com 20 pares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8414" r="0" b="-8414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914400" y="2377440"/>
            <a:ext cx="7680960" cy="2560320"/>
            <a:chOff x="0" y="0"/>
            <a:chExt cx="10241280" cy="341376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24128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455" r="0" b="-845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0241280" cy="3413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8"/>
                </a:lnSpc>
              </a:pPr>
              <a:r>
                <a:rPr lang="en-US" sz="15999" b="true">
                  <a:solidFill>
                    <a:srgbClr val="B1734A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8/10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9144000" y="2585085"/>
            <a:ext cx="8229600" cy="1346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pares do mesmo animal foram sugeridos (limiar de 55)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144000" y="3623310"/>
            <a:ext cx="8046720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Mas 6 dos 10 pares de animais diferentes também foram.</a:t>
            </a:r>
          </a:p>
        </p:txBody>
      </p:sp>
      <p:sp>
        <p:nvSpPr>
          <p:cNvPr name="AutoShape 35" id="35"/>
          <p:cNvSpPr/>
          <p:nvPr/>
        </p:nvSpPr>
        <p:spPr>
          <a:xfrm rot="1980">
            <a:off x="876290" y="5453062"/>
            <a:ext cx="16535410" cy="0"/>
          </a:xfrm>
          <a:prstGeom prst="line">
            <a:avLst/>
          </a:prstGeom>
          <a:ln cap="rnd" w="9525">
            <a:solidFill>
              <a:srgbClr val="C9D4C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6" id="36"/>
          <p:cNvSpPr txBox="true"/>
          <p:nvPr/>
        </p:nvSpPr>
        <p:spPr>
          <a:xfrm rot="0">
            <a:off x="91440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55 pontos: lista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14 sugestões (57%).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58368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60 pontos: aviso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658368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8 corretas entre 13 sugestões (62%).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252960" y="5968365"/>
            <a:ext cx="5120640" cy="706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Por que errou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252960" y="6536436"/>
            <a:ext cx="5120640" cy="1363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Cores sinônimas, raça com hífen; idade e distância pesam pouco.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914400" y="8536305"/>
            <a:ext cx="16459200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Teste em 16/10/2026 com 20 pares fictícios em Pelotas. A pontuação é uma sugestão; as pessoas confirmam.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34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show="false">
  <p:cSld>
    <p:bg>
      <p:bgPr>
        <a:solidFill>
          <a:srgbClr val="2E56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63040" y="2274570"/>
            <a:ext cx="9144000" cy="78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8"/>
              </a:lnSpc>
            </a:pPr>
            <a:r>
              <a:rPr lang="en-US" b="true" sz="2199" spc="599">
                <a:solidFill>
                  <a:srgbClr val="E3B58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SEGUIR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63040" y="2960370"/>
            <a:ext cx="2256681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0"/>
              </a:lnSpc>
            </a:pPr>
            <a:r>
              <a:rPr lang="en-US" sz="15000" b="true">
                <a:solidFill>
                  <a:srgbClr val="E3B58F"/>
                </a:solidFill>
                <a:latin typeface="Cambria Bold"/>
                <a:ea typeface="Cambria Bold"/>
                <a:cs typeface="Cambria Bold"/>
                <a:sym typeface="Cambria Bold"/>
              </a:rPr>
              <a:t>07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3040" y="5463540"/>
            <a:ext cx="15544800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6600" b="true">
                <a:solidFill>
                  <a:srgbClr val="FFFFFF"/>
                </a:solidFill>
                <a:latin typeface="Cambria Bold"/>
                <a:ea typeface="Cambria Bold"/>
                <a:cs typeface="Cambria Bold"/>
                <a:sym typeface="Cambria Bold"/>
              </a:rPr>
              <a:t>Apoio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63040" y="6366510"/>
            <a:ext cx="15544800" cy="486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Para perguntas da banca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59200" y="94716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C9D8CB"/>
                </a:solidFill>
                <a:latin typeface="Calibri (MS)"/>
                <a:ea typeface="Calibri (MS)"/>
                <a:cs typeface="Calibri (MS)"/>
                <a:sym typeface="Calibri (MS)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914400"/>
            <a:ext cx="16459200" cy="1097280"/>
            <a:chOff x="0" y="0"/>
            <a:chExt cx="21945600" cy="146304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2072" r="0" b="-242072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914400" y="907256"/>
            <a:ext cx="16459200" cy="1104424"/>
            <a:chOff x="0" y="0"/>
            <a:chExt cx="21945600" cy="14725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472565"/>
            </a:xfrm>
            <a:custGeom>
              <a:avLst/>
              <a:gdLst/>
              <a:ahLst/>
              <a:cxnLst/>
              <a:rect r="r" b="b" t="t" l="l"/>
              <a:pathLst>
                <a:path h="14725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72565"/>
                  </a:lnTo>
                  <a:lnTo>
                    <a:pt x="0" y="1472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0182" r="0" b="-240183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914400" y="900112"/>
            <a:ext cx="16459200" cy="1111568"/>
            <a:chOff x="0" y="0"/>
            <a:chExt cx="21945600" cy="14820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945600" cy="1482090"/>
            </a:xfrm>
            <a:custGeom>
              <a:avLst/>
              <a:gdLst/>
              <a:ahLst/>
              <a:cxnLst/>
              <a:rect r="r" b="b" t="t" l="l"/>
              <a:pathLst>
                <a:path h="14820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82090"/>
                  </a:lnTo>
                  <a:lnTo>
                    <a:pt x="0" y="148209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38317" r="0" b="-238318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14400" y="892969"/>
            <a:ext cx="16459200" cy="1118711"/>
            <a:chOff x="0" y="0"/>
            <a:chExt cx="21945600" cy="149161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945600" cy="1491615"/>
            </a:xfrm>
            <a:custGeom>
              <a:avLst/>
              <a:gdLst/>
              <a:ahLst/>
              <a:cxnLst/>
              <a:rect r="r" b="b" t="t" l="l"/>
              <a:pathLst>
                <a:path h="149161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491615"/>
                  </a:lnTo>
                  <a:lnTo>
                    <a:pt x="0" y="149161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36476" r="0" b="-236477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885825"/>
            <a:ext cx="16459200" cy="1125855"/>
            <a:chOff x="0" y="0"/>
            <a:chExt cx="21945600" cy="15011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945600" cy="1501140"/>
            </a:xfrm>
            <a:custGeom>
              <a:avLst/>
              <a:gdLst/>
              <a:ahLst/>
              <a:cxnLst/>
              <a:rect r="r" b="b" t="t" l="l"/>
              <a:pathLst>
                <a:path h="15011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01140"/>
                  </a:lnTo>
                  <a:lnTo>
                    <a:pt x="0" y="1501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4659" r="0" b="-234659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" y="878681"/>
            <a:ext cx="16459200" cy="1132999"/>
            <a:chOff x="0" y="0"/>
            <a:chExt cx="21945600" cy="15106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945600" cy="1510665"/>
            </a:xfrm>
            <a:custGeom>
              <a:avLst/>
              <a:gdLst/>
              <a:ahLst/>
              <a:cxnLst/>
              <a:rect r="r" b="b" t="t" l="l"/>
              <a:pathLst>
                <a:path h="1510665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10665"/>
                  </a:lnTo>
                  <a:lnTo>
                    <a:pt x="0" y="151066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2864" r="0" b="-23286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14400" y="871538"/>
            <a:ext cx="16459200" cy="1140142"/>
            <a:chOff x="0" y="0"/>
            <a:chExt cx="21945600" cy="152019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945600" cy="1520190"/>
            </a:xfrm>
            <a:custGeom>
              <a:avLst/>
              <a:gdLst/>
              <a:ahLst/>
              <a:cxnLst/>
              <a:rect r="r" b="b" t="t" l="l"/>
              <a:pathLst>
                <a:path h="15201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0190"/>
                  </a:lnTo>
                  <a:lnTo>
                    <a:pt x="0" y="152019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31091" r="0" b="-231092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914400" y="864394"/>
            <a:ext cx="16459200" cy="1147286"/>
            <a:chOff x="0" y="0"/>
            <a:chExt cx="21945600" cy="152971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1529714"/>
            </a:xfrm>
            <a:custGeom>
              <a:avLst/>
              <a:gdLst/>
              <a:ahLst/>
              <a:cxnLst/>
              <a:rect r="r" b="b" t="t" l="l"/>
              <a:pathLst>
                <a:path h="1529714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529714"/>
                  </a:lnTo>
                  <a:lnTo>
                    <a:pt x="0" y="152971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29536" r="0" b="-22953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1945600" cy="15392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8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Correspondência: sugere, não confirma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914400" y="3968115"/>
            <a:ext cx="4846320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9"/>
              </a:lnSpc>
            </a:pPr>
            <a:r>
              <a:rPr lang="en-US" sz="33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Índice heurístico de semelhança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14400" y="5292090"/>
            <a:ext cx="4846320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Não é probabilidade: os usuários confirmam ou descartam.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4400" y="6711315"/>
            <a:ext cx="4846320" cy="716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  <a:r>
              <a:rPr lang="en-US" sz="2799" b="true">
                <a:solidFill>
                  <a:srgbClr val="2E5634"/>
                </a:solidFill>
                <a:latin typeface="Cambria Bold"/>
                <a:ea typeface="Cambria Bold"/>
                <a:cs typeface="Cambria Bold"/>
                <a:sym typeface="Cambria Bold"/>
              </a:rPr>
              <a:t>Limiares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400" y="7231380"/>
            <a:ext cx="4846320" cy="1402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1B2A1F"/>
                </a:solidFill>
                <a:latin typeface="Calibri (MS)"/>
                <a:ea typeface="Calibri (MS)"/>
                <a:cs typeface="Calibri (MS)"/>
                <a:sym typeface="Calibri (MS)"/>
              </a:rPr>
              <a:t>55 pts: entra na lista. 60 pts: gera aviso (até 3).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4400" y="8488680"/>
            <a:ext cx="16459200" cy="1021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Soma limitada a 0–100; pesos definidos de forma empírica, ainda sem calibração com casos reais (Quadro 4 do TCC).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36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12046" r="0" b="-212045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822960" y="9372600"/>
            <a:ext cx="8229600" cy="640080"/>
            <a:chOff x="0" y="0"/>
            <a:chExt cx="10972800" cy="8534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972800" cy="853440"/>
            </a:xfrm>
            <a:custGeom>
              <a:avLst/>
              <a:gdLst/>
              <a:ahLst/>
              <a:cxnLst/>
              <a:rect r="r" b="b" t="t" l="l"/>
              <a:pathLst>
                <a:path h="8534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0521" r="0" b="-200521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10972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914400" y="2139315"/>
            <a:ext cx="4937760" cy="1746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00"/>
              </a:lnSpc>
            </a:pPr>
            <a:r>
              <a:rPr lang="en-US" sz="11000" b="true">
                <a:solidFill>
                  <a:srgbClr val="B1734A"/>
                </a:solidFill>
                <a:latin typeface="Cambria Bold"/>
                <a:ea typeface="Cambria Bold"/>
                <a:cs typeface="Cambria Bold"/>
                <a:sym typeface="Cambria Bold"/>
              </a:rPr>
              <a:t>0–100</a:t>
            </a:r>
          </a:p>
        </p:txBody>
      </p:sp>
      <p:graphicFrame>
        <p:nvGraphicFramePr>
          <p:cNvPr name="Table 44" id="44"/>
          <p:cNvGraphicFramePr>
            <a:graphicFrameLocks noGrp="true"/>
          </p:cNvGraphicFramePr>
          <p:nvPr/>
        </p:nvGraphicFramePr>
        <p:xfrm>
          <a:off x="6172200" y="2240280"/>
          <a:ext cx="11188700" cy="5829300"/>
        </p:xfrm>
        <a:graphic>
          <a:graphicData uri="http://schemas.openxmlformats.org/drawingml/2006/table">
            <a:tbl>
              <a:tblPr/>
              <a:tblGrid>
                <a:gridCol w="2146404"/>
                <a:gridCol w="3653453"/>
                <a:gridCol w="2922762"/>
                <a:gridCol w="2466081"/>
              </a:tblGrid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Critério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Igual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Parcial ou não informado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040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Diferente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634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Espécie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Sexo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+3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o par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Porte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+6 diferente · +5 ausente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descarta (pequeno × grande)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+25 · +18 se uma contém a outra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+8 ambos SRD · +4 SRD × raça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Pelagem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+20 (2+ cores) · +12 (1 cor)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+5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(filhote × idoso)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Distância (GPS)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+15 até 1,2 km · +10 até 3,5 · +5 até 8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+2 de 8 a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−15 acima de 20 km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 b="true">
                          <a:solidFill>
                            <a:srgbClr val="2E5634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Sem GPS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+12 mesmo bairro · +5 mesma cidade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1B2A1F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 sem dados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19"/>
                        </a:lnSpc>
                        <a:defRPr/>
                      </a:pPr>
                      <a:r>
                        <a:rPr lang="en-US" sz="1599">
                          <a:solidFill>
                            <a:srgbClr val="B1734A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−20 cidades diferentes</a:t>
                      </a:r>
                      <a:endParaRPr lang="en-US" sz="1100"/>
                    </a:p>
                  </a:txBody>
                  <a:tcPr marL="109728" marR="109728" marT="109728" marB="109728" anchor="ctr">
                    <a:lnL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4762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12594"/>
            </a:xfrm>
            <a:custGeom>
              <a:avLst/>
              <a:gdLst/>
              <a:ahLst/>
              <a:cxnLst/>
              <a:rect r="r" b="b" t="t" l="l"/>
              <a:pathLst>
                <a:path h="17125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4"/>
                  </a:lnTo>
                  <a:lnTo>
                    <a:pt x="0" y="17125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766" r="0" b="-2017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1284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Busca na rua: avistamento, pista e rota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Vi o pet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viu marca no mapa se o animal está na rua ou em uma casa.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Pista quente, morna ou fria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Até 6 h é quente, até 48 h é morna; depois disso, fica sem rota.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288036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Rota até uma área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8036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Raio de ~150 m, deslocado 30 a 70 m; a pé, bike, carro ou ônibus.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31570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Histórico no mapa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31570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Círculos numerados (1 = mais recente), na cor da idade da pista.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2960" y="83972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Rotas calculadas com OSRM e Transitous. Nunca até a casa do tutor, um animal acolhido ou um animal para adoção.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 show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9601200"/>
            <a:ext cx="8229600" cy="411480"/>
            <a:chOff x="0" y="0"/>
            <a:chExt cx="10972800" cy="54864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430" r="0" b="-33942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2960" y="9572625"/>
            <a:ext cx="8229600" cy="440055"/>
            <a:chOff x="0" y="0"/>
            <a:chExt cx="10972800" cy="5867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72800" cy="586740"/>
            </a:xfrm>
            <a:custGeom>
              <a:avLst/>
              <a:gdLst/>
              <a:ahLst/>
              <a:cxnLst/>
              <a:rect r="r" b="b" t="t" l="l"/>
              <a:pathLst>
                <a:path h="5867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86740"/>
                  </a:lnTo>
                  <a:lnTo>
                    <a:pt x="0" y="5867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4142" r="0" b="-31414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822960" y="9544050"/>
            <a:ext cx="8229600" cy="468630"/>
            <a:chOff x="0" y="0"/>
            <a:chExt cx="10972800" cy="62484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972800" cy="624840"/>
            </a:xfrm>
            <a:custGeom>
              <a:avLst/>
              <a:gdLst/>
              <a:ahLst/>
              <a:cxnLst/>
              <a:rect r="r" b="b" t="t" l="l"/>
              <a:pathLst>
                <a:path h="6248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24840"/>
                  </a:lnTo>
                  <a:lnTo>
                    <a:pt x="0" y="62484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91939" r="0" b="-291936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22960" y="9515475"/>
            <a:ext cx="8229600" cy="497205"/>
            <a:chOff x="0" y="0"/>
            <a:chExt cx="10972800" cy="6629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72800" cy="662940"/>
            </a:xfrm>
            <a:custGeom>
              <a:avLst/>
              <a:gdLst/>
              <a:ahLst/>
              <a:cxnLst/>
              <a:rect r="r" b="b" t="t" l="l"/>
              <a:pathLst>
                <a:path h="6629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662940"/>
                  </a:lnTo>
                  <a:lnTo>
                    <a:pt x="0" y="66294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72287" r="0" b="-27228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822960" y="9486900"/>
            <a:ext cx="8229600" cy="525780"/>
            <a:chOff x="0" y="0"/>
            <a:chExt cx="10972800" cy="7010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972800" cy="701040"/>
            </a:xfrm>
            <a:custGeom>
              <a:avLst/>
              <a:gdLst/>
              <a:ahLst/>
              <a:cxnLst/>
              <a:rect r="r" b="b" t="t" l="l"/>
              <a:pathLst>
                <a:path h="7010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01040"/>
                  </a:lnTo>
                  <a:lnTo>
                    <a:pt x="0" y="70104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4771" r="0" b="-254769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22960" y="9458325"/>
            <a:ext cx="8229600" cy="554355"/>
            <a:chOff x="0" y="0"/>
            <a:chExt cx="10972800" cy="73914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972800" cy="739140"/>
            </a:xfrm>
            <a:custGeom>
              <a:avLst/>
              <a:gdLst/>
              <a:ahLst/>
              <a:cxnLst/>
              <a:rect r="r" b="b" t="t" l="l"/>
              <a:pathLst>
                <a:path h="7391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9140"/>
                  </a:lnTo>
                  <a:lnTo>
                    <a:pt x="0" y="739140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39061" r="0" b="-23906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822960" y="9429750"/>
            <a:ext cx="8229600" cy="582930"/>
            <a:chOff x="0" y="0"/>
            <a:chExt cx="10972800" cy="7772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777240"/>
            </a:xfrm>
            <a:custGeom>
              <a:avLst/>
              <a:gdLst/>
              <a:ahLst/>
              <a:cxnLst/>
              <a:rect r="r" b="b" t="t" l="l"/>
              <a:pathLst>
                <a:path h="7772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24892" r="0" b="-22489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822960" y="9401175"/>
            <a:ext cx="8229600" cy="611505"/>
            <a:chOff x="0" y="0"/>
            <a:chExt cx="10972800" cy="8153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972800" cy="815340"/>
            </a:xfrm>
            <a:custGeom>
              <a:avLst/>
              <a:gdLst/>
              <a:ahLst/>
              <a:cxnLst/>
              <a:rect r="r" b="b" t="t" l="l"/>
              <a:pathLst>
                <a:path h="8153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815340"/>
                  </a:lnTo>
                  <a:lnTo>
                    <a:pt x="0" y="815340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12228" r="0" b="-21222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972800" cy="8534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28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WeFIND  |  TCC  |  IFSul Campus Pelotas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22960" y="850392"/>
            <a:ext cx="16596360" cy="1234440"/>
            <a:chOff x="0" y="0"/>
            <a:chExt cx="22128480" cy="1645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128480" cy="1645920"/>
            </a:xfrm>
            <a:custGeom>
              <a:avLst/>
              <a:gdLst/>
              <a:ahLst/>
              <a:cxnLst/>
              <a:rect r="r" b="b" t="t" l="l"/>
              <a:pathLst>
                <a:path h="16459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11783" r="0" b="-211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22960" y="843248"/>
            <a:ext cx="16596360" cy="1241584"/>
            <a:chOff x="0" y="0"/>
            <a:chExt cx="22128480" cy="165544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2128480" cy="1655445"/>
            </a:xfrm>
            <a:custGeom>
              <a:avLst/>
              <a:gdLst/>
              <a:ahLst/>
              <a:cxnLst/>
              <a:rect r="r" b="b" t="t" l="l"/>
              <a:pathLst>
                <a:path h="16554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55445"/>
                  </a:lnTo>
                  <a:lnTo>
                    <a:pt x="0" y="165544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0276" r="0" b="-210276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822960" y="836105"/>
            <a:ext cx="16596360" cy="1248727"/>
            <a:chOff x="0" y="0"/>
            <a:chExt cx="22128480" cy="166497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128480" cy="1664970"/>
            </a:xfrm>
            <a:custGeom>
              <a:avLst/>
              <a:gdLst/>
              <a:ahLst/>
              <a:cxnLst/>
              <a:rect r="r" b="b" t="t" l="l"/>
              <a:pathLst>
                <a:path h="16649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64970"/>
                  </a:lnTo>
                  <a:lnTo>
                    <a:pt x="0" y="166497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8787" r="0" b="-208787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22960" y="828961"/>
            <a:ext cx="16596360" cy="1255871"/>
            <a:chOff x="0" y="0"/>
            <a:chExt cx="22128480" cy="167449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128480" cy="1674495"/>
            </a:xfrm>
            <a:custGeom>
              <a:avLst/>
              <a:gdLst/>
              <a:ahLst/>
              <a:cxnLst/>
              <a:rect r="r" b="b" t="t" l="l"/>
              <a:pathLst>
                <a:path h="167449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74495"/>
                  </a:lnTo>
                  <a:lnTo>
                    <a:pt x="0" y="167449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207315" r="0" b="-207315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822960" y="821817"/>
            <a:ext cx="16596360" cy="1263015"/>
            <a:chOff x="0" y="0"/>
            <a:chExt cx="22128480" cy="16840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128480" cy="1684020"/>
            </a:xfrm>
            <a:custGeom>
              <a:avLst/>
              <a:gdLst/>
              <a:ahLst/>
              <a:cxnLst/>
              <a:rect r="r" b="b" t="t" l="l"/>
              <a:pathLst>
                <a:path h="16840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84020"/>
                  </a:lnTo>
                  <a:lnTo>
                    <a:pt x="0" y="168402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5860" r="0" b="-205860"/>
              </a:stretch>
            </a:blip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822960" y="814673"/>
            <a:ext cx="16596360" cy="1270159"/>
            <a:chOff x="0" y="0"/>
            <a:chExt cx="22128480" cy="169354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128480" cy="1693545"/>
            </a:xfrm>
            <a:custGeom>
              <a:avLst/>
              <a:gdLst/>
              <a:ahLst/>
              <a:cxnLst/>
              <a:rect r="r" b="b" t="t" l="l"/>
              <a:pathLst>
                <a:path h="1693545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693545"/>
                  </a:lnTo>
                  <a:lnTo>
                    <a:pt x="0" y="1693545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204421" r="0" b="-204421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22960" y="807530"/>
            <a:ext cx="16596360" cy="1277302"/>
            <a:chOff x="0" y="0"/>
            <a:chExt cx="22128480" cy="170307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128480" cy="1703070"/>
            </a:xfrm>
            <a:custGeom>
              <a:avLst/>
              <a:gdLst/>
              <a:ahLst/>
              <a:cxnLst/>
              <a:rect r="r" b="b" t="t" l="l"/>
              <a:pathLst>
                <a:path h="170307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03070"/>
                  </a:lnTo>
                  <a:lnTo>
                    <a:pt x="0" y="1703070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02998" r="0" b="-202998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822960" y="800386"/>
            <a:ext cx="16596360" cy="1284446"/>
            <a:chOff x="0" y="0"/>
            <a:chExt cx="22128480" cy="171259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128480" cy="1712594"/>
            </a:xfrm>
            <a:custGeom>
              <a:avLst/>
              <a:gdLst/>
              <a:ahLst/>
              <a:cxnLst/>
              <a:rect r="r" b="b" t="t" l="l"/>
              <a:pathLst>
                <a:path h="1712594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712594"/>
                  </a:lnTo>
                  <a:lnTo>
                    <a:pt x="0" y="171259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01766" r="0" b="-201766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22128480" cy="17221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E5634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Devolução segura e confiança</a:t>
              </a:r>
            </a:p>
          </p:txBody>
        </p:sp>
      </p:grpSp>
      <p:sp>
        <p:nvSpPr>
          <p:cNvPr name="Freeform 36" id="36"/>
          <p:cNvSpPr/>
          <p:nvPr/>
        </p:nvSpPr>
        <p:spPr>
          <a:xfrm flipH="false" flipV="false" rot="0">
            <a:off x="81045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217771" y="286369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555394" y="3201314"/>
            <a:ext cx="592550" cy="592550"/>
            <a:chOff x="0" y="0"/>
            <a:chExt cx="790067" cy="790067"/>
          </a:xfrm>
        </p:grpSpPr>
        <p:sp>
          <p:nvSpPr>
            <p:cNvPr name="Freeform 39" id="39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 l="0" t="0" r="0" b="0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288036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Comprovação de tutela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88036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Fotos, vacina ou marcas ocultas; quem acolheu analisa pelo chat.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9245794" y="238779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9653111" y="286369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9990734" y="3201314"/>
            <a:ext cx="592550" cy="592550"/>
            <a:chOff x="0" y="0"/>
            <a:chExt cx="790067" cy="790067"/>
          </a:xfrm>
        </p:grpSpPr>
        <p:sp>
          <p:nvSpPr>
            <p:cNvPr name="Freeform 45" id="45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11315700" y="227838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Encontro em local público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315700" y="326136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Dia, hora e ponto no mapa; confirmar, remarcar ou cancelar.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81045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1217771" y="6018371"/>
            <a:ext cx="1267777" cy="1267778"/>
          </a:xfrm>
          <a:custGeom>
            <a:avLst/>
            <a:gdLst/>
            <a:ahLst/>
            <a:cxnLst/>
            <a:rect r="r" b="b" t="t" l="l"/>
            <a:pathLst>
              <a:path h="1267778" w="1267777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555394" y="6355994"/>
            <a:ext cx="592550" cy="592550"/>
            <a:chOff x="0" y="0"/>
            <a:chExt cx="790067" cy="790067"/>
          </a:xfrm>
        </p:grpSpPr>
        <p:sp>
          <p:nvSpPr>
            <p:cNvPr name="Freeform 51" id="51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0" b="0"/>
              </a:stretch>
            </a:blipFill>
          </p:spPr>
        </p:sp>
      </p:grpSp>
      <p:sp>
        <p:nvSpPr>
          <p:cNvPr name="TextBox 52" id="52"/>
          <p:cNvSpPr txBox="true"/>
          <p:nvPr/>
        </p:nvSpPr>
        <p:spPr>
          <a:xfrm rot="0">
            <a:off x="288036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Publicação anônima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88036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Quem encontra pode publicar sem nome, para evitar julgamentos.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9245794" y="5542474"/>
            <a:ext cx="8186023" cy="2905363"/>
          </a:xfrm>
          <a:custGeom>
            <a:avLst/>
            <a:gdLst/>
            <a:ahLst/>
            <a:cxnLst/>
            <a:rect r="r" b="b" t="t" l="l"/>
            <a:pathLst>
              <a:path h="2905363" w="8186023">
                <a:moveTo>
                  <a:pt x="0" y="0"/>
                </a:moveTo>
                <a:lnTo>
                  <a:pt x="8186023" y="0"/>
                </a:lnTo>
                <a:lnTo>
                  <a:pt x="8186023" y="2905363"/>
                </a:lnTo>
                <a:lnTo>
                  <a:pt x="0" y="290536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-126" r="0" b="-126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653111" y="6018371"/>
            <a:ext cx="1267778" cy="1267778"/>
          </a:xfrm>
          <a:custGeom>
            <a:avLst/>
            <a:gdLst/>
            <a:ahLst/>
            <a:cxnLst/>
            <a:rect r="r" b="b" t="t" l="l"/>
            <a:pathLst>
              <a:path h="1267778" w="1267778">
                <a:moveTo>
                  <a:pt x="0" y="0"/>
                </a:moveTo>
                <a:lnTo>
                  <a:pt x="1267778" y="0"/>
                </a:lnTo>
                <a:lnTo>
                  <a:pt x="1267778" y="1267778"/>
                </a:lnTo>
                <a:lnTo>
                  <a:pt x="0" y="126777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6" id="56"/>
          <p:cNvGrpSpPr/>
          <p:nvPr/>
        </p:nvGrpSpPr>
        <p:grpSpPr>
          <a:xfrm rot="0">
            <a:off x="9990734" y="6355994"/>
            <a:ext cx="592550" cy="592550"/>
            <a:chOff x="0" y="0"/>
            <a:chExt cx="790067" cy="790067"/>
          </a:xfrm>
        </p:grpSpPr>
        <p:sp>
          <p:nvSpPr>
            <p:cNvPr name="Freeform 57" id="57" descr="icone"/>
            <p:cNvSpPr/>
            <p:nvPr/>
          </p:nvSpPr>
          <p:spPr>
            <a:xfrm flipH="false" flipV="false" rot="0">
              <a:off x="0" y="0"/>
              <a:ext cx="790067" cy="790067"/>
            </a:xfrm>
            <a:custGeom>
              <a:avLst/>
              <a:gdLst/>
              <a:ahLst/>
              <a:cxnLst/>
              <a:rect r="r" b="b" t="t" l="l"/>
              <a:pathLst>
                <a:path h="790067" w="790067">
                  <a:moveTo>
                    <a:pt x="0" y="0"/>
                  </a:moveTo>
                  <a:lnTo>
                    <a:pt x="790067" y="0"/>
                  </a:lnTo>
                  <a:lnTo>
                    <a:pt x="790067" y="790067"/>
                  </a:lnTo>
                  <a:lnTo>
                    <a:pt x="0" y="7900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TextBox 58" id="58"/>
          <p:cNvSpPr txBox="true"/>
          <p:nvPr/>
        </p:nvSpPr>
        <p:spPr>
          <a:xfrm rot="0">
            <a:off x="11315700" y="5433060"/>
            <a:ext cx="5760720" cy="1150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0F172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Classificação de membros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1315700" y="6416040"/>
            <a:ext cx="5760720" cy="1882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>
                <a:solidFill>
                  <a:srgbClr val="0F172A"/>
                </a:solidFill>
                <a:latin typeface="Calibri (MS)"/>
                <a:ea typeface="Calibri (MS)"/>
                <a:cs typeface="Calibri (MS)"/>
                <a:sym typeface="Calibri (MS)"/>
              </a:rPr>
              <a:t>1 a 5 estrelas após 24 h sem mensagens; média no perfil.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822960" y="8397240"/>
            <a:ext cx="16596360" cy="92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i="true">
                <a:solidFill>
                  <a:srgbClr val="4B5563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O endereço de quem acolheu nunca é liberado. Todos os 48 participantes pediriam prova de tutela antes de devolver um animal.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14400" y="207264"/>
            <a:ext cx="6858000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 spc="400">
                <a:solidFill>
                  <a:srgbClr val="B1734A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04  SOLUÇÃO DESENVOLVIDA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6459200" y="9433560"/>
            <a:ext cx="9144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400"/>
              </a:lnSpc>
            </a:pPr>
            <a:r>
              <a:rPr lang="en-US" sz="2000">
                <a:solidFill>
                  <a:srgbClr val="5B6B5F"/>
                </a:solidFill>
                <a:latin typeface="Calibri (MS)"/>
                <a:ea typeface="Calibri (MS)"/>
                <a:cs typeface="Calibri (MS)"/>
                <a:sym typeface="Calibri (MS)"/>
              </a:rPr>
              <a:t>38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DAG8JFa4rfI</dc:identifier>
  <dcterms:modified xsi:type="dcterms:W3CDTF">2011-08-01T06:04:30Z</dcterms:modified>
  <cp:revision>1</cp:revision>
  <dc:title>TCC_WEFIND_APREESNTACAO_QUALIFICACAO_VERSAO_ORIGINAL</dc:title>
</cp:coreProperties>
</file>