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3.svg" ContentType="image/svg+xml"/>
  <Override PartName="/ppt/media/image15.svg" ContentType="image/svg+xml"/>
  <Override PartName="/ppt/media/image18.svg" ContentType="image/svg+xml"/>
  <Override PartName="/ppt/media/image21.svg" ContentType="image/svg+xml"/>
  <Override PartName="/ppt/media/image26.svg" ContentType="image/svg+xml"/>
  <Override PartName="/ppt/media/image28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6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x="18288000" cy="10287000"/>
  <p:notesSz cx="6858000" cy="9144000"/>
  <p:embeddedFontLst>
    <p:embeddedFont>
      <p:font typeface="Cooper BT Bold" charset="1" panose="0208080404030B020404"/>
      <p:regular r:id="rId36"/>
    </p:embeddedFont>
    <p:embeddedFont>
      <p:font typeface="Cooper BT Light" charset="1" panose="0208050304030B020404"/>
      <p:regular r:id="rId37"/>
    </p:embeddedFont>
    <p:embeddedFont>
      <p:font typeface="Cambria Bold" charset="1" panose="02040803050406030204"/>
      <p:regular r:id="rId38"/>
    </p:embeddedFont>
    <p:embeddedFont>
      <p:font typeface="Calibri (MS)" charset="1" panose="020F0502020204030204"/>
      <p:regular r:id="rId39"/>
    </p:embeddedFont>
    <p:embeddedFont>
      <p:font typeface="Calibri (MS) Bold" charset="1" panose="020F0702030404030204"/>
      <p:regular r:id="rId40"/>
    </p:embeddedFont>
    <p:embeddedFont>
      <p:font typeface="Calibri (MS) Italics" charset="1" panose="020F05020202040A0204"/>
      <p:regular r:id="rId41"/>
    </p:embeddedFont>
    <p:embeddedFont>
      <p:font typeface="Roboto Bold" charset="1" panose="02000000000000000000"/>
      <p:regular r:id="rId42"/>
    </p:embeddedFont>
    <p:embeddedFont>
      <p:font typeface="Roboto" charset="1" panose="02000000000000000000"/>
      <p:regular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font" Target="fonts/font36.fntdata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12.png"/><Relationship Id="rId11" Type="http://schemas.openxmlformats.org/officeDocument/2006/relationships/image" Target="../media/image13.sv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17.png"/><Relationship Id="rId12" Type="http://schemas.openxmlformats.org/officeDocument/2006/relationships/image" Target="../media/image18.svg"/><Relationship Id="rId13" Type="http://schemas.openxmlformats.org/officeDocument/2006/relationships/image" Target="../media/image19.png"/><Relationship Id="rId14" Type="http://schemas.openxmlformats.org/officeDocument/2006/relationships/image" Target="../media/image20.png"/><Relationship Id="rId15" Type="http://schemas.openxmlformats.org/officeDocument/2006/relationships/image" Target="../media/image21.svg"/><Relationship Id="rId16" Type="http://schemas.openxmlformats.org/officeDocument/2006/relationships/image" Target="../media/image22.png"/><Relationship Id="rId17" Type="http://schemas.openxmlformats.org/officeDocument/2006/relationships/image" Target="../media/image23.png"/><Relationship Id="rId18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25.png"/><Relationship Id="rId12" Type="http://schemas.openxmlformats.org/officeDocument/2006/relationships/image" Target="../media/image26.svg"/><Relationship Id="rId13" Type="http://schemas.openxmlformats.org/officeDocument/2006/relationships/image" Target="../media/image27.png"/><Relationship Id="rId14" Type="http://schemas.openxmlformats.org/officeDocument/2006/relationships/image" Target="../media/image28.sv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31.png"/><Relationship Id="rId18" Type="http://schemas.openxmlformats.org/officeDocument/2006/relationships/image" Target="../media/image32.png"/><Relationship Id="rId19" Type="http://schemas.openxmlformats.org/officeDocument/2006/relationships/image" Target="../media/image33.png"/><Relationship Id="rId20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35.png"/><Relationship Id="rId12" Type="http://schemas.openxmlformats.org/officeDocument/2006/relationships/image" Target="../media/image36.svg"/><Relationship Id="rId13" Type="http://schemas.openxmlformats.org/officeDocument/2006/relationships/image" Target="../media/image37.png"/><Relationship Id="rId14" Type="http://schemas.openxmlformats.org/officeDocument/2006/relationships/image" Target="../media/image38.svg"/><Relationship Id="rId15" Type="http://schemas.openxmlformats.org/officeDocument/2006/relationships/image" Target="../media/image39.png"/><Relationship Id="rId16" Type="http://schemas.openxmlformats.org/officeDocument/2006/relationships/image" Target="../media/image40.svg"/><Relationship Id="rId17" Type="http://schemas.openxmlformats.org/officeDocument/2006/relationships/image" Target="../media/image41.png"/><Relationship Id="rId18" Type="http://schemas.openxmlformats.org/officeDocument/2006/relationships/image" Target="../media/image42.svg"/><Relationship Id="rId19" Type="http://schemas.openxmlformats.org/officeDocument/2006/relationships/image" Target="../media/image43.png"/><Relationship Id="rId20" Type="http://schemas.openxmlformats.org/officeDocument/2006/relationships/image" Target="../media/image44.svg"/><Relationship Id="rId21" Type="http://schemas.openxmlformats.org/officeDocument/2006/relationships/image" Target="../media/image45.png"/><Relationship Id="rId22" Type="http://schemas.openxmlformats.org/officeDocument/2006/relationships/image" Target="../media/image46.svg"/><Relationship Id="rId23" Type="http://schemas.openxmlformats.org/officeDocument/2006/relationships/image" Target="../media/image47.png"/><Relationship Id="rId24" Type="http://schemas.openxmlformats.org/officeDocument/2006/relationships/image" Target="../media/image48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49.png"/><Relationship Id="rId11" Type="http://schemas.openxmlformats.org/officeDocument/2006/relationships/image" Target="../media/image50.svg"/><Relationship Id="rId12" Type="http://schemas.openxmlformats.org/officeDocument/2006/relationships/image" Target="../media/image51.png"/><Relationship Id="rId13" Type="http://schemas.openxmlformats.org/officeDocument/2006/relationships/image" Target="../media/image52.svg"/><Relationship Id="rId14" Type="http://schemas.openxmlformats.org/officeDocument/2006/relationships/image" Target="../media/image53.png"/><Relationship Id="rId15" Type="http://schemas.openxmlformats.org/officeDocument/2006/relationships/image" Target="../media/image54.png"/><Relationship Id="rId16" Type="http://schemas.openxmlformats.org/officeDocument/2006/relationships/image" Target="../media/image55.png"/><Relationship Id="rId17" Type="http://schemas.openxmlformats.org/officeDocument/2006/relationships/image" Target="../media/image56.svg"/><Relationship Id="rId18" Type="http://schemas.openxmlformats.org/officeDocument/2006/relationships/image" Target="../media/image57.png"/><Relationship Id="rId19" Type="http://schemas.openxmlformats.org/officeDocument/2006/relationships/image" Target="../media/image5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49.png"/><Relationship Id="rId12" Type="http://schemas.openxmlformats.org/officeDocument/2006/relationships/image" Target="../media/image50.svg"/><Relationship Id="rId13" Type="http://schemas.openxmlformats.org/officeDocument/2006/relationships/image" Target="../media/image51.png"/><Relationship Id="rId14" Type="http://schemas.openxmlformats.org/officeDocument/2006/relationships/image" Target="../media/image52.svg"/><Relationship Id="rId15" Type="http://schemas.openxmlformats.org/officeDocument/2006/relationships/image" Target="../media/image53.png"/><Relationship Id="rId16" Type="http://schemas.openxmlformats.org/officeDocument/2006/relationships/image" Target="../media/image54.png"/><Relationship Id="rId17" Type="http://schemas.openxmlformats.org/officeDocument/2006/relationships/image" Target="../media/image55.png"/><Relationship Id="rId18" Type="http://schemas.openxmlformats.org/officeDocument/2006/relationships/image" Target="../media/image56.svg"/><Relationship Id="rId19" Type="http://schemas.openxmlformats.org/officeDocument/2006/relationships/image" Target="../media/image30.png"/><Relationship Id="rId20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5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6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61.png"/><Relationship Id="rId12" Type="http://schemas.openxmlformats.org/officeDocument/2006/relationships/image" Target="../media/image62.png"/><Relationship Id="rId13" Type="http://schemas.openxmlformats.org/officeDocument/2006/relationships/image" Target="../media/image63.png"/><Relationship Id="rId14" Type="http://schemas.openxmlformats.org/officeDocument/2006/relationships/image" Target="../media/image64.png"/><Relationship Id="rId15" Type="http://schemas.openxmlformats.org/officeDocument/2006/relationships/image" Target="../media/image65.png"/><Relationship Id="rId16" Type="http://schemas.openxmlformats.org/officeDocument/2006/relationships/image" Target="../media/image66.png"/><Relationship Id="rId17" Type="http://schemas.openxmlformats.org/officeDocument/2006/relationships/image" Target="../media/image67.png"/><Relationship Id="rId18" Type="http://schemas.openxmlformats.org/officeDocument/2006/relationships/image" Target="../media/image68.png"/><Relationship Id="rId19" Type="http://schemas.openxmlformats.org/officeDocument/2006/relationships/image" Target="../media/image69.png"/><Relationship Id="rId20" Type="http://schemas.openxmlformats.org/officeDocument/2006/relationships/image" Target="../media/image70.png"/><Relationship Id="rId21" Type="http://schemas.openxmlformats.org/officeDocument/2006/relationships/image" Target="../media/image71.png"/><Relationship Id="rId22" Type="http://schemas.openxmlformats.org/officeDocument/2006/relationships/image" Target="../media/image72.png"/><Relationship Id="rId23" Type="http://schemas.openxmlformats.org/officeDocument/2006/relationships/image" Target="../media/image73.png"/><Relationship Id="rId24" Type="http://schemas.openxmlformats.org/officeDocument/2006/relationships/image" Target="../media/image7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Relationship Id="rId11" Type="http://schemas.openxmlformats.org/officeDocument/2006/relationships/image" Target="../media/image62.png"/><Relationship Id="rId12" Type="http://schemas.openxmlformats.org/officeDocument/2006/relationships/image" Target="../media/image75.png"/><Relationship Id="rId13" Type="http://schemas.openxmlformats.org/officeDocument/2006/relationships/image" Target="../media/image64.png"/><Relationship Id="rId14" Type="http://schemas.openxmlformats.org/officeDocument/2006/relationships/image" Target="../media/image76.png"/><Relationship Id="rId15" Type="http://schemas.openxmlformats.org/officeDocument/2006/relationships/image" Target="../media/image77.png"/><Relationship Id="rId16" Type="http://schemas.openxmlformats.org/officeDocument/2006/relationships/image" Target="../media/image78.png"/><Relationship Id="rId17" Type="http://schemas.openxmlformats.org/officeDocument/2006/relationships/image" Target="../media/image79.png"/><Relationship Id="rId18" Type="http://schemas.openxmlformats.org/officeDocument/2006/relationships/image" Target="../media/image80.png"/><Relationship Id="rId19" Type="http://schemas.openxmlformats.org/officeDocument/2006/relationships/image" Target="../media/image73.png"/><Relationship Id="rId20" Type="http://schemas.openxmlformats.org/officeDocument/2006/relationships/image" Target="../media/image81.png"/><Relationship Id="rId21" Type="http://schemas.openxmlformats.org/officeDocument/2006/relationships/image" Target="../media/image82.png"/><Relationship Id="rId22" Type="http://schemas.openxmlformats.org/officeDocument/2006/relationships/image" Target="../media/image83.png"/><Relationship Id="rId23" Type="http://schemas.openxmlformats.org/officeDocument/2006/relationships/image" Target="../media/image84.png"/><Relationship Id="rId24" Type="http://schemas.openxmlformats.org/officeDocument/2006/relationships/image" Target="../media/image85.png"/><Relationship Id="rId25" Type="http://schemas.openxmlformats.org/officeDocument/2006/relationships/image" Target="../media/image86.png"/><Relationship Id="rId26" Type="http://schemas.openxmlformats.org/officeDocument/2006/relationships/image" Target="../media/image87.png"/><Relationship Id="rId27" Type="http://schemas.openxmlformats.org/officeDocument/2006/relationships/image" Target="../media/image8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89.png"/><Relationship Id="rId11" Type="http://schemas.openxmlformats.org/officeDocument/2006/relationships/image" Target="../media/image90.png"/><Relationship Id="rId12" Type="http://schemas.openxmlformats.org/officeDocument/2006/relationships/image" Target="../media/image91.svg"/><Relationship Id="rId13" Type="http://schemas.openxmlformats.org/officeDocument/2006/relationships/image" Target="../media/image92.png"/><Relationship Id="rId14" Type="http://schemas.openxmlformats.org/officeDocument/2006/relationships/image" Target="../media/image93.svg"/><Relationship Id="rId15" Type="http://schemas.openxmlformats.org/officeDocument/2006/relationships/image" Target="../media/image94.png"/><Relationship Id="rId16" Type="http://schemas.openxmlformats.org/officeDocument/2006/relationships/image" Target="../media/image95.svg"/><Relationship Id="rId17" Type="http://schemas.openxmlformats.org/officeDocument/2006/relationships/image" Target="../media/image96.png"/><Relationship Id="rId18" Type="http://schemas.openxmlformats.org/officeDocument/2006/relationships/image" Target="../media/image97.svg"/><Relationship Id="rId19" Type="http://schemas.openxmlformats.org/officeDocument/2006/relationships/image" Target="../media/image98.png"/><Relationship Id="rId20" Type="http://schemas.openxmlformats.org/officeDocument/2006/relationships/image" Target="../media/image99.svg"/><Relationship Id="rId21" Type="http://schemas.openxmlformats.org/officeDocument/2006/relationships/image" Target="../media/image100.png"/><Relationship Id="rId22" Type="http://schemas.openxmlformats.org/officeDocument/2006/relationships/image" Target="../media/image101.svg"/><Relationship Id="rId23" Type="http://schemas.openxmlformats.org/officeDocument/2006/relationships/image" Target="../media/image102.png"/><Relationship Id="rId24" Type="http://schemas.openxmlformats.org/officeDocument/2006/relationships/image" Target="../media/image103.svg"/><Relationship Id="rId25" Type="http://schemas.openxmlformats.org/officeDocument/2006/relationships/image" Target="../media/image104.png"/><Relationship Id="rId26" Type="http://schemas.openxmlformats.org/officeDocument/2006/relationships/image" Target="../media/image105.svg"/><Relationship Id="rId27" Type="http://schemas.openxmlformats.org/officeDocument/2006/relationships/image" Target="../media/image106.png"/><Relationship Id="rId28" Type="http://schemas.openxmlformats.org/officeDocument/2006/relationships/image" Target="../media/image107.svg"/><Relationship Id="rId29" Type="http://schemas.openxmlformats.org/officeDocument/2006/relationships/image" Target="../media/image108.png"/><Relationship Id="rId30" Type="http://schemas.openxmlformats.org/officeDocument/2006/relationships/image" Target="../media/image109.svg"/><Relationship Id="rId31" Type="http://schemas.openxmlformats.org/officeDocument/2006/relationships/image" Target="../media/image110.png"/><Relationship Id="rId32" Type="http://schemas.openxmlformats.org/officeDocument/2006/relationships/image" Target="../media/image111.svg"/><Relationship Id="rId33" Type="http://schemas.openxmlformats.org/officeDocument/2006/relationships/image" Target="../media/image112.png"/><Relationship Id="rId34" Type="http://schemas.openxmlformats.org/officeDocument/2006/relationships/image" Target="../media/image113.svg"/><Relationship Id="rId35" Type="http://schemas.openxmlformats.org/officeDocument/2006/relationships/image" Target="../media/image114.png"/><Relationship Id="rId36" Type="http://schemas.openxmlformats.org/officeDocument/2006/relationships/image" Target="../media/image115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1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hyperlink" Target="https://luishenriquetsi.github.io/wefind/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53561" y="147123"/>
            <a:ext cx="1557242" cy="1470184"/>
            <a:chOff x="0" y="0"/>
            <a:chExt cx="2076323" cy="196024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6323" cy="1960245"/>
            </a:xfrm>
            <a:custGeom>
              <a:avLst/>
              <a:gdLst/>
              <a:ahLst/>
              <a:cxnLst/>
              <a:rect r="r" b="b" t="t" l="l"/>
              <a:pathLst>
                <a:path h="1960245" w="2076323">
                  <a:moveTo>
                    <a:pt x="0" y="0"/>
                  </a:moveTo>
                  <a:lnTo>
                    <a:pt x="2076323" y="0"/>
                  </a:lnTo>
                  <a:lnTo>
                    <a:pt x="2076323" y="1960245"/>
                  </a:lnTo>
                  <a:lnTo>
                    <a:pt x="0" y="19602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15906750" y="362026"/>
            <a:ext cx="2184273" cy="1333309"/>
            <a:chOff x="0" y="0"/>
            <a:chExt cx="2912364" cy="177774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12364" cy="1777746"/>
            </a:xfrm>
            <a:custGeom>
              <a:avLst/>
              <a:gdLst/>
              <a:ahLst/>
              <a:cxnLst/>
              <a:rect r="r" b="b" t="t" l="l"/>
              <a:pathLst>
                <a:path h="1777746" w="2912364">
                  <a:moveTo>
                    <a:pt x="0" y="0"/>
                  </a:moveTo>
                  <a:lnTo>
                    <a:pt x="2912364" y="0"/>
                  </a:lnTo>
                  <a:lnTo>
                    <a:pt x="2912364" y="1777746"/>
                  </a:lnTo>
                  <a:lnTo>
                    <a:pt x="0" y="17777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" r="0" b="-2"/>
              </a:stretch>
            </a:blipFill>
          </p:spPr>
          <p:txBody>
            <a:bodyPr/>
            <a:p/>
          </p:txBody>
        </p:sp>
      </p:grpSp>
      <p:sp>
        <p:nvSpPr>
          <p:cNvPr name="TextBox 6" id="6"/>
          <p:cNvSpPr txBox="true"/>
          <p:nvPr/>
        </p:nvSpPr>
        <p:spPr>
          <a:xfrm rot="0">
            <a:off x="1232202" y="4875533"/>
            <a:ext cx="15823606" cy="114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9"/>
              </a:lnSpc>
            </a:pPr>
            <a:r>
              <a:rPr lang="en-US" sz="3999" b="true">
                <a:solidFill>
                  <a:srgbClr val="1B2A1F"/>
                </a:solidFill>
                <a:latin typeface="Cooper BT Bold"/>
                <a:ea typeface="Cooper BT Bold"/>
                <a:cs typeface="Cooper BT Bold"/>
                <a:sym typeface="Cooper BT Bold"/>
              </a:rPr>
              <a:t>WeFIND: Aplicativo móvel para divulgação de animais perdidos, encontrados e para adoção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10832" y="390849"/>
            <a:ext cx="13922893" cy="435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8"/>
              </a:lnSpc>
            </a:pPr>
            <a:r>
              <a:rPr lang="en-US" sz="2100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INSTITUTO FEDERAL DE EDUCAÇÃO, CIÊNCIA E TECNOLOGIA SUL-RIO-GRANDENSE - CAMPUS PELOTAS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693880" y="7882890"/>
            <a:ext cx="13525500" cy="770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8"/>
              </a:lnSpc>
            </a:pPr>
            <a:r>
              <a:rPr lang="en-US" sz="2298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Aluno: Luis Henrique Fonseca Victoria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381250" y="8282311"/>
            <a:ext cx="13525500" cy="770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8"/>
              </a:lnSpc>
            </a:pPr>
            <a:r>
              <a:rPr lang="en-US" sz="2298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Orientadora: Prof.ª Me. Marla Cristina da Silva Sopeña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91851" y="8648700"/>
            <a:ext cx="13525500" cy="770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8"/>
              </a:lnSpc>
            </a:pPr>
            <a:r>
              <a:rPr lang="en-US" sz="2298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Coorientadora: Prof.ª Dra. Adriane Pires Rodrigues Ramires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354266" y="758409"/>
            <a:ext cx="13600671" cy="435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8"/>
              </a:lnSpc>
            </a:pPr>
            <a:r>
              <a:rPr lang="en-US" sz="2100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CURSO SUPERIOR DE TECNOLOGIA EM SISTEMAS PARA INTERNET |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1028700" y="-878424"/>
            <a:ext cx="16459200" cy="3814239"/>
            <a:chOff x="0" y="0"/>
            <a:chExt cx="21945600" cy="508565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5085715"/>
            </a:xfrm>
            <a:custGeom>
              <a:avLst/>
              <a:gdLst/>
              <a:ahLst/>
              <a:cxnLst/>
              <a:rect r="r" b="b" t="t" l="l"/>
              <a:pathLst>
                <a:path h="5085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85715"/>
                  </a:lnTo>
                  <a:lnTo>
                    <a:pt x="0" y="5085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4022" r="0" b="-34021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28700" y="-885568"/>
            <a:ext cx="16459200" cy="3821382"/>
            <a:chOff x="0" y="0"/>
            <a:chExt cx="21945600" cy="50951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5095180"/>
            </a:xfrm>
            <a:custGeom>
              <a:avLst/>
              <a:gdLst/>
              <a:ahLst/>
              <a:cxnLst/>
              <a:rect r="r" b="b" t="t" l="l"/>
              <a:pathLst>
                <a:path h="509518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95180"/>
                  </a:lnTo>
                  <a:lnTo>
                    <a:pt x="0" y="509518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3924" r="0" b="-33924"/>
              </a:stretch>
            </a:blip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51047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Roteiro de Apresentação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14400" y="2560320"/>
            <a:ext cx="1828800" cy="1463040"/>
            <a:chOff x="0" y="0"/>
            <a:chExt cx="2438400" cy="19507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914400" y="2553176"/>
            <a:ext cx="1828800" cy="1470184"/>
            <a:chOff x="0" y="0"/>
            <a:chExt cx="2438400" cy="196024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914400" y="2546033"/>
            <a:ext cx="1828800" cy="1477327"/>
            <a:chOff x="0" y="0"/>
            <a:chExt cx="2438400" cy="19697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914400" y="2538889"/>
            <a:ext cx="1828800" cy="1484471"/>
            <a:chOff x="0" y="0"/>
            <a:chExt cx="2438400" cy="197929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914400" y="2531745"/>
            <a:ext cx="1828800" cy="1491615"/>
            <a:chOff x="0" y="0"/>
            <a:chExt cx="2438400" cy="19888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914400" y="2524601"/>
            <a:ext cx="1828800" cy="1498759"/>
            <a:chOff x="0" y="0"/>
            <a:chExt cx="2438400" cy="199834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914400" y="2517458"/>
            <a:ext cx="1828800" cy="1505902"/>
            <a:chOff x="0" y="0"/>
            <a:chExt cx="2438400" cy="20078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914400" y="2510314"/>
            <a:ext cx="1828800" cy="1513046"/>
            <a:chOff x="0" y="0"/>
            <a:chExt cx="2438400" cy="201739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914400" y="2503170"/>
            <a:ext cx="1828800" cy="1520190"/>
            <a:chOff x="0" y="0"/>
            <a:chExt cx="2438400" cy="20269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  <p:txBody>
            <a:bodyPr/>
            <a:p/>
          </p:txBody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01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2926080" y="2657475"/>
            <a:ext cx="603504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Introdução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2926080" y="3076956"/>
            <a:ext cx="4981165" cy="800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Motivação, problema e objetivos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9326880" y="2560320"/>
            <a:ext cx="1828800" cy="1463040"/>
            <a:chOff x="0" y="0"/>
            <a:chExt cx="2438400" cy="19507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  <p:txBody>
            <a:bodyPr/>
            <a:p/>
          </p:txBody>
        </p:sp>
      </p:grpSp>
      <p:grpSp>
        <p:nvGrpSpPr>
          <p:cNvPr name="Group 44" id="44"/>
          <p:cNvGrpSpPr/>
          <p:nvPr/>
        </p:nvGrpSpPr>
        <p:grpSpPr>
          <a:xfrm rot="0">
            <a:off x="9326880" y="2553176"/>
            <a:ext cx="1828800" cy="1470184"/>
            <a:chOff x="0" y="0"/>
            <a:chExt cx="2438400" cy="196024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  <p:txBody>
            <a:bodyPr/>
            <a:p/>
          </p:txBody>
        </p:sp>
      </p:grpSp>
      <p:grpSp>
        <p:nvGrpSpPr>
          <p:cNvPr name="Group 46" id="46"/>
          <p:cNvGrpSpPr/>
          <p:nvPr/>
        </p:nvGrpSpPr>
        <p:grpSpPr>
          <a:xfrm rot="0">
            <a:off x="9326880" y="2546033"/>
            <a:ext cx="1828800" cy="1477327"/>
            <a:chOff x="0" y="0"/>
            <a:chExt cx="2438400" cy="196977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  <p:txBody>
            <a:bodyPr/>
            <a:p/>
          </p:txBody>
        </p:sp>
      </p:grpSp>
      <p:grpSp>
        <p:nvGrpSpPr>
          <p:cNvPr name="Group 48" id="48"/>
          <p:cNvGrpSpPr/>
          <p:nvPr/>
        </p:nvGrpSpPr>
        <p:grpSpPr>
          <a:xfrm rot="0">
            <a:off x="9326880" y="2538889"/>
            <a:ext cx="1828800" cy="1484471"/>
            <a:chOff x="0" y="0"/>
            <a:chExt cx="2438400" cy="1979295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9326880" y="2531745"/>
            <a:ext cx="1828800" cy="1491615"/>
            <a:chOff x="0" y="0"/>
            <a:chExt cx="2438400" cy="19888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  <p:txBody>
            <a:bodyPr/>
            <a:p/>
          </p:txBody>
        </p:sp>
      </p:grpSp>
      <p:grpSp>
        <p:nvGrpSpPr>
          <p:cNvPr name="Group 52" id="52"/>
          <p:cNvGrpSpPr/>
          <p:nvPr/>
        </p:nvGrpSpPr>
        <p:grpSpPr>
          <a:xfrm rot="0">
            <a:off x="9326880" y="2524601"/>
            <a:ext cx="1828800" cy="1498759"/>
            <a:chOff x="0" y="0"/>
            <a:chExt cx="2438400" cy="1998345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  <p:txBody>
            <a:bodyPr/>
            <a:p/>
          </p:txBody>
        </p:sp>
      </p:grpSp>
      <p:grpSp>
        <p:nvGrpSpPr>
          <p:cNvPr name="Group 54" id="54"/>
          <p:cNvGrpSpPr/>
          <p:nvPr/>
        </p:nvGrpSpPr>
        <p:grpSpPr>
          <a:xfrm rot="0">
            <a:off x="9326880" y="2517458"/>
            <a:ext cx="1828800" cy="1505902"/>
            <a:chOff x="0" y="0"/>
            <a:chExt cx="2438400" cy="200787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  <p:txBody>
            <a:bodyPr/>
            <a:p/>
          </p:txBody>
        </p:sp>
      </p:grpSp>
      <p:grpSp>
        <p:nvGrpSpPr>
          <p:cNvPr name="Group 56" id="56"/>
          <p:cNvGrpSpPr/>
          <p:nvPr/>
        </p:nvGrpSpPr>
        <p:grpSpPr>
          <a:xfrm rot="0">
            <a:off x="9326880" y="2510314"/>
            <a:ext cx="1828800" cy="1513046"/>
            <a:chOff x="0" y="0"/>
            <a:chExt cx="2438400" cy="2017395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  <p:txBody>
            <a:bodyPr/>
            <a:p/>
          </p:txBody>
        </p:sp>
      </p:grpSp>
      <p:grpSp>
        <p:nvGrpSpPr>
          <p:cNvPr name="Group 58" id="58"/>
          <p:cNvGrpSpPr/>
          <p:nvPr/>
        </p:nvGrpSpPr>
        <p:grpSpPr>
          <a:xfrm rot="0">
            <a:off x="9326880" y="2503170"/>
            <a:ext cx="1828800" cy="1520190"/>
            <a:chOff x="0" y="0"/>
            <a:chExt cx="2438400" cy="202692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  <p:txBody>
            <a:bodyPr/>
            <a:p/>
          </p:txBody>
        </p:sp>
        <p:sp>
          <p:nvSpPr>
            <p:cNvPr name="TextBox 60" id="60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02</a:t>
              </a: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11338560" y="2657475"/>
            <a:ext cx="6035040" cy="5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Metodologia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1338560" y="3076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Pesquisa de campo e similares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914400" y="4846320"/>
            <a:ext cx="1828800" cy="1463040"/>
            <a:chOff x="0" y="0"/>
            <a:chExt cx="2438400" cy="19507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  <p:txBody>
            <a:bodyPr/>
            <a:p/>
          </p:txBody>
        </p:sp>
      </p:grpSp>
      <p:grpSp>
        <p:nvGrpSpPr>
          <p:cNvPr name="Group 65" id="65"/>
          <p:cNvGrpSpPr/>
          <p:nvPr/>
        </p:nvGrpSpPr>
        <p:grpSpPr>
          <a:xfrm rot="0">
            <a:off x="914400" y="4839176"/>
            <a:ext cx="1828800" cy="1470184"/>
            <a:chOff x="0" y="0"/>
            <a:chExt cx="2438400" cy="196024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  <p:txBody>
            <a:bodyPr/>
            <a:p/>
          </p:txBody>
        </p:sp>
      </p:grpSp>
      <p:grpSp>
        <p:nvGrpSpPr>
          <p:cNvPr name="Group 67" id="67"/>
          <p:cNvGrpSpPr/>
          <p:nvPr/>
        </p:nvGrpSpPr>
        <p:grpSpPr>
          <a:xfrm rot="0">
            <a:off x="914400" y="4832032"/>
            <a:ext cx="1828800" cy="1477327"/>
            <a:chOff x="0" y="0"/>
            <a:chExt cx="2438400" cy="196977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  <p:txBody>
            <a:bodyPr/>
            <a:p/>
          </p:txBody>
        </p:sp>
      </p:grpSp>
      <p:grpSp>
        <p:nvGrpSpPr>
          <p:cNvPr name="Group 69" id="69"/>
          <p:cNvGrpSpPr/>
          <p:nvPr/>
        </p:nvGrpSpPr>
        <p:grpSpPr>
          <a:xfrm rot="0">
            <a:off x="914400" y="4824889"/>
            <a:ext cx="1828800" cy="1484471"/>
            <a:chOff x="0" y="0"/>
            <a:chExt cx="2438400" cy="197929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  <p:txBody>
            <a:bodyPr/>
            <a:p/>
          </p:txBody>
        </p:sp>
      </p:grpSp>
      <p:grpSp>
        <p:nvGrpSpPr>
          <p:cNvPr name="Group 71" id="71"/>
          <p:cNvGrpSpPr/>
          <p:nvPr/>
        </p:nvGrpSpPr>
        <p:grpSpPr>
          <a:xfrm rot="0">
            <a:off x="914400" y="4817745"/>
            <a:ext cx="1828800" cy="1491615"/>
            <a:chOff x="0" y="0"/>
            <a:chExt cx="2438400" cy="198882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  <p:txBody>
            <a:bodyPr/>
            <a:p/>
          </p:txBody>
        </p:sp>
      </p:grpSp>
      <p:grpSp>
        <p:nvGrpSpPr>
          <p:cNvPr name="Group 73" id="73"/>
          <p:cNvGrpSpPr/>
          <p:nvPr/>
        </p:nvGrpSpPr>
        <p:grpSpPr>
          <a:xfrm rot="0">
            <a:off x="914400" y="4810601"/>
            <a:ext cx="1828800" cy="1498759"/>
            <a:chOff x="0" y="0"/>
            <a:chExt cx="2438400" cy="1998345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  <p:txBody>
            <a:bodyPr/>
            <a:p/>
          </p:txBody>
        </p:sp>
      </p:grpSp>
      <p:grpSp>
        <p:nvGrpSpPr>
          <p:cNvPr name="Group 75" id="75"/>
          <p:cNvGrpSpPr/>
          <p:nvPr/>
        </p:nvGrpSpPr>
        <p:grpSpPr>
          <a:xfrm rot="0">
            <a:off x="914400" y="4803458"/>
            <a:ext cx="1828800" cy="1505902"/>
            <a:chOff x="0" y="0"/>
            <a:chExt cx="2438400" cy="200787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914400" y="4796314"/>
            <a:ext cx="1828800" cy="1513046"/>
            <a:chOff x="0" y="0"/>
            <a:chExt cx="2438400" cy="2017395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  <p:txBody>
            <a:bodyPr/>
            <a:p/>
          </p:txBody>
        </p:sp>
      </p:grpSp>
      <p:grpSp>
        <p:nvGrpSpPr>
          <p:cNvPr name="Group 79" id="79"/>
          <p:cNvGrpSpPr/>
          <p:nvPr/>
        </p:nvGrpSpPr>
        <p:grpSpPr>
          <a:xfrm rot="0">
            <a:off x="914400" y="4789170"/>
            <a:ext cx="1828800" cy="1520190"/>
            <a:chOff x="0" y="0"/>
            <a:chExt cx="2438400" cy="202692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  <p:txBody>
            <a:bodyPr/>
            <a:p/>
          </p:txBody>
        </p:sp>
        <p:sp>
          <p:nvSpPr>
            <p:cNvPr name="TextBox 81" id="81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03</a:t>
              </a:r>
            </a:p>
          </p:txBody>
        </p:sp>
      </p:grpSp>
      <p:sp>
        <p:nvSpPr>
          <p:cNvPr name="TextBox 82" id="82"/>
          <p:cNvSpPr txBox="true"/>
          <p:nvPr/>
        </p:nvSpPr>
        <p:spPr>
          <a:xfrm rot="0">
            <a:off x="2926080" y="4943475"/>
            <a:ext cx="603504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Modelagem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2926080" y="5362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Requisitos, regras de negócio e UML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9326880" y="4846320"/>
            <a:ext cx="1828800" cy="1463040"/>
            <a:chOff x="0" y="0"/>
            <a:chExt cx="2438400" cy="195072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  <p:txBody>
            <a:bodyPr/>
            <a:p/>
          </p:txBody>
        </p:sp>
      </p:grpSp>
      <p:grpSp>
        <p:nvGrpSpPr>
          <p:cNvPr name="Group 86" id="86"/>
          <p:cNvGrpSpPr/>
          <p:nvPr/>
        </p:nvGrpSpPr>
        <p:grpSpPr>
          <a:xfrm rot="0">
            <a:off x="9326880" y="4839176"/>
            <a:ext cx="1828800" cy="1470184"/>
            <a:chOff x="0" y="0"/>
            <a:chExt cx="2438400" cy="1960245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  <p:txBody>
            <a:bodyPr/>
            <a:p/>
          </p:txBody>
        </p:sp>
      </p:grpSp>
      <p:grpSp>
        <p:nvGrpSpPr>
          <p:cNvPr name="Group 88" id="88"/>
          <p:cNvGrpSpPr/>
          <p:nvPr/>
        </p:nvGrpSpPr>
        <p:grpSpPr>
          <a:xfrm rot="0">
            <a:off x="9326880" y="4832032"/>
            <a:ext cx="1828800" cy="1477327"/>
            <a:chOff x="0" y="0"/>
            <a:chExt cx="2438400" cy="196977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  <p:txBody>
            <a:bodyPr/>
            <a:p/>
          </p:txBody>
        </p:sp>
      </p:grpSp>
      <p:grpSp>
        <p:nvGrpSpPr>
          <p:cNvPr name="Group 90" id="90"/>
          <p:cNvGrpSpPr/>
          <p:nvPr/>
        </p:nvGrpSpPr>
        <p:grpSpPr>
          <a:xfrm rot="0">
            <a:off x="9326880" y="4824889"/>
            <a:ext cx="1828800" cy="1484471"/>
            <a:chOff x="0" y="0"/>
            <a:chExt cx="2438400" cy="1979295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  <p:txBody>
            <a:bodyPr/>
            <a:p/>
          </p:txBody>
        </p:sp>
      </p:grpSp>
      <p:grpSp>
        <p:nvGrpSpPr>
          <p:cNvPr name="Group 92" id="92"/>
          <p:cNvGrpSpPr/>
          <p:nvPr/>
        </p:nvGrpSpPr>
        <p:grpSpPr>
          <a:xfrm rot="0">
            <a:off x="9326880" y="4817745"/>
            <a:ext cx="1828800" cy="1491615"/>
            <a:chOff x="0" y="0"/>
            <a:chExt cx="2438400" cy="198882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  <p:txBody>
            <a:bodyPr/>
            <a:p/>
          </p:txBody>
        </p:sp>
      </p:grpSp>
      <p:grpSp>
        <p:nvGrpSpPr>
          <p:cNvPr name="Group 94" id="94"/>
          <p:cNvGrpSpPr/>
          <p:nvPr/>
        </p:nvGrpSpPr>
        <p:grpSpPr>
          <a:xfrm rot="0">
            <a:off x="9326880" y="4810601"/>
            <a:ext cx="1828800" cy="1498759"/>
            <a:chOff x="0" y="0"/>
            <a:chExt cx="2438400" cy="1998345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  <p:txBody>
            <a:bodyPr/>
            <a:p/>
          </p:txBody>
        </p:sp>
      </p:grpSp>
      <p:grpSp>
        <p:nvGrpSpPr>
          <p:cNvPr name="Group 96" id="96"/>
          <p:cNvGrpSpPr/>
          <p:nvPr/>
        </p:nvGrpSpPr>
        <p:grpSpPr>
          <a:xfrm rot="0">
            <a:off x="9326880" y="4803458"/>
            <a:ext cx="1828800" cy="1505902"/>
            <a:chOff x="0" y="0"/>
            <a:chExt cx="2438400" cy="200787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  <p:txBody>
            <a:bodyPr/>
            <a:p/>
          </p:txBody>
        </p:sp>
      </p:grpSp>
      <p:grpSp>
        <p:nvGrpSpPr>
          <p:cNvPr name="Group 98" id="98"/>
          <p:cNvGrpSpPr/>
          <p:nvPr/>
        </p:nvGrpSpPr>
        <p:grpSpPr>
          <a:xfrm rot="0">
            <a:off x="9326880" y="4796314"/>
            <a:ext cx="1828800" cy="1513046"/>
            <a:chOff x="0" y="0"/>
            <a:chExt cx="2438400" cy="2017395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  <p:txBody>
            <a:bodyPr/>
            <a:p/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9326880" y="4789170"/>
            <a:ext cx="1828800" cy="1520190"/>
            <a:chOff x="0" y="0"/>
            <a:chExt cx="2438400" cy="202692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  <p:txBody>
            <a:bodyPr/>
            <a:p/>
          </p:txBody>
        </p:sp>
        <p:sp>
          <p:nvSpPr>
            <p:cNvPr name="TextBox 102" id="102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04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1338560" y="4943475"/>
            <a:ext cx="603504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Desenvolvimento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11338560" y="5362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Arquitetura, design e demonstração em vídeo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914400" y="7132320"/>
            <a:ext cx="1828800" cy="1463040"/>
            <a:chOff x="0" y="0"/>
            <a:chExt cx="2438400" cy="195072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  <p:txBody>
            <a:bodyPr/>
            <a:p/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914400" y="7125176"/>
            <a:ext cx="1828800" cy="1470184"/>
            <a:chOff x="0" y="0"/>
            <a:chExt cx="2438400" cy="1960245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  <p:txBody>
            <a:bodyPr/>
            <a:p/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914400" y="7118032"/>
            <a:ext cx="1828800" cy="1477327"/>
            <a:chOff x="0" y="0"/>
            <a:chExt cx="2438400" cy="196977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  <p:txBody>
            <a:bodyPr/>
            <a:p/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914400" y="7110889"/>
            <a:ext cx="1828800" cy="1484471"/>
            <a:chOff x="0" y="0"/>
            <a:chExt cx="2438400" cy="1979295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  <p:txBody>
            <a:bodyPr/>
            <a:p/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914400" y="7103745"/>
            <a:ext cx="1828800" cy="1491615"/>
            <a:chOff x="0" y="0"/>
            <a:chExt cx="2438400" cy="198882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  <p:txBody>
            <a:bodyPr/>
            <a:p/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914400" y="7096601"/>
            <a:ext cx="1828800" cy="1498759"/>
            <a:chOff x="0" y="0"/>
            <a:chExt cx="2438400" cy="1998345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  <p:txBody>
            <a:bodyPr/>
            <a:p/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914400" y="7089457"/>
            <a:ext cx="1828800" cy="1505902"/>
            <a:chOff x="0" y="0"/>
            <a:chExt cx="2438400" cy="2007870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  <p:txBody>
            <a:bodyPr/>
            <a:p/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914400" y="7082314"/>
            <a:ext cx="1828800" cy="1513046"/>
            <a:chOff x="0" y="0"/>
            <a:chExt cx="2438400" cy="2017395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  <p:txBody>
            <a:bodyPr/>
            <a:p/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914400" y="7075170"/>
            <a:ext cx="1828800" cy="1520190"/>
            <a:chOff x="0" y="0"/>
            <a:chExt cx="2438400" cy="2026920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  <p:txBody>
            <a:bodyPr/>
            <a:p/>
          </p:txBody>
        </p:sp>
        <p:sp>
          <p:nvSpPr>
            <p:cNvPr name="TextBox 123" id="123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05</a:t>
              </a:r>
            </a:p>
          </p:txBody>
        </p:sp>
      </p:grpSp>
      <p:sp>
        <p:nvSpPr>
          <p:cNvPr name="TextBox 124" id="124"/>
          <p:cNvSpPr txBox="true"/>
          <p:nvPr/>
        </p:nvSpPr>
        <p:spPr>
          <a:xfrm rot="0">
            <a:off x="2926080" y="7229475"/>
            <a:ext cx="6035040" cy="5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Avaliação</a:t>
            </a:r>
          </a:p>
        </p:txBody>
      </p:sp>
      <p:sp>
        <p:nvSpPr>
          <p:cNvPr name="TextBox 125" id="125"/>
          <p:cNvSpPr txBox="true"/>
          <p:nvPr/>
        </p:nvSpPr>
        <p:spPr>
          <a:xfrm rot="0">
            <a:off x="2926080" y="7648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que ainda serão realizados</a:t>
            </a:r>
          </a:p>
        </p:txBody>
      </p:sp>
      <p:grpSp>
        <p:nvGrpSpPr>
          <p:cNvPr name="Group 126" id="126"/>
          <p:cNvGrpSpPr/>
          <p:nvPr/>
        </p:nvGrpSpPr>
        <p:grpSpPr>
          <a:xfrm rot="0">
            <a:off x="9326880" y="7132320"/>
            <a:ext cx="1828800" cy="1463040"/>
            <a:chOff x="0" y="0"/>
            <a:chExt cx="2438400" cy="195072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  <p:txBody>
            <a:bodyPr/>
            <a:p/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9326880" y="7125176"/>
            <a:ext cx="1828800" cy="1470184"/>
            <a:chOff x="0" y="0"/>
            <a:chExt cx="2438400" cy="1960245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  <p:txBody>
            <a:bodyPr/>
            <a:p/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9326880" y="7118032"/>
            <a:ext cx="1828800" cy="1477327"/>
            <a:chOff x="0" y="0"/>
            <a:chExt cx="2438400" cy="1969770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  <p:txBody>
            <a:bodyPr/>
            <a:p/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9326880" y="7110889"/>
            <a:ext cx="1828800" cy="1484471"/>
            <a:chOff x="0" y="0"/>
            <a:chExt cx="2438400" cy="1979295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  <p:txBody>
            <a:bodyPr/>
            <a:p/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326880" y="7103745"/>
            <a:ext cx="1828800" cy="1491615"/>
            <a:chOff x="0" y="0"/>
            <a:chExt cx="2438400" cy="1988820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  <p:txBody>
            <a:bodyPr/>
            <a:p/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9326880" y="7096601"/>
            <a:ext cx="1828800" cy="1498759"/>
            <a:chOff x="0" y="0"/>
            <a:chExt cx="2438400" cy="1998345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  <p:txBody>
            <a:bodyPr/>
            <a:p/>
          </p:txBody>
        </p:sp>
      </p:grpSp>
      <p:grpSp>
        <p:nvGrpSpPr>
          <p:cNvPr name="Group 138" id="138"/>
          <p:cNvGrpSpPr/>
          <p:nvPr/>
        </p:nvGrpSpPr>
        <p:grpSpPr>
          <a:xfrm rot="0">
            <a:off x="9326880" y="7089457"/>
            <a:ext cx="1828800" cy="1505902"/>
            <a:chOff x="0" y="0"/>
            <a:chExt cx="2438400" cy="2007870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  <p:txBody>
            <a:bodyPr/>
            <a:p/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9326880" y="7082314"/>
            <a:ext cx="1828800" cy="1513046"/>
            <a:chOff x="0" y="0"/>
            <a:chExt cx="2438400" cy="2017395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24384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225" t="0" r="-56225" b="0"/>
              </a:stretch>
            </a:blipFill>
          </p:spPr>
          <p:txBody>
            <a:bodyPr/>
            <a:p/>
          </p:txBody>
        </p:sp>
      </p:grpSp>
      <p:grpSp>
        <p:nvGrpSpPr>
          <p:cNvPr name="Group 142" id="142"/>
          <p:cNvGrpSpPr/>
          <p:nvPr/>
        </p:nvGrpSpPr>
        <p:grpSpPr>
          <a:xfrm rot="0">
            <a:off x="9326880" y="7075170"/>
            <a:ext cx="1828800" cy="1520190"/>
            <a:chOff x="0" y="0"/>
            <a:chExt cx="2438400" cy="2026920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24384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6652" t="0" r="-56652" b="0"/>
              </a:stretch>
            </a:blipFill>
          </p:spPr>
          <p:txBody>
            <a:bodyPr/>
            <a:p/>
          </p:txBody>
        </p:sp>
        <p:sp>
          <p:nvSpPr>
            <p:cNvPr name="TextBox 144" id="144"/>
            <p:cNvSpPr txBox="true"/>
            <p:nvPr/>
          </p:nvSpPr>
          <p:spPr>
            <a:xfrm>
              <a:off x="0" y="-9525"/>
              <a:ext cx="24384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06</a:t>
              </a:r>
            </a:p>
          </p:txBody>
        </p:sp>
      </p:grpSp>
      <p:sp>
        <p:nvSpPr>
          <p:cNvPr name="TextBox 145" id="145"/>
          <p:cNvSpPr txBox="true"/>
          <p:nvPr/>
        </p:nvSpPr>
        <p:spPr>
          <a:xfrm rot="0">
            <a:off x="11338560" y="7229475"/>
            <a:ext cx="6035040" cy="5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Conclusão</a:t>
            </a:r>
          </a:p>
        </p:txBody>
      </p:sp>
      <p:sp>
        <p:nvSpPr>
          <p:cNvPr name="TextBox 146" id="146"/>
          <p:cNvSpPr txBox="true"/>
          <p:nvPr/>
        </p:nvSpPr>
        <p:spPr>
          <a:xfrm rot="0">
            <a:off x="11338560" y="7648956"/>
            <a:ext cx="6035040" cy="43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Entregas, limites e próximos passos</a:t>
            </a:r>
          </a:p>
        </p:txBody>
      </p:sp>
      <p:grpSp>
        <p:nvGrpSpPr>
          <p:cNvPr name="Group 147" id="147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149" id="149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153" id="153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155" id="155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157" id="157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163" id="163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165" id="165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166" id="166"/>
          <p:cNvSpPr txBox="true"/>
          <p:nvPr/>
        </p:nvSpPr>
        <p:spPr>
          <a:xfrm rot="0">
            <a:off x="16459200" y="9433560"/>
            <a:ext cx="9144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233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Introdução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55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Motivação, problema e objetivos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  <p:txBody>
            <a:bodyPr/>
            <a:p/>
          </p:txBody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 INTRODUÇÃO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  <p:txBody>
            <a:bodyPr/>
            <a:p/>
          </p:txBody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Uma busca real virou um objetivo claro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914400" y="3338989"/>
            <a:ext cx="1828800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4400" y="4710589"/>
            <a:ext cx="713232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Motivação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14400" y="5292090"/>
            <a:ext cx="7132320" cy="2434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Uma pessoa próxima perdeu o animal dela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 busca foi feita pelas redes sociais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Acompanhei tudo de perto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8732520" y="3516154"/>
            <a:ext cx="548640" cy="1097280"/>
            <a:chOff x="0" y="0"/>
            <a:chExt cx="731520" cy="1463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732520" y="3423285"/>
            <a:ext cx="548640" cy="1190149"/>
            <a:chOff x="0" y="0"/>
            <a:chExt cx="731520" cy="158686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732520" y="3330416"/>
            <a:ext cx="548640" cy="1283018"/>
            <a:chOff x="0" y="0"/>
            <a:chExt cx="731520" cy="171069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732520" y="3237548"/>
            <a:ext cx="548640" cy="1375886"/>
            <a:chOff x="0" y="0"/>
            <a:chExt cx="731520" cy="183451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732520" y="3144679"/>
            <a:ext cx="548640" cy="1468755"/>
            <a:chOff x="0" y="0"/>
            <a:chExt cx="731520" cy="19583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732520" y="3051810"/>
            <a:ext cx="548640" cy="1561624"/>
            <a:chOff x="0" y="0"/>
            <a:chExt cx="731520" cy="208216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8732520" y="2958941"/>
            <a:ext cx="548640" cy="1654492"/>
            <a:chOff x="0" y="0"/>
            <a:chExt cx="731520" cy="220599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7184" t="0" r="-337185" b="0"/>
              </a:stretch>
            </a:blipFill>
          </p:spPr>
          <p:txBody>
            <a:bodyPr/>
            <a:p/>
          </p:txBody>
        </p:sp>
      </p:grpSp>
      <p:grpSp>
        <p:nvGrpSpPr>
          <p:cNvPr name="Group 39" id="39"/>
          <p:cNvGrpSpPr/>
          <p:nvPr/>
        </p:nvGrpSpPr>
        <p:grpSpPr>
          <a:xfrm rot="0">
            <a:off x="8732520" y="2866072"/>
            <a:ext cx="548640" cy="1747361"/>
            <a:chOff x="0" y="0"/>
            <a:chExt cx="731520" cy="2329815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31520" cy="2329815"/>
            </a:xfrm>
            <a:custGeom>
              <a:avLst/>
              <a:gdLst/>
              <a:ahLst/>
              <a:cxnLst/>
              <a:rect r="r" b="b" t="t" l="l"/>
              <a:pathLst>
                <a:path h="23298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329815"/>
                  </a:lnTo>
                  <a:lnTo>
                    <a:pt x="0" y="23298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58918" t="0" r="-358916" b="0"/>
              </a:stretch>
            </a:blip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8732520" y="2773204"/>
            <a:ext cx="548640" cy="1840230"/>
            <a:chOff x="0" y="0"/>
            <a:chExt cx="731520" cy="2453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31520" cy="2453640"/>
            </a:xfrm>
            <a:custGeom>
              <a:avLst/>
              <a:gdLst/>
              <a:ahLst/>
              <a:cxnLst/>
              <a:rect r="r" b="b" t="t" l="l"/>
              <a:pathLst>
                <a:path h="24536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453640"/>
                  </a:lnTo>
                  <a:lnTo>
                    <a:pt x="0" y="24536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380351" t="0" r="-380351" b="0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123825"/>
              <a:ext cx="731520" cy="25774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9692640" y="3338989"/>
            <a:ext cx="1828800" cy="11810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692640" y="4710589"/>
            <a:ext cx="768096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Problema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692640" y="5292090"/>
            <a:ext cx="7680960" cy="200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Montar o anúncio com foto e contato levava tempo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As informações ficavam espalhadas em vários grupos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Não dava para corrigir o que já tinha sido compartilhado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Apareciam golpes e trotes nas divulgações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6459200" y="93954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4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52" id="52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54" id="54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56" id="56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58" id="58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60" id="60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64" id="64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 INTRODUÇÃO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-444084"/>
            <a:ext cx="16459200" cy="3814239"/>
            <a:chOff x="0" y="0"/>
            <a:chExt cx="21945600" cy="50856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5085715"/>
            </a:xfrm>
            <a:custGeom>
              <a:avLst/>
              <a:gdLst/>
              <a:ahLst/>
              <a:cxnLst/>
              <a:rect r="r" b="b" t="t" l="l"/>
              <a:pathLst>
                <a:path h="5085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85715"/>
                  </a:lnTo>
                  <a:lnTo>
                    <a:pt x="0" y="508571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4022" r="0" b="-34021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-451228"/>
            <a:ext cx="16459200" cy="3821382"/>
            <a:chOff x="0" y="0"/>
            <a:chExt cx="21945600" cy="509517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5095180"/>
            </a:xfrm>
            <a:custGeom>
              <a:avLst/>
              <a:gdLst/>
              <a:ahLst/>
              <a:cxnLst/>
              <a:rect r="r" b="b" t="t" l="l"/>
              <a:pathLst>
                <a:path h="509518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95180"/>
                  </a:lnTo>
                  <a:lnTo>
                    <a:pt x="0" y="509518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3924" r="0" b="-33924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51047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Panorama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2" id="22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4" id="24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28" id="28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0" id="30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2" id="32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4" id="34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14400" y="2148840"/>
            <a:ext cx="7955280" cy="6720840"/>
            <a:chOff x="0" y="0"/>
            <a:chExt cx="10607040" cy="8961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607039" cy="8961120"/>
            </a:xfrm>
            <a:custGeom>
              <a:avLst/>
              <a:gdLst/>
              <a:ahLst/>
              <a:cxnLst/>
              <a:rect r="r" b="b" t="t" l="l"/>
              <a:pathLst>
                <a:path h="8961120" w="10607039">
                  <a:moveTo>
                    <a:pt x="0" y="358394"/>
                  </a:moveTo>
                  <a:cubicBezTo>
                    <a:pt x="0" y="160528"/>
                    <a:pt x="160528" y="0"/>
                    <a:pt x="358394" y="0"/>
                  </a:cubicBezTo>
                  <a:lnTo>
                    <a:pt x="10248646" y="0"/>
                  </a:lnTo>
                  <a:cubicBezTo>
                    <a:pt x="10446639" y="0"/>
                    <a:pt x="10607039" y="160528"/>
                    <a:pt x="10607039" y="358394"/>
                  </a:cubicBezTo>
                  <a:lnTo>
                    <a:pt x="10607039" y="8602726"/>
                  </a:lnTo>
                  <a:cubicBezTo>
                    <a:pt x="10607039" y="8800719"/>
                    <a:pt x="10446512" y="8961120"/>
                    <a:pt x="10248646" y="8961120"/>
                  </a:cubicBezTo>
                  <a:lnTo>
                    <a:pt x="358394" y="8961120"/>
                  </a:lnTo>
                  <a:cubicBezTo>
                    <a:pt x="160528" y="8961120"/>
                    <a:pt x="0" y="8800592"/>
                    <a:pt x="0" y="8602726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sp>
        <p:nvSpPr>
          <p:cNvPr name="TextBox 39" id="39"/>
          <p:cNvSpPr txBox="true"/>
          <p:nvPr/>
        </p:nvSpPr>
        <p:spPr>
          <a:xfrm rot="0">
            <a:off x="1371600" y="2411730"/>
            <a:ext cx="7040880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ESTUDOS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371600" y="3108960"/>
            <a:ext cx="3200400" cy="2468880"/>
            <a:chOff x="0" y="0"/>
            <a:chExt cx="4267200" cy="32918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267200" cy="3291840"/>
            </a:xfrm>
            <a:custGeom>
              <a:avLst/>
              <a:gdLst/>
              <a:ahLst/>
              <a:cxnLst/>
              <a:rect r="r" b="b" t="t" l="l"/>
              <a:pathLst>
                <a:path h="32918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49045" t="0" r="-49046" b="0"/>
              </a:stretch>
            </a:blipFill>
          </p:spPr>
          <p:txBody>
            <a:bodyPr/>
            <a:p/>
          </p:txBody>
        </p:sp>
      </p:grpSp>
      <p:grpSp>
        <p:nvGrpSpPr>
          <p:cNvPr name="Group 42" id="42"/>
          <p:cNvGrpSpPr/>
          <p:nvPr/>
        </p:nvGrpSpPr>
        <p:grpSpPr>
          <a:xfrm rot="0">
            <a:off x="1371600" y="3101816"/>
            <a:ext cx="3200400" cy="2476024"/>
            <a:chOff x="0" y="0"/>
            <a:chExt cx="4267200" cy="330136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267200" cy="3301365"/>
            </a:xfrm>
            <a:custGeom>
              <a:avLst/>
              <a:gdLst/>
              <a:ahLst/>
              <a:cxnLst/>
              <a:rect r="r" b="b" t="t" l="l"/>
              <a:pathLst>
                <a:path h="33013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301365"/>
                  </a:lnTo>
                  <a:lnTo>
                    <a:pt x="0" y="33013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49263" t="0" r="-49263" b="0"/>
              </a:stretch>
            </a:blipFill>
          </p:spPr>
          <p:txBody>
            <a:bodyPr/>
            <a:p/>
          </p:txBody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4267200" cy="3310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33,8 mi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4572000" y="3108960"/>
            <a:ext cx="3840480" cy="2468880"/>
            <a:chOff x="0" y="0"/>
            <a:chExt cx="5120640" cy="32918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120640" cy="3291840"/>
            </a:xfrm>
            <a:custGeom>
              <a:avLst/>
              <a:gdLst/>
              <a:ahLst/>
              <a:cxnLst/>
              <a:rect r="r" b="b" t="t" l="l"/>
              <a:pathLst>
                <a:path h="32918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2538" t="0" r="-32538" b="0"/>
              </a:stretch>
            </a:blipFill>
          </p:spPr>
          <p:txBody>
            <a:bodyPr/>
            <a:p/>
          </p:txBody>
        </p:sp>
      </p:grpSp>
      <p:grpSp>
        <p:nvGrpSpPr>
          <p:cNvPr name="Group 47" id="47"/>
          <p:cNvGrpSpPr/>
          <p:nvPr/>
        </p:nvGrpSpPr>
        <p:grpSpPr>
          <a:xfrm rot="0">
            <a:off x="4572000" y="3080385"/>
            <a:ext cx="3840480" cy="2497455"/>
            <a:chOff x="0" y="0"/>
            <a:chExt cx="5120640" cy="33299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120640" cy="3329940"/>
            </a:xfrm>
            <a:custGeom>
              <a:avLst/>
              <a:gdLst/>
              <a:ahLst/>
              <a:cxnLst/>
              <a:rect r="r" b="b" t="t" l="l"/>
              <a:pathLst>
                <a:path h="33299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3329940"/>
                  </a:lnTo>
                  <a:lnTo>
                    <a:pt x="0" y="33299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3435" t="0" r="-33435" b="0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5120640" cy="3368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 lares brasileiros têm cachorro, e 14,1 milhões têm gato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IBGE, 2020</a:t>
              </a:r>
            </a:p>
          </p:txBody>
        </p:sp>
      </p:grpSp>
      <p:sp>
        <p:nvSpPr>
          <p:cNvPr name="AutoShape 50" id="50"/>
          <p:cNvSpPr/>
          <p:nvPr/>
        </p:nvSpPr>
        <p:spPr>
          <a:xfrm rot="4620">
            <a:off x="1360484" y="5678043"/>
            <a:ext cx="706313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1" id="51"/>
          <p:cNvGrpSpPr/>
          <p:nvPr/>
        </p:nvGrpSpPr>
        <p:grpSpPr>
          <a:xfrm rot="0">
            <a:off x="1371600" y="5852160"/>
            <a:ext cx="3200400" cy="2468880"/>
            <a:chOff x="0" y="0"/>
            <a:chExt cx="4267200" cy="32918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267200" cy="3291840"/>
            </a:xfrm>
            <a:custGeom>
              <a:avLst/>
              <a:gdLst/>
              <a:ahLst/>
              <a:cxnLst/>
              <a:rect r="r" b="b" t="t" l="l"/>
              <a:pathLst>
                <a:path h="32918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49045" t="0" r="-49046" b="0"/>
              </a:stretch>
            </a:blip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1371600" y="5845016"/>
            <a:ext cx="3200400" cy="2476024"/>
            <a:chOff x="0" y="0"/>
            <a:chExt cx="4267200" cy="330136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267200" cy="3301365"/>
            </a:xfrm>
            <a:custGeom>
              <a:avLst/>
              <a:gdLst/>
              <a:ahLst/>
              <a:cxnLst/>
              <a:rect r="r" b="b" t="t" l="l"/>
              <a:pathLst>
                <a:path h="33013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301365"/>
                  </a:lnTo>
                  <a:lnTo>
                    <a:pt x="0" y="33013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49263" t="0" r="-49263" b="0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9525"/>
              <a:ext cx="4267200" cy="3310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15%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4572000" y="5852160"/>
            <a:ext cx="3840480" cy="2468880"/>
            <a:chOff x="0" y="0"/>
            <a:chExt cx="5120640" cy="32918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120640" cy="3291840"/>
            </a:xfrm>
            <a:custGeom>
              <a:avLst/>
              <a:gdLst/>
              <a:ahLst/>
              <a:cxnLst/>
              <a:rect r="r" b="b" t="t" l="l"/>
              <a:pathLst>
                <a:path h="32918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2538" t="0" r="-32538" b="0"/>
              </a:stretch>
            </a:blipFill>
          </p:spPr>
          <p:txBody>
            <a:bodyPr/>
            <a:p/>
          </p:txBody>
        </p:sp>
      </p:grpSp>
      <p:grpSp>
        <p:nvGrpSpPr>
          <p:cNvPr name="Group 58" id="58"/>
          <p:cNvGrpSpPr/>
          <p:nvPr/>
        </p:nvGrpSpPr>
        <p:grpSpPr>
          <a:xfrm rot="0">
            <a:off x="4572000" y="5823585"/>
            <a:ext cx="3840480" cy="2497455"/>
            <a:chOff x="0" y="0"/>
            <a:chExt cx="5120640" cy="33299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5120640" cy="3329940"/>
            </a:xfrm>
            <a:custGeom>
              <a:avLst/>
              <a:gdLst/>
              <a:ahLst/>
              <a:cxnLst/>
              <a:rect r="r" b="b" t="t" l="l"/>
              <a:pathLst>
                <a:path h="33299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3329940"/>
                  </a:lnTo>
                  <a:lnTo>
                    <a:pt x="0" y="33299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3435" t="0" r="-33435" b="0"/>
              </a:stretch>
            </a:blipFill>
          </p:spPr>
          <p:txBody>
            <a:bodyPr/>
            <a:p/>
          </p:txBody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5120640" cy="3368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dos tutores já perderam um cão ou gato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EUA · Weiss et al., 2012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9418320" y="2148840"/>
            <a:ext cx="7955280" cy="6720840"/>
            <a:chOff x="0" y="0"/>
            <a:chExt cx="10607040" cy="89611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0607039" cy="8961120"/>
            </a:xfrm>
            <a:custGeom>
              <a:avLst/>
              <a:gdLst/>
              <a:ahLst/>
              <a:cxnLst/>
              <a:rect r="r" b="b" t="t" l="l"/>
              <a:pathLst>
                <a:path h="8961120" w="10607039">
                  <a:moveTo>
                    <a:pt x="0" y="358394"/>
                  </a:moveTo>
                  <a:cubicBezTo>
                    <a:pt x="0" y="160528"/>
                    <a:pt x="160528" y="0"/>
                    <a:pt x="358394" y="0"/>
                  </a:cubicBezTo>
                  <a:lnTo>
                    <a:pt x="10248646" y="0"/>
                  </a:lnTo>
                  <a:cubicBezTo>
                    <a:pt x="10446639" y="0"/>
                    <a:pt x="10607039" y="160528"/>
                    <a:pt x="10607039" y="358394"/>
                  </a:cubicBezTo>
                  <a:lnTo>
                    <a:pt x="10607039" y="8602726"/>
                  </a:lnTo>
                  <a:cubicBezTo>
                    <a:pt x="10607039" y="8800719"/>
                    <a:pt x="10446512" y="8961120"/>
                    <a:pt x="10248646" y="8961120"/>
                  </a:cubicBezTo>
                  <a:lnTo>
                    <a:pt x="358394" y="8961120"/>
                  </a:lnTo>
                  <a:cubicBezTo>
                    <a:pt x="160528" y="8961120"/>
                    <a:pt x="0" y="8800592"/>
                    <a:pt x="0" y="8602726"/>
                  </a:cubicBezTo>
                  <a:close/>
                </a:path>
              </a:pathLst>
            </a:custGeom>
            <a:solidFill>
              <a:srgbClr val="F8EFE8"/>
            </a:solidFill>
          </p:spPr>
          <p:txBody>
            <a:bodyPr/>
            <a:p/>
          </p:txBody>
        </p:sp>
      </p:grpSp>
      <p:sp>
        <p:nvSpPr>
          <p:cNvPr name="TextBox 63" id="63"/>
          <p:cNvSpPr txBox="true"/>
          <p:nvPr/>
        </p:nvSpPr>
        <p:spPr>
          <a:xfrm rot="0">
            <a:off x="9875520" y="2411730"/>
            <a:ext cx="7040880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PESQUISA DE CAMPO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9875520" y="3108960"/>
            <a:ext cx="3200400" cy="1554480"/>
            <a:chOff x="0" y="0"/>
            <a:chExt cx="4267200" cy="2072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4267200" cy="2072640"/>
            </a:xfrm>
            <a:custGeom>
              <a:avLst/>
              <a:gdLst/>
              <a:ahLst/>
              <a:cxnLst/>
              <a:rect r="r" b="b" t="t" l="l"/>
              <a:pathLst>
                <a:path h="20726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2362" t="0" r="-12362" b="0"/>
              </a:stretch>
            </a:blipFill>
          </p:spPr>
          <p:txBody>
            <a:bodyPr/>
            <a:p/>
          </p:txBody>
        </p:sp>
      </p:grpSp>
      <p:grpSp>
        <p:nvGrpSpPr>
          <p:cNvPr name="Group 66" id="66"/>
          <p:cNvGrpSpPr/>
          <p:nvPr/>
        </p:nvGrpSpPr>
        <p:grpSpPr>
          <a:xfrm rot="0">
            <a:off x="9875520" y="3101816"/>
            <a:ext cx="3200400" cy="1561624"/>
            <a:chOff x="0" y="0"/>
            <a:chExt cx="4267200" cy="2082165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267200" cy="2082165"/>
            </a:xfrm>
            <a:custGeom>
              <a:avLst/>
              <a:gdLst/>
              <a:ahLst/>
              <a:cxnLst/>
              <a:rect r="r" b="b" t="t" l="l"/>
              <a:pathLst>
                <a:path h="20821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2605" t="0" r="-12605" b="0"/>
              </a:stretch>
            </a:blipFill>
          </p:spPr>
          <p:txBody>
            <a:bodyPr/>
            <a:p/>
          </p:txBody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4267200" cy="2091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48%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3075920" y="3108960"/>
            <a:ext cx="3840480" cy="1554480"/>
            <a:chOff x="0" y="0"/>
            <a:chExt cx="5120640" cy="207264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968" t="0" r="-1968" b="0"/>
              </a:stretch>
            </a:blipFill>
          </p:spPr>
          <p:txBody>
            <a:bodyPr/>
            <a:p/>
          </p:txBody>
        </p:sp>
      </p:grpSp>
      <p:grpSp>
        <p:nvGrpSpPr>
          <p:cNvPr name="Group 71" id="71"/>
          <p:cNvGrpSpPr/>
          <p:nvPr/>
        </p:nvGrpSpPr>
        <p:grpSpPr>
          <a:xfrm rot="0">
            <a:off x="13075920" y="3080385"/>
            <a:ext cx="3840480" cy="1583055"/>
            <a:chOff x="0" y="0"/>
            <a:chExt cx="5120640" cy="21107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120640" cy="2110740"/>
            </a:xfrm>
            <a:custGeom>
              <a:avLst/>
              <a:gdLst/>
              <a:ahLst/>
              <a:cxnLst/>
              <a:rect r="r" b="b" t="t" l="l"/>
              <a:pathLst>
                <a:path h="21107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110740"/>
                  </a:lnTo>
                  <a:lnTo>
                    <a:pt x="0" y="21107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887" t="0" r="-2887" b="0"/>
              </a:stretch>
            </a:blipFill>
          </p:spPr>
          <p:txBody>
            <a:bodyPr/>
            <a:p/>
          </p:txBody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5120640" cy="2148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não usam coleira, plaquinha ou microchip no animal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Pesquisa de campo · 23 de 48</a:t>
              </a:r>
            </a:p>
          </p:txBody>
        </p:sp>
      </p:grpSp>
      <p:sp>
        <p:nvSpPr>
          <p:cNvPr name="AutoShape 74" id="74"/>
          <p:cNvSpPr/>
          <p:nvPr/>
        </p:nvSpPr>
        <p:spPr>
          <a:xfrm rot="4620">
            <a:off x="9864404" y="4763643"/>
            <a:ext cx="706313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75" id="75"/>
          <p:cNvGrpSpPr/>
          <p:nvPr/>
        </p:nvGrpSpPr>
        <p:grpSpPr>
          <a:xfrm rot="0">
            <a:off x="9875520" y="4937760"/>
            <a:ext cx="3200400" cy="1554480"/>
            <a:chOff x="0" y="0"/>
            <a:chExt cx="4267200" cy="207264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267200" cy="2072640"/>
            </a:xfrm>
            <a:custGeom>
              <a:avLst/>
              <a:gdLst/>
              <a:ahLst/>
              <a:cxnLst/>
              <a:rect r="r" b="b" t="t" l="l"/>
              <a:pathLst>
                <a:path h="20726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2362" t="0" r="-12362" b="0"/>
              </a:stretch>
            </a:blip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9875520" y="4930616"/>
            <a:ext cx="3200400" cy="1561624"/>
            <a:chOff x="0" y="0"/>
            <a:chExt cx="4267200" cy="2082165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4267200" cy="2082165"/>
            </a:xfrm>
            <a:custGeom>
              <a:avLst/>
              <a:gdLst/>
              <a:ahLst/>
              <a:cxnLst/>
              <a:rect r="r" b="b" t="t" l="l"/>
              <a:pathLst>
                <a:path h="20821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2605" t="0" r="-12605" b="0"/>
              </a:stretch>
            </a:blipFill>
          </p:spPr>
          <p:txBody>
            <a:bodyPr/>
            <a:p/>
          </p:txBody>
        </p:sp>
        <p:sp>
          <p:nvSpPr>
            <p:cNvPr name="TextBox 79" id="79"/>
            <p:cNvSpPr txBox="true"/>
            <p:nvPr/>
          </p:nvSpPr>
          <p:spPr>
            <a:xfrm>
              <a:off x="0" y="-9525"/>
              <a:ext cx="4267200" cy="2091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32%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3075920" y="4937760"/>
            <a:ext cx="3840480" cy="1554480"/>
            <a:chOff x="0" y="0"/>
            <a:chExt cx="5120640" cy="20726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968" t="0" r="-1968" b="0"/>
              </a:stretch>
            </a:blipFill>
          </p:spPr>
          <p:txBody>
            <a:bodyPr/>
            <a:p/>
          </p:txBody>
        </p:sp>
      </p:grpSp>
      <p:grpSp>
        <p:nvGrpSpPr>
          <p:cNvPr name="Group 82" id="82"/>
          <p:cNvGrpSpPr/>
          <p:nvPr/>
        </p:nvGrpSpPr>
        <p:grpSpPr>
          <a:xfrm rot="0">
            <a:off x="13075920" y="4909185"/>
            <a:ext cx="3840480" cy="1583055"/>
            <a:chOff x="0" y="0"/>
            <a:chExt cx="5120640" cy="21107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5120640" cy="2110740"/>
            </a:xfrm>
            <a:custGeom>
              <a:avLst/>
              <a:gdLst/>
              <a:ahLst/>
              <a:cxnLst/>
              <a:rect r="r" b="b" t="t" l="l"/>
              <a:pathLst>
                <a:path h="21107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110740"/>
                  </a:lnTo>
                  <a:lnTo>
                    <a:pt x="0" y="21107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887" t="0" r="-2887" b="0"/>
              </a:stretch>
            </a:blipFill>
          </p:spPr>
          <p:txBody>
            <a:bodyPr/>
            <a:p/>
          </p:txBody>
        </p:sp>
        <p:sp>
          <p:nvSpPr>
            <p:cNvPr name="TextBox 84" id="84"/>
            <p:cNvSpPr txBox="true"/>
            <p:nvPr/>
          </p:nvSpPr>
          <p:spPr>
            <a:xfrm>
              <a:off x="0" y="-38100"/>
              <a:ext cx="5120640" cy="2148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 quem já perdeu um animal nunca o reencontrou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Pesquisa de campo · 8 de 25</a:t>
              </a:r>
            </a:p>
          </p:txBody>
        </p:sp>
      </p:grpSp>
      <p:sp>
        <p:nvSpPr>
          <p:cNvPr name="AutoShape 85" id="85"/>
          <p:cNvSpPr/>
          <p:nvPr/>
        </p:nvSpPr>
        <p:spPr>
          <a:xfrm rot="4620">
            <a:off x="9864404" y="6592443"/>
            <a:ext cx="706313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86" id="86"/>
          <p:cNvGrpSpPr/>
          <p:nvPr/>
        </p:nvGrpSpPr>
        <p:grpSpPr>
          <a:xfrm rot="0">
            <a:off x="9875520" y="6766560"/>
            <a:ext cx="3200400" cy="1554480"/>
            <a:chOff x="0" y="0"/>
            <a:chExt cx="4267200" cy="207264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4267200" cy="2072640"/>
            </a:xfrm>
            <a:custGeom>
              <a:avLst/>
              <a:gdLst/>
              <a:ahLst/>
              <a:cxnLst/>
              <a:rect r="r" b="b" t="t" l="l"/>
              <a:pathLst>
                <a:path h="20726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2362" t="0" r="-12362" b="0"/>
              </a:stretch>
            </a:blipFill>
          </p:spPr>
          <p:txBody>
            <a:bodyPr/>
            <a:p/>
          </p:txBody>
        </p:sp>
      </p:grpSp>
      <p:grpSp>
        <p:nvGrpSpPr>
          <p:cNvPr name="Group 88" id="88"/>
          <p:cNvGrpSpPr/>
          <p:nvPr/>
        </p:nvGrpSpPr>
        <p:grpSpPr>
          <a:xfrm rot="0">
            <a:off x="9875520" y="6759416"/>
            <a:ext cx="3200400" cy="1561624"/>
            <a:chOff x="0" y="0"/>
            <a:chExt cx="4267200" cy="2082165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267200" cy="2082165"/>
            </a:xfrm>
            <a:custGeom>
              <a:avLst/>
              <a:gdLst/>
              <a:ahLst/>
              <a:cxnLst/>
              <a:rect r="r" b="b" t="t" l="l"/>
              <a:pathLst>
                <a:path h="2082165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2605" t="0" r="-12605" b="0"/>
              </a:stretch>
            </a:blipFill>
          </p:spPr>
          <p:txBody>
            <a:bodyPr/>
            <a:p/>
          </p:txBody>
        </p:sp>
        <p:sp>
          <p:nvSpPr>
            <p:cNvPr name="TextBox 90" id="90"/>
            <p:cNvSpPr txBox="true"/>
            <p:nvPr/>
          </p:nvSpPr>
          <p:spPr>
            <a:xfrm>
              <a:off x="0" y="-9525"/>
              <a:ext cx="4267200" cy="2091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37,5%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3075920" y="6766560"/>
            <a:ext cx="3840480" cy="1554480"/>
            <a:chOff x="0" y="0"/>
            <a:chExt cx="5120640" cy="207264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968" t="0" r="-1968" b="0"/>
              </a:stretch>
            </a:blipFill>
          </p:spPr>
          <p:txBody>
            <a:bodyPr/>
            <a:p/>
          </p:txBody>
        </p:sp>
      </p:grpSp>
      <p:grpSp>
        <p:nvGrpSpPr>
          <p:cNvPr name="Group 93" id="93"/>
          <p:cNvGrpSpPr/>
          <p:nvPr/>
        </p:nvGrpSpPr>
        <p:grpSpPr>
          <a:xfrm rot="0">
            <a:off x="13075920" y="6737985"/>
            <a:ext cx="3840480" cy="1583055"/>
            <a:chOff x="0" y="0"/>
            <a:chExt cx="5120640" cy="211074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5120640" cy="2110740"/>
            </a:xfrm>
            <a:custGeom>
              <a:avLst/>
              <a:gdLst/>
              <a:ahLst/>
              <a:cxnLst/>
              <a:rect r="r" b="b" t="t" l="l"/>
              <a:pathLst>
                <a:path h="21107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110740"/>
                  </a:lnTo>
                  <a:lnTo>
                    <a:pt x="0" y="21107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887" t="0" r="-2887" b="0"/>
              </a:stretch>
            </a:blipFill>
          </p:spPr>
          <p:txBody>
            <a:bodyPr/>
            <a:p/>
          </p:txBody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5120640" cy="2148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já viram golpes ou trotes nas divulgações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Pesquisa de campo · 18 de 48</a:t>
              </a:r>
            </a:p>
          </p:txBody>
        </p:sp>
      </p:grpSp>
      <p:sp>
        <p:nvSpPr>
          <p:cNvPr name="TextBox 96" id="96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 INTRODUÇÃO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Objetivos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2" id="22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4" id="24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28" id="28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0" id="30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2" id="32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4" id="34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14400" y="2148840"/>
            <a:ext cx="16459200" cy="1600200"/>
            <a:chOff x="0" y="0"/>
            <a:chExt cx="21945600" cy="21336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1945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21945600">
                  <a:moveTo>
                    <a:pt x="0" y="213360"/>
                  </a:moveTo>
                  <a:cubicBezTo>
                    <a:pt x="0" y="95504"/>
                    <a:pt x="95504" y="0"/>
                    <a:pt x="213360" y="0"/>
                  </a:cubicBezTo>
                  <a:lnTo>
                    <a:pt x="21732239" y="0"/>
                  </a:lnTo>
                  <a:cubicBezTo>
                    <a:pt x="21850096" y="0"/>
                    <a:pt x="21945600" y="95504"/>
                    <a:pt x="21945600" y="213360"/>
                  </a:cubicBezTo>
                  <a:lnTo>
                    <a:pt x="21945600" y="1920240"/>
                  </a:lnTo>
                  <a:cubicBezTo>
                    <a:pt x="21945600" y="2038096"/>
                    <a:pt x="21850096" y="2133600"/>
                    <a:pt x="21732239" y="2133600"/>
                  </a:cubicBezTo>
                  <a:lnTo>
                    <a:pt x="213360" y="2133600"/>
                  </a:lnTo>
                  <a:cubicBezTo>
                    <a:pt x="95504" y="2133600"/>
                    <a:pt x="0" y="2038096"/>
                    <a:pt x="0" y="1920240"/>
                  </a:cubicBez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39" id="39"/>
          <p:cNvGrpSpPr/>
          <p:nvPr/>
        </p:nvGrpSpPr>
        <p:grpSpPr>
          <a:xfrm rot="0">
            <a:off x="1371600" y="2377440"/>
            <a:ext cx="2926080" cy="1143000"/>
            <a:chOff x="0" y="0"/>
            <a:chExt cx="3901440" cy="15240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901440" cy="1524000"/>
            </a:xfrm>
            <a:custGeom>
              <a:avLst/>
              <a:gdLst/>
              <a:ahLst/>
              <a:cxnLst/>
              <a:rect r="r" b="b" t="t" l="l"/>
              <a:pathLst>
                <a:path h="152400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524000"/>
                  </a:lnTo>
                  <a:lnTo>
                    <a:pt x="0" y="1524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53" t="0" r="-153" b="0"/>
              </a:stretch>
            </a:blip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1371600" y="2341721"/>
            <a:ext cx="2926080" cy="1178719"/>
            <a:chOff x="0" y="0"/>
            <a:chExt cx="3901440" cy="157162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901440" cy="1571625"/>
            </a:xfrm>
            <a:custGeom>
              <a:avLst/>
              <a:gdLst/>
              <a:ahLst/>
              <a:cxnLst/>
              <a:rect r="r" b="b" t="t" l="l"/>
              <a:pathLst>
                <a:path h="1571625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571625"/>
                  </a:lnTo>
                  <a:lnTo>
                    <a:pt x="0" y="157162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684" t="0" r="-1684" b="0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3901440" cy="16192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8"/>
                </a:lnSpc>
              </a:pPr>
              <a:r>
                <a:rPr lang="en-US" sz="1998" b="true">
                  <a:solidFill>
                    <a:srgbClr val="E6C9B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GERAL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4206240" y="2331720"/>
            <a:ext cx="12710160" cy="1234440"/>
            <a:chOff x="0" y="0"/>
            <a:chExt cx="16946880" cy="16459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69468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946880">
                  <a:moveTo>
                    <a:pt x="0" y="0"/>
                  </a:moveTo>
                  <a:lnTo>
                    <a:pt x="16946880" y="0"/>
                  </a:lnTo>
                  <a:lnTo>
                    <a:pt x="169468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50484" r="0" b="-150483"/>
              </a:stretch>
            </a:blipFill>
          </p:spPr>
          <p:txBody>
            <a:bodyPr/>
            <a:p/>
          </p:txBody>
        </p:sp>
      </p:grpSp>
      <p:grpSp>
        <p:nvGrpSpPr>
          <p:cNvPr name="Group 46" id="46"/>
          <p:cNvGrpSpPr/>
          <p:nvPr/>
        </p:nvGrpSpPr>
        <p:grpSpPr>
          <a:xfrm rot="0">
            <a:off x="4206240" y="2281714"/>
            <a:ext cx="12710160" cy="1284446"/>
            <a:chOff x="0" y="0"/>
            <a:chExt cx="16946880" cy="171259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6946880" cy="1712595"/>
            </a:xfrm>
            <a:custGeom>
              <a:avLst/>
              <a:gdLst/>
              <a:ahLst/>
              <a:cxnLst/>
              <a:rect r="r" b="b" t="t" l="l"/>
              <a:pathLst>
                <a:path h="1712595" w="16946880">
                  <a:moveTo>
                    <a:pt x="0" y="0"/>
                  </a:moveTo>
                  <a:lnTo>
                    <a:pt x="16946880" y="0"/>
                  </a:lnTo>
                  <a:lnTo>
                    <a:pt x="16946880" y="1712595"/>
                  </a:lnTo>
                  <a:lnTo>
                    <a:pt x="0" y="17125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42813" r="0" b="-142813"/>
              </a:stretch>
            </a:blipFill>
          </p:spPr>
          <p:txBody>
            <a:bodyPr/>
            <a:p/>
          </p:txBody>
        </p:sp>
        <p:sp>
          <p:nvSpPr>
            <p:cNvPr name="TextBox 48" id="48"/>
            <p:cNvSpPr txBox="true"/>
            <p:nvPr/>
          </p:nvSpPr>
          <p:spPr>
            <a:xfrm>
              <a:off x="0" y="-66675"/>
              <a:ext cx="16946880" cy="17792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8"/>
                </a:lnSpc>
              </a:pPr>
              <a:r>
                <a:rPr lang="en-US" sz="27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Desenvolver uma aplicação móvel colaborativa que apoie tutores e a comunidade na divulgação e na busca por animais perdidos, encontrados e para adoção.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14400" y="4019550"/>
            <a:ext cx="91440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8"/>
              </a:lnSpc>
            </a:pPr>
            <a:r>
              <a:rPr lang="en-US" sz="1998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ESPECÍFICOS</a:t>
            </a:r>
          </a:p>
        </p:txBody>
      </p:sp>
      <p:sp>
        <p:nvSpPr>
          <p:cNvPr name="Freeform 50" id="50"/>
          <p:cNvSpPr/>
          <p:nvPr/>
        </p:nvSpPr>
        <p:spPr>
          <a:xfrm flipH="false" flipV="false" rot="0">
            <a:off x="900513" y="464955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1" id="51"/>
          <p:cNvSpPr txBox="true"/>
          <p:nvPr/>
        </p:nvSpPr>
        <p:spPr>
          <a:xfrm rot="0">
            <a:off x="118872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2057400" y="4823460"/>
            <a:ext cx="2537460" cy="1362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Identificar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as dificuldades de tutores e protetores na divulgação e na busca</a:t>
            </a:r>
          </a:p>
        </p:txBody>
      </p:sp>
      <p:sp>
        <p:nvSpPr>
          <p:cNvPr name="Freeform 53" id="53"/>
          <p:cNvSpPr/>
          <p:nvPr/>
        </p:nvSpPr>
        <p:spPr>
          <a:xfrm flipH="false" flipV="false" rot="0">
            <a:off x="5083893" y="464955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4" id="54"/>
          <p:cNvSpPr txBox="true"/>
          <p:nvPr/>
        </p:nvSpPr>
        <p:spPr>
          <a:xfrm rot="0">
            <a:off x="537210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240780" y="4823460"/>
            <a:ext cx="2537460" cy="130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Analisar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sistemas similares de animais perdidos e encontrados</a:t>
            </a:r>
          </a:p>
        </p:txBody>
      </p:sp>
      <p:sp>
        <p:nvSpPr>
          <p:cNvPr name="Freeform 56" id="56"/>
          <p:cNvSpPr/>
          <p:nvPr/>
        </p:nvSpPr>
        <p:spPr>
          <a:xfrm flipH="false" flipV="false" rot="0">
            <a:off x="9267273" y="464955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7" id="57"/>
          <p:cNvSpPr txBox="true"/>
          <p:nvPr/>
        </p:nvSpPr>
        <p:spPr>
          <a:xfrm rot="0">
            <a:off x="955548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0424160" y="4823460"/>
            <a:ext cx="253746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Definir e modelar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os requisitos e os diagramas em UML</a:t>
            </a:r>
          </a:p>
        </p:txBody>
      </p:sp>
      <p:sp>
        <p:nvSpPr>
          <p:cNvPr name="Freeform 59" id="59"/>
          <p:cNvSpPr/>
          <p:nvPr/>
        </p:nvSpPr>
        <p:spPr>
          <a:xfrm flipH="false" flipV="false" rot="0">
            <a:off x="13450653" y="464955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0" id="60"/>
          <p:cNvSpPr txBox="true"/>
          <p:nvPr/>
        </p:nvSpPr>
        <p:spPr>
          <a:xfrm rot="0">
            <a:off x="1373886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4607540" y="4823460"/>
            <a:ext cx="253746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Projetar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 interface do aplicativo</a:t>
            </a:r>
          </a:p>
        </p:txBody>
      </p:sp>
      <p:sp>
        <p:nvSpPr>
          <p:cNvPr name="Freeform 62" id="62"/>
          <p:cNvSpPr/>
          <p:nvPr/>
        </p:nvSpPr>
        <p:spPr>
          <a:xfrm flipH="false" flipV="false" rot="0">
            <a:off x="900513" y="679839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3" id="63"/>
          <p:cNvSpPr txBox="true"/>
          <p:nvPr/>
        </p:nvSpPr>
        <p:spPr>
          <a:xfrm rot="0">
            <a:off x="1188720" y="704088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05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2057400" y="6972300"/>
            <a:ext cx="253746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Implementar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aplicativo móvel com suas funcionalidades</a:t>
            </a:r>
          </a:p>
        </p:txBody>
      </p:sp>
      <p:sp>
        <p:nvSpPr>
          <p:cNvPr name="Freeform 65" id="65"/>
          <p:cNvSpPr/>
          <p:nvPr/>
        </p:nvSpPr>
        <p:spPr>
          <a:xfrm flipH="false" flipV="false" rot="0">
            <a:off x="5083893" y="679839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6" id="66"/>
          <p:cNvSpPr txBox="true"/>
          <p:nvPr/>
        </p:nvSpPr>
        <p:spPr>
          <a:xfrm rot="0">
            <a:off x="5372100" y="704088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06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6240780" y="6972300"/>
            <a:ext cx="2537460" cy="130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Testar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mecanismo de correspondência entre as publicações</a:t>
            </a:r>
          </a:p>
        </p:txBody>
      </p:sp>
      <p:sp>
        <p:nvSpPr>
          <p:cNvPr name="Freeform 68" id="68"/>
          <p:cNvSpPr/>
          <p:nvPr/>
        </p:nvSpPr>
        <p:spPr>
          <a:xfrm flipH="false" flipV="false" rot="0">
            <a:off x="9267273" y="6798393"/>
            <a:ext cx="3936873" cy="1902333"/>
          </a:xfrm>
          <a:custGeom>
            <a:avLst/>
            <a:gdLst/>
            <a:ahLst/>
            <a:cxnLst/>
            <a:rect r="r" b="b" t="t" l="l"/>
            <a:pathLst>
              <a:path h="1902333" w="3936873">
                <a:moveTo>
                  <a:pt x="0" y="0"/>
                </a:moveTo>
                <a:lnTo>
                  <a:pt x="3936873" y="0"/>
                </a:lnTo>
                <a:lnTo>
                  <a:pt x="3936873" y="1902333"/>
                </a:lnTo>
                <a:lnTo>
                  <a:pt x="0" y="19023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9" id="69"/>
          <p:cNvSpPr txBox="true"/>
          <p:nvPr/>
        </p:nvSpPr>
        <p:spPr>
          <a:xfrm rot="0">
            <a:off x="9555480" y="704088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8"/>
              </a:lnSpc>
            </a:pPr>
            <a:r>
              <a:rPr lang="en-US" sz="37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07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0424160" y="6972300"/>
            <a:ext cx="253746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Avaliar</a:t>
            </a:r>
          </a:p>
          <a:p>
            <a:pPr algn="l">
              <a:lnSpc>
                <a:spcPts val="2398"/>
              </a:lnSpc>
            </a:pPr>
            <a:r>
              <a:rPr lang="en-US" sz="1998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 usabilidade com tarefas e a escala SUS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Metodologia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55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Pesquisa de campo e similares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  <p:txBody>
            <a:bodyPr/>
            <a:p/>
          </p:txBody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Metodologia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14400" y="2183130"/>
            <a:ext cx="7315200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COMO O TRABALHO FOI FEITO</a:t>
            </a:r>
          </a:p>
        </p:txBody>
      </p:sp>
      <p:sp>
        <p:nvSpPr>
          <p:cNvPr name="AutoShape 37" id="37"/>
          <p:cNvSpPr/>
          <p:nvPr/>
        </p:nvSpPr>
        <p:spPr>
          <a:xfrm flipV="true">
            <a:off x="914475" y="6163056"/>
            <a:ext cx="7223685" cy="9525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8" id="38"/>
          <p:cNvGrpSpPr/>
          <p:nvPr/>
        </p:nvGrpSpPr>
        <p:grpSpPr>
          <a:xfrm rot="0">
            <a:off x="914400" y="2788920"/>
            <a:ext cx="713232" cy="713232"/>
            <a:chOff x="0" y="0"/>
            <a:chExt cx="950976" cy="95097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cubicBezTo>
                    <a:pt x="738124" y="0"/>
                    <a:pt x="950976" y="212852"/>
                    <a:pt x="950976" y="475488"/>
                  </a:cubicBezTo>
                  <a:cubicBezTo>
                    <a:pt x="950976" y="738124"/>
                    <a:pt x="738124" y="950976"/>
                    <a:pt x="475488" y="950976"/>
                  </a:cubicBezTo>
                  <a:cubicBezTo>
                    <a:pt x="212852" y="950976"/>
                    <a:pt x="0" y="738124"/>
                    <a:pt x="0" y="475488"/>
                  </a:cubicBez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40" id="40"/>
          <p:cNvGrpSpPr/>
          <p:nvPr/>
        </p:nvGrpSpPr>
        <p:grpSpPr>
          <a:xfrm rot="0">
            <a:off x="914400" y="2760345"/>
            <a:ext cx="713232" cy="741807"/>
            <a:chOff x="0" y="0"/>
            <a:chExt cx="950976" cy="98907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50976" cy="989076"/>
            </a:xfrm>
            <a:custGeom>
              <a:avLst/>
              <a:gdLst/>
              <a:ahLst/>
              <a:cxnLst/>
              <a:rect r="r" b="b" t="t" l="l"/>
              <a:pathLst>
                <a:path h="9890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89076"/>
                  </a:lnTo>
                  <a:lnTo>
                    <a:pt x="0" y="98907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3443" t="0" r="-83443" b="0"/>
              </a:stretch>
            </a:blipFill>
          </p:spPr>
          <p:txBody>
            <a:bodyPr/>
            <a:p/>
          </p:txBody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950976" cy="10271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920240" y="2715768"/>
            <a:ext cx="6400800" cy="868680"/>
            <a:chOff x="0" y="0"/>
            <a:chExt cx="8534400" cy="1158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534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93473" r="0" b="-93474"/>
              </a:stretch>
            </a:blipFill>
          </p:spPr>
          <p:txBody>
            <a:bodyPr/>
            <a:p/>
          </p:txBody>
        </p:sp>
      </p:grpSp>
      <p:grpSp>
        <p:nvGrpSpPr>
          <p:cNvPr name="Group 45" id="45"/>
          <p:cNvGrpSpPr/>
          <p:nvPr/>
        </p:nvGrpSpPr>
        <p:grpSpPr>
          <a:xfrm rot="0">
            <a:off x="1920240" y="2680049"/>
            <a:ext cx="6400800" cy="904399"/>
            <a:chOff x="0" y="0"/>
            <a:chExt cx="8534400" cy="120586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534400" cy="1205865"/>
            </a:xfrm>
            <a:custGeom>
              <a:avLst/>
              <a:gdLst/>
              <a:ahLst/>
              <a:cxnLst/>
              <a:rect r="r" b="b" t="t" l="l"/>
              <a:pathLst>
                <a:path h="1205865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205865"/>
                  </a:lnTo>
                  <a:lnTo>
                    <a:pt x="0" y="12058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87903" r="0" b="-87903"/>
              </a:stretch>
            </a:blipFill>
          </p:spPr>
          <p:txBody>
            <a:bodyPr/>
            <a:p/>
          </p:txBody>
        </p:sp>
        <p:sp>
          <p:nvSpPr>
            <p:cNvPr name="TextBox 47" id="47"/>
            <p:cNvSpPr txBox="true"/>
            <p:nvPr/>
          </p:nvSpPr>
          <p:spPr>
            <a:xfrm>
              <a:off x="0" y="-47625"/>
              <a:ext cx="8534400" cy="12534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Investigar o problema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Questionário com 48 participantes e análise de 4 plataformas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914400" y="3977640"/>
            <a:ext cx="713232" cy="713232"/>
            <a:chOff x="0" y="0"/>
            <a:chExt cx="950976" cy="95097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cubicBezTo>
                    <a:pt x="738124" y="0"/>
                    <a:pt x="950976" y="212852"/>
                    <a:pt x="950976" y="475488"/>
                  </a:cubicBezTo>
                  <a:cubicBezTo>
                    <a:pt x="950976" y="738124"/>
                    <a:pt x="738124" y="950976"/>
                    <a:pt x="475488" y="950976"/>
                  </a:cubicBezTo>
                  <a:cubicBezTo>
                    <a:pt x="212852" y="950976"/>
                    <a:pt x="0" y="738124"/>
                    <a:pt x="0" y="475488"/>
                  </a:cubicBezTo>
                  <a:close/>
                </a:path>
              </a:pathLst>
            </a:custGeom>
            <a:solidFill>
              <a:srgbClr val="B1734A"/>
            </a:solid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914400" y="3949065"/>
            <a:ext cx="713232" cy="741807"/>
            <a:chOff x="0" y="0"/>
            <a:chExt cx="950976" cy="98907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950976" cy="989076"/>
            </a:xfrm>
            <a:custGeom>
              <a:avLst/>
              <a:gdLst/>
              <a:ahLst/>
              <a:cxnLst/>
              <a:rect r="r" b="b" t="t" l="l"/>
              <a:pathLst>
                <a:path h="9890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89076"/>
                  </a:lnTo>
                  <a:lnTo>
                    <a:pt x="0" y="98907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3443" t="0" r="-83443" b="0"/>
              </a:stretch>
            </a:blipFill>
          </p:spPr>
          <p:txBody>
            <a:bodyPr/>
            <a:p/>
          </p:txBody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950976" cy="10271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920240" y="3904488"/>
            <a:ext cx="6400800" cy="868680"/>
            <a:chOff x="0" y="0"/>
            <a:chExt cx="8534400" cy="115824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534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93473" r="0" b="-93474"/>
              </a:stretch>
            </a:blipFill>
          </p:spPr>
          <p:txBody>
            <a:bodyPr/>
            <a:p/>
          </p:txBody>
        </p:sp>
      </p:grpSp>
      <p:grpSp>
        <p:nvGrpSpPr>
          <p:cNvPr name="Group 55" id="55"/>
          <p:cNvGrpSpPr/>
          <p:nvPr/>
        </p:nvGrpSpPr>
        <p:grpSpPr>
          <a:xfrm rot="0">
            <a:off x="1920240" y="3868769"/>
            <a:ext cx="6400800" cy="904399"/>
            <a:chOff x="0" y="0"/>
            <a:chExt cx="8534400" cy="1205865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8534400" cy="1205865"/>
            </a:xfrm>
            <a:custGeom>
              <a:avLst/>
              <a:gdLst/>
              <a:ahLst/>
              <a:cxnLst/>
              <a:rect r="r" b="b" t="t" l="l"/>
              <a:pathLst>
                <a:path h="1205865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205865"/>
                  </a:lnTo>
                  <a:lnTo>
                    <a:pt x="0" y="12058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87903" r="0" b="-87903"/>
              </a:stretch>
            </a:blipFill>
          </p:spPr>
          <p:txBody>
            <a:bodyPr/>
            <a:p/>
          </p:txBody>
        </p:sp>
        <p:sp>
          <p:nvSpPr>
            <p:cNvPr name="TextBox 57" id="57"/>
            <p:cNvSpPr txBox="true"/>
            <p:nvPr/>
          </p:nvSpPr>
          <p:spPr>
            <a:xfrm>
              <a:off x="0" y="-47625"/>
              <a:ext cx="8534400" cy="12534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Construir o aplicativo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Desenvolvimento iterativo e incremental  →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914400" y="5166360"/>
            <a:ext cx="713232" cy="713232"/>
            <a:chOff x="0" y="0"/>
            <a:chExt cx="950976" cy="95097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cubicBezTo>
                    <a:pt x="738124" y="0"/>
                    <a:pt x="950976" y="212852"/>
                    <a:pt x="950976" y="475488"/>
                  </a:cubicBezTo>
                  <a:cubicBezTo>
                    <a:pt x="950976" y="738124"/>
                    <a:pt x="738124" y="950976"/>
                    <a:pt x="475488" y="950976"/>
                  </a:cubicBezTo>
                  <a:cubicBezTo>
                    <a:pt x="212852" y="950976"/>
                    <a:pt x="0" y="738124"/>
                    <a:pt x="0" y="475488"/>
                  </a:cubicBez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60" id="60"/>
          <p:cNvGrpSpPr/>
          <p:nvPr/>
        </p:nvGrpSpPr>
        <p:grpSpPr>
          <a:xfrm rot="0">
            <a:off x="914400" y="5137785"/>
            <a:ext cx="713232" cy="741807"/>
            <a:chOff x="0" y="0"/>
            <a:chExt cx="950976" cy="98907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950976" cy="989076"/>
            </a:xfrm>
            <a:custGeom>
              <a:avLst/>
              <a:gdLst/>
              <a:ahLst/>
              <a:cxnLst/>
              <a:rect r="r" b="b" t="t" l="l"/>
              <a:pathLst>
                <a:path h="9890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89076"/>
                  </a:lnTo>
                  <a:lnTo>
                    <a:pt x="0" y="98907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3443" t="0" r="-83443" b="0"/>
              </a:stretch>
            </a:blipFill>
          </p:spPr>
          <p:txBody>
            <a:bodyPr/>
            <a:p/>
          </p:txBody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950976" cy="10271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8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920240" y="5093208"/>
            <a:ext cx="6400800" cy="868680"/>
            <a:chOff x="0" y="0"/>
            <a:chExt cx="8534400" cy="115824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534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93473" r="0" b="-93474"/>
              </a:stretch>
            </a:blipFill>
          </p:spPr>
          <p:txBody>
            <a:bodyPr/>
            <a:p/>
          </p:txBody>
        </p:sp>
      </p:grpSp>
      <p:grpSp>
        <p:nvGrpSpPr>
          <p:cNvPr name="Group 65" id="65"/>
          <p:cNvGrpSpPr/>
          <p:nvPr/>
        </p:nvGrpSpPr>
        <p:grpSpPr>
          <a:xfrm rot="0">
            <a:off x="1920240" y="5057489"/>
            <a:ext cx="6400800" cy="904399"/>
            <a:chOff x="0" y="0"/>
            <a:chExt cx="8534400" cy="120586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8534400" cy="1205865"/>
            </a:xfrm>
            <a:custGeom>
              <a:avLst/>
              <a:gdLst/>
              <a:ahLst/>
              <a:cxnLst/>
              <a:rect r="r" b="b" t="t" l="l"/>
              <a:pathLst>
                <a:path h="1205865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205865"/>
                  </a:lnTo>
                  <a:lnTo>
                    <a:pt x="0" y="120586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87903" r="0" b="-87903"/>
              </a:stretch>
            </a:blipFill>
          </p:spPr>
          <p:txBody>
            <a:bodyPr/>
            <a:p/>
          </p:txBody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8534400" cy="12534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Testar com tutores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Testes funcionais, segurança e usabilidade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14400" y="6400800"/>
            <a:ext cx="7223760" cy="868680"/>
            <a:chOff x="0" y="0"/>
            <a:chExt cx="9631680" cy="11582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9631680" cy="1158240"/>
            </a:xfrm>
            <a:custGeom>
              <a:avLst/>
              <a:gdLst/>
              <a:ahLst/>
              <a:cxnLst/>
              <a:rect r="r" b="b" t="t" l="l"/>
              <a:pathLst>
                <a:path h="1158240" w="9631680">
                  <a:moveTo>
                    <a:pt x="0" y="231648"/>
                  </a:moveTo>
                  <a:cubicBezTo>
                    <a:pt x="0" y="103759"/>
                    <a:pt x="103759" y="0"/>
                    <a:pt x="231648" y="0"/>
                  </a:cubicBezTo>
                  <a:lnTo>
                    <a:pt x="9400032" y="0"/>
                  </a:lnTo>
                  <a:cubicBezTo>
                    <a:pt x="9527921" y="0"/>
                    <a:pt x="9631680" y="103759"/>
                    <a:pt x="9631680" y="231648"/>
                  </a:cubicBezTo>
                  <a:lnTo>
                    <a:pt x="9631680" y="926592"/>
                  </a:lnTo>
                  <a:cubicBezTo>
                    <a:pt x="9631680" y="1054481"/>
                    <a:pt x="9527921" y="1158240"/>
                    <a:pt x="9400032" y="1158240"/>
                  </a:cubicBezTo>
                  <a:lnTo>
                    <a:pt x="231648" y="1158240"/>
                  </a:lnTo>
                  <a:cubicBezTo>
                    <a:pt x="103759" y="1158240"/>
                    <a:pt x="0" y="1054481"/>
                    <a:pt x="0" y="926592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88720" y="6400800"/>
            <a:ext cx="6766560" cy="868680"/>
            <a:chOff x="0" y="0"/>
            <a:chExt cx="9022080" cy="11582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9022080" cy="1158240"/>
            </a:xfrm>
            <a:custGeom>
              <a:avLst/>
              <a:gdLst/>
              <a:ahLst/>
              <a:cxnLst/>
              <a:rect r="r" b="b" t="t" l="l"/>
              <a:pathLst>
                <a:path h="1158240" w="9022080">
                  <a:moveTo>
                    <a:pt x="0" y="0"/>
                  </a:moveTo>
                  <a:lnTo>
                    <a:pt x="9022080" y="0"/>
                  </a:lnTo>
                  <a:lnTo>
                    <a:pt x="902208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01672" r="0" b="-101673"/>
              </a:stretch>
            </a:blipFill>
          </p:spPr>
          <p:txBody>
            <a:bodyPr/>
            <a:p/>
          </p:txBody>
        </p:sp>
      </p:grpSp>
      <p:grpSp>
        <p:nvGrpSpPr>
          <p:cNvPr name="Group 72" id="72"/>
          <p:cNvGrpSpPr/>
          <p:nvPr/>
        </p:nvGrpSpPr>
        <p:grpSpPr>
          <a:xfrm rot="0">
            <a:off x="1188720" y="6372225"/>
            <a:ext cx="6766560" cy="897255"/>
            <a:chOff x="0" y="0"/>
            <a:chExt cx="9022080" cy="11963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9022080" cy="1196340"/>
            </a:xfrm>
            <a:custGeom>
              <a:avLst/>
              <a:gdLst/>
              <a:ahLst/>
              <a:cxnLst/>
              <a:rect r="r" b="b" t="t" l="l"/>
              <a:pathLst>
                <a:path h="1196340" w="9022080">
                  <a:moveTo>
                    <a:pt x="0" y="0"/>
                  </a:moveTo>
                  <a:lnTo>
                    <a:pt x="9022080" y="0"/>
                  </a:lnTo>
                  <a:lnTo>
                    <a:pt x="9022080" y="1196340"/>
                  </a:lnTo>
                  <a:lnTo>
                    <a:pt x="0" y="1196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96944" r="0" b="-96944"/>
              </a:stretch>
            </a:blipFill>
          </p:spPr>
          <p:txBody>
            <a:bodyPr/>
            <a:p/>
          </p:txBody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9022080" cy="1234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Pesquisa aplicada, exploratória e descritiva</a:t>
              </a:r>
            </a:p>
            <a:p>
              <a:pPr algn="l">
                <a:lnSpc>
                  <a:spcPts val="1439"/>
                </a:lnSpc>
              </a:pPr>
              <a:r>
                <a:rPr lang="en-US" sz="12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Gil (2022); Marconi e Lakatos (2022)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08047" y="7537447"/>
            <a:ext cx="3216250" cy="1475708"/>
            <a:chOff x="0" y="0"/>
            <a:chExt cx="4288333" cy="1967611"/>
          </a:xfrm>
        </p:grpSpPr>
        <p:sp>
          <p:nvSpPr>
            <p:cNvPr name="Freeform 76" id="76" descr="quadro_kanban_trello_wefind.png"/>
            <p:cNvSpPr/>
            <p:nvPr/>
          </p:nvSpPr>
          <p:spPr>
            <a:xfrm flipH="false" flipV="false" rot="0">
              <a:off x="0" y="0"/>
              <a:ext cx="4288282" cy="1967611"/>
            </a:xfrm>
            <a:custGeom>
              <a:avLst/>
              <a:gdLst/>
              <a:ahLst/>
              <a:cxnLst/>
              <a:rect r="r" b="b" t="t" l="l"/>
              <a:pathLst>
                <a:path h="1967611" w="4288282">
                  <a:moveTo>
                    <a:pt x="0" y="0"/>
                  </a:moveTo>
                  <a:lnTo>
                    <a:pt x="4288282" y="0"/>
                  </a:lnTo>
                  <a:lnTo>
                    <a:pt x="4288282" y="1967611"/>
                  </a:lnTo>
                  <a:lnTo>
                    <a:pt x="0" y="1967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-2856" r="-1" b="-2856"/>
              </a:stretch>
            </a:blipFill>
          </p:spPr>
          <p:txBody>
            <a:bodyPr/>
            <a:p/>
          </p:txBody>
        </p:sp>
      </p:grpSp>
      <p:sp>
        <p:nvSpPr>
          <p:cNvPr name="TextBox 77" id="77"/>
          <p:cNvSpPr txBox="true"/>
          <p:nvPr/>
        </p:nvSpPr>
        <p:spPr>
          <a:xfrm rot="0">
            <a:off x="4210050" y="7669530"/>
            <a:ext cx="3928110" cy="1245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Tarefas no Trello</a:t>
            </a:r>
          </a:p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quadro Kanban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8961120" y="2148840"/>
            <a:ext cx="8412480" cy="6675120"/>
            <a:chOff x="0" y="0"/>
            <a:chExt cx="11216640" cy="890016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1216640" cy="8900161"/>
            </a:xfrm>
            <a:custGeom>
              <a:avLst/>
              <a:gdLst/>
              <a:ahLst/>
              <a:cxnLst/>
              <a:rect r="r" b="b" t="t" l="l"/>
              <a:pathLst>
                <a:path h="8900161" w="11216640">
                  <a:moveTo>
                    <a:pt x="0" y="355981"/>
                  </a:moveTo>
                  <a:cubicBezTo>
                    <a:pt x="0" y="159385"/>
                    <a:pt x="159385" y="0"/>
                    <a:pt x="355981" y="0"/>
                  </a:cubicBezTo>
                  <a:lnTo>
                    <a:pt x="10860659" y="0"/>
                  </a:lnTo>
                  <a:cubicBezTo>
                    <a:pt x="11057255" y="0"/>
                    <a:pt x="11216640" y="159385"/>
                    <a:pt x="11216640" y="355981"/>
                  </a:cubicBezTo>
                  <a:lnTo>
                    <a:pt x="11216640" y="8544179"/>
                  </a:lnTo>
                  <a:cubicBezTo>
                    <a:pt x="11216640" y="8740775"/>
                    <a:pt x="11057255" y="8900161"/>
                    <a:pt x="10860659" y="8900161"/>
                  </a:cubicBezTo>
                  <a:lnTo>
                    <a:pt x="355981" y="8900161"/>
                  </a:lnTo>
                  <a:cubicBezTo>
                    <a:pt x="159385" y="8900160"/>
                    <a:pt x="0" y="8740775"/>
                    <a:pt x="0" y="8544179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sp>
        <p:nvSpPr>
          <p:cNvPr name="TextBox 80" id="80"/>
          <p:cNvSpPr txBox="true"/>
          <p:nvPr/>
        </p:nvSpPr>
        <p:spPr>
          <a:xfrm rot="0">
            <a:off x="9418320" y="2366010"/>
            <a:ext cx="7589520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 6 PARTES DA CONSTRUÇÃO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9418320" y="2926080"/>
            <a:ext cx="292608" cy="292608"/>
            <a:chOff x="0" y="0"/>
            <a:chExt cx="390144" cy="390144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8FB38F"/>
            </a:solidFill>
          </p:spPr>
          <p:txBody>
            <a:bodyPr/>
            <a:p/>
          </p:txBody>
        </p:sp>
      </p:grpSp>
      <p:grpSp>
        <p:nvGrpSpPr>
          <p:cNvPr name="Group 83" id="83"/>
          <p:cNvGrpSpPr/>
          <p:nvPr/>
        </p:nvGrpSpPr>
        <p:grpSpPr>
          <a:xfrm rot="0">
            <a:off x="9802368" y="2898648"/>
            <a:ext cx="1828800" cy="365760"/>
            <a:chOff x="0" y="0"/>
            <a:chExt cx="2438400" cy="48768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356" r="0" b="-47359"/>
              </a:stretch>
            </a:blipFill>
          </p:spPr>
          <p:txBody>
            <a:bodyPr/>
            <a:p/>
          </p:txBody>
        </p:sp>
      </p:grpSp>
      <p:grpSp>
        <p:nvGrpSpPr>
          <p:cNvPr name="Group 85" id="85"/>
          <p:cNvGrpSpPr/>
          <p:nvPr/>
        </p:nvGrpSpPr>
        <p:grpSpPr>
          <a:xfrm rot="0">
            <a:off x="9802368" y="2877217"/>
            <a:ext cx="1828800" cy="387191"/>
            <a:chOff x="0" y="0"/>
            <a:chExt cx="2438400" cy="516255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2438400" cy="516255"/>
            </a:xfrm>
            <a:custGeom>
              <a:avLst/>
              <a:gdLst/>
              <a:ahLst/>
              <a:cxnLst/>
              <a:rect r="r" b="b" t="t" l="l"/>
              <a:pathLst>
                <a:path h="51625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516255"/>
                  </a:lnTo>
                  <a:lnTo>
                    <a:pt x="0" y="51625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2032" r="0" b="-42032"/>
              </a:stretch>
            </a:blipFill>
          </p:spPr>
          <p:txBody>
            <a:bodyPr/>
            <a:p/>
          </p:txBody>
        </p:sp>
        <p:sp>
          <p:nvSpPr>
            <p:cNvPr name="TextBox 87" id="87"/>
            <p:cNvSpPr txBox="true"/>
            <p:nvPr/>
          </p:nvSpPr>
          <p:spPr>
            <a:xfrm>
              <a:off x="0" y="-28575"/>
              <a:ext cx="2438400" cy="5448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8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Planejar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1018520" y="2926080"/>
            <a:ext cx="292608" cy="292608"/>
            <a:chOff x="0" y="0"/>
            <a:chExt cx="390144" cy="39014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90" id="90"/>
          <p:cNvGrpSpPr/>
          <p:nvPr/>
        </p:nvGrpSpPr>
        <p:grpSpPr>
          <a:xfrm rot="0">
            <a:off x="11402568" y="2898648"/>
            <a:ext cx="1828800" cy="365760"/>
            <a:chOff x="0" y="0"/>
            <a:chExt cx="2438400" cy="48768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356" r="0" b="-47359"/>
              </a:stretch>
            </a:blipFill>
          </p:spPr>
          <p:txBody>
            <a:bodyPr/>
            <a:p/>
          </p:txBody>
        </p:sp>
      </p:grpSp>
      <p:grpSp>
        <p:nvGrpSpPr>
          <p:cNvPr name="Group 92" id="92"/>
          <p:cNvGrpSpPr/>
          <p:nvPr/>
        </p:nvGrpSpPr>
        <p:grpSpPr>
          <a:xfrm rot="0">
            <a:off x="11402568" y="2877217"/>
            <a:ext cx="1828800" cy="387191"/>
            <a:chOff x="0" y="0"/>
            <a:chExt cx="2438400" cy="516255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438400" cy="516255"/>
            </a:xfrm>
            <a:custGeom>
              <a:avLst/>
              <a:gdLst/>
              <a:ahLst/>
              <a:cxnLst/>
              <a:rect r="r" b="b" t="t" l="l"/>
              <a:pathLst>
                <a:path h="51625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516255"/>
                  </a:lnTo>
                  <a:lnTo>
                    <a:pt x="0" y="51625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2032" r="0" b="-42032"/>
              </a:stretch>
            </a:blipFill>
          </p:spPr>
          <p:txBody>
            <a:bodyPr/>
            <a:p/>
          </p:txBody>
        </p:sp>
        <p:sp>
          <p:nvSpPr>
            <p:cNvPr name="TextBox 94" id="94"/>
            <p:cNvSpPr txBox="true"/>
            <p:nvPr/>
          </p:nvSpPr>
          <p:spPr>
            <a:xfrm>
              <a:off x="0" y="-28575"/>
              <a:ext cx="2438400" cy="5448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8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Desenvolver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920472" y="2926080"/>
            <a:ext cx="292608" cy="292608"/>
            <a:chOff x="0" y="0"/>
            <a:chExt cx="390144" cy="39014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B1734A"/>
            </a:solidFill>
          </p:spPr>
          <p:txBody>
            <a:bodyPr/>
            <a:p/>
          </p:txBody>
        </p:sp>
      </p:grpSp>
      <p:grpSp>
        <p:nvGrpSpPr>
          <p:cNvPr name="Group 97" id="97"/>
          <p:cNvGrpSpPr/>
          <p:nvPr/>
        </p:nvGrpSpPr>
        <p:grpSpPr>
          <a:xfrm rot="0">
            <a:off x="13304520" y="2898648"/>
            <a:ext cx="1828800" cy="365760"/>
            <a:chOff x="0" y="0"/>
            <a:chExt cx="2438400" cy="48768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356" r="0" b="-47359"/>
              </a:stretch>
            </a:blipFill>
          </p:spPr>
          <p:txBody>
            <a:bodyPr/>
            <a:p/>
          </p:txBody>
        </p:sp>
      </p:grpSp>
      <p:grpSp>
        <p:nvGrpSpPr>
          <p:cNvPr name="Group 99" id="99"/>
          <p:cNvGrpSpPr/>
          <p:nvPr/>
        </p:nvGrpSpPr>
        <p:grpSpPr>
          <a:xfrm rot="0">
            <a:off x="13304520" y="2877217"/>
            <a:ext cx="1828800" cy="387191"/>
            <a:chOff x="0" y="0"/>
            <a:chExt cx="2438400" cy="516255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2438400" cy="516255"/>
            </a:xfrm>
            <a:custGeom>
              <a:avLst/>
              <a:gdLst/>
              <a:ahLst/>
              <a:cxnLst/>
              <a:rect r="r" b="b" t="t" l="l"/>
              <a:pathLst>
                <a:path h="51625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516255"/>
                  </a:lnTo>
                  <a:lnTo>
                    <a:pt x="0" y="51625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2032" r="0" b="-42032"/>
              </a:stretch>
            </a:blipFill>
          </p:spPr>
          <p:txBody>
            <a:bodyPr/>
            <a:p/>
          </p:txBody>
        </p:sp>
        <p:sp>
          <p:nvSpPr>
            <p:cNvPr name="TextBox 101" id="101"/>
            <p:cNvSpPr txBox="true"/>
            <p:nvPr/>
          </p:nvSpPr>
          <p:spPr>
            <a:xfrm>
              <a:off x="0" y="-28575"/>
              <a:ext cx="2438400" cy="5448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8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Testar no celular</a:t>
              </a:r>
            </a:p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15425928" y="2926080"/>
            <a:ext cx="292608" cy="292608"/>
            <a:chOff x="0" y="0"/>
            <a:chExt cx="390144" cy="390144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7A4B2C"/>
            </a:solidFill>
          </p:spPr>
          <p:txBody>
            <a:bodyPr/>
            <a:p/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15809976" y="2898648"/>
            <a:ext cx="1828800" cy="365760"/>
            <a:chOff x="0" y="0"/>
            <a:chExt cx="2438400" cy="48768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356" r="0" b="-47359"/>
              </a:stretch>
            </a:blipFill>
          </p:spPr>
          <p:txBody>
            <a:bodyPr/>
            <a:p/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5809976" y="2877217"/>
            <a:ext cx="1828800" cy="387191"/>
            <a:chOff x="0" y="0"/>
            <a:chExt cx="2438400" cy="516255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2438400" cy="516255"/>
            </a:xfrm>
            <a:custGeom>
              <a:avLst/>
              <a:gdLst/>
              <a:ahLst/>
              <a:cxnLst/>
              <a:rect r="r" b="b" t="t" l="l"/>
              <a:pathLst>
                <a:path h="51625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516255"/>
                  </a:lnTo>
                  <a:lnTo>
                    <a:pt x="0" y="51625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2032" r="0" b="-42032"/>
              </a:stretch>
            </a:blipFill>
          </p:spPr>
          <p:txBody>
            <a:bodyPr/>
            <a:p/>
          </p:txBody>
        </p:sp>
        <p:sp>
          <p:nvSpPr>
            <p:cNvPr name="TextBox 108" id="108"/>
            <p:cNvSpPr txBox="true"/>
            <p:nvPr/>
          </p:nvSpPr>
          <p:spPr>
            <a:xfrm>
              <a:off x="0" y="-28575"/>
              <a:ext cx="2438400" cy="5448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8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Entregar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9418320" y="3520440"/>
            <a:ext cx="1463040" cy="502920"/>
            <a:chOff x="0" y="0"/>
            <a:chExt cx="1950720" cy="67056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  <p:txBody>
            <a:bodyPr/>
            <a:p/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9418320" y="3499009"/>
            <a:ext cx="1463040" cy="524351"/>
            <a:chOff x="0" y="0"/>
            <a:chExt cx="1950720" cy="699135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  <p:txBody>
            <a:bodyPr/>
            <a:p/>
          </p:txBody>
        </p:sp>
        <p:sp>
          <p:nvSpPr>
            <p:cNvPr name="TextBox 113" id="113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Acesso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10972800" y="3575304"/>
            <a:ext cx="749808" cy="402336"/>
            <a:chOff x="0" y="0"/>
            <a:chExt cx="999744" cy="5364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  <p:txBody>
            <a:bodyPr/>
            <a:p/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1777472" y="3575304"/>
            <a:ext cx="749808" cy="402336"/>
            <a:chOff x="0" y="0"/>
            <a:chExt cx="999744" cy="5364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582144" y="3575304"/>
            <a:ext cx="749808" cy="402336"/>
            <a:chOff x="0" y="0"/>
            <a:chExt cx="999744" cy="536448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  <p:txBody>
            <a:bodyPr/>
            <a:p/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3386816" y="3575304"/>
            <a:ext cx="749808" cy="402336"/>
            <a:chOff x="0" y="0"/>
            <a:chExt cx="999744" cy="53644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  <p:txBody>
            <a:bodyPr/>
            <a:p/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9418320" y="4233672"/>
            <a:ext cx="1463040" cy="502920"/>
            <a:chOff x="0" y="0"/>
            <a:chExt cx="1950720" cy="6705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  <p:txBody>
            <a:bodyPr/>
            <a:p/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9418320" y="4212241"/>
            <a:ext cx="1463040" cy="524351"/>
            <a:chOff x="0" y="0"/>
            <a:chExt cx="1950720" cy="699135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  <p:txBody>
            <a:bodyPr/>
            <a:p/>
          </p:txBody>
        </p:sp>
        <p:sp>
          <p:nvSpPr>
            <p:cNvPr name="TextBox 126" id="126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Mapa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11484864" y="4288536"/>
            <a:ext cx="749808" cy="402336"/>
            <a:chOff x="0" y="0"/>
            <a:chExt cx="999744" cy="53644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  <p:txBody>
            <a:bodyPr/>
            <a:p/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2289536" y="4288536"/>
            <a:ext cx="749808" cy="402336"/>
            <a:chOff x="0" y="0"/>
            <a:chExt cx="999744" cy="5364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3094208" y="4288536"/>
            <a:ext cx="749808" cy="402336"/>
            <a:chOff x="0" y="0"/>
            <a:chExt cx="999744" cy="5364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  <p:txBody>
            <a:bodyPr/>
            <a:p/>
          </p:txBody>
        </p:sp>
      </p:grpSp>
      <p:grpSp>
        <p:nvGrpSpPr>
          <p:cNvPr name="Group 133" id="133"/>
          <p:cNvGrpSpPr/>
          <p:nvPr/>
        </p:nvGrpSpPr>
        <p:grpSpPr>
          <a:xfrm rot="0">
            <a:off x="13898880" y="4288536"/>
            <a:ext cx="749808" cy="402336"/>
            <a:chOff x="0" y="0"/>
            <a:chExt cx="999744" cy="53644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  <p:txBody>
            <a:bodyPr/>
            <a:p/>
          </p:txBody>
        </p:sp>
      </p:grpSp>
      <p:grpSp>
        <p:nvGrpSpPr>
          <p:cNvPr name="Group 135" id="135"/>
          <p:cNvGrpSpPr/>
          <p:nvPr/>
        </p:nvGrpSpPr>
        <p:grpSpPr>
          <a:xfrm rot="0">
            <a:off x="9418320" y="4946904"/>
            <a:ext cx="1463040" cy="502920"/>
            <a:chOff x="0" y="0"/>
            <a:chExt cx="1950720" cy="670560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  <p:txBody>
            <a:bodyPr/>
            <a:p/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9418320" y="4925473"/>
            <a:ext cx="1463040" cy="524351"/>
            <a:chOff x="0" y="0"/>
            <a:chExt cx="1950720" cy="699135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  <p:txBody>
            <a:bodyPr/>
            <a:p/>
          </p:txBody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Publicações</a:t>
              </a: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11996928" y="5001768"/>
            <a:ext cx="749808" cy="402336"/>
            <a:chOff x="0" y="0"/>
            <a:chExt cx="999744" cy="536448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  <p:txBody>
            <a:bodyPr/>
            <a:p/>
          </p:txBody>
        </p:sp>
      </p:grpSp>
      <p:grpSp>
        <p:nvGrpSpPr>
          <p:cNvPr name="Group 142" id="142"/>
          <p:cNvGrpSpPr/>
          <p:nvPr/>
        </p:nvGrpSpPr>
        <p:grpSpPr>
          <a:xfrm rot="0">
            <a:off x="12801600" y="5001768"/>
            <a:ext cx="749808" cy="402336"/>
            <a:chOff x="0" y="0"/>
            <a:chExt cx="999744" cy="536448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606272" y="5001768"/>
            <a:ext cx="749808" cy="402336"/>
            <a:chOff x="0" y="0"/>
            <a:chExt cx="999744" cy="53644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  <p:txBody>
            <a:bodyPr/>
            <a:p/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4410944" y="5001768"/>
            <a:ext cx="749808" cy="402336"/>
            <a:chOff x="0" y="0"/>
            <a:chExt cx="999744" cy="536448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  <p:txBody>
            <a:bodyPr/>
            <a:p/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9418320" y="5660136"/>
            <a:ext cx="1463040" cy="502920"/>
            <a:chOff x="0" y="0"/>
            <a:chExt cx="1950720" cy="67056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  <p:txBody>
            <a:bodyPr/>
            <a:p/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9418320" y="5638705"/>
            <a:ext cx="1463040" cy="524351"/>
            <a:chOff x="0" y="0"/>
            <a:chExt cx="1950720" cy="699135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  <p:txBody>
            <a:bodyPr/>
            <a:p/>
          </p:txBody>
        </p:sp>
        <p:sp>
          <p:nvSpPr>
            <p:cNvPr name="TextBox 152" id="152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Comunicação</a:t>
              </a:r>
            </a:p>
          </p:txBody>
        </p:sp>
      </p:grpSp>
      <p:grpSp>
        <p:nvGrpSpPr>
          <p:cNvPr name="Group 153" id="153"/>
          <p:cNvGrpSpPr/>
          <p:nvPr/>
        </p:nvGrpSpPr>
        <p:grpSpPr>
          <a:xfrm rot="0">
            <a:off x="12508992" y="5715000"/>
            <a:ext cx="749808" cy="402336"/>
            <a:chOff x="0" y="0"/>
            <a:chExt cx="999744" cy="536448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  <p:txBody>
            <a:bodyPr/>
            <a:p/>
          </p:txBody>
        </p:sp>
      </p:grpSp>
      <p:grpSp>
        <p:nvGrpSpPr>
          <p:cNvPr name="Group 155" id="155"/>
          <p:cNvGrpSpPr/>
          <p:nvPr/>
        </p:nvGrpSpPr>
        <p:grpSpPr>
          <a:xfrm rot="0">
            <a:off x="13313664" y="5715000"/>
            <a:ext cx="749808" cy="402336"/>
            <a:chOff x="0" y="0"/>
            <a:chExt cx="999744" cy="53644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157" id="157"/>
          <p:cNvGrpSpPr/>
          <p:nvPr/>
        </p:nvGrpSpPr>
        <p:grpSpPr>
          <a:xfrm rot="0">
            <a:off x="14118336" y="5715000"/>
            <a:ext cx="749808" cy="402336"/>
            <a:chOff x="0" y="0"/>
            <a:chExt cx="999744" cy="536448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  <p:txBody>
            <a:bodyPr/>
            <a:p/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4923008" y="5715000"/>
            <a:ext cx="749808" cy="402336"/>
            <a:chOff x="0" y="0"/>
            <a:chExt cx="999744" cy="536448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  <p:txBody>
            <a:bodyPr/>
            <a:p/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9418320" y="6373368"/>
            <a:ext cx="1463040" cy="502920"/>
            <a:chOff x="0" y="0"/>
            <a:chExt cx="1950720" cy="670560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  <p:txBody>
            <a:bodyPr/>
            <a:p/>
          </p:txBody>
        </p:sp>
      </p:grpSp>
      <p:grpSp>
        <p:nvGrpSpPr>
          <p:cNvPr name="Group 163" id="163"/>
          <p:cNvGrpSpPr/>
          <p:nvPr/>
        </p:nvGrpSpPr>
        <p:grpSpPr>
          <a:xfrm rot="0">
            <a:off x="9418320" y="6351937"/>
            <a:ext cx="1463040" cy="524351"/>
            <a:chOff x="0" y="0"/>
            <a:chExt cx="1950720" cy="699135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  <p:txBody>
            <a:bodyPr/>
            <a:p/>
          </p:txBody>
        </p:sp>
        <p:sp>
          <p:nvSpPr>
            <p:cNvPr name="TextBox 165" id="165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Cartaz QR</a:t>
              </a:r>
            </a:p>
          </p:txBody>
        </p:sp>
      </p:grpSp>
      <p:grpSp>
        <p:nvGrpSpPr>
          <p:cNvPr name="Group 166" id="166"/>
          <p:cNvGrpSpPr/>
          <p:nvPr/>
        </p:nvGrpSpPr>
        <p:grpSpPr>
          <a:xfrm rot="0">
            <a:off x="13021056" y="6428232"/>
            <a:ext cx="749808" cy="402336"/>
            <a:chOff x="0" y="0"/>
            <a:chExt cx="999744" cy="536448"/>
          </a:xfrm>
        </p:grpSpPr>
        <p:sp>
          <p:nvSpPr>
            <p:cNvPr name="Freeform 167" id="167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  <p:txBody>
            <a:bodyPr/>
            <a:p/>
          </p:txBody>
        </p:sp>
      </p:grpSp>
      <p:grpSp>
        <p:nvGrpSpPr>
          <p:cNvPr name="Group 168" id="168"/>
          <p:cNvGrpSpPr/>
          <p:nvPr/>
        </p:nvGrpSpPr>
        <p:grpSpPr>
          <a:xfrm rot="0">
            <a:off x="13825728" y="6428232"/>
            <a:ext cx="749808" cy="402336"/>
            <a:chOff x="0" y="0"/>
            <a:chExt cx="999744" cy="536448"/>
          </a:xfrm>
        </p:grpSpPr>
        <p:sp>
          <p:nvSpPr>
            <p:cNvPr name="Freeform 169" id="169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170" id="170"/>
          <p:cNvGrpSpPr/>
          <p:nvPr/>
        </p:nvGrpSpPr>
        <p:grpSpPr>
          <a:xfrm rot="0">
            <a:off x="14630400" y="6428232"/>
            <a:ext cx="749808" cy="402336"/>
            <a:chOff x="0" y="0"/>
            <a:chExt cx="999744" cy="536448"/>
          </a:xfrm>
        </p:grpSpPr>
        <p:sp>
          <p:nvSpPr>
            <p:cNvPr name="Freeform 171" id="171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  <p:txBody>
            <a:bodyPr/>
            <a:p/>
          </p:txBody>
        </p:sp>
      </p:grpSp>
      <p:grpSp>
        <p:nvGrpSpPr>
          <p:cNvPr name="Group 172" id="172"/>
          <p:cNvGrpSpPr/>
          <p:nvPr/>
        </p:nvGrpSpPr>
        <p:grpSpPr>
          <a:xfrm rot="0">
            <a:off x="15435072" y="6428232"/>
            <a:ext cx="749808" cy="402336"/>
            <a:chOff x="0" y="0"/>
            <a:chExt cx="999744" cy="536448"/>
          </a:xfrm>
        </p:grpSpPr>
        <p:sp>
          <p:nvSpPr>
            <p:cNvPr name="Freeform 173" id="173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  <p:txBody>
            <a:bodyPr/>
            <a:p/>
          </p:txBody>
        </p:sp>
      </p:grpSp>
      <p:grpSp>
        <p:nvGrpSpPr>
          <p:cNvPr name="Group 174" id="174"/>
          <p:cNvGrpSpPr/>
          <p:nvPr/>
        </p:nvGrpSpPr>
        <p:grpSpPr>
          <a:xfrm rot="0">
            <a:off x="9418320" y="7086600"/>
            <a:ext cx="1463040" cy="502920"/>
            <a:chOff x="0" y="0"/>
            <a:chExt cx="1950720" cy="670560"/>
          </a:xfrm>
        </p:grpSpPr>
        <p:sp>
          <p:nvSpPr>
            <p:cNvPr name="Freeform 175" id="175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43" r="0" b="-6643"/>
              </a:stretch>
            </a:blipFill>
          </p:spPr>
          <p:txBody>
            <a:bodyPr/>
            <a:p/>
          </p:txBody>
        </p:sp>
      </p:grpSp>
      <p:grpSp>
        <p:nvGrpSpPr>
          <p:cNvPr name="Group 176" id="176"/>
          <p:cNvGrpSpPr/>
          <p:nvPr/>
        </p:nvGrpSpPr>
        <p:grpSpPr>
          <a:xfrm rot="0">
            <a:off x="9418320" y="7065169"/>
            <a:ext cx="1463040" cy="524351"/>
            <a:chOff x="0" y="0"/>
            <a:chExt cx="1950720" cy="699135"/>
          </a:xfrm>
        </p:grpSpPr>
        <p:sp>
          <p:nvSpPr>
            <p:cNvPr name="Freeform 177" id="177"/>
            <p:cNvSpPr/>
            <p:nvPr/>
          </p:nvSpPr>
          <p:spPr>
            <a:xfrm flipH="false" flipV="false" rot="0">
              <a:off x="0" y="0"/>
              <a:ext cx="1950720" cy="699135"/>
            </a:xfrm>
            <a:custGeom>
              <a:avLst/>
              <a:gdLst/>
              <a:ahLst/>
              <a:cxnLst/>
              <a:rect r="r" b="b" t="t" l="l"/>
              <a:pathLst>
                <a:path h="699135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99135"/>
                  </a:lnTo>
                  <a:lnTo>
                    <a:pt x="0" y="69913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366" r="0" b="-4366"/>
              </a:stretch>
            </a:blipFill>
          </p:spPr>
          <p:txBody>
            <a:bodyPr/>
            <a:p/>
          </p:txBody>
        </p:sp>
        <p:sp>
          <p:nvSpPr>
            <p:cNvPr name="TextBox 178" id="178"/>
            <p:cNvSpPr txBox="true"/>
            <p:nvPr/>
          </p:nvSpPr>
          <p:spPr>
            <a:xfrm>
              <a:off x="0" y="-28575"/>
              <a:ext cx="1950720" cy="727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  Reencontro</a:t>
              </a:r>
            </a:p>
          </p:txBody>
        </p:sp>
      </p:grpSp>
      <p:grpSp>
        <p:nvGrpSpPr>
          <p:cNvPr name="Group 179" id="179"/>
          <p:cNvGrpSpPr/>
          <p:nvPr/>
        </p:nvGrpSpPr>
        <p:grpSpPr>
          <a:xfrm rot="0">
            <a:off x="13533120" y="7141464"/>
            <a:ext cx="749808" cy="402336"/>
            <a:chOff x="0" y="0"/>
            <a:chExt cx="999744" cy="536448"/>
          </a:xfrm>
        </p:grpSpPr>
        <p:sp>
          <p:nvSpPr>
            <p:cNvPr name="Freeform 180" id="180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  <p:txBody>
            <a:bodyPr/>
            <a:p/>
          </p:txBody>
        </p:sp>
      </p:grpSp>
      <p:grpSp>
        <p:nvGrpSpPr>
          <p:cNvPr name="Group 181" id="181"/>
          <p:cNvGrpSpPr/>
          <p:nvPr/>
        </p:nvGrpSpPr>
        <p:grpSpPr>
          <a:xfrm rot="0">
            <a:off x="14337792" y="7141464"/>
            <a:ext cx="749808" cy="402336"/>
            <a:chOff x="0" y="0"/>
            <a:chExt cx="999744" cy="536448"/>
          </a:xfrm>
        </p:grpSpPr>
        <p:sp>
          <p:nvSpPr>
            <p:cNvPr name="Freeform 182" id="182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183" id="183"/>
          <p:cNvGrpSpPr/>
          <p:nvPr/>
        </p:nvGrpSpPr>
        <p:grpSpPr>
          <a:xfrm rot="0">
            <a:off x="15142464" y="7141464"/>
            <a:ext cx="749808" cy="402336"/>
            <a:chOff x="0" y="0"/>
            <a:chExt cx="999744" cy="536448"/>
          </a:xfrm>
        </p:grpSpPr>
        <p:sp>
          <p:nvSpPr>
            <p:cNvPr name="Freeform 184" id="184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  <p:txBody>
            <a:bodyPr/>
            <a:p/>
          </p:txBody>
        </p:sp>
      </p:grpSp>
      <p:grpSp>
        <p:nvGrpSpPr>
          <p:cNvPr name="Group 185" id="185"/>
          <p:cNvGrpSpPr/>
          <p:nvPr/>
        </p:nvGrpSpPr>
        <p:grpSpPr>
          <a:xfrm rot="0">
            <a:off x="15947136" y="7141464"/>
            <a:ext cx="749808" cy="402336"/>
            <a:chOff x="0" y="0"/>
            <a:chExt cx="999744" cy="536448"/>
          </a:xfrm>
        </p:grpSpPr>
        <p:sp>
          <p:nvSpPr>
            <p:cNvPr name="Freeform 186" id="186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  <p:txBody>
            <a:bodyPr/>
            <a:p/>
          </p:txBody>
        </p:sp>
      </p:grpSp>
      <p:sp>
        <p:nvSpPr>
          <p:cNvPr name="AutoShape 187" id="187"/>
          <p:cNvSpPr/>
          <p:nvPr/>
        </p:nvSpPr>
        <p:spPr>
          <a:xfrm rot="10620">
            <a:off x="10953712" y="7826502"/>
            <a:ext cx="6164637" cy="0"/>
          </a:xfrm>
          <a:prstGeom prst="line">
            <a:avLst/>
          </a:prstGeom>
          <a:ln cap="rnd" w="19050">
            <a:solidFill>
              <a:srgbClr val="5B6B5F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sp>
        <p:nvSpPr>
          <p:cNvPr name="TextBox 188" id="188"/>
          <p:cNvSpPr txBox="true"/>
          <p:nvPr/>
        </p:nvSpPr>
        <p:spPr>
          <a:xfrm rot="0">
            <a:off x="13898880" y="7861554"/>
            <a:ext cx="3200400" cy="377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58"/>
              </a:lnSpc>
            </a:pPr>
            <a:r>
              <a:rPr lang="en-US" sz="1299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tempo do projeto</a:t>
            </a:r>
          </a:p>
        </p:txBody>
      </p:sp>
      <p:sp>
        <p:nvSpPr>
          <p:cNvPr name="TextBox 189" id="189"/>
          <p:cNvSpPr txBox="true"/>
          <p:nvPr/>
        </p:nvSpPr>
        <p:spPr>
          <a:xfrm rot="0">
            <a:off x="9418320" y="8126730"/>
            <a:ext cx="7680960" cy="605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Cada parte foi planejada, feita, testada no celular e entregue antes da próxima (Valente, 2023).</a:t>
            </a:r>
          </a:p>
        </p:txBody>
      </p:sp>
      <p:sp>
        <p:nvSpPr>
          <p:cNvPr name="TextBox 190" id="190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8</a:t>
            </a:r>
          </a:p>
        </p:txBody>
      </p:sp>
      <p:sp>
        <p:nvSpPr>
          <p:cNvPr name="TextBox 191" id="191"/>
          <p:cNvSpPr txBox="true"/>
          <p:nvPr/>
        </p:nvSpPr>
        <p:spPr>
          <a:xfrm rot="0">
            <a:off x="914400" y="169164"/>
            <a:ext cx="6858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METODOLOGIA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48 participantes descreveram o problema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887200" y="2194560"/>
            <a:ext cx="2743200" cy="1463040"/>
            <a:chOff x="0" y="0"/>
            <a:chExt cx="3657600" cy="19507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476" t="0" r="-18476" b="0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11887200" y="2187416"/>
            <a:ext cx="2743200" cy="1470184"/>
            <a:chOff x="0" y="0"/>
            <a:chExt cx="3657600" cy="196024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6576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810" t="0" r="-18810" b="0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11887200" y="2180272"/>
            <a:ext cx="2743200" cy="1477327"/>
            <a:chOff x="0" y="0"/>
            <a:chExt cx="3657600" cy="19697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576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144" t="0" r="-19145" b="0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887200" y="2173129"/>
            <a:ext cx="2743200" cy="1484471"/>
            <a:chOff x="0" y="0"/>
            <a:chExt cx="3657600" cy="197929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6576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9479" t="0" r="-19479" b="0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887200" y="2165985"/>
            <a:ext cx="2743200" cy="1491615"/>
            <a:chOff x="0" y="0"/>
            <a:chExt cx="3657600" cy="19888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6576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9813" t="0" r="-19813" b="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887200" y="2158841"/>
            <a:ext cx="2743200" cy="1498759"/>
            <a:chOff x="0" y="0"/>
            <a:chExt cx="3657600" cy="199834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657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0147" t="0" r="-20147" b="0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11887200" y="2151698"/>
            <a:ext cx="2743200" cy="1505902"/>
            <a:chOff x="0" y="0"/>
            <a:chExt cx="3657600" cy="20078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6576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20482" t="0" r="-20482" b="0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11887200" y="2144554"/>
            <a:ext cx="2743200" cy="1513046"/>
            <a:chOff x="0" y="0"/>
            <a:chExt cx="3657600" cy="201739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6576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0816" t="0" r="-20816" b="0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11887200" y="2137410"/>
            <a:ext cx="2743200" cy="1520190"/>
            <a:chOff x="0" y="0"/>
            <a:chExt cx="3657600" cy="20269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6576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1101" t="0" r="-21101" b="0"/>
              </a:stretch>
            </a:blipFill>
          </p:spPr>
          <p:txBody>
            <a:bodyPr/>
            <a:p/>
          </p:txBody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36576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48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4630400" y="1948815"/>
            <a:ext cx="2743200" cy="1251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respondentes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630400" y="2771775"/>
            <a:ext cx="2743200" cy="1343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52 questões; consulta em out. de 2026</a:t>
            </a:r>
          </a:p>
        </p:txBody>
      </p:sp>
      <p:sp>
        <p:nvSpPr>
          <p:cNvPr name="AutoShape 42" id="42"/>
          <p:cNvSpPr/>
          <p:nvPr/>
        </p:nvSpPr>
        <p:spPr>
          <a:xfrm rot="5880">
            <a:off x="11839556" y="4163378"/>
            <a:ext cx="5581755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3" id="43"/>
          <p:cNvGrpSpPr/>
          <p:nvPr/>
        </p:nvGrpSpPr>
        <p:grpSpPr>
          <a:xfrm rot="0">
            <a:off x="11887200" y="4389120"/>
            <a:ext cx="2743200" cy="1463040"/>
            <a:chOff x="0" y="0"/>
            <a:chExt cx="3657600" cy="195072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476" t="0" r="-18476" b="0"/>
              </a:stretch>
            </a:blipFill>
          </p:spPr>
          <p:txBody>
            <a:bodyPr/>
            <a:p/>
          </p:txBody>
        </p:sp>
      </p:grpSp>
      <p:grpSp>
        <p:nvGrpSpPr>
          <p:cNvPr name="Group 45" id="45"/>
          <p:cNvGrpSpPr/>
          <p:nvPr/>
        </p:nvGrpSpPr>
        <p:grpSpPr>
          <a:xfrm rot="0">
            <a:off x="11887200" y="4381976"/>
            <a:ext cx="2743200" cy="1470184"/>
            <a:chOff x="0" y="0"/>
            <a:chExt cx="3657600" cy="196024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6576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810" t="0" r="-18810" b="0"/>
              </a:stretch>
            </a:blipFill>
          </p:spPr>
          <p:txBody>
            <a:bodyPr/>
            <a:p/>
          </p:txBody>
        </p:sp>
      </p:grpSp>
      <p:grpSp>
        <p:nvGrpSpPr>
          <p:cNvPr name="Group 47" id="47"/>
          <p:cNvGrpSpPr/>
          <p:nvPr/>
        </p:nvGrpSpPr>
        <p:grpSpPr>
          <a:xfrm rot="0">
            <a:off x="11887200" y="4374832"/>
            <a:ext cx="2743200" cy="1477327"/>
            <a:chOff x="0" y="0"/>
            <a:chExt cx="3657600" cy="196977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6576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144" t="0" r="-19145" b="0"/>
              </a:stretch>
            </a:blipFill>
          </p:spPr>
          <p:txBody>
            <a:bodyPr/>
            <a:p/>
          </p:txBody>
        </p:sp>
      </p:grpSp>
      <p:grpSp>
        <p:nvGrpSpPr>
          <p:cNvPr name="Group 49" id="49"/>
          <p:cNvGrpSpPr/>
          <p:nvPr/>
        </p:nvGrpSpPr>
        <p:grpSpPr>
          <a:xfrm rot="0">
            <a:off x="11887200" y="4367689"/>
            <a:ext cx="2743200" cy="1484471"/>
            <a:chOff x="0" y="0"/>
            <a:chExt cx="3657600" cy="197929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6576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9479" t="0" r="-19479" b="0"/>
              </a:stretch>
            </a:blipFill>
          </p:spPr>
          <p:txBody>
            <a:bodyPr/>
            <a:p/>
          </p:txBody>
        </p:sp>
      </p:grpSp>
      <p:grpSp>
        <p:nvGrpSpPr>
          <p:cNvPr name="Group 51" id="51"/>
          <p:cNvGrpSpPr/>
          <p:nvPr/>
        </p:nvGrpSpPr>
        <p:grpSpPr>
          <a:xfrm rot="0">
            <a:off x="11887200" y="4360545"/>
            <a:ext cx="2743200" cy="1491615"/>
            <a:chOff x="0" y="0"/>
            <a:chExt cx="3657600" cy="19888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36576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9813" t="0" r="-19813" b="0"/>
              </a:stretch>
            </a:blip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11887200" y="4353401"/>
            <a:ext cx="2743200" cy="1498759"/>
            <a:chOff x="0" y="0"/>
            <a:chExt cx="3657600" cy="199834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3657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0147" t="0" r="-20147" b="0"/>
              </a:stretch>
            </a:blipFill>
          </p:spPr>
          <p:txBody>
            <a:bodyPr/>
            <a:p/>
          </p:txBody>
        </p:sp>
      </p:grpSp>
      <p:grpSp>
        <p:nvGrpSpPr>
          <p:cNvPr name="Group 55" id="55"/>
          <p:cNvGrpSpPr/>
          <p:nvPr/>
        </p:nvGrpSpPr>
        <p:grpSpPr>
          <a:xfrm rot="0">
            <a:off x="11887200" y="4346258"/>
            <a:ext cx="2743200" cy="1505902"/>
            <a:chOff x="0" y="0"/>
            <a:chExt cx="3657600" cy="200787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6576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20482" t="0" r="-20482" b="0"/>
              </a:stretch>
            </a:blipFill>
          </p:spPr>
          <p:txBody>
            <a:bodyPr/>
            <a:p/>
          </p:txBody>
        </p:sp>
      </p:grpSp>
      <p:grpSp>
        <p:nvGrpSpPr>
          <p:cNvPr name="Group 57" id="57"/>
          <p:cNvGrpSpPr/>
          <p:nvPr/>
        </p:nvGrpSpPr>
        <p:grpSpPr>
          <a:xfrm rot="0">
            <a:off x="11887200" y="4339114"/>
            <a:ext cx="2743200" cy="1513046"/>
            <a:chOff x="0" y="0"/>
            <a:chExt cx="3657600" cy="2017395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6576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0816" t="0" r="-20816" b="0"/>
              </a:stretch>
            </a:blipFill>
          </p:spPr>
          <p:txBody>
            <a:bodyPr/>
            <a:p/>
          </p:txBody>
        </p:sp>
      </p:grpSp>
      <p:grpSp>
        <p:nvGrpSpPr>
          <p:cNvPr name="Group 59" id="59"/>
          <p:cNvGrpSpPr/>
          <p:nvPr/>
        </p:nvGrpSpPr>
        <p:grpSpPr>
          <a:xfrm rot="0">
            <a:off x="11887200" y="4331970"/>
            <a:ext cx="2743200" cy="1520190"/>
            <a:chOff x="0" y="0"/>
            <a:chExt cx="3657600" cy="20269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6576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1101" t="0" r="-21101" b="0"/>
              </a:stretch>
            </a:blipFill>
          </p:spPr>
          <p:txBody>
            <a:bodyPr/>
            <a:p/>
          </p:txBody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36576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52%</a:t>
              </a: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14630400" y="4143375"/>
            <a:ext cx="2743200" cy="1251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já perderam um animal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4630400" y="4966335"/>
            <a:ext cx="2743200" cy="1343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25 de 48 participantes</a:t>
            </a:r>
          </a:p>
        </p:txBody>
      </p:sp>
      <p:sp>
        <p:nvSpPr>
          <p:cNvPr name="AutoShape 64" id="64"/>
          <p:cNvSpPr/>
          <p:nvPr/>
        </p:nvSpPr>
        <p:spPr>
          <a:xfrm rot="5880">
            <a:off x="11839556" y="6357938"/>
            <a:ext cx="5581755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65" id="65"/>
          <p:cNvGrpSpPr/>
          <p:nvPr/>
        </p:nvGrpSpPr>
        <p:grpSpPr>
          <a:xfrm rot="0">
            <a:off x="11887200" y="6583680"/>
            <a:ext cx="2743200" cy="1463040"/>
            <a:chOff x="0" y="0"/>
            <a:chExt cx="3657600" cy="195072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476" t="0" r="-18476" b="0"/>
              </a:stretch>
            </a:blipFill>
          </p:spPr>
          <p:txBody>
            <a:bodyPr/>
            <a:p/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887200" y="6576536"/>
            <a:ext cx="2743200" cy="1470184"/>
            <a:chOff x="0" y="0"/>
            <a:chExt cx="3657600" cy="1960245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6576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810" t="0" r="-18810" b="0"/>
              </a:stretch>
            </a:blipFill>
          </p:spPr>
          <p:txBody>
            <a:bodyPr/>
            <a:p/>
          </p:txBody>
        </p:sp>
      </p:grpSp>
      <p:grpSp>
        <p:nvGrpSpPr>
          <p:cNvPr name="Group 69" id="69"/>
          <p:cNvGrpSpPr/>
          <p:nvPr/>
        </p:nvGrpSpPr>
        <p:grpSpPr>
          <a:xfrm rot="0">
            <a:off x="11887200" y="6569393"/>
            <a:ext cx="2743200" cy="1477327"/>
            <a:chOff x="0" y="0"/>
            <a:chExt cx="3657600" cy="196977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6576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144" t="0" r="-19145" b="0"/>
              </a:stretch>
            </a:blipFill>
          </p:spPr>
          <p:txBody>
            <a:bodyPr/>
            <a:p/>
          </p:txBody>
        </p:sp>
      </p:grpSp>
      <p:grpSp>
        <p:nvGrpSpPr>
          <p:cNvPr name="Group 71" id="71"/>
          <p:cNvGrpSpPr/>
          <p:nvPr/>
        </p:nvGrpSpPr>
        <p:grpSpPr>
          <a:xfrm rot="0">
            <a:off x="11887200" y="6562249"/>
            <a:ext cx="2743200" cy="1484471"/>
            <a:chOff x="0" y="0"/>
            <a:chExt cx="3657600" cy="1979295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6576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9479" t="0" r="-19479" b="0"/>
              </a:stretch>
            </a:blipFill>
          </p:spPr>
          <p:txBody>
            <a:bodyPr/>
            <a:p/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887200" y="6555105"/>
            <a:ext cx="2743200" cy="1491615"/>
            <a:chOff x="0" y="0"/>
            <a:chExt cx="3657600" cy="198882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6576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9813" t="0" r="-19813" b="0"/>
              </a:stretch>
            </a:blipFill>
          </p:spPr>
          <p:txBody>
            <a:bodyPr/>
            <a:p/>
          </p:txBody>
        </p:sp>
      </p:grpSp>
      <p:grpSp>
        <p:nvGrpSpPr>
          <p:cNvPr name="Group 75" id="75"/>
          <p:cNvGrpSpPr/>
          <p:nvPr/>
        </p:nvGrpSpPr>
        <p:grpSpPr>
          <a:xfrm rot="0">
            <a:off x="11887200" y="6547961"/>
            <a:ext cx="2743200" cy="1498759"/>
            <a:chOff x="0" y="0"/>
            <a:chExt cx="3657600" cy="1998345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657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0147" t="0" r="-20147" b="0"/>
              </a:stretch>
            </a:blip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11887200" y="6540818"/>
            <a:ext cx="2743200" cy="1505902"/>
            <a:chOff x="0" y="0"/>
            <a:chExt cx="3657600" cy="200787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6576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20482" t="0" r="-20482" b="0"/>
              </a:stretch>
            </a:blipFill>
          </p:spPr>
          <p:txBody>
            <a:bodyPr/>
            <a:p/>
          </p:txBody>
        </p:sp>
      </p:grpSp>
      <p:grpSp>
        <p:nvGrpSpPr>
          <p:cNvPr name="Group 79" id="79"/>
          <p:cNvGrpSpPr/>
          <p:nvPr/>
        </p:nvGrpSpPr>
        <p:grpSpPr>
          <a:xfrm rot="0">
            <a:off x="11887200" y="6533674"/>
            <a:ext cx="2743200" cy="1513046"/>
            <a:chOff x="0" y="0"/>
            <a:chExt cx="3657600" cy="2017395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657600" cy="2017395"/>
            </a:xfrm>
            <a:custGeom>
              <a:avLst/>
              <a:gdLst/>
              <a:ahLst/>
              <a:cxnLst/>
              <a:rect r="r" b="b" t="t" l="l"/>
              <a:pathLst>
                <a:path h="20173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17395"/>
                  </a:lnTo>
                  <a:lnTo>
                    <a:pt x="0" y="20173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0816" t="0" r="-20816" b="0"/>
              </a:stretch>
            </a:blipFill>
          </p:spPr>
          <p:txBody>
            <a:bodyPr/>
            <a:p/>
          </p:txBody>
        </p:sp>
      </p:grpSp>
      <p:grpSp>
        <p:nvGrpSpPr>
          <p:cNvPr name="Group 81" id="81"/>
          <p:cNvGrpSpPr/>
          <p:nvPr/>
        </p:nvGrpSpPr>
        <p:grpSpPr>
          <a:xfrm rot="0">
            <a:off x="11887200" y="6526530"/>
            <a:ext cx="2743200" cy="1520190"/>
            <a:chOff x="0" y="0"/>
            <a:chExt cx="3657600" cy="202692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657600" cy="2026920"/>
            </a:xfrm>
            <a:custGeom>
              <a:avLst/>
              <a:gdLst/>
              <a:ahLst/>
              <a:cxnLst/>
              <a:rect r="r" b="b" t="t" l="l"/>
              <a:pathLst>
                <a:path h="20269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26920"/>
                  </a:lnTo>
                  <a:lnTo>
                    <a:pt x="0" y="20269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1101" t="0" r="-21101" b="0"/>
              </a:stretch>
            </a:blipFill>
          </p:spPr>
          <p:txBody>
            <a:bodyPr/>
            <a:p/>
          </p:txBody>
        </p:sp>
        <p:sp>
          <p:nvSpPr>
            <p:cNvPr name="TextBox 83" id="83"/>
            <p:cNvSpPr txBox="true"/>
            <p:nvPr/>
          </p:nvSpPr>
          <p:spPr>
            <a:xfrm>
              <a:off x="0" y="-9525"/>
              <a:ext cx="3657600" cy="2036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83%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14630400" y="6337935"/>
            <a:ext cx="2743200" cy="1251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publicariam em até 3 min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4630400" y="7160895"/>
            <a:ext cx="2743200" cy="1343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40 de 48 participantes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914400" y="8349615"/>
            <a:ext cx="16459200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Amostra por conveniência: formulário divulgado em dois grupos públicos do Facebook; 72,9% moram em Pelotas. Os resultados descrevem apenas o grupo consultado.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89" id="89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91" id="91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93" id="93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95" id="95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97" id="97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99" id="99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105" id="105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106" id="106"/>
          <p:cNvSpPr txBox="true"/>
          <p:nvPr/>
        </p:nvSpPr>
        <p:spPr>
          <a:xfrm rot="0">
            <a:off x="914400" y="2005965"/>
            <a:ext cx="10241280" cy="691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 que mais fez falta nas primeiras horas da busca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914400" y="188214"/>
            <a:ext cx="68580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3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METODOLOGIA</a:t>
            </a:r>
          </a:p>
        </p:txBody>
      </p:sp>
      <p:grpSp>
        <p:nvGrpSpPr>
          <p:cNvPr name="Group 108" id="108"/>
          <p:cNvGrpSpPr/>
          <p:nvPr/>
        </p:nvGrpSpPr>
        <p:grpSpPr>
          <a:xfrm rot="0">
            <a:off x="914400" y="2606040"/>
            <a:ext cx="10515600" cy="411480"/>
            <a:chOff x="0" y="0"/>
            <a:chExt cx="14020800" cy="54864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14020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020800">
                  <a:moveTo>
                    <a:pt x="0" y="0"/>
                  </a:moveTo>
                  <a:lnTo>
                    <a:pt x="14020800" y="0"/>
                  </a:lnTo>
                  <a:lnTo>
                    <a:pt x="14020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47950" r="0" b="-447950"/>
              </a:stretch>
            </a:blipFill>
          </p:spPr>
          <p:txBody>
            <a:bodyPr/>
            <a:p/>
          </p:txBody>
        </p:sp>
        <p:sp>
          <p:nvSpPr>
            <p:cNvPr name="TextBox 110" id="110"/>
            <p:cNvSpPr txBox="true"/>
            <p:nvPr/>
          </p:nvSpPr>
          <p:spPr>
            <a:xfrm>
              <a:off x="0" y="-38100"/>
              <a:ext cx="140208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Respostas dos 25 que já perderam um animal; cada pessoa marcou até 3 opções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914400" y="3598164"/>
            <a:ext cx="4389120" cy="768096"/>
            <a:chOff x="0" y="0"/>
            <a:chExt cx="5852160" cy="1024128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5852160" cy="1024128"/>
            </a:xfrm>
            <a:custGeom>
              <a:avLst/>
              <a:gdLst/>
              <a:ahLst/>
              <a:cxnLst/>
              <a:rect r="r" b="b" t="t" l="l"/>
              <a:pathLst>
                <a:path h="1024128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8843" r="0" b="-73843"/>
              </a:stretch>
            </a:blipFill>
          </p:spPr>
          <p:txBody>
            <a:bodyPr/>
            <a:p/>
          </p:txBody>
        </p:sp>
        <p:sp>
          <p:nvSpPr>
            <p:cNvPr name="TextBox 113" id="113"/>
            <p:cNvSpPr txBox="true"/>
            <p:nvPr/>
          </p:nvSpPr>
          <p:spPr>
            <a:xfrm>
              <a:off x="0" y="-47625"/>
              <a:ext cx="5852160" cy="1071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Avisos </a:t>
              </a:r>
              <a:r>
                <a:rPr lang="en-US" sz="23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 quem viu o animal</a:t>
              </a:r>
            </a:p>
            <a:p>
              <a:pPr algn="l">
                <a:lnSpc>
                  <a:spcPts val="2160"/>
                </a:lnSpc>
              </a:pP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5486400" y="3598164"/>
            <a:ext cx="4754880" cy="475488"/>
            <a:chOff x="0" y="0"/>
            <a:chExt cx="6339840" cy="633984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E4E9E3"/>
            </a:solidFill>
          </p:spPr>
          <p:txBody>
            <a:bodyPr/>
            <a:p/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5486400" y="3598164"/>
            <a:ext cx="3994099" cy="475488"/>
            <a:chOff x="0" y="0"/>
            <a:chExt cx="5325466" cy="63398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5325491" cy="633984"/>
            </a:xfrm>
            <a:custGeom>
              <a:avLst/>
              <a:gdLst/>
              <a:ahLst/>
              <a:cxnLst/>
              <a:rect r="r" b="b" t="t" l="l"/>
              <a:pathLst>
                <a:path h="633984" w="5325491">
                  <a:moveTo>
                    <a:pt x="0" y="0"/>
                  </a:moveTo>
                  <a:lnTo>
                    <a:pt x="5325491" y="0"/>
                  </a:lnTo>
                  <a:lnTo>
                    <a:pt x="5325491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B1734A"/>
            </a:solidFill>
          </p:spPr>
          <p:txBody>
            <a:bodyPr/>
            <a:p/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9617659" y="3598164"/>
            <a:ext cx="1463040" cy="475488"/>
            <a:chOff x="0" y="0"/>
            <a:chExt cx="1950720" cy="633984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1950720" cy="633984"/>
            </a:xfrm>
            <a:custGeom>
              <a:avLst/>
              <a:gdLst/>
              <a:ahLst/>
              <a:cxnLst/>
              <a:rect r="r" b="b" t="t" l="l"/>
              <a:pathLst>
                <a:path h="633984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9953" r="0" b="-9953"/>
              </a:stretch>
            </a:blipFill>
          </p:spPr>
          <p:txBody>
            <a:bodyPr/>
            <a:p/>
          </p:txBody>
        </p:sp>
        <p:sp>
          <p:nvSpPr>
            <p:cNvPr name="TextBox 120" id="120"/>
            <p:cNvSpPr txBox="true"/>
            <p:nvPr/>
          </p:nvSpPr>
          <p:spPr>
            <a:xfrm>
              <a:off x="0" y="-47625"/>
              <a:ext cx="195072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84%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914400" y="4539996"/>
            <a:ext cx="4389120" cy="960120"/>
            <a:chOff x="0" y="0"/>
            <a:chExt cx="5852160" cy="1280160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5852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9074" r="0" b="-39074"/>
              </a:stretch>
            </a:blipFill>
          </p:spPr>
          <p:txBody>
            <a:bodyPr/>
            <a:p/>
          </p:txBody>
        </p:sp>
        <p:sp>
          <p:nvSpPr>
            <p:cNvPr name="TextBox 123" id="123"/>
            <p:cNvSpPr txBox="true"/>
            <p:nvPr/>
          </p:nvSpPr>
          <p:spPr>
            <a:xfrm>
              <a:off x="0" y="-47625"/>
              <a:ext cx="5852160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Alcançar as pessoas do bairro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5486400" y="4786884"/>
            <a:ext cx="4754880" cy="475488"/>
            <a:chOff x="0" y="0"/>
            <a:chExt cx="6339840" cy="633984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E4E9E3"/>
            </a:solidFill>
          </p:spPr>
          <p:txBody>
            <a:bodyPr/>
            <a:p/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5486400" y="4786884"/>
            <a:ext cx="3423514" cy="475488"/>
            <a:chOff x="0" y="0"/>
            <a:chExt cx="4564685" cy="63398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4564634" cy="633984"/>
            </a:xfrm>
            <a:custGeom>
              <a:avLst/>
              <a:gdLst/>
              <a:ahLst/>
              <a:cxnLst/>
              <a:rect r="r" b="b" t="t" l="l"/>
              <a:pathLst>
                <a:path h="633984" w="4564634">
                  <a:moveTo>
                    <a:pt x="0" y="0"/>
                  </a:moveTo>
                  <a:lnTo>
                    <a:pt x="4564634" y="0"/>
                  </a:lnTo>
                  <a:lnTo>
                    <a:pt x="4564634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9047074" y="4786884"/>
            <a:ext cx="1463040" cy="475488"/>
            <a:chOff x="0" y="0"/>
            <a:chExt cx="1950720" cy="633984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1950720" cy="633984"/>
            </a:xfrm>
            <a:custGeom>
              <a:avLst/>
              <a:gdLst/>
              <a:ahLst/>
              <a:cxnLst/>
              <a:rect r="r" b="b" t="t" l="l"/>
              <a:pathLst>
                <a:path h="633984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9953" r="0" b="-9953"/>
              </a:stretch>
            </a:blipFill>
          </p:spPr>
          <p:txBody>
            <a:bodyPr/>
            <a:p/>
          </p:txBody>
        </p:sp>
        <p:sp>
          <p:nvSpPr>
            <p:cNvPr name="TextBox 130" id="130"/>
            <p:cNvSpPr txBox="true"/>
            <p:nvPr/>
          </p:nvSpPr>
          <p:spPr>
            <a:xfrm>
              <a:off x="0" y="-47625"/>
              <a:ext cx="195072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72%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914400" y="5728716"/>
            <a:ext cx="4389120" cy="960120"/>
            <a:chOff x="0" y="0"/>
            <a:chExt cx="5852160" cy="1280160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5852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9074" r="0" b="-39074"/>
              </a:stretch>
            </a:blipFill>
          </p:spPr>
          <p:txBody>
            <a:bodyPr/>
            <a:p/>
          </p:txBody>
        </p:sp>
        <p:sp>
          <p:nvSpPr>
            <p:cNvPr name="TextBox 133" id="133"/>
            <p:cNvSpPr txBox="true"/>
            <p:nvPr/>
          </p:nvSpPr>
          <p:spPr>
            <a:xfrm>
              <a:off x="0" y="-47625"/>
              <a:ext cx="5852160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Alerta de animal parecido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5486400" y="5975604"/>
            <a:ext cx="4754880" cy="475488"/>
            <a:chOff x="0" y="0"/>
            <a:chExt cx="6339840" cy="633984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E4E9E3"/>
            </a:solidFill>
          </p:spPr>
          <p:txBody>
            <a:bodyPr/>
            <a:p/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5486400" y="5975604"/>
            <a:ext cx="2282342" cy="475488"/>
            <a:chOff x="0" y="0"/>
            <a:chExt cx="3043123" cy="63398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43174" cy="633984"/>
            </a:xfrm>
            <a:custGeom>
              <a:avLst/>
              <a:gdLst/>
              <a:ahLst/>
              <a:cxnLst/>
              <a:rect r="r" b="b" t="t" l="l"/>
              <a:pathLst>
                <a:path h="633984" w="3043174">
                  <a:moveTo>
                    <a:pt x="0" y="0"/>
                  </a:moveTo>
                  <a:lnTo>
                    <a:pt x="3043174" y="0"/>
                  </a:lnTo>
                  <a:lnTo>
                    <a:pt x="3043174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138" id="138"/>
          <p:cNvGrpSpPr/>
          <p:nvPr/>
        </p:nvGrpSpPr>
        <p:grpSpPr>
          <a:xfrm rot="0">
            <a:off x="7905902" y="5975604"/>
            <a:ext cx="1463040" cy="475488"/>
            <a:chOff x="0" y="0"/>
            <a:chExt cx="1950720" cy="633984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1950720" cy="633984"/>
            </a:xfrm>
            <a:custGeom>
              <a:avLst/>
              <a:gdLst/>
              <a:ahLst/>
              <a:cxnLst/>
              <a:rect r="r" b="b" t="t" l="l"/>
              <a:pathLst>
                <a:path h="633984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9953" r="0" b="-9953"/>
              </a:stretch>
            </a:blipFill>
          </p:spPr>
          <p:txBody>
            <a:bodyPr/>
            <a:p/>
          </p:txBody>
        </p:sp>
        <p:sp>
          <p:nvSpPr>
            <p:cNvPr name="TextBox 140" id="140"/>
            <p:cNvSpPr txBox="true"/>
            <p:nvPr/>
          </p:nvSpPr>
          <p:spPr>
            <a:xfrm>
              <a:off x="0" y="-47625"/>
              <a:ext cx="195072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48%</a:t>
              </a:r>
            </a:p>
          </p:txBody>
        </p:sp>
      </p:grpSp>
      <p:sp>
        <p:nvSpPr>
          <p:cNvPr name="TextBox 141" id="141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Sistemas similares analisados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0">
            <a:off x="90051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46" t="0" r="-46" b="0"/>
            </a:stretch>
          </a:blipFill>
        </p:spPr>
        <p:txBody>
          <a:bodyPr/>
          <a:p/>
        </p:txBody>
      </p:sp>
      <p:grpSp>
        <p:nvGrpSpPr>
          <p:cNvPr name="Group 41" id="41"/>
          <p:cNvGrpSpPr/>
          <p:nvPr/>
        </p:nvGrpSpPr>
        <p:grpSpPr>
          <a:xfrm rot="0">
            <a:off x="1645920" y="3086129"/>
            <a:ext cx="2103120" cy="2103120"/>
            <a:chOff x="0" y="0"/>
            <a:chExt cx="2804160" cy="2804160"/>
          </a:xfrm>
        </p:grpSpPr>
        <p:sp>
          <p:nvSpPr>
            <p:cNvPr name="Freeform 42" id="42" descr="viumeupet.png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43" id="43"/>
          <p:cNvSpPr/>
          <p:nvPr/>
        </p:nvSpPr>
        <p:spPr>
          <a:xfrm flipH="false" flipV="false" rot="0">
            <a:off x="519819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46" t="0" r="-46" b="0"/>
            </a:stretch>
          </a:blipFill>
        </p:spPr>
        <p:txBody>
          <a:bodyPr/>
          <a:p/>
        </p:txBody>
      </p:sp>
      <p:grpSp>
        <p:nvGrpSpPr>
          <p:cNvPr name="Group 44" id="44"/>
          <p:cNvGrpSpPr/>
          <p:nvPr/>
        </p:nvGrpSpPr>
        <p:grpSpPr>
          <a:xfrm rot="0">
            <a:off x="5943600" y="3086129"/>
            <a:ext cx="2103120" cy="2103120"/>
            <a:chOff x="0" y="0"/>
            <a:chExt cx="2804160" cy="28041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-16852" t="0" r="-16852" b="0"/>
              </a:stretch>
            </a:blipFill>
          </p:spPr>
          <p:txBody>
            <a:bodyPr/>
            <a:p/>
          </p:txBody>
        </p:sp>
      </p:grpSp>
      <p:sp>
        <p:nvSpPr>
          <p:cNvPr name="Freeform 46" id="46"/>
          <p:cNvSpPr/>
          <p:nvPr/>
        </p:nvSpPr>
        <p:spPr>
          <a:xfrm flipH="false" flipV="false" rot="0">
            <a:off x="949587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46" t="0" r="-46" b="0"/>
            </a:stretch>
          </a:blipFill>
        </p:spPr>
        <p:txBody>
          <a:bodyPr/>
          <a:p/>
        </p:txBody>
      </p:sp>
      <p:grpSp>
        <p:nvGrpSpPr>
          <p:cNvPr name="Group 47" id="47"/>
          <p:cNvGrpSpPr/>
          <p:nvPr/>
        </p:nvGrpSpPr>
        <p:grpSpPr>
          <a:xfrm rot="0">
            <a:off x="10241280" y="3086129"/>
            <a:ext cx="2103120" cy="2103120"/>
            <a:chOff x="0" y="0"/>
            <a:chExt cx="2804160" cy="2804160"/>
          </a:xfrm>
        </p:grpSpPr>
        <p:sp>
          <p:nvSpPr>
            <p:cNvPr name="Freeform 48" id="48" descr="alertpet.png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-185" t="0" r="-186" b="0"/>
              </a:stretch>
            </a:blipFill>
          </p:spPr>
          <p:txBody>
            <a:bodyPr/>
            <a:p/>
          </p:txBody>
        </p:sp>
      </p:grpSp>
      <p:sp>
        <p:nvSpPr>
          <p:cNvPr name="Freeform 49" id="49"/>
          <p:cNvSpPr/>
          <p:nvPr/>
        </p:nvSpPr>
        <p:spPr>
          <a:xfrm flipH="false" flipV="false" rot="0">
            <a:off x="1379355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46" t="0" r="-46" b="0"/>
            </a:stretch>
          </a:blipFill>
        </p:spPr>
        <p:txBody>
          <a:bodyPr/>
          <a:p/>
        </p:txBody>
      </p:sp>
      <p:grpSp>
        <p:nvGrpSpPr>
          <p:cNvPr name="Group 50" id="50"/>
          <p:cNvGrpSpPr/>
          <p:nvPr/>
        </p:nvGrpSpPr>
        <p:grpSpPr>
          <a:xfrm rot="0">
            <a:off x="14538960" y="3086129"/>
            <a:ext cx="2103120" cy="2103120"/>
            <a:chOff x="0" y="0"/>
            <a:chExt cx="2804160" cy="2804160"/>
          </a:xfrm>
        </p:grpSpPr>
        <p:sp>
          <p:nvSpPr>
            <p:cNvPr name="Freeform 51" id="51" descr="facebook.png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52" id="52"/>
          <p:cNvSpPr txBox="true"/>
          <p:nvPr/>
        </p:nvSpPr>
        <p:spPr>
          <a:xfrm rot="0">
            <a:off x="1097280" y="5480714"/>
            <a:ext cx="3200400" cy="760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Viu Meu Pet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97280" y="6263669"/>
            <a:ext cx="3200400" cy="662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Brasileiro · site e app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5394960" y="5480714"/>
            <a:ext cx="3200400" cy="760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PawBoost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5394960" y="6263669"/>
            <a:ext cx="3200400" cy="662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Internacional · site e app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9692640" y="5480714"/>
            <a:ext cx="3200400" cy="760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AlertPet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692640" y="6263669"/>
            <a:ext cx="3200400" cy="662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Brasileiro · campanhas pagas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3990320" y="5480714"/>
            <a:ext cx="3200400" cy="760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Facebook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3990320" y="6263669"/>
            <a:ext cx="3200400" cy="662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Rede social · grupos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914400" y="169164"/>
            <a:ext cx="6858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METODOLOGIA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Nenhuma reúne mapa, rota e correspondência</a:t>
              </a:r>
            </a:p>
          </p:txBody>
        </p:sp>
      </p:grpSp>
      <p:graphicFrame>
        <p:nvGraphicFramePr>
          <p:cNvPr name="Table 19" id="19"/>
          <p:cNvGraphicFramePr>
            <a:graphicFrameLocks noGrp="true"/>
          </p:cNvGraphicFramePr>
          <p:nvPr/>
        </p:nvGraphicFramePr>
        <p:xfrm>
          <a:off x="914400" y="2194560"/>
          <a:ext cx="16179800" cy="6616700"/>
        </p:xfrm>
        <a:graphic>
          <a:graphicData uri="http://schemas.openxmlformats.org/drawingml/2006/table">
            <a:tbl>
              <a:tblPr/>
              <a:tblGrid>
                <a:gridCol w="6651696"/>
                <a:gridCol w="1905621"/>
                <a:gridCol w="1905621"/>
                <a:gridCol w="1905621"/>
                <a:gridCol w="1905621"/>
                <a:gridCol w="1905621"/>
              </a:tblGrid>
              <a:tr h="62339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Funcionalidade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Viu Meu Pet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PawBoost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AlertPet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Facebook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B1734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WeFIND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705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Cadastrar animal com fotos e descrição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Disponibilizar aplicativo móvel para busca de animais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Gerar cartazes digitais de busca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Filtrar animais por espécie e município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Enviar alertas sobre publicações relevantes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Visualizar animais em mapa interativo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Registrar relatos de avistamento com localização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Permitir comunicação privada entre usuários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3C5D4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81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Traçar rota até o local informado na publicação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57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Sugerir correspondências entre animais perdidos e encontrados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20" id="20"/>
          <p:cNvSpPr txBox="true"/>
          <p:nvPr/>
        </p:nvSpPr>
        <p:spPr>
          <a:xfrm rot="0">
            <a:off x="16459200" y="94335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11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914400" y="169164"/>
            <a:ext cx="6858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METODOLOGIA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233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Modelagem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Requisitos, regras de negócio e UML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800386"/>
            <a:ext cx="16596360" cy="1284446"/>
            <a:chOff x="0" y="0"/>
            <a:chExt cx="22128480" cy="171259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2128480" cy="1712595"/>
            </a:xfrm>
            <a:custGeom>
              <a:avLst/>
              <a:gdLst/>
              <a:ahLst/>
              <a:cxnLst/>
              <a:rect r="r" b="b" t="t" l="l"/>
              <a:pathLst>
                <a:path h="17125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12595"/>
                  </a:lnTo>
                  <a:lnTo>
                    <a:pt x="0" y="17125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1591" r="0" b="-201591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822960" y="793242"/>
            <a:ext cx="16596360" cy="1291590"/>
            <a:chOff x="0" y="0"/>
            <a:chExt cx="22128480" cy="1722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128480" cy="1722120"/>
            </a:xfrm>
            <a:custGeom>
              <a:avLst/>
              <a:gdLst/>
              <a:ahLst/>
              <a:cxnLst/>
              <a:rect r="r" b="b" t="t" l="l"/>
              <a:pathLst>
                <a:path h="17221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22120"/>
                  </a:lnTo>
                  <a:lnTo>
                    <a:pt x="0" y="17221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374" r="0" b="-200374"/>
              </a:stretch>
            </a:blipFill>
          </p:spPr>
          <p:txBody>
            <a:bodyPr/>
            <a:p/>
          </p:txBody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22128480" cy="1731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21 requisitos funcionais centrais</a:t>
              </a: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0">
            <a:off x="810454" y="22402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  <p:txBody>
          <a:bodyPr/>
          <a:p/>
        </p:txBody>
      </p:sp>
      <p:sp>
        <p:nvSpPr>
          <p:cNvPr name="Freeform 41" id="41"/>
          <p:cNvSpPr/>
          <p:nvPr/>
        </p:nvSpPr>
        <p:spPr>
          <a:xfrm flipH="false" flipV="false" rot="0">
            <a:off x="1080611" y="2510438"/>
            <a:ext cx="993457" cy="993457"/>
          </a:xfrm>
          <a:custGeom>
            <a:avLst/>
            <a:gdLst/>
            <a:ahLst/>
            <a:cxnLst/>
            <a:rect r="r" b="b" t="t" l="l"/>
            <a:pathLst>
              <a:path h="993457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2" id="42"/>
          <p:cNvGrpSpPr/>
          <p:nvPr/>
        </p:nvGrpSpPr>
        <p:grpSpPr>
          <a:xfrm rot="0">
            <a:off x="1346911" y="2776738"/>
            <a:ext cx="460820" cy="460820"/>
            <a:chOff x="0" y="0"/>
            <a:chExt cx="614426" cy="614426"/>
          </a:xfrm>
        </p:grpSpPr>
        <p:sp>
          <p:nvSpPr>
            <p:cNvPr name="Freeform 43" id="43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44" id="44"/>
          <p:cNvSpPr txBox="true"/>
          <p:nvPr/>
        </p:nvSpPr>
        <p:spPr>
          <a:xfrm rot="0">
            <a:off x="2331720" y="21270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Conta e perfil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331720" y="26928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RF01 e RF02</a:t>
            </a:r>
          </a:p>
        </p:txBody>
      </p:sp>
      <p:sp>
        <p:nvSpPr>
          <p:cNvPr name="Freeform 46" id="46"/>
          <p:cNvSpPr/>
          <p:nvPr/>
        </p:nvSpPr>
        <p:spPr>
          <a:xfrm flipH="false" flipV="false" rot="0">
            <a:off x="6434014" y="22402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  <p:txBody>
          <a:bodyPr/>
          <a:p/>
        </p:txBody>
      </p:sp>
      <p:sp>
        <p:nvSpPr>
          <p:cNvPr name="Freeform 47" id="47"/>
          <p:cNvSpPr/>
          <p:nvPr/>
        </p:nvSpPr>
        <p:spPr>
          <a:xfrm flipH="false" flipV="false" rot="0">
            <a:off x="6704171" y="2510438"/>
            <a:ext cx="993458" cy="993457"/>
          </a:xfrm>
          <a:custGeom>
            <a:avLst/>
            <a:gdLst/>
            <a:ahLst/>
            <a:cxnLst/>
            <a:rect r="r" b="b" t="t" l="l"/>
            <a:pathLst>
              <a:path h="993457" w="993458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6970471" y="2776738"/>
            <a:ext cx="460820" cy="460820"/>
            <a:chOff x="0" y="0"/>
            <a:chExt cx="614426" cy="614426"/>
          </a:xfrm>
        </p:grpSpPr>
        <p:sp>
          <p:nvSpPr>
            <p:cNvPr name="Freeform 49" id="49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50" id="50"/>
          <p:cNvSpPr txBox="true"/>
          <p:nvPr/>
        </p:nvSpPr>
        <p:spPr>
          <a:xfrm rot="0">
            <a:off x="7955280" y="21270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Publicações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955280" y="26928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RF03 a RF05</a:t>
            </a:r>
          </a:p>
        </p:txBody>
      </p:sp>
      <p:sp>
        <p:nvSpPr>
          <p:cNvPr name="Freeform 52" id="52"/>
          <p:cNvSpPr/>
          <p:nvPr/>
        </p:nvSpPr>
        <p:spPr>
          <a:xfrm flipH="false" flipV="false" rot="0">
            <a:off x="12057574" y="22402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  <p:txBody>
          <a:bodyPr/>
          <a:p/>
        </p:txBody>
      </p:sp>
      <p:sp>
        <p:nvSpPr>
          <p:cNvPr name="Freeform 53" id="53"/>
          <p:cNvSpPr/>
          <p:nvPr/>
        </p:nvSpPr>
        <p:spPr>
          <a:xfrm flipH="false" flipV="false" rot="0">
            <a:off x="12327731" y="2510438"/>
            <a:ext cx="993457" cy="993457"/>
          </a:xfrm>
          <a:custGeom>
            <a:avLst/>
            <a:gdLst/>
            <a:ahLst/>
            <a:cxnLst/>
            <a:rect r="r" b="b" t="t" l="l"/>
            <a:pathLst>
              <a:path h="993457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54" id="54"/>
          <p:cNvGrpSpPr/>
          <p:nvPr/>
        </p:nvGrpSpPr>
        <p:grpSpPr>
          <a:xfrm rot="0">
            <a:off x="12594031" y="2776738"/>
            <a:ext cx="460820" cy="460820"/>
            <a:chOff x="0" y="0"/>
            <a:chExt cx="614426" cy="614426"/>
          </a:xfrm>
        </p:grpSpPr>
        <p:sp>
          <p:nvSpPr>
            <p:cNvPr name="Freeform 55" id="55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56" id="56"/>
          <p:cNvSpPr txBox="true"/>
          <p:nvPr/>
        </p:nvSpPr>
        <p:spPr>
          <a:xfrm rot="0">
            <a:off x="13578840" y="21270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Mapa e busca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3578840" y="26928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RF06 a RF08</a:t>
            </a:r>
          </a:p>
        </p:txBody>
      </p:sp>
      <p:sp>
        <p:nvSpPr>
          <p:cNvPr name="Freeform 58" id="58"/>
          <p:cNvSpPr/>
          <p:nvPr/>
        </p:nvSpPr>
        <p:spPr>
          <a:xfrm flipH="false" flipV="false" rot="0">
            <a:off x="810454" y="40690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  <p:txBody>
          <a:bodyPr/>
          <a:p/>
        </p:txBody>
      </p:sp>
      <p:sp>
        <p:nvSpPr>
          <p:cNvPr name="Freeform 59" id="59"/>
          <p:cNvSpPr/>
          <p:nvPr/>
        </p:nvSpPr>
        <p:spPr>
          <a:xfrm flipH="false" flipV="false" rot="0">
            <a:off x="1080611" y="4339238"/>
            <a:ext cx="993457" cy="993458"/>
          </a:xfrm>
          <a:custGeom>
            <a:avLst/>
            <a:gdLst/>
            <a:ahLst/>
            <a:cxnLst/>
            <a:rect r="r" b="b" t="t" l="l"/>
            <a:pathLst>
              <a:path h="993458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0" id="60"/>
          <p:cNvGrpSpPr/>
          <p:nvPr/>
        </p:nvGrpSpPr>
        <p:grpSpPr>
          <a:xfrm rot="0">
            <a:off x="1346911" y="4605538"/>
            <a:ext cx="460820" cy="460820"/>
            <a:chOff x="0" y="0"/>
            <a:chExt cx="614426" cy="614426"/>
          </a:xfrm>
        </p:grpSpPr>
        <p:sp>
          <p:nvSpPr>
            <p:cNvPr name="Freeform 61" id="61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62" id="62"/>
          <p:cNvSpPr txBox="true"/>
          <p:nvPr/>
        </p:nvSpPr>
        <p:spPr>
          <a:xfrm rot="0">
            <a:off x="2331720" y="39558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Avistamentos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2331720" y="45216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RF09 e RF10</a:t>
            </a:r>
          </a:p>
        </p:txBody>
      </p:sp>
      <p:sp>
        <p:nvSpPr>
          <p:cNvPr name="Freeform 64" id="64"/>
          <p:cNvSpPr/>
          <p:nvPr/>
        </p:nvSpPr>
        <p:spPr>
          <a:xfrm flipH="false" flipV="false" rot="0">
            <a:off x="6434014" y="40690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  <p:txBody>
          <a:bodyPr/>
          <a:p/>
        </p:txBody>
      </p:sp>
      <p:sp>
        <p:nvSpPr>
          <p:cNvPr name="Freeform 65" id="65"/>
          <p:cNvSpPr/>
          <p:nvPr/>
        </p:nvSpPr>
        <p:spPr>
          <a:xfrm flipH="false" flipV="false" rot="0">
            <a:off x="6704171" y="4339238"/>
            <a:ext cx="993458" cy="993458"/>
          </a:xfrm>
          <a:custGeom>
            <a:avLst/>
            <a:gdLst/>
            <a:ahLst/>
            <a:cxnLst/>
            <a:rect r="r" b="b" t="t" l="l"/>
            <a:pathLst>
              <a:path h="993458" w="993458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6" id="66"/>
          <p:cNvGrpSpPr/>
          <p:nvPr/>
        </p:nvGrpSpPr>
        <p:grpSpPr>
          <a:xfrm rot="0">
            <a:off x="6970471" y="4605538"/>
            <a:ext cx="460820" cy="460820"/>
            <a:chOff x="0" y="0"/>
            <a:chExt cx="614426" cy="614426"/>
          </a:xfrm>
        </p:grpSpPr>
        <p:sp>
          <p:nvSpPr>
            <p:cNvPr name="Freeform 67" id="67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68" id="68"/>
          <p:cNvSpPr txBox="true"/>
          <p:nvPr/>
        </p:nvSpPr>
        <p:spPr>
          <a:xfrm rot="0">
            <a:off x="7955280" y="39558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Comunicação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7955280" y="45216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RF11 e RF12</a:t>
            </a:r>
          </a:p>
        </p:txBody>
      </p:sp>
      <p:sp>
        <p:nvSpPr>
          <p:cNvPr name="Freeform 70" id="70"/>
          <p:cNvSpPr/>
          <p:nvPr/>
        </p:nvSpPr>
        <p:spPr>
          <a:xfrm flipH="false" flipV="false" rot="0">
            <a:off x="12057574" y="40690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9145" r="0" b="-19145"/>
            </a:stretch>
          </a:blipFill>
        </p:spPr>
        <p:txBody>
          <a:bodyPr/>
          <a:p/>
        </p:txBody>
      </p:sp>
      <p:sp>
        <p:nvSpPr>
          <p:cNvPr name="Freeform 71" id="71"/>
          <p:cNvSpPr/>
          <p:nvPr/>
        </p:nvSpPr>
        <p:spPr>
          <a:xfrm flipH="false" flipV="false" rot="0">
            <a:off x="12327731" y="4339238"/>
            <a:ext cx="993457" cy="993458"/>
          </a:xfrm>
          <a:custGeom>
            <a:avLst/>
            <a:gdLst/>
            <a:ahLst/>
            <a:cxnLst/>
            <a:rect r="r" b="b" t="t" l="l"/>
            <a:pathLst>
              <a:path h="993458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72" id="72"/>
          <p:cNvGrpSpPr/>
          <p:nvPr/>
        </p:nvGrpSpPr>
        <p:grpSpPr>
          <a:xfrm rot="0">
            <a:off x="12594031" y="4605538"/>
            <a:ext cx="460820" cy="460820"/>
            <a:chOff x="0" y="0"/>
            <a:chExt cx="614426" cy="614426"/>
          </a:xfrm>
        </p:grpSpPr>
        <p:sp>
          <p:nvSpPr>
            <p:cNvPr name="Freeform 73" id="73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4" id="74"/>
          <p:cNvSpPr txBox="true"/>
          <p:nvPr/>
        </p:nvSpPr>
        <p:spPr>
          <a:xfrm rot="0">
            <a:off x="13578840" y="3955856"/>
            <a:ext cx="3703320" cy="994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Moderação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3578840" y="4521641"/>
            <a:ext cx="3703320" cy="812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RF13 e RF14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2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MODELAGEM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6459200" y="93954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13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813816" y="5943600"/>
            <a:ext cx="5376672" cy="1143000"/>
            <a:chOff x="0" y="0"/>
            <a:chExt cx="7168896" cy="152400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  <p:txBody>
            <a:bodyPr/>
            <a:p/>
          </p:txBody>
        </p:sp>
      </p:grpSp>
      <p:sp>
        <p:nvSpPr>
          <p:cNvPr name="TextBox 80" id="80"/>
          <p:cNvSpPr txBox="true"/>
          <p:nvPr/>
        </p:nvSpPr>
        <p:spPr>
          <a:xfrm rot="0">
            <a:off x="1161288" y="58750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RF15  Cartaz com QR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6437376" y="5943600"/>
            <a:ext cx="5376672" cy="1143000"/>
            <a:chOff x="0" y="0"/>
            <a:chExt cx="7168896" cy="152400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  <p:txBody>
            <a:bodyPr/>
            <a:p/>
          </p:txBody>
        </p:sp>
      </p:grpSp>
      <p:sp>
        <p:nvSpPr>
          <p:cNvPr name="TextBox 83" id="83"/>
          <p:cNvSpPr txBox="true"/>
          <p:nvPr/>
        </p:nvSpPr>
        <p:spPr>
          <a:xfrm rot="0">
            <a:off x="6784848" y="5875020"/>
            <a:ext cx="4754880" cy="1082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RF16  Ciclo de vida da publicação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12060936" y="5943600"/>
            <a:ext cx="5376672" cy="1143000"/>
            <a:chOff x="0" y="0"/>
            <a:chExt cx="7168896" cy="152400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  <p:txBody>
            <a:bodyPr/>
            <a:p/>
          </p:txBody>
        </p:sp>
      </p:grpSp>
      <p:sp>
        <p:nvSpPr>
          <p:cNvPr name="TextBox 86" id="86"/>
          <p:cNvSpPr txBox="true"/>
          <p:nvPr/>
        </p:nvSpPr>
        <p:spPr>
          <a:xfrm rot="0">
            <a:off x="12408408" y="58750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RF17  Correspondências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813816" y="7315200"/>
            <a:ext cx="5376672" cy="1143000"/>
            <a:chOff x="0" y="0"/>
            <a:chExt cx="7168896" cy="152400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  <p:txBody>
            <a:bodyPr/>
            <a:p/>
          </p:txBody>
        </p:sp>
      </p:grpSp>
      <p:sp>
        <p:nvSpPr>
          <p:cNvPr name="TextBox 89" id="89"/>
          <p:cNvSpPr txBox="true"/>
          <p:nvPr/>
        </p:nvSpPr>
        <p:spPr>
          <a:xfrm rot="0">
            <a:off x="1161288" y="72466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RF18  Tutela e encontro</a:t>
            </a:r>
          </a:p>
        </p:txBody>
      </p:sp>
      <p:grpSp>
        <p:nvGrpSpPr>
          <p:cNvPr name="Group 90" id="90"/>
          <p:cNvGrpSpPr/>
          <p:nvPr/>
        </p:nvGrpSpPr>
        <p:grpSpPr>
          <a:xfrm rot="0">
            <a:off x="6437376" y="7315200"/>
            <a:ext cx="5376672" cy="1143000"/>
            <a:chOff x="0" y="0"/>
            <a:chExt cx="7168896" cy="152400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  <p:txBody>
            <a:bodyPr/>
            <a:p/>
          </p:txBody>
        </p:sp>
      </p:grpSp>
      <p:sp>
        <p:nvSpPr>
          <p:cNvPr name="TextBox 92" id="92"/>
          <p:cNvSpPr txBox="true"/>
          <p:nvPr/>
        </p:nvSpPr>
        <p:spPr>
          <a:xfrm rot="0">
            <a:off x="6784848" y="72466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RF19 e RF20  Meus pets e adoção</a:t>
            </a:r>
          </a:p>
        </p:txBody>
      </p:sp>
      <p:grpSp>
        <p:nvGrpSpPr>
          <p:cNvPr name="Group 93" id="93"/>
          <p:cNvGrpSpPr/>
          <p:nvPr/>
        </p:nvGrpSpPr>
        <p:grpSpPr>
          <a:xfrm rot="0">
            <a:off x="12060936" y="7315200"/>
            <a:ext cx="5376672" cy="1143000"/>
            <a:chOff x="0" y="0"/>
            <a:chExt cx="7168896" cy="152400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  <p:txBody>
            <a:bodyPr/>
            <a:p/>
          </p:txBody>
        </p:sp>
      </p:grpSp>
      <p:sp>
        <p:nvSpPr>
          <p:cNvPr name="TextBox 95" id="95"/>
          <p:cNvSpPr txBox="true"/>
          <p:nvPr/>
        </p:nvSpPr>
        <p:spPr>
          <a:xfrm rot="0">
            <a:off x="12408408" y="7246620"/>
            <a:ext cx="4754880" cy="946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RF21  Classificação de membros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MODELAGEM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-189757"/>
            <a:ext cx="16459200" cy="3814953"/>
            <a:chOff x="0" y="0"/>
            <a:chExt cx="21945600" cy="50866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5086604"/>
            </a:xfrm>
            <a:custGeom>
              <a:avLst/>
              <a:gdLst/>
              <a:ahLst/>
              <a:cxnLst/>
              <a:rect r="r" b="b" t="t" l="l"/>
              <a:pathLst>
                <a:path h="508660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86604"/>
                  </a:lnTo>
                  <a:lnTo>
                    <a:pt x="0" y="50866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007" r="0" b="-34007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822960" y="-196901"/>
            <a:ext cx="16459200" cy="3822097"/>
            <a:chOff x="0" y="0"/>
            <a:chExt cx="21945600" cy="509612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5096129"/>
            </a:xfrm>
            <a:custGeom>
              <a:avLst/>
              <a:gdLst/>
              <a:ahLst/>
              <a:cxnLst/>
              <a:rect r="r" b="b" t="t" l="l"/>
              <a:pathLst>
                <a:path h="509612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96129"/>
                  </a:lnTo>
                  <a:lnTo>
                    <a:pt x="0" y="509612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3850" r="0" b="-33850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822960" y="-204045"/>
            <a:ext cx="16459200" cy="3829240"/>
            <a:chOff x="0" y="0"/>
            <a:chExt cx="21945600" cy="510565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5105654"/>
            </a:xfrm>
            <a:custGeom>
              <a:avLst/>
              <a:gdLst/>
              <a:ahLst/>
              <a:cxnLst/>
              <a:rect r="r" b="b" t="t" l="l"/>
              <a:pathLst>
                <a:path h="510565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05654"/>
                  </a:lnTo>
                  <a:lnTo>
                    <a:pt x="0" y="510565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3694" r="0" b="-33694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822960" y="-211188"/>
            <a:ext cx="16459200" cy="3836384"/>
            <a:chOff x="0" y="0"/>
            <a:chExt cx="21945600" cy="511517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5115179"/>
            </a:xfrm>
            <a:custGeom>
              <a:avLst/>
              <a:gdLst/>
              <a:ahLst/>
              <a:cxnLst/>
              <a:rect r="r" b="b" t="t" l="l"/>
              <a:pathLst>
                <a:path h="511517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15179"/>
                  </a:lnTo>
                  <a:lnTo>
                    <a:pt x="0" y="511517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538" r="0" b="-33538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822960" y="-218332"/>
            <a:ext cx="16459200" cy="3843528"/>
            <a:chOff x="0" y="0"/>
            <a:chExt cx="21945600" cy="512470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5124704"/>
            </a:xfrm>
            <a:custGeom>
              <a:avLst/>
              <a:gdLst/>
              <a:ahLst/>
              <a:cxnLst/>
              <a:rect r="r" b="b" t="t" l="l"/>
              <a:pathLst>
                <a:path h="512470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24704"/>
                  </a:lnTo>
                  <a:lnTo>
                    <a:pt x="0" y="512470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382" r="0" b="-33383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822960" y="-225476"/>
            <a:ext cx="16459200" cy="3850672"/>
            <a:chOff x="0" y="0"/>
            <a:chExt cx="21945600" cy="513422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5134229"/>
            </a:xfrm>
            <a:custGeom>
              <a:avLst/>
              <a:gdLst/>
              <a:ahLst/>
              <a:cxnLst/>
              <a:rect r="r" b="b" t="t" l="l"/>
              <a:pathLst>
                <a:path h="513422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34229"/>
                  </a:lnTo>
                  <a:lnTo>
                    <a:pt x="0" y="513422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228" r="0" b="-33228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822960" y="-232620"/>
            <a:ext cx="16459200" cy="3857835"/>
            <a:chOff x="0" y="0"/>
            <a:chExt cx="21945600" cy="514377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5143754"/>
            </a:xfrm>
            <a:custGeom>
              <a:avLst/>
              <a:gdLst/>
              <a:ahLst/>
              <a:cxnLst/>
              <a:rect r="r" b="b" t="t" l="l"/>
              <a:pathLst>
                <a:path h="514375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43754"/>
                  </a:lnTo>
                  <a:lnTo>
                    <a:pt x="0" y="514375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3073" r="0" b="-33074"/>
              </a:stretch>
            </a:blip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-239763"/>
            <a:ext cx="16459200" cy="3864978"/>
            <a:chOff x="0" y="0"/>
            <a:chExt cx="21945600" cy="515330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945600" cy="5153305"/>
            </a:xfrm>
            <a:custGeom>
              <a:avLst/>
              <a:gdLst/>
              <a:ahLst/>
              <a:cxnLst/>
              <a:rect r="r" b="b" t="t" l="l"/>
              <a:pathLst>
                <a:path h="515330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53305"/>
                  </a:lnTo>
                  <a:lnTo>
                    <a:pt x="0" y="5153305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2977" r="0" b="-32977"/>
              </a:stretch>
            </a:blipFill>
          </p:spPr>
          <p:txBody>
            <a:bodyPr/>
            <a:p/>
          </p:txBody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21945600" cy="516282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RF16: ciclo de vida da publicação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 rot="1980">
            <a:off x="863594" y="2938081"/>
            <a:ext cx="16560822" cy="0"/>
          </a:xfrm>
          <a:prstGeom prst="line">
            <a:avLst/>
          </a:prstGeom>
          <a:ln cap="rnd" w="9525">
            <a:solidFill>
              <a:srgbClr val="D9DFD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89217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914400" y="3406140"/>
            <a:ext cx="384048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ATIVA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14400" y="4120515"/>
            <a:ext cx="384048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30 dias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14400" y="4783455"/>
            <a:ext cx="3749040" cy="189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Contados do cadastro ou da última renovação.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509841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5120640" y="3406140"/>
            <a:ext cx="384048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120640" y="4120515"/>
            <a:ext cx="384048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 dias antes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120640" y="4783455"/>
            <a:ext cx="3749040" cy="189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responsável é avisado para renovar o anúncio.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930465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2" id="32"/>
          <p:cNvSpPr txBox="true"/>
          <p:nvPr/>
        </p:nvSpPr>
        <p:spPr>
          <a:xfrm rot="0">
            <a:off x="9326880" y="3406140"/>
            <a:ext cx="384048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CARÊNCIA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326880" y="4120515"/>
            <a:ext cx="384048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30 dias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326880" y="4783455"/>
            <a:ext cx="3749040" cy="189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Oculta do mural e do mapa; ainda pode ser renovada.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1351089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6" id="36"/>
          <p:cNvSpPr txBox="true"/>
          <p:nvPr/>
        </p:nvSpPr>
        <p:spPr>
          <a:xfrm rot="0">
            <a:off x="13533120" y="3406140"/>
            <a:ext cx="384048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REMOÇÃO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533120" y="4120515"/>
            <a:ext cx="384048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depois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533120" y="4783455"/>
            <a:ext cx="3749040" cy="189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Rotina de limpeza exclui a publicação e as fotos.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896112" y="7164962"/>
            <a:ext cx="300514" cy="300514"/>
          </a:xfrm>
          <a:custGeom>
            <a:avLst/>
            <a:gdLst/>
            <a:ahLst/>
            <a:cxnLst/>
            <a:rect r="r" b="b" t="t" l="l"/>
            <a:pathLst>
              <a:path h="300514" w="300514">
                <a:moveTo>
                  <a:pt x="0" y="0"/>
                </a:moveTo>
                <a:lnTo>
                  <a:pt x="300514" y="0"/>
                </a:lnTo>
                <a:lnTo>
                  <a:pt x="300514" y="300514"/>
                </a:lnTo>
                <a:lnTo>
                  <a:pt x="0" y="300514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0" id="40"/>
          <p:cNvSpPr txBox="true"/>
          <p:nvPr/>
        </p:nvSpPr>
        <p:spPr>
          <a:xfrm rot="0">
            <a:off x="1499616" y="6900291"/>
            <a:ext cx="3383280" cy="63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E67E22"/>
                </a:solidFill>
                <a:latin typeface="Cambria Bold"/>
                <a:ea typeface="Cambria Bold"/>
                <a:cs typeface="Cambria Bold"/>
                <a:sym typeface="Cambria Bold"/>
              </a:rPr>
              <a:t>Perdido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99616" y="7160895"/>
            <a:ext cx="3383280" cy="152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tutor procura o animal.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5102352" y="7164962"/>
            <a:ext cx="300514" cy="300514"/>
          </a:xfrm>
          <a:custGeom>
            <a:avLst/>
            <a:gdLst/>
            <a:ahLst/>
            <a:cxnLst/>
            <a:rect r="r" b="b" t="t" l="l"/>
            <a:pathLst>
              <a:path h="300514" w="300514">
                <a:moveTo>
                  <a:pt x="0" y="0"/>
                </a:moveTo>
                <a:lnTo>
                  <a:pt x="300514" y="0"/>
                </a:lnTo>
                <a:lnTo>
                  <a:pt x="300514" y="300514"/>
                </a:lnTo>
                <a:lnTo>
                  <a:pt x="0" y="300514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3" id="43"/>
          <p:cNvSpPr txBox="true"/>
          <p:nvPr/>
        </p:nvSpPr>
        <p:spPr>
          <a:xfrm rot="0">
            <a:off x="5705856" y="6900291"/>
            <a:ext cx="3383280" cy="63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16A34A"/>
                </a:solidFill>
                <a:latin typeface="Cambria Bold"/>
                <a:ea typeface="Cambria Bold"/>
                <a:cs typeface="Cambria Bold"/>
                <a:sym typeface="Cambria Bold"/>
              </a:rPr>
              <a:t>Encontrado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705856" y="7160895"/>
            <a:ext cx="3383280" cy="152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Quem achou ou viu o animal.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3514832" y="7164962"/>
            <a:ext cx="300514" cy="300514"/>
          </a:xfrm>
          <a:custGeom>
            <a:avLst/>
            <a:gdLst/>
            <a:ahLst/>
            <a:cxnLst/>
            <a:rect r="r" b="b" t="t" l="l"/>
            <a:pathLst>
              <a:path h="300514" w="300514">
                <a:moveTo>
                  <a:pt x="0" y="0"/>
                </a:moveTo>
                <a:lnTo>
                  <a:pt x="300514" y="0"/>
                </a:lnTo>
                <a:lnTo>
                  <a:pt x="300514" y="300514"/>
                </a:lnTo>
                <a:lnTo>
                  <a:pt x="0" y="300514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6" id="46"/>
          <p:cNvSpPr txBox="true"/>
          <p:nvPr/>
        </p:nvSpPr>
        <p:spPr>
          <a:xfrm rot="0">
            <a:off x="14118336" y="6900291"/>
            <a:ext cx="3383280" cy="63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Reencontrado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4118336" y="7160895"/>
            <a:ext cx="3383280" cy="152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Encerra a busca.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914400" y="8532495"/>
            <a:ext cx="16459200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Limite: a limpeza roda ao abrir o mural e só alcança as publicações do próprio usuário.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6459200" y="93954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14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52" id="52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54" id="54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56" id="56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58" id="58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60" id="60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64" id="64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66" id="66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9308592" y="7164962"/>
            <a:ext cx="300514" cy="300514"/>
            <a:chOff x="0" y="0"/>
            <a:chExt cx="400685" cy="40068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00685" cy="400685"/>
            </a:xfrm>
            <a:custGeom>
              <a:avLst/>
              <a:gdLst/>
              <a:ahLst/>
              <a:cxnLst/>
              <a:rect r="r" b="b" t="t" l="l"/>
              <a:pathLst>
                <a:path h="400685" w="400685">
                  <a:moveTo>
                    <a:pt x="0" y="200279"/>
                  </a:moveTo>
                  <a:cubicBezTo>
                    <a:pt x="0" y="89662"/>
                    <a:pt x="89662" y="0"/>
                    <a:pt x="200279" y="0"/>
                  </a:cubicBezTo>
                  <a:cubicBezTo>
                    <a:pt x="310896" y="0"/>
                    <a:pt x="400685" y="89662"/>
                    <a:pt x="400685" y="200279"/>
                  </a:cubicBezTo>
                  <a:cubicBezTo>
                    <a:pt x="400685" y="310896"/>
                    <a:pt x="311023" y="400685"/>
                    <a:pt x="200406" y="400685"/>
                  </a:cubicBezTo>
                  <a:cubicBezTo>
                    <a:pt x="89789" y="400685"/>
                    <a:pt x="0" y="311023"/>
                    <a:pt x="0" y="200279"/>
                  </a:cubicBezTo>
                  <a:close/>
                </a:path>
              </a:pathLst>
            </a:custGeom>
            <a:solidFill>
              <a:srgbClr val="BE185D"/>
            </a:solidFill>
          </p:spPr>
          <p:txBody>
            <a:bodyPr/>
            <a:p/>
          </p:txBody>
        </p:sp>
      </p:grpSp>
      <p:sp>
        <p:nvSpPr>
          <p:cNvPr name="TextBox 71" id="71"/>
          <p:cNvSpPr txBox="true"/>
          <p:nvPr/>
        </p:nvSpPr>
        <p:spPr>
          <a:xfrm rot="0">
            <a:off x="9912096" y="6900291"/>
            <a:ext cx="3383280" cy="63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E185D"/>
                </a:solidFill>
                <a:latin typeface="Cambria Bold"/>
                <a:ea typeface="Cambria Bold"/>
                <a:cs typeface="Cambria Bold"/>
                <a:sym typeface="Cambria Bold"/>
              </a:rPr>
              <a:t>Para adoção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9912096" y="7160895"/>
            <a:ext cx="3383280" cy="152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Encontrado, após 7 dias de busca.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228" r="0" b="-212228"/>
              </a:stretch>
            </a:blip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  <p:txBody>
            <a:bodyPr/>
            <a:p/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  <p:txBody>
            <a:bodyPr/>
            <a:p/>
          </p:txBody>
        </p:sp>
      </p:grpSp>
      <p:sp>
        <p:nvSpPr>
          <p:cNvPr name="Freeform 33" id="33"/>
          <p:cNvSpPr/>
          <p:nvPr/>
        </p:nvSpPr>
        <p:spPr>
          <a:xfrm flipH="false" flipV="false" rot="0">
            <a:off x="81045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  <p:txBody>
          <a:bodyPr/>
          <a:p/>
        </p:txBody>
      </p:sp>
      <p:sp>
        <p:nvSpPr>
          <p:cNvPr name="Freeform 34" id="34"/>
          <p:cNvSpPr/>
          <p:nvPr/>
        </p:nvSpPr>
        <p:spPr>
          <a:xfrm flipH="false" flipV="false" rot="0">
            <a:off x="1217771" y="286369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5" id="35"/>
          <p:cNvGrpSpPr/>
          <p:nvPr/>
        </p:nvGrpSpPr>
        <p:grpSpPr>
          <a:xfrm rot="0">
            <a:off x="1555394" y="3201314"/>
            <a:ext cx="592550" cy="592550"/>
            <a:chOff x="0" y="0"/>
            <a:chExt cx="790067" cy="790067"/>
          </a:xfrm>
        </p:grpSpPr>
        <p:sp>
          <p:nvSpPr>
            <p:cNvPr name="Freeform 36" id="36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37" id="37"/>
          <p:cNvSpPr txBox="true"/>
          <p:nvPr/>
        </p:nvSpPr>
        <p:spPr>
          <a:xfrm rot="0">
            <a:off x="2880360" y="2475357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RNF01  Autenticação e acesso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288036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Auth e políticas RLS: ninguém altera ou exclui dados de outra conta.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924579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  <p:txBody>
          <a:bodyPr/>
          <a:p/>
        </p:txBody>
      </p:sp>
      <p:sp>
        <p:nvSpPr>
          <p:cNvPr name="Freeform 40" id="40"/>
          <p:cNvSpPr/>
          <p:nvPr/>
        </p:nvSpPr>
        <p:spPr>
          <a:xfrm flipH="false" flipV="false" rot="0">
            <a:off x="9653111" y="286369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1" id="41"/>
          <p:cNvGrpSpPr/>
          <p:nvPr/>
        </p:nvGrpSpPr>
        <p:grpSpPr>
          <a:xfrm rot="0">
            <a:off x="9990734" y="3201314"/>
            <a:ext cx="592550" cy="592550"/>
            <a:chOff x="0" y="0"/>
            <a:chExt cx="790067" cy="790067"/>
          </a:xfrm>
        </p:grpSpPr>
        <p:sp>
          <p:nvSpPr>
            <p:cNvPr name="Freeform 42" id="42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43" id="43"/>
          <p:cNvSpPr txBox="true"/>
          <p:nvPr/>
        </p:nvSpPr>
        <p:spPr>
          <a:xfrm rot="0">
            <a:off x="11315700" y="2475357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RNF02  Privacidade da localização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31570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Telas públicas mostram o endereço de forma aproximada (nenhum dos 48 participantes exibiria o endereço completo).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81045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-126" r="0" b="-126"/>
            </a:stretch>
          </a:blipFill>
        </p:spPr>
        <p:txBody>
          <a:bodyPr/>
          <a:p/>
        </p:txBody>
      </p:sp>
      <p:sp>
        <p:nvSpPr>
          <p:cNvPr name="Freeform 46" id="46"/>
          <p:cNvSpPr/>
          <p:nvPr/>
        </p:nvSpPr>
        <p:spPr>
          <a:xfrm flipH="false" flipV="false" rot="0">
            <a:off x="1217771" y="601837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7" id="47"/>
          <p:cNvGrpSpPr/>
          <p:nvPr/>
        </p:nvGrpSpPr>
        <p:grpSpPr>
          <a:xfrm rot="0">
            <a:off x="1555394" y="6355994"/>
            <a:ext cx="592550" cy="592550"/>
            <a:chOff x="0" y="0"/>
            <a:chExt cx="790067" cy="790067"/>
          </a:xfrm>
        </p:grpSpPr>
        <p:sp>
          <p:nvSpPr>
            <p:cNvPr name="Freeform 48" id="48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49" id="49"/>
          <p:cNvSpPr txBox="true"/>
          <p:nvPr/>
        </p:nvSpPr>
        <p:spPr>
          <a:xfrm rot="0">
            <a:off x="2880360" y="5630037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RNF03  Comunicação segura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288036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Todas as requisições entre o aplicativo e a nuvem usam HTTPS.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924579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  <p:txBody>
          <a:bodyPr/>
          <a:p/>
        </p:txBody>
      </p:sp>
      <p:sp>
        <p:nvSpPr>
          <p:cNvPr name="Freeform 52" id="52"/>
          <p:cNvSpPr/>
          <p:nvPr/>
        </p:nvSpPr>
        <p:spPr>
          <a:xfrm flipH="false" flipV="false" rot="0">
            <a:off x="9653111" y="601837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53" id="53"/>
          <p:cNvGrpSpPr/>
          <p:nvPr/>
        </p:nvGrpSpPr>
        <p:grpSpPr>
          <a:xfrm rot="0">
            <a:off x="9990734" y="6355994"/>
            <a:ext cx="592550" cy="592550"/>
            <a:chOff x="0" y="0"/>
            <a:chExt cx="790067" cy="790067"/>
          </a:xfrm>
        </p:grpSpPr>
        <p:sp>
          <p:nvSpPr>
            <p:cNvPr name="Freeform 54" id="54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55" id="55"/>
          <p:cNvSpPr txBox="true"/>
          <p:nvPr/>
        </p:nvSpPr>
        <p:spPr>
          <a:xfrm rot="0">
            <a:off x="11315700" y="5630037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RNF04  Compressão de imagens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131570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As fotos são comprimidas no aparelho antes do envio.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822960" y="8397240"/>
            <a:ext cx="1659636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true">
                <a:solidFill>
                  <a:srgbClr val="4B5563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Base: ISO/IEC 25010. Verificados por inspeção do código e da configuração, sem medições independentes.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MODELAGEM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15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22960" y="793242"/>
            <a:ext cx="16596360" cy="1291590"/>
            <a:chOff x="0" y="0"/>
            <a:chExt cx="22128480" cy="17221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128480" cy="1722120"/>
            </a:xfrm>
            <a:custGeom>
              <a:avLst/>
              <a:gdLst/>
              <a:ahLst/>
              <a:cxnLst/>
              <a:rect r="r" b="b" t="t" l="l"/>
              <a:pathLst>
                <a:path h="17221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22120"/>
                  </a:lnTo>
                  <a:lnTo>
                    <a:pt x="0" y="172212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74" r="0" b="-200374"/>
              </a:stretch>
            </a:blipFill>
          </p:spPr>
          <p:txBody>
            <a:bodyPr/>
            <a:p/>
          </p:txBody>
        </p:sp>
        <p:sp>
          <p:nvSpPr>
            <p:cNvPr name="TextBox 62" id="62"/>
            <p:cNvSpPr txBox="true"/>
            <p:nvPr/>
          </p:nvSpPr>
          <p:spPr>
            <a:xfrm>
              <a:off x="0" y="-9525"/>
              <a:ext cx="22128480" cy="1731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04</a:t>
              </a: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 requisitos não funcionais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800386"/>
            <a:ext cx="16596360" cy="1284446"/>
            <a:chOff x="0" y="0"/>
            <a:chExt cx="22128480" cy="171259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2128480" cy="1712595"/>
            </a:xfrm>
            <a:custGeom>
              <a:avLst/>
              <a:gdLst/>
              <a:ahLst/>
              <a:cxnLst/>
              <a:rect r="r" b="b" t="t" l="l"/>
              <a:pathLst>
                <a:path h="17125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12595"/>
                  </a:lnTo>
                  <a:lnTo>
                    <a:pt x="0" y="171259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1591" r="0" b="-201591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822960" y="793242"/>
            <a:ext cx="16596360" cy="1291590"/>
            <a:chOff x="0" y="0"/>
            <a:chExt cx="22128480" cy="1722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128480" cy="1722120"/>
            </a:xfrm>
            <a:custGeom>
              <a:avLst/>
              <a:gdLst/>
              <a:ahLst/>
              <a:cxnLst/>
              <a:rect r="r" b="b" t="t" l="l"/>
              <a:pathLst>
                <a:path h="17221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22120"/>
                  </a:lnTo>
                  <a:lnTo>
                    <a:pt x="0" y="17221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374" r="0" b="-200374"/>
              </a:stretch>
            </a:blipFill>
          </p:spPr>
          <p:txBody>
            <a:bodyPr/>
            <a:p/>
          </p:txBody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22128480" cy="1731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Privacidade e reencontro seguro</a:t>
              </a: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0">
            <a:off x="81045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26" r="0" b="-126"/>
            </a:stretch>
          </a:blipFill>
        </p:spPr>
        <p:txBody>
          <a:bodyPr/>
          <a:p/>
        </p:txBody>
      </p:sp>
      <p:sp>
        <p:nvSpPr>
          <p:cNvPr name="Freeform 41" id="41"/>
          <p:cNvSpPr/>
          <p:nvPr/>
        </p:nvSpPr>
        <p:spPr>
          <a:xfrm flipH="false" flipV="false" rot="0">
            <a:off x="1217771" y="286369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2" id="42"/>
          <p:cNvGrpSpPr/>
          <p:nvPr/>
        </p:nvGrpSpPr>
        <p:grpSpPr>
          <a:xfrm rot="0">
            <a:off x="1555394" y="3201314"/>
            <a:ext cx="592550" cy="592550"/>
            <a:chOff x="0" y="0"/>
            <a:chExt cx="790067" cy="790067"/>
          </a:xfrm>
        </p:grpSpPr>
        <p:sp>
          <p:nvSpPr>
            <p:cNvPr name="Freeform 43" id="43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44" id="44"/>
          <p:cNvSpPr txBox="true"/>
          <p:nvPr/>
        </p:nvSpPr>
        <p:spPr>
          <a:xfrm rot="0">
            <a:off x="2880360" y="2321119"/>
            <a:ext cx="576072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Comprovação de tutela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880360" y="3223260"/>
            <a:ext cx="5760720" cy="1920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Relato e fotos do tutor; a devolução é combinada em local público.</a:t>
            </a:r>
          </a:p>
        </p:txBody>
      </p:sp>
      <p:sp>
        <p:nvSpPr>
          <p:cNvPr name="Freeform 46" id="46"/>
          <p:cNvSpPr/>
          <p:nvPr/>
        </p:nvSpPr>
        <p:spPr>
          <a:xfrm flipH="false" flipV="false" rot="0">
            <a:off x="924579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26" r="0" b="-126"/>
            </a:stretch>
          </a:blipFill>
        </p:spPr>
        <p:txBody>
          <a:bodyPr/>
          <a:p/>
        </p:txBody>
      </p:sp>
      <p:sp>
        <p:nvSpPr>
          <p:cNvPr name="Freeform 47" id="47"/>
          <p:cNvSpPr/>
          <p:nvPr/>
        </p:nvSpPr>
        <p:spPr>
          <a:xfrm flipH="false" flipV="false" rot="0">
            <a:off x="9653111" y="286369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9990734" y="3201314"/>
            <a:ext cx="592550" cy="592550"/>
            <a:chOff x="0" y="0"/>
            <a:chExt cx="790067" cy="790067"/>
          </a:xfrm>
        </p:grpSpPr>
        <p:sp>
          <p:nvSpPr>
            <p:cNvPr name="Freeform 49" id="49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50" id="50"/>
          <p:cNvSpPr txBox="true"/>
          <p:nvPr/>
        </p:nvSpPr>
        <p:spPr>
          <a:xfrm rot="0">
            <a:off x="11315700" y="2321119"/>
            <a:ext cx="576072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Privacidade por padrão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1315700" y="3223260"/>
            <a:ext cx="5760720" cy="1920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Público vê bairro e rua, sem número; no mapa, grade de ~1 km.</a:t>
            </a:r>
          </a:p>
        </p:txBody>
      </p:sp>
      <p:sp>
        <p:nvSpPr>
          <p:cNvPr name="Freeform 52" id="52"/>
          <p:cNvSpPr/>
          <p:nvPr/>
        </p:nvSpPr>
        <p:spPr>
          <a:xfrm flipH="false" flipV="false" rot="0">
            <a:off x="81045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-126" r="0" b="-126"/>
            </a:stretch>
          </a:blipFill>
        </p:spPr>
        <p:txBody>
          <a:bodyPr/>
          <a:p/>
        </p:txBody>
      </p:sp>
      <p:sp>
        <p:nvSpPr>
          <p:cNvPr name="Freeform 53" id="53"/>
          <p:cNvSpPr/>
          <p:nvPr/>
        </p:nvSpPr>
        <p:spPr>
          <a:xfrm flipH="false" flipV="false" rot="0">
            <a:off x="1217771" y="601837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54" id="54"/>
          <p:cNvGrpSpPr/>
          <p:nvPr/>
        </p:nvGrpSpPr>
        <p:grpSpPr>
          <a:xfrm rot="0">
            <a:off x="1555394" y="6355994"/>
            <a:ext cx="592550" cy="592550"/>
            <a:chOff x="0" y="0"/>
            <a:chExt cx="790067" cy="790067"/>
          </a:xfrm>
        </p:grpSpPr>
        <p:sp>
          <p:nvSpPr>
            <p:cNvPr name="Freeform 55" id="55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56" id="56"/>
          <p:cNvSpPr txBox="true"/>
          <p:nvPr/>
        </p:nvSpPr>
        <p:spPr>
          <a:xfrm rot="0">
            <a:off x="2880360" y="5475799"/>
            <a:ext cx="576072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Meus pets e carteirinha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2880360" y="6377940"/>
            <a:ext cx="5760720" cy="1920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Cadastro preventivo com QR; “Meu pet fugiu” vira publicação.</a:t>
            </a:r>
          </a:p>
        </p:txBody>
      </p:sp>
      <p:sp>
        <p:nvSpPr>
          <p:cNvPr name="Freeform 58" id="58"/>
          <p:cNvSpPr/>
          <p:nvPr/>
        </p:nvSpPr>
        <p:spPr>
          <a:xfrm flipH="false" flipV="false" rot="0">
            <a:off x="924579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-126" r="0" b="-126"/>
            </a:stretch>
          </a:blipFill>
        </p:spPr>
        <p:txBody>
          <a:bodyPr/>
          <a:p/>
        </p:txBody>
      </p:sp>
      <p:sp>
        <p:nvSpPr>
          <p:cNvPr name="Freeform 59" id="59"/>
          <p:cNvSpPr/>
          <p:nvPr/>
        </p:nvSpPr>
        <p:spPr>
          <a:xfrm flipH="false" flipV="false" rot="0">
            <a:off x="9653111" y="601837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0" id="60"/>
          <p:cNvGrpSpPr/>
          <p:nvPr/>
        </p:nvGrpSpPr>
        <p:grpSpPr>
          <a:xfrm rot="0">
            <a:off x="9990734" y="6355994"/>
            <a:ext cx="592550" cy="592550"/>
            <a:chOff x="0" y="0"/>
            <a:chExt cx="790067" cy="790067"/>
          </a:xfrm>
        </p:grpSpPr>
        <p:sp>
          <p:nvSpPr>
            <p:cNvPr name="Freeform 61" id="61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62" id="62"/>
          <p:cNvSpPr txBox="true"/>
          <p:nvPr/>
        </p:nvSpPr>
        <p:spPr>
          <a:xfrm rot="0">
            <a:off x="11315700" y="5475799"/>
            <a:ext cx="576072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Adoção responsável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1315700" y="6377940"/>
            <a:ext cx="5760720" cy="1920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Animal encontrado só vai para adoção após 7 dias de busca.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822960" y="8349615"/>
            <a:ext cx="16596360" cy="977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true">
                <a:solidFill>
                  <a:srgbClr val="4B5563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Base: LGPD e Privacy by Design (Cavoukian, 2009). Nenhum dos 48 participantes exibiria o endereço completo de um animal acolhido.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MODELAGEM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6459200" y="93954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5200" r="0" b="-65201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65200" r="0" b="-65201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65200" r="0" b="-65201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5200" r="0" b="-65201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-144437"/>
            <a:ext cx="16459200" cy="2781948"/>
            <a:chOff x="0" y="0"/>
            <a:chExt cx="21945600" cy="370926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5201" r="0" b="-65200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914400" y="-144437"/>
            <a:ext cx="16459200" cy="2781948"/>
            <a:chOff x="0" y="0"/>
            <a:chExt cx="21945600" cy="370926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3709264"/>
            </a:xfrm>
            <a:custGeom>
              <a:avLst/>
              <a:gdLst/>
              <a:ahLst/>
              <a:cxnLst/>
              <a:rect r="r" b="b" t="t" l="l"/>
              <a:pathLst>
                <a:path h="370926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64"/>
                  </a:lnTo>
                  <a:lnTo>
                    <a:pt x="0" y="370926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65281" r="0" b="-65281"/>
              </a:stretch>
            </a:blip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21945600" cy="37092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Diagrama de casos de uso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MODELAGEM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822960" y="2499360"/>
            <a:ext cx="61722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Usuário visitante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22960" y="2884456"/>
            <a:ext cx="6172200" cy="2575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Consulta publicações, mapa e detalhes; cria conta e entra.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22960" y="4328160"/>
            <a:ext cx="61722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Usuário autenticado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22960" y="4705350"/>
            <a:ext cx="6172200" cy="1314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Herda do visitante. Publica (com recompensa ou de forma anônima), registra avistamentos, conversa, cadastra seus pets, pede ou analisa a tutela, combina o encontro e classifica membros.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22960" y="7071360"/>
            <a:ext cx="61722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Administrador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22960" y="7466647"/>
            <a:ext cx="6172200" cy="2575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Herda do usuário autenticado. Analisa denúncias e modera conteúdo.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459200" y="94335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17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7835875" y="32261"/>
            <a:ext cx="9147200" cy="10254739"/>
            <a:chOff x="0" y="0"/>
            <a:chExt cx="12196267" cy="1367298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2196318" cy="13672947"/>
            </a:xfrm>
            <a:custGeom>
              <a:avLst/>
              <a:gdLst/>
              <a:ahLst/>
              <a:cxnLst/>
              <a:rect r="r" b="b" t="t" l="l"/>
              <a:pathLst>
                <a:path h="13672947" w="12196318">
                  <a:moveTo>
                    <a:pt x="0" y="0"/>
                  </a:moveTo>
                  <a:lnTo>
                    <a:pt x="12196318" y="0"/>
                  </a:lnTo>
                  <a:lnTo>
                    <a:pt x="12196318" y="13672947"/>
                  </a:lnTo>
                  <a:lnTo>
                    <a:pt x="0" y="1367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8" t="0" r="-18" b="0"/>
              </a:stretch>
            </a:blipFill>
          </p:spPr>
          <p:txBody>
            <a:bodyPr/>
            <a:p/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125957" y="695192"/>
            <a:ext cx="10247671" cy="9591808"/>
            <a:chOff x="0" y="0"/>
            <a:chExt cx="13663562" cy="1278907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663549" cy="12789027"/>
            </a:xfrm>
            <a:custGeom>
              <a:avLst/>
              <a:gdLst/>
              <a:ahLst/>
              <a:cxnLst/>
              <a:rect r="r" b="b" t="t" l="l"/>
              <a:pathLst>
                <a:path h="12789027" w="13663549">
                  <a:moveTo>
                    <a:pt x="0" y="0"/>
                  </a:moveTo>
                  <a:lnTo>
                    <a:pt x="13663549" y="0"/>
                  </a:lnTo>
                  <a:lnTo>
                    <a:pt x="13663549" y="12789027"/>
                  </a:lnTo>
                  <a:lnTo>
                    <a:pt x="0" y="12789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80" r="0" b="-80"/>
              </a:stretch>
            </a:blip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MODELAGEM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14400" y="914400"/>
            <a:ext cx="603504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Diagrama de classes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14400" y="203454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Usuario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14400" y="243687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Conta, perfil e animais (AnimalEstimacao)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14400" y="322326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Publicacao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14400" y="362559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FotoPublicacao e Recompensa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14400" y="441198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Avistamento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14400" y="481431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Relato com local, hora e foto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14400" y="560070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Conversa e Mensagem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14400" y="600303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Chat privado e Notificacao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14400" y="678942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Reencontro e prevenção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14400" y="719175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SolicitacaoDevolucao e EncontroDevolucao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14400" y="7978140"/>
            <a:ext cx="6035040" cy="745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Denuncia e Classificacao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14400" y="8380476"/>
            <a:ext cx="6035040" cy="1074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Moderação e notas entre membros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6459200" y="93954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233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Desenvolvimento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486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Arquitetura, tecnologias, design e demonstração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  <p:txBody>
            <a:bodyPr/>
            <a:p/>
          </p:txBody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DESENVOLVIMENTO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  <p:txBody>
            <a:bodyPr/>
            <a:p/>
          </p:txBody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Arquitetura em três partes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6459200" y="9395460"/>
            <a:ext cx="9144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20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39" id="39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3108960" y="2148840"/>
            <a:ext cx="12070080" cy="1463040"/>
            <a:chOff x="0" y="0"/>
            <a:chExt cx="16093440" cy="19507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6093441" cy="1950720"/>
            </a:xfrm>
            <a:custGeom>
              <a:avLst/>
              <a:gdLst/>
              <a:ahLst/>
              <a:cxnLst/>
              <a:rect r="r" b="b" t="t" l="l"/>
              <a:pathLst>
                <a:path h="1950720" w="16093441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lnTo>
                    <a:pt x="15800832" y="0"/>
                  </a:lnTo>
                  <a:cubicBezTo>
                    <a:pt x="15962376" y="0"/>
                    <a:pt x="16093441" y="131064"/>
                    <a:pt x="16093441" y="292608"/>
                  </a:cubicBezTo>
                  <a:lnTo>
                    <a:pt x="16093441" y="1658112"/>
                  </a:lnTo>
                  <a:cubicBezTo>
                    <a:pt x="16093441" y="1819656"/>
                    <a:pt x="15962376" y="1950720"/>
                    <a:pt x="15800832" y="1950720"/>
                  </a:cubicBezTo>
                  <a:lnTo>
                    <a:pt x="292608" y="1950720"/>
                  </a:lnTo>
                  <a:cubicBezTo>
                    <a:pt x="131064" y="1950720"/>
                    <a:pt x="0" y="1819656"/>
                    <a:pt x="0" y="1658112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grpSp>
        <p:nvGrpSpPr>
          <p:cNvPr name="Group 44" id="44"/>
          <p:cNvGrpSpPr/>
          <p:nvPr/>
        </p:nvGrpSpPr>
        <p:grpSpPr>
          <a:xfrm rot="0">
            <a:off x="3429000" y="1829402"/>
            <a:ext cx="3108960" cy="1463040"/>
            <a:chOff x="0" y="0"/>
            <a:chExt cx="4145280" cy="19507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145280" cy="1950720"/>
            </a:xfrm>
            <a:custGeom>
              <a:avLst/>
              <a:gdLst/>
              <a:ahLst/>
              <a:cxnLst/>
              <a:rect r="r" b="b" t="t" l="l"/>
              <a:pathLst>
                <a:path h="1950720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0378" t="0" r="-10378" b="0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4145280" cy="1960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  Aplicativo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onde a pessoa usa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5923026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React Native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8279511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Expo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182231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JavaScript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295735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GPS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0488168" y="2979420"/>
            <a:ext cx="1335024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Câmera e galeria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1983212" y="2979420"/>
            <a:ext cx="109728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Notificações</a:t>
            </a:r>
          </a:p>
        </p:txBody>
      </p:sp>
      <p:sp>
        <p:nvSpPr>
          <p:cNvPr name="AutoShape 53" id="53"/>
          <p:cNvSpPr/>
          <p:nvPr/>
        </p:nvSpPr>
        <p:spPr>
          <a:xfrm flipH="true">
            <a:off x="9144000" y="3706114"/>
            <a:ext cx="14294" cy="545846"/>
          </a:xfrm>
          <a:prstGeom prst="line">
            <a:avLst/>
          </a:prstGeom>
          <a:ln cap="rnd" w="28575">
            <a:solidFill>
              <a:srgbClr val="B1734A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grpSp>
        <p:nvGrpSpPr>
          <p:cNvPr name="Group 54" id="54"/>
          <p:cNvGrpSpPr/>
          <p:nvPr/>
        </p:nvGrpSpPr>
        <p:grpSpPr>
          <a:xfrm rot="0">
            <a:off x="9372600" y="3657600"/>
            <a:ext cx="3657600" cy="457200"/>
            <a:chOff x="0" y="0"/>
            <a:chExt cx="4876800" cy="6096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4876800" cy="609600"/>
            </a:xfrm>
            <a:custGeom>
              <a:avLst/>
              <a:gdLst/>
              <a:ahLst/>
              <a:cxnLst/>
              <a:rect r="r" b="b" t="t" l="l"/>
              <a:pathLst>
                <a:path h="609600" w="4876800">
                  <a:moveTo>
                    <a:pt x="0" y="0"/>
                  </a:moveTo>
                  <a:lnTo>
                    <a:pt x="4876800" y="0"/>
                  </a:lnTo>
                  <a:lnTo>
                    <a:pt x="48768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5880" r="0" b="-105880"/>
              </a:stretch>
            </a:blipFill>
          </p:spPr>
          <p:txBody>
            <a:bodyPr/>
            <a:p/>
          </p:txBody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48768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HTTPS  ·  conexão segura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949440" y="4251960"/>
            <a:ext cx="4389120" cy="1508760"/>
            <a:chOff x="0" y="0"/>
            <a:chExt cx="5852160" cy="20116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5852160" cy="2011680"/>
            </a:xfrm>
            <a:custGeom>
              <a:avLst/>
              <a:gdLst/>
              <a:ahLst/>
              <a:cxnLst/>
              <a:rect r="r" b="b" t="t" l="l"/>
              <a:pathLst>
                <a:path h="2011680" w="5852160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lnTo>
                    <a:pt x="5449824" y="0"/>
                  </a:lnTo>
                  <a:cubicBezTo>
                    <a:pt x="5672074" y="0"/>
                    <a:pt x="5852160" y="180086"/>
                    <a:pt x="5852160" y="402336"/>
                  </a:cubicBezTo>
                  <a:lnTo>
                    <a:pt x="5852160" y="1609344"/>
                  </a:lnTo>
                  <a:cubicBezTo>
                    <a:pt x="5852160" y="1831594"/>
                    <a:pt x="5672074" y="2011680"/>
                    <a:pt x="5449824" y="2011680"/>
                  </a:cubicBezTo>
                  <a:lnTo>
                    <a:pt x="402336" y="2011680"/>
                  </a:lnTo>
                  <a:cubicBezTo>
                    <a:pt x="180086" y="2011680"/>
                    <a:pt x="0" y="1831594"/>
                    <a:pt x="0" y="1609344"/>
                  </a:cubicBezTo>
                  <a:close/>
                </a:path>
              </a:pathLst>
            </a:custGeom>
            <a:solidFill>
              <a:srgbClr val="2E5634"/>
            </a:solidFill>
          </p:spPr>
          <p:txBody>
            <a:bodyPr/>
            <a:p/>
          </p:txBody>
        </p:sp>
      </p:grpSp>
      <p:grpSp>
        <p:nvGrpSpPr>
          <p:cNvPr name="Group 59" id="59"/>
          <p:cNvGrpSpPr/>
          <p:nvPr/>
        </p:nvGrpSpPr>
        <p:grpSpPr>
          <a:xfrm rot="0">
            <a:off x="7223760" y="4544568"/>
            <a:ext cx="914400" cy="914400"/>
            <a:chOff x="0" y="0"/>
            <a:chExt cx="1219200" cy="12192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2192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</p:grpSp>
      <p:grpSp>
        <p:nvGrpSpPr>
          <p:cNvPr name="Group 61" id="61"/>
          <p:cNvGrpSpPr/>
          <p:nvPr/>
        </p:nvGrpSpPr>
        <p:grpSpPr>
          <a:xfrm rot="0">
            <a:off x="8366760" y="3903607"/>
            <a:ext cx="2880360" cy="1508760"/>
            <a:chOff x="0" y="0"/>
            <a:chExt cx="3840480" cy="201168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840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7206" t="0" r="-17206" b="0"/>
              </a:stretch>
            </a:blipFill>
          </p:spPr>
          <p:txBody>
            <a:bodyPr/>
            <a:p/>
          </p:txBody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3840480" cy="2030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  Backend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Supabase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D6E4D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onde tudo fica guardado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2003746" y="4244021"/>
            <a:ext cx="3947798" cy="884558"/>
            <a:chOff x="0" y="0"/>
            <a:chExt cx="5263731" cy="1179411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66" id="66"/>
          <p:cNvGrpSpPr/>
          <p:nvPr/>
        </p:nvGrpSpPr>
        <p:grpSpPr>
          <a:xfrm rot="0">
            <a:off x="2212848" y="4434835"/>
            <a:ext cx="502920" cy="502920"/>
            <a:chOff x="0" y="0"/>
            <a:chExt cx="670560" cy="670560"/>
          </a:xfrm>
        </p:grpSpPr>
        <p:sp>
          <p:nvSpPr>
            <p:cNvPr name="Freeform 67" id="67" descr="lock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68" id="68"/>
          <p:cNvGrpSpPr/>
          <p:nvPr/>
        </p:nvGrpSpPr>
        <p:grpSpPr>
          <a:xfrm rot="0">
            <a:off x="2880360" y="4251955"/>
            <a:ext cx="2971800" cy="868680"/>
            <a:chOff x="0" y="0"/>
            <a:chExt cx="3962400" cy="11582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  <p:txBody>
            <a:bodyPr/>
            <a:p/>
          </p:txBody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Supabase Auth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login, inclusive com Google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2003746" y="5158421"/>
            <a:ext cx="3947798" cy="884558"/>
            <a:chOff x="0" y="0"/>
            <a:chExt cx="5263731" cy="1179411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73" id="73"/>
          <p:cNvGrpSpPr/>
          <p:nvPr/>
        </p:nvGrpSpPr>
        <p:grpSpPr>
          <a:xfrm rot="0">
            <a:off x="2880360" y="5166355"/>
            <a:ext cx="2971800" cy="868680"/>
            <a:chOff x="0" y="0"/>
            <a:chExt cx="3962400" cy="11582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  <p:txBody>
            <a:bodyPr/>
            <a:p/>
          </p:txBody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PostgreSQL + RLS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banco e regras de acesso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2336466" y="4229100"/>
            <a:ext cx="3947798" cy="884558"/>
            <a:chOff x="0" y="0"/>
            <a:chExt cx="5263731" cy="1179411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78" id="78"/>
          <p:cNvGrpSpPr/>
          <p:nvPr/>
        </p:nvGrpSpPr>
        <p:grpSpPr>
          <a:xfrm rot="0">
            <a:off x="13213080" y="4237034"/>
            <a:ext cx="2971800" cy="868680"/>
            <a:chOff x="0" y="0"/>
            <a:chExt cx="3962400" cy="11582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  <p:txBody>
            <a:bodyPr/>
            <a:p/>
          </p:txBody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Storage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guarda as fotos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36466" y="5143500"/>
            <a:ext cx="3947798" cy="884558"/>
            <a:chOff x="0" y="0"/>
            <a:chExt cx="5263731" cy="1179411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83" id="83"/>
          <p:cNvGrpSpPr/>
          <p:nvPr/>
        </p:nvGrpSpPr>
        <p:grpSpPr>
          <a:xfrm rot="0">
            <a:off x="13213080" y="5151434"/>
            <a:ext cx="2971800" cy="868680"/>
            <a:chOff x="0" y="0"/>
            <a:chExt cx="3962400" cy="115824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  <p:txBody>
            <a:bodyPr/>
            <a:p/>
          </p:txBody>
        </p:sp>
        <p:sp>
          <p:nvSpPr>
            <p:cNvPr name="TextBox 85" id="85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Realtime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chat e avisos na hora</a:t>
              </a:r>
            </a:p>
          </p:txBody>
        </p:sp>
      </p:grpSp>
      <p:sp>
        <p:nvSpPr>
          <p:cNvPr name="AutoShape 86" id="86"/>
          <p:cNvSpPr/>
          <p:nvPr/>
        </p:nvSpPr>
        <p:spPr>
          <a:xfrm>
            <a:off x="5951544" y="4686300"/>
            <a:ext cx="1059462" cy="0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87" id="87"/>
          <p:cNvSpPr/>
          <p:nvPr/>
        </p:nvSpPr>
        <p:spPr>
          <a:xfrm>
            <a:off x="11371457" y="4671379"/>
            <a:ext cx="965009" cy="0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88" id="88"/>
          <p:cNvSpPr/>
          <p:nvPr/>
        </p:nvSpPr>
        <p:spPr>
          <a:xfrm>
            <a:off x="5929310" y="5586411"/>
            <a:ext cx="955764" cy="44298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89" id="89"/>
          <p:cNvSpPr/>
          <p:nvPr/>
        </p:nvSpPr>
        <p:spPr>
          <a:xfrm flipV="true">
            <a:off x="11418647" y="5585779"/>
            <a:ext cx="917819" cy="29200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90" id="90"/>
          <p:cNvGrpSpPr/>
          <p:nvPr/>
        </p:nvGrpSpPr>
        <p:grpSpPr>
          <a:xfrm rot="0">
            <a:off x="7170106" y="6118546"/>
            <a:ext cx="3947798" cy="884558"/>
            <a:chOff x="0" y="0"/>
            <a:chExt cx="5263731" cy="1179411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5263769" cy="1179449"/>
            </a:xfrm>
            <a:custGeom>
              <a:avLst/>
              <a:gdLst/>
              <a:ahLst/>
              <a:cxnLst/>
              <a:rect r="r" b="b" t="t" l="l"/>
              <a:pathLst>
                <a:path h="1179449" w="5263769">
                  <a:moveTo>
                    <a:pt x="0" y="176911"/>
                  </a:moveTo>
                  <a:cubicBezTo>
                    <a:pt x="0" y="79248"/>
                    <a:pt x="79248" y="0"/>
                    <a:pt x="176911" y="0"/>
                  </a:cubicBezTo>
                  <a:lnTo>
                    <a:pt x="5086858" y="0"/>
                  </a:lnTo>
                  <a:cubicBezTo>
                    <a:pt x="5184521" y="0"/>
                    <a:pt x="5263769" y="79248"/>
                    <a:pt x="5263769" y="176911"/>
                  </a:cubicBezTo>
                  <a:lnTo>
                    <a:pt x="5263769" y="1002538"/>
                  </a:lnTo>
                  <a:cubicBezTo>
                    <a:pt x="5263769" y="1100201"/>
                    <a:pt x="5184521" y="1179449"/>
                    <a:pt x="5086858" y="1179449"/>
                  </a:cubicBezTo>
                  <a:lnTo>
                    <a:pt x="176911" y="1179449"/>
                  </a:lnTo>
                  <a:cubicBezTo>
                    <a:pt x="79248" y="1179449"/>
                    <a:pt x="0" y="1100201"/>
                    <a:pt x="0" y="1002538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92" id="92"/>
          <p:cNvGrpSpPr/>
          <p:nvPr/>
        </p:nvGrpSpPr>
        <p:grpSpPr>
          <a:xfrm rot="0">
            <a:off x="8046720" y="6126480"/>
            <a:ext cx="2971800" cy="868680"/>
            <a:chOff x="0" y="0"/>
            <a:chExt cx="3962400" cy="11582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3962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3962400">
                  <a:moveTo>
                    <a:pt x="0" y="0"/>
                  </a:moveTo>
                  <a:lnTo>
                    <a:pt x="3962400" y="0"/>
                  </a:lnTo>
                  <a:lnTo>
                    <a:pt x="3962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6659" r="0" b="-16659"/>
              </a:stretch>
            </a:blipFill>
          </p:spPr>
          <p:txBody>
            <a:bodyPr/>
            <a:p/>
          </p:txBody>
        </p:sp>
        <p:sp>
          <p:nvSpPr>
            <p:cNvPr name="TextBox 94" id="94"/>
            <p:cNvSpPr txBox="true"/>
            <p:nvPr/>
          </p:nvSpPr>
          <p:spPr>
            <a:xfrm>
              <a:off x="0" y="-38100"/>
              <a:ext cx="396240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Functions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tarefas no servidor</a:t>
              </a:r>
            </a:p>
          </p:txBody>
        </p:sp>
      </p:grpSp>
      <p:sp>
        <p:nvSpPr>
          <p:cNvPr name="AutoShape 95" id="95"/>
          <p:cNvSpPr/>
          <p:nvPr/>
        </p:nvSpPr>
        <p:spPr>
          <a:xfrm>
            <a:off x="9144000" y="5760720"/>
            <a:ext cx="5" cy="357826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96" id="96"/>
          <p:cNvSpPr/>
          <p:nvPr/>
        </p:nvSpPr>
        <p:spPr>
          <a:xfrm flipH="true">
            <a:off x="9128126" y="6979287"/>
            <a:ext cx="0" cy="721951"/>
          </a:xfrm>
          <a:prstGeom prst="line">
            <a:avLst/>
          </a:prstGeom>
          <a:ln cap="rnd" w="28575">
            <a:solidFill>
              <a:srgbClr val="B1734A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grpSp>
        <p:nvGrpSpPr>
          <p:cNvPr name="Group 97" id="97"/>
          <p:cNvGrpSpPr/>
          <p:nvPr/>
        </p:nvGrpSpPr>
        <p:grpSpPr>
          <a:xfrm rot="0">
            <a:off x="9372600" y="7040880"/>
            <a:ext cx="3657600" cy="457200"/>
            <a:chOff x="0" y="0"/>
            <a:chExt cx="4876800" cy="60960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4876800" cy="609600"/>
            </a:xfrm>
            <a:custGeom>
              <a:avLst/>
              <a:gdLst/>
              <a:ahLst/>
              <a:cxnLst/>
              <a:rect r="r" b="b" t="t" l="l"/>
              <a:pathLst>
                <a:path h="609600" w="4876800">
                  <a:moveTo>
                    <a:pt x="0" y="0"/>
                  </a:moveTo>
                  <a:lnTo>
                    <a:pt x="4876800" y="0"/>
                  </a:lnTo>
                  <a:lnTo>
                    <a:pt x="48768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5880" r="0" b="-105880"/>
              </a:stretch>
            </a:blipFill>
          </p:spPr>
          <p:txBody>
            <a:bodyPr/>
            <a:p/>
          </p:txBody>
        </p:sp>
        <p:sp>
          <p:nvSpPr>
            <p:cNvPr name="TextBox 99" id="99"/>
            <p:cNvSpPr txBox="true"/>
            <p:nvPr/>
          </p:nvSpPr>
          <p:spPr>
            <a:xfrm>
              <a:off x="0" y="-38100"/>
              <a:ext cx="48768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HTTPS  ·  pede o envio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3108960" y="7589520"/>
            <a:ext cx="12070080" cy="1417320"/>
            <a:chOff x="0" y="0"/>
            <a:chExt cx="16093440" cy="188976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16093439" cy="1889760"/>
            </a:xfrm>
            <a:custGeom>
              <a:avLst/>
              <a:gdLst/>
              <a:ahLst/>
              <a:cxnLst/>
              <a:rect r="r" b="b" t="t" l="l"/>
              <a:pathLst>
                <a:path h="1889760" w="16093439">
                  <a:moveTo>
                    <a:pt x="0" y="283464"/>
                  </a:moveTo>
                  <a:cubicBezTo>
                    <a:pt x="0" y="126873"/>
                    <a:pt x="126873" y="0"/>
                    <a:pt x="283464" y="0"/>
                  </a:cubicBezTo>
                  <a:lnTo>
                    <a:pt x="15809976" y="0"/>
                  </a:lnTo>
                  <a:cubicBezTo>
                    <a:pt x="15966567" y="0"/>
                    <a:pt x="16093439" y="126873"/>
                    <a:pt x="16093439" y="283464"/>
                  </a:cubicBezTo>
                  <a:lnTo>
                    <a:pt x="16093439" y="1606296"/>
                  </a:lnTo>
                  <a:cubicBezTo>
                    <a:pt x="16093439" y="1762887"/>
                    <a:pt x="15966567" y="1889760"/>
                    <a:pt x="15809976" y="1889760"/>
                  </a:cubicBezTo>
                  <a:lnTo>
                    <a:pt x="283464" y="1889760"/>
                  </a:lnTo>
                  <a:cubicBezTo>
                    <a:pt x="126873" y="1889760"/>
                    <a:pt x="0" y="1762887"/>
                    <a:pt x="0" y="1606296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3429000" y="7301489"/>
            <a:ext cx="3108960" cy="1417320"/>
            <a:chOff x="0" y="0"/>
            <a:chExt cx="4145280" cy="1889760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4145280" cy="1889760"/>
            </a:xfrm>
            <a:custGeom>
              <a:avLst/>
              <a:gdLst/>
              <a:ahLst/>
              <a:cxnLst/>
              <a:rect r="r" b="b" t="t" l="l"/>
              <a:pathLst>
                <a:path h="1889760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1889760"/>
                  </a:lnTo>
                  <a:lnTo>
                    <a:pt x="0" y="18897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8491" t="0" r="-8491" b="0"/>
              </a:stretch>
            </a:blipFill>
          </p:spPr>
          <p:txBody>
            <a:bodyPr/>
            <a:p/>
          </p:txBody>
        </p:sp>
        <p:sp>
          <p:nvSpPr>
            <p:cNvPr name="TextBox 104" id="104"/>
            <p:cNvSpPr txBox="true"/>
            <p:nvPr/>
          </p:nvSpPr>
          <p:spPr>
            <a:xfrm>
              <a:off x="0" y="-9525"/>
              <a:ext cx="4145280" cy="1899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  Mensageria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quem avisa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8138160" y="7589520"/>
            <a:ext cx="3017520" cy="1417320"/>
            <a:chOff x="0" y="0"/>
            <a:chExt cx="4023360" cy="188976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4023360" cy="1889760"/>
            </a:xfrm>
            <a:custGeom>
              <a:avLst/>
              <a:gdLst/>
              <a:ahLst/>
              <a:cxnLst/>
              <a:rect r="r" b="b" t="t" l="l"/>
              <a:pathLst>
                <a:path h="188976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889760"/>
                  </a:lnTo>
                  <a:lnTo>
                    <a:pt x="0" y="18897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0263" t="0" r="-10263" b="0"/>
              </a:stretch>
            </a:blipFill>
          </p:spPr>
          <p:txBody>
            <a:bodyPr/>
            <a:p/>
          </p:txBody>
        </p:sp>
        <p:sp>
          <p:nvSpPr>
            <p:cNvPr name="TextBox 107" id="107"/>
            <p:cNvSpPr txBox="true"/>
            <p:nvPr/>
          </p:nvSpPr>
          <p:spPr>
            <a:xfrm>
              <a:off x="0" y="-38100"/>
              <a:ext cx="4023360" cy="19278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Evolution API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robô que envia, no Render</a:t>
              </a:r>
            </a:p>
          </p:txBody>
        </p:sp>
      </p:grpSp>
      <p:sp>
        <p:nvSpPr>
          <p:cNvPr name="AutoShape 108" id="108"/>
          <p:cNvSpPr/>
          <p:nvPr/>
        </p:nvSpPr>
        <p:spPr>
          <a:xfrm flipV="true">
            <a:off x="11155680" y="8293608"/>
            <a:ext cx="706943" cy="4572"/>
          </a:xfrm>
          <a:prstGeom prst="line">
            <a:avLst/>
          </a:prstGeom>
          <a:ln cap="rnd" w="28575">
            <a:solidFill>
              <a:srgbClr val="B1734A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grpSp>
        <p:nvGrpSpPr>
          <p:cNvPr name="Group 109" id="109"/>
          <p:cNvGrpSpPr/>
          <p:nvPr/>
        </p:nvGrpSpPr>
        <p:grpSpPr>
          <a:xfrm rot="0">
            <a:off x="12893040" y="7589520"/>
            <a:ext cx="2194560" cy="1417320"/>
            <a:chOff x="0" y="0"/>
            <a:chExt cx="2926080" cy="188976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926080" cy="1889760"/>
            </a:xfrm>
            <a:custGeom>
              <a:avLst/>
              <a:gdLst/>
              <a:ahLst/>
              <a:cxnLst/>
              <a:rect r="r" b="b" t="t" l="l"/>
              <a:pathLst>
                <a:path h="188976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1889760"/>
                  </a:lnTo>
                  <a:lnTo>
                    <a:pt x="0" y="18897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32862" t="0" r="-32862" b="0"/>
              </a:stretch>
            </a:blipFill>
          </p:spPr>
          <p:txBody>
            <a:bodyPr/>
            <a:p/>
          </p:txBody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2926080" cy="19278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WhatsApp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código e avisos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6224778" y="2423160"/>
            <a:ext cx="493776" cy="493776"/>
            <a:chOff x="0" y="0"/>
            <a:chExt cx="658368" cy="658368"/>
          </a:xfrm>
        </p:grpSpPr>
        <p:sp>
          <p:nvSpPr>
            <p:cNvPr name="Freeform 113" id="113" descr="/tmp/un/ppt/media/image53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8581263" y="2423160"/>
            <a:ext cx="493776" cy="493776"/>
            <a:chOff x="0" y="0"/>
            <a:chExt cx="658368" cy="658368"/>
          </a:xfrm>
        </p:grpSpPr>
        <p:sp>
          <p:nvSpPr>
            <p:cNvPr name="Freeform 115" id="115" descr="/tmp/un/ppt/media/image54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7483983" y="2423160"/>
            <a:ext cx="493776" cy="493776"/>
            <a:chOff x="0" y="0"/>
            <a:chExt cx="658368" cy="658368"/>
          </a:xfrm>
        </p:grpSpPr>
        <p:sp>
          <p:nvSpPr>
            <p:cNvPr name="Freeform 117" id="117" descr="/tmp/un/ppt/media/image55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9614916" y="2423160"/>
            <a:ext cx="493776" cy="493776"/>
            <a:chOff x="0" y="0"/>
            <a:chExt cx="658368" cy="658368"/>
          </a:xfrm>
        </p:grpSpPr>
        <p:sp>
          <p:nvSpPr>
            <p:cNvPr name="Freeform 119" id="119" descr="/tmp/un/ppt/media/image70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0789920" y="2423160"/>
            <a:ext cx="493776" cy="493776"/>
            <a:chOff x="0" y="0"/>
            <a:chExt cx="658368" cy="658368"/>
          </a:xfrm>
        </p:grpSpPr>
        <p:sp>
          <p:nvSpPr>
            <p:cNvPr name="Freeform 121" id="121" descr="/tmp/un/ppt/media/image71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2284964" y="2423160"/>
            <a:ext cx="493776" cy="493776"/>
            <a:chOff x="0" y="0"/>
            <a:chExt cx="658368" cy="658368"/>
          </a:xfrm>
        </p:grpSpPr>
        <p:sp>
          <p:nvSpPr>
            <p:cNvPr name="Freeform 123" id="123" descr="/tmp/un/ppt/media/image72.png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7424928" y="4745736"/>
            <a:ext cx="512064" cy="512064"/>
            <a:chOff x="0" y="0"/>
            <a:chExt cx="682752" cy="682752"/>
          </a:xfrm>
        </p:grpSpPr>
        <p:sp>
          <p:nvSpPr>
            <p:cNvPr name="Freeform 125" id="125" descr="/tmp/un/ppt/media/image75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2212848" y="5349235"/>
            <a:ext cx="502920" cy="502920"/>
            <a:chOff x="0" y="0"/>
            <a:chExt cx="670560" cy="67056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-2126" r="0" b="-2128"/>
              </a:stretch>
            </a:blipFill>
          </p:spPr>
          <p:txBody>
            <a:bodyPr/>
            <a:p/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12545568" y="4419914"/>
            <a:ext cx="502920" cy="502920"/>
            <a:chOff x="0" y="0"/>
            <a:chExt cx="670560" cy="670560"/>
          </a:xfrm>
        </p:grpSpPr>
        <p:sp>
          <p:nvSpPr>
            <p:cNvPr name="Freeform 129" id="129" descr="/tmp/un/ppt/media/image60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2545568" y="5334314"/>
            <a:ext cx="502920" cy="502920"/>
            <a:chOff x="0" y="0"/>
            <a:chExt cx="670560" cy="670560"/>
          </a:xfrm>
        </p:grpSpPr>
        <p:sp>
          <p:nvSpPr>
            <p:cNvPr name="Freeform 131" id="131" descr="/tmp/un/ppt/media/image61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7379208" y="6309360"/>
            <a:ext cx="502920" cy="502920"/>
            <a:chOff x="0" y="0"/>
            <a:chExt cx="670560" cy="670560"/>
          </a:xfrm>
        </p:grpSpPr>
        <p:sp>
          <p:nvSpPr>
            <p:cNvPr name="Freeform 133" id="133" descr="/tmp/un/ppt/media/image62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12070080" y="7973568"/>
            <a:ext cx="640080" cy="640080"/>
            <a:chOff x="0" y="0"/>
            <a:chExt cx="853440" cy="853440"/>
          </a:xfrm>
        </p:grpSpPr>
        <p:sp>
          <p:nvSpPr>
            <p:cNvPr name="Freeform 135" id="135" descr="/tmp/un/ppt/media/image64.png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0"/>
                  </a:moveTo>
                  <a:lnTo>
                    <a:pt x="853440" y="0"/>
                  </a:lnTo>
                  <a:lnTo>
                    <a:pt x="853440" y="853440"/>
                  </a:lnTo>
                  <a:lnTo>
                    <a:pt x="0" y="853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7315200" y="7973568"/>
            <a:ext cx="640080" cy="640080"/>
            <a:chOff x="0" y="0"/>
            <a:chExt cx="853440" cy="853440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0"/>
                  </a:moveTo>
                  <a:lnTo>
                    <a:pt x="853440" y="0"/>
                  </a:lnTo>
                  <a:lnTo>
                    <a:pt x="853440" y="853440"/>
                  </a:lnTo>
                  <a:lnTo>
                    <a:pt x="0" y="853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-4444" r="0" b="-4443"/>
              </a:stretch>
            </a:blipFill>
          </p:spPr>
          <p:txBody>
            <a:bodyPr/>
            <a:p/>
          </p:txBody>
        </p:sp>
      </p:grpSp>
      <p:grpSp>
        <p:nvGrpSpPr>
          <p:cNvPr name="Group 138" id="138"/>
          <p:cNvGrpSpPr/>
          <p:nvPr/>
        </p:nvGrpSpPr>
        <p:grpSpPr>
          <a:xfrm rot="0">
            <a:off x="12496295" y="7851143"/>
            <a:ext cx="318011" cy="318011"/>
            <a:chOff x="0" y="0"/>
            <a:chExt cx="424015" cy="424015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424053" cy="424053"/>
            </a:xfrm>
            <a:custGeom>
              <a:avLst/>
              <a:gdLst/>
              <a:ahLst/>
              <a:cxnLst/>
              <a:rect r="r" b="b" t="t" l="l"/>
              <a:pathLst>
                <a:path h="424053" w="424053">
                  <a:moveTo>
                    <a:pt x="0" y="211963"/>
                  </a:moveTo>
                  <a:cubicBezTo>
                    <a:pt x="0" y="94869"/>
                    <a:pt x="94869" y="0"/>
                    <a:pt x="211963" y="0"/>
                  </a:cubicBezTo>
                  <a:cubicBezTo>
                    <a:pt x="329057" y="0"/>
                    <a:pt x="424053" y="94869"/>
                    <a:pt x="424053" y="211963"/>
                  </a:cubicBezTo>
                  <a:cubicBezTo>
                    <a:pt x="424053" y="329057"/>
                    <a:pt x="329057" y="424053"/>
                    <a:pt x="211963" y="424053"/>
                  </a:cubicBezTo>
                  <a:cubicBezTo>
                    <a:pt x="94869" y="424053"/>
                    <a:pt x="0" y="329057"/>
                    <a:pt x="0" y="211963"/>
                  </a:cubicBezTo>
                  <a:close/>
                </a:path>
              </a:pathLst>
            </a:custGeom>
            <a:solidFill>
              <a:srgbClr val="E53E3E"/>
            </a:solidFill>
            <a:ln w="25400" cap="sq">
              <a:solidFill>
                <a:srgbClr val="FFFFFF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140" id="140"/>
            <p:cNvSpPr txBox="true"/>
            <p:nvPr/>
          </p:nvSpPr>
          <p:spPr>
            <a:xfrm>
              <a:off x="0" y="-28575"/>
              <a:ext cx="424015" cy="452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Tecnologias: por que cada escolha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DESENVOLVIMENTO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6459200" y="939546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21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914400" y="2103120"/>
            <a:ext cx="16459200" cy="1828800"/>
            <a:chOff x="0" y="0"/>
            <a:chExt cx="21945600" cy="24384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19456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1945600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lnTo>
                    <a:pt x="21652992" y="0"/>
                  </a:lnTo>
                  <a:cubicBezTo>
                    <a:pt x="21814537" y="0"/>
                    <a:pt x="21945600" y="131064"/>
                    <a:pt x="21945600" y="292608"/>
                  </a:cubicBezTo>
                  <a:lnTo>
                    <a:pt x="21945600" y="2145792"/>
                  </a:lnTo>
                  <a:cubicBezTo>
                    <a:pt x="21945600" y="2307336"/>
                    <a:pt x="21814537" y="2438400"/>
                    <a:pt x="21652992" y="2438400"/>
                  </a:cubicBezTo>
                  <a:lnTo>
                    <a:pt x="292608" y="2438400"/>
                  </a:lnTo>
                  <a:cubicBezTo>
                    <a:pt x="131064" y="2438400"/>
                    <a:pt x="0" y="2307336"/>
                    <a:pt x="0" y="2145792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80160" y="2103120"/>
            <a:ext cx="4206240" cy="1828800"/>
            <a:chOff x="0" y="0"/>
            <a:chExt cx="5608320" cy="2438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608320" cy="2438400"/>
            </a:xfrm>
            <a:custGeom>
              <a:avLst/>
              <a:gdLst/>
              <a:ahLst/>
              <a:cxnLst/>
              <a:rect r="r" b="b" t="t" l="l"/>
              <a:pathLst>
                <a:path h="2438400" w="5608320">
                  <a:moveTo>
                    <a:pt x="0" y="0"/>
                  </a:moveTo>
                  <a:lnTo>
                    <a:pt x="5608320" y="0"/>
                  </a:lnTo>
                  <a:lnTo>
                    <a:pt x="5608320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5784" t="0" r="-5784" b="0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5608320" cy="2447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Aplicativo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um código para Android e iOS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569671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React Native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Android e iOS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61695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Expo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testar e gerar o app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53719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JavaScript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linguagem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45743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NativeWind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telas mais rápido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337767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Google Maps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gratuito e conhecido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297912" y="2887980"/>
            <a:ext cx="186537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Google API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mapa e login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914400" y="4069080"/>
            <a:ext cx="16459200" cy="1645920"/>
            <a:chOff x="0" y="0"/>
            <a:chExt cx="21945600" cy="21945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19456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0">
                  <a:moveTo>
                    <a:pt x="0" y="263398"/>
                  </a:moveTo>
                  <a:cubicBezTo>
                    <a:pt x="0" y="117856"/>
                    <a:pt x="117856" y="0"/>
                    <a:pt x="263398" y="0"/>
                  </a:cubicBezTo>
                  <a:lnTo>
                    <a:pt x="21682202" y="0"/>
                  </a:lnTo>
                  <a:cubicBezTo>
                    <a:pt x="21827744" y="0"/>
                    <a:pt x="21945600" y="117856"/>
                    <a:pt x="21945600" y="263398"/>
                  </a:cubicBezTo>
                  <a:lnTo>
                    <a:pt x="21945600" y="1931162"/>
                  </a:lnTo>
                  <a:cubicBezTo>
                    <a:pt x="21945600" y="2076577"/>
                    <a:pt x="21827744" y="2194560"/>
                    <a:pt x="21682202" y="2194560"/>
                  </a:cubicBezTo>
                  <a:lnTo>
                    <a:pt x="263398" y="2194560"/>
                  </a:lnTo>
                  <a:cubicBezTo>
                    <a:pt x="117856" y="2194560"/>
                    <a:pt x="0" y="2076704"/>
                    <a:pt x="0" y="1931162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grpSp>
        <p:nvGrpSpPr>
          <p:cNvPr name="Group 55" id="55"/>
          <p:cNvGrpSpPr/>
          <p:nvPr/>
        </p:nvGrpSpPr>
        <p:grpSpPr>
          <a:xfrm rot="0">
            <a:off x="1280160" y="4069080"/>
            <a:ext cx="4206240" cy="1645920"/>
            <a:chOff x="0" y="0"/>
            <a:chExt cx="5608320" cy="219456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6083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5608320">
                  <a:moveTo>
                    <a:pt x="0" y="0"/>
                  </a:moveTo>
                  <a:lnTo>
                    <a:pt x="5608320" y="0"/>
                  </a:lnTo>
                  <a:lnTo>
                    <a:pt x="56083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05" t="0" r="-205" b="0"/>
              </a:stretch>
            </a:blipFill>
          </p:spPr>
          <p:txBody>
            <a:bodyPr/>
            <a:p/>
          </p:txBody>
        </p:sp>
        <p:sp>
          <p:nvSpPr>
            <p:cNvPr name="TextBox 57" id="57"/>
            <p:cNvSpPr txBox="true"/>
            <p:nvPr/>
          </p:nvSpPr>
          <p:spPr>
            <a:xfrm>
              <a:off x="0" y="-9525"/>
              <a:ext cx="560832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Backend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tudo pronto, sem servidor próprio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6812280" y="4069080"/>
            <a:ext cx="4572000" cy="1645920"/>
            <a:chOff x="0" y="0"/>
            <a:chExt cx="6096000" cy="219456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0960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125" r="0" b="-4125"/>
              </a:stretch>
            </a:blipFill>
          </p:spPr>
          <p:txBody>
            <a:bodyPr/>
            <a:p/>
          </p:txBody>
        </p:sp>
        <p:sp>
          <p:nvSpPr>
            <p:cNvPr name="TextBox 60" id="60"/>
            <p:cNvSpPr txBox="true"/>
            <p:nvPr/>
          </p:nvSpPr>
          <p:spPr>
            <a:xfrm>
              <a:off x="0" y="-47625"/>
              <a:ext cx="6096000" cy="22421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Supabase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login, banco e fotos prontos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481560" y="4069080"/>
            <a:ext cx="4572000" cy="1645920"/>
            <a:chOff x="0" y="0"/>
            <a:chExt cx="6096000" cy="219456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0960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125" r="0" b="-4125"/>
              </a:stretch>
            </a:blipFill>
          </p:spPr>
          <p:txBody>
            <a:bodyPr/>
            <a:p/>
          </p:txBody>
        </p:sp>
        <p:sp>
          <p:nvSpPr>
            <p:cNvPr name="TextBox 63" id="63"/>
            <p:cNvSpPr txBox="true"/>
            <p:nvPr/>
          </p:nvSpPr>
          <p:spPr>
            <a:xfrm>
              <a:off x="0" y="-47625"/>
              <a:ext cx="6096000" cy="22421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PostgreSQL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banco relacional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14400" y="5852160"/>
            <a:ext cx="16459200" cy="1645920"/>
            <a:chOff x="0" y="0"/>
            <a:chExt cx="21945600" cy="219456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9456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0">
                  <a:moveTo>
                    <a:pt x="0" y="263398"/>
                  </a:moveTo>
                  <a:cubicBezTo>
                    <a:pt x="0" y="117856"/>
                    <a:pt x="117856" y="0"/>
                    <a:pt x="263398" y="0"/>
                  </a:cubicBezTo>
                  <a:lnTo>
                    <a:pt x="21682202" y="0"/>
                  </a:lnTo>
                  <a:cubicBezTo>
                    <a:pt x="21827744" y="0"/>
                    <a:pt x="21945600" y="117856"/>
                    <a:pt x="21945600" y="263398"/>
                  </a:cubicBezTo>
                  <a:lnTo>
                    <a:pt x="21945600" y="1931162"/>
                  </a:lnTo>
                  <a:cubicBezTo>
                    <a:pt x="21945600" y="2076577"/>
                    <a:pt x="21827744" y="2194560"/>
                    <a:pt x="21682202" y="2194560"/>
                  </a:cubicBezTo>
                  <a:lnTo>
                    <a:pt x="263398" y="2194560"/>
                  </a:lnTo>
                  <a:cubicBezTo>
                    <a:pt x="117856" y="2194560"/>
                    <a:pt x="0" y="2076704"/>
                    <a:pt x="0" y="1931162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grpSp>
        <p:nvGrpSpPr>
          <p:cNvPr name="Group 66" id="66"/>
          <p:cNvGrpSpPr/>
          <p:nvPr/>
        </p:nvGrpSpPr>
        <p:grpSpPr>
          <a:xfrm rot="0">
            <a:off x="1280160" y="5852160"/>
            <a:ext cx="4206240" cy="1645920"/>
            <a:chOff x="0" y="0"/>
            <a:chExt cx="5608320" cy="219456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6083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5608320">
                  <a:moveTo>
                    <a:pt x="0" y="0"/>
                  </a:moveTo>
                  <a:lnTo>
                    <a:pt x="5608320" y="0"/>
                  </a:lnTo>
                  <a:lnTo>
                    <a:pt x="56083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05" t="0" r="-205" b="0"/>
              </a:stretch>
            </a:blipFill>
          </p:spPr>
          <p:txBody>
            <a:bodyPr/>
            <a:p/>
          </p:txBody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560832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Mensageria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onde as pessoas já estão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6812280" y="5852160"/>
            <a:ext cx="4572000" cy="1645920"/>
            <a:chOff x="0" y="0"/>
            <a:chExt cx="6096000" cy="219456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60960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125" r="0" b="-4125"/>
              </a:stretch>
            </a:blipFill>
          </p:spPr>
          <p:txBody>
            <a:bodyPr/>
            <a:p/>
          </p:txBody>
        </p:sp>
        <p:sp>
          <p:nvSpPr>
            <p:cNvPr name="TextBox 71" id="71"/>
            <p:cNvSpPr txBox="true"/>
            <p:nvPr/>
          </p:nvSpPr>
          <p:spPr>
            <a:xfrm>
              <a:off x="0" y="-47625"/>
              <a:ext cx="6096000" cy="22421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WhatsApp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todos usam no dia a dia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2481560" y="5852160"/>
            <a:ext cx="4572000" cy="1645920"/>
            <a:chOff x="0" y="0"/>
            <a:chExt cx="6096000" cy="219456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60960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125" r="0" b="-4125"/>
              </a:stretch>
            </a:blipFill>
          </p:spPr>
          <p:txBody>
            <a:bodyPr/>
            <a:p/>
          </p:txBody>
        </p:sp>
        <p:sp>
          <p:nvSpPr>
            <p:cNvPr name="TextBox 74" id="74"/>
            <p:cNvSpPr txBox="true"/>
            <p:nvPr/>
          </p:nvSpPr>
          <p:spPr>
            <a:xfrm>
              <a:off x="0" y="-47625"/>
              <a:ext cx="6096000" cy="22421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Render + Evolution API</a:t>
              </a:r>
            </a:p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hospeda o envio automático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14400" y="7635240"/>
            <a:ext cx="16459200" cy="1508760"/>
            <a:chOff x="0" y="0"/>
            <a:chExt cx="21945600" cy="201168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1945600" cy="2011680"/>
            </a:xfrm>
            <a:custGeom>
              <a:avLst/>
              <a:gdLst/>
              <a:ahLst/>
              <a:cxnLst/>
              <a:rect r="r" b="b" t="t" l="l"/>
              <a:pathLst>
                <a:path h="2011680" w="21945600">
                  <a:moveTo>
                    <a:pt x="0" y="241427"/>
                  </a:moveTo>
                  <a:cubicBezTo>
                    <a:pt x="0" y="108077"/>
                    <a:pt x="108077" y="0"/>
                    <a:pt x="241427" y="0"/>
                  </a:cubicBezTo>
                  <a:lnTo>
                    <a:pt x="21704173" y="0"/>
                  </a:lnTo>
                  <a:cubicBezTo>
                    <a:pt x="21837523" y="0"/>
                    <a:pt x="21945600" y="108077"/>
                    <a:pt x="21945600" y="241427"/>
                  </a:cubicBezTo>
                  <a:lnTo>
                    <a:pt x="21945600" y="1770253"/>
                  </a:lnTo>
                  <a:cubicBezTo>
                    <a:pt x="21945600" y="1903603"/>
                    <a:pt x="21837523" y="2011680"/>
                    <a:pt x="21704173" y="2011680"/>
                  </a:cubicBezTo>
                  <a:lnTo>
                    <a:pt x="241427" y="2011680"/>
                  </a:lnTo>
                  <a:cubicBezTo>
                    <a:pt x="108077" y="2011680"/>
                    <a:pt x="0" y="1903603"/>
                    <a:pt x="0" y="1770253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1280160" y="7635240"/>
            <a:ext cx="4206240" cy="1508760"/>
            <a:chOff x="0" y="0"/>
            <a:chExt cx="5608320" cy="201168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5608320" cy="2011680"/>
            </a:xfrm>
            <a:custGeom>
              <a:avLst/>
              <a:gdLst/>
              <a:ahLst/>
              <a:cxnLst/>
              <a:rect r="r" b="b" t="t" l="l"/>
              <a:pathLst>
                <a:path h="2011680" w="5608320">
                  <a:moveTo>
                    <a:pt x="0" y="0"/>
                  </a:moveTo>
                  <a:lnTo>
                    <a:pt x="5608320" y="0"/>
                  </a:lnTo>
                  <a:lnTo>
                    <a:pt x="560832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321" r="0" b="-4321"/>
              </a:stretch>
            </a:blipFill>
          </p:spPr>
          <p:txBody>
            <a:bodyPr/>
            <a:p/>
          </p:txBody>
        </p:sp>
        <p:sp>
          <p:nvSpPr>
            <p:cNvPr name="TextBox 79" id="79"/>
            <p:cNvSpPr txBox="true"/>
            <p:nvPr/>
          </p:nvSpPr>
          <p:spPr>
            <a:xfrm>
              <a:off x="0" y="-9525"/>
              <a:ext cx="560832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Apoio</a:t>
              </a:r>
            </a:p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organizar e construir</a:t>
              </a:r>
            </a:p>
          </p:txBody>
        </p:sp>
      </p:grpSp>
      <p:sp>
        <p:nvSpPr>
          <p:cNvPr name="TextBox 80" id="80"/>
          <p:cNvSpPr txBox="true"/>
          <p:nvPr/>
        </p:nvSpPr>
        <p:spPr>
          <a:xfrm rot="0">
            <a:off x="569671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Git e GitHub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versões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734263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Trello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tarefas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898855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Figma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telas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063447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Astah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UML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1228039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VS Code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código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392631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ChatGPT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apoio revisado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5572232" y="8420100"/>
            <a:ext cx="1591056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Copilot</a:t>
            </a:r>
          </a:p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apoio revisado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6377940" y="2331720"/>
            <a:ext cx="502920" cy="502920"/>
            <a:chOff x="0" y="0"/>
            <a:chExt cx="670560" cy="670560"/>
          </a:xfrm>
        </p:grpSpPr>
        <p:sp>
          <p:nvSpPr>
            <p:cNvPr name="Freeform 88" id="88" descr="/tmp/un/ppt/media/image53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89" id="89"/>
          <p:cNvGrpSpPr/>
          <p:nvPr/>
        </p:nvGrpSpPr>
        <p:grpSpPr>
          <a:xfrm rot="0">
            <a:off x="8298180" y="2331720"/>
            <a:ext cx="502920" cy="502920"/>
            <a:chOff x="0" y="0"/>
            <a:chExt cx="670560" cy="67056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91" id="91"/>
          <p:cNvGrpSpPr/>
          <p:nvPr/>
        </p:nvGrpSpPr>
        <p:grpSpPr>
          <a:xfrm rot="0">
            <a:off x="10218420" y="2331720"/>
            <a:ext cx="502920" cy="502920"/>
            <a:chOff x="0" y="0"/>
            <a:chExt cx="670560" cy="670560"/>
          </a:xfrm>
        </p:grpSpPr>
        <p:sp>
          <p:nvSpPr>
            <p:cNvPr name="Freeform 92" id="92" descr="/tmp/un/ppt/media/image55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93" id="93"/>
          <p:cNvGrpSpPr/>
          <p:nvPr/>
        </p:nvGrpSpPr>
        <p:grpSpPr>
          <a:xfrm rot="0">
            <a:off x="12138660" y="2331720"/>
            <a:ext cx="502920" cy="502920"/>
            <a:chOff x="0" y="0"/>
            <a:chExt cx="670560" cy="670560"/>
          </a:xfrm>
        </p:grpSpPr>
        <p:sp>
          <p:nvSpPr>
            <p:cNvPr name="Freeform 94" id="94" descr="/tmp/un/ppt/media/image57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95" id="95"/>
          <p:cNvGrpSpPr/>
          <p:nvPr/>
        </p:nvGrpSpPr>
        <p:grpSpPr>
          <a:xfrm rot="0">
            <a:off x="14058900" y="2331720"/>
            <a:ext cx="502920" cy="502920"/>
            <a:chOff x="0" y="0"/>
            <a:chExt cx="670560" cy="67056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97" id="97"/>
          <p:cNvGrpSpPr/>
          <p:nvPr/>
        </p:nvGrpSpPr>
        <p:grpSpPr>
          <a:xfrm rot="0">
            <a:off x="15876861" y="2331720"/>
            <a:ext cx="707479" cy="502920"/>
            <a:chOff x="0" y="0"/>
            <a:chExt cx="943305" cy="67056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943356" cy="670560"/>
            </a:xfrm>
            <a:custGeom>
              <a:avLst/>
              <a:gdLst/>
              <a:ahLst/>
              <a:cxnLst/>
              <a:rect r="r" b="b" t="t" l="l"/>
              <a:pathLst>
                <a:path h="670560" w="943356">
                  <a:moveTo>
                    <a:pt x="0" y="0"/>
                  </a:moveTo>
                  <a:lnTo>
                    <a:pt x="943356" y="0"/>
                  </a:lnTo>
                  <a:lnTo>
                    <a:pt x="943356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-49588" t="0" r="-49584" b="0"/>
              </a:stretch>
            </a:blipFill>
          </p:spPr>
          <p:txBody>
            <a:bodyPr/>
            <a:p/>
          </p:txBody>
        </p:sp>
      </p:grpSp>
      <p:grpSp>
        <p:nvGrpSpPr>
          <p:cNvPr name="Group 99" id="99"/>
          <p:cNvGrpSpPr/>
          <p:nvPr/>
        </p:nvGrpSpPr>
        <p:grpSpPr>
          <a:xfrm rot="0">
            <a:off x="5875020" y="4549140"/>
            <a:ext cx="685800" cy="685800"/>
            <a:chOff x="0" y="0"/>
            <a:chExt cx="914400" cy="91440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11544300" y="4549140"/>
            <a:ext cx="685800" cy="685800"/>
            <a:chOff x="0" y="0"/>
            <a:chExt cx="914400" cy="91440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2127" r="0" b="-2127"/>
              </a:stretch>
            </a:blipFill>
          </p:spPr>
          <p:txBody>
            <a:bodyPr/>
            <a:p/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5875020" y="6332220"/>
            <a:ext cx="685800" cy="685800"/>
            <a:chOff x="0" y="0"/>
            <a:chExt cx="914400" cy="914400"/>
          </a:xfrm>
        </p:grpSpPr>
        <p:sp>
          <p:nvSpPr>
            <p:cNvPr name="Freeform 104" id="104" descr="/tmp/un/ppt/media/image64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1544300" y="6332220"/>
            <a:ext cx="685800" cy="685800"/>
            <a:chOff x="0" y="0"/>
            <a:chExt cx="914400" cy="914400"/>
          </a:xfrm>
        </p:grpSpPr>
        <p:sp>
          <p:nvSpPr>
            <p:cNvPr name="Freeform 106" id="106" descr="/tmp/un/ppt/media/image63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6240780" y="7863840"/>
            <a:ext cx="502920" cy="502920"/>
            <a:chOff x="0" y="0"/>
            <a:chExt cx="670560" cy="670560"/>
          </a:xfrm>
        </p:grpSpPr>
        <p:sp>
          <p:nvSpPr>
            <p:cNvPr name="Freeform 108" id="108" descr="/tmp/un/ppt/media/image65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7886700" y="7863840"/>
            <a:ext cx="502920" cy="502920"/>
            <a:chOff x="0" y="0"/>
            <a:chExt cx="670560" cy="670560"/>
          </a:xfrm>
        </p:grpSpPr>
        <p:sp>
          <p:nvSpPr>
            <p:cNvPr name="Freeform 110" id="110" descr="/tmp/un/ppt/media/image66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9612420" y="7863840"/>
            <a:ext cx="343310" cy="502920"/>
            <a:chOff x="0" y="0"/>
            <a:chExt cx="457746" cy="670560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457708" cy="670560"/>
            </a:xfrm>
            <a:custGeom>
              <a:avLst/>
              <a:gdLst/>
              <a:ahLst/>
              <a:cxnLst/>
              <a:rect r="r" b="b" t="t" l="l"/>
              <a:pathLst>
                <a:path h="670560" w="457708">
                  <a:moveTo>
                    <a:pt x="0" y="0"/>
                  </a:moveTo>
                  <a:lnTo>
                    <a:pt x="457708" y="0"/>
                  </a:lnTo>
                  <a:lnTo>
                    <a:pt x="457708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-1198" r="-8" b="-1196"/>
              </a:stretch>
            </a:blipFill>
          </p:spPr>
          <p:txBody>
            <a:bodyPr/>
            <a:p/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11178540" y="7863840"/>
            <a:ext cx="502920" cy="502920"/>
            <a:chOff x="0" y="0"/>
            <a:chExt cx="670560" cy="67056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2824460" y="7863840"/>
            <a:ext cx="502920" cy="502920"/>
            <a:chOff x="0" y="0"/>
            <a:chExt cx="670560" cy="6705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14470380" y="7863840"/>
            <a:ext cx="502920" cy="502920"/>
            <a:chOff x="0" y="0"/>
            <a:chExt cx="670560" cy="670560"/>
          </a:xfrm>
        </p:grpSpPr>
        <p:sp>
          <p:nvSpPr>
            <p:cNvPr name="Freeform 118" id="118" descr="/tmp/un/ppt/media/image69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6116300" y="7863840"/>
            <a:ext cx="502920" cy="502920"/>
            <a:chOff x="0" y="0"/>
            <a:chExt cx="670560" cy="670560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DESENVOLVIMENTO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Identidade visual: encontrar em conjunto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737360" y="2560320"/>
            <a:ext cx="4754880" cy="4608576"/>
            <a:chOff x="0" y="0"/>
            <a:chExt cx="6339840" cy="6144768"/>
          </a:xfrm>
        </p:grpSpPr>
        <p:sp>
          <p:nvSpPr>
            <p:cNvPr name="Freeform 21" id="21" descr="/tmp/un/ppt/media/image37.png"/>
            <p:cNvSpPr/>
            <p:nvPr/>
          </p:nvSpPr>
          <p:spPr>
            <a:xfrm flipH="false" flipV="false" rot="0">
              <a:off x="0" y="0"/>
              <a:ext cx="6339840" cy="6144768"/>
            </a:xfrm>
            <a:custGeom>
              <a:avLst/>
              <a:gdLst/>
              <a:ahLst/>
              <a:cxnLst/>
              <a:rect r="r" b="b" t="t" l="l"/>
              <a:pathLst>
                <a:path h="6144768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144768"/>
                  </a:lnTo>
                  <a:lnTo>
                    <a:pt x="0" y="61447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2397481" y="7577538"/>
            <a:ext cx="3891848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We</a:t>
            </a:r>
            <a:r>
              <a:rPr lang="en-US" sz="26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= nós  </a:t>
            </a:r>
            <a:r>
              <a:rPr lang="en-US" sz="26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Find</a:t>
            </a:r>
            <a:r>
              <a:rPr lang="en-US" sz="26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= encontrar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4400" y="8511540"/>
            <a:ext cx="6400800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Cão e gato em volta de um pin de localização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22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9" id="39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3037132" y="6795449"/>
            <a:ext cx="2612546" cy="1110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18"/>
              </a:lnSpc>
            </a:pPr>
            <a:r>
              <a:rPr lang="en-US" b="true" sz="5553" spc="52">
                <a:solidFill>
                  <a:srgbClr val="B57645"/>
                </a:solidFill>
                <a:latin typeface="Roboto Bold"/>
                <a:ea typeface="Roboto Bold"/>
                <a:cs typeface="Roboto Bold"/>
                <a:sym typeface="Roboto Bold"/>
              </a:rPr>
              <a:t>We</a:t>
            </a:r>
            <a:r>
              <a:rPr lang="en-US" b="true" sz="5553" spc="52">
                <a:solidFill>
                  <a:srgbClr val="3C5D40"/>
                </a:solidFill>
                <a:latin typeface="Roboto Bold"/>
                <a:ea typeface="Roboto Bold"/>
                <a:cs typeface="Roboto Bold"/>
                <a:sym typeface="Roboto Bold"/>
              </a:rPr>
              <a:t>FIND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801734" y="1882601"/>
            <a:ext cx="2067207" cy="231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784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a. Identidade visual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7815410" y="3214539"/>
            <a:ext cx="699601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Primária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815139" y="3500847"/>
            <a:ext cx="72671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#2E5634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500901" y="3214539"/>
            <a:ext cx="921571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Secundária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502586" y="3500847"/>
            <a:ext cx="753116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#B1734A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798432" y="3781276"/>
            <a:ext cx="2397447" cy="231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784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b. Tipos de publicação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502519" y="5429659"/>
            <a:ext cx="759783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#D5803D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190239" y="5429659"/>
            <a:ext cx="75889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#DC2777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788481" y="5725158"/>
            <a:ext cx="3392560" cy="231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784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c. Avisos e estados da interface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7815433" y="7072164"/>
            <a:ext cx="697290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Sucesso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7815139" y="7358472"/>
            <a:ext cx="72671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#2E5634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505524" y="7072164"/>
            <a:ext cx="45931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Aviso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9502691" y="7358472"/>
            <a:ext cx="742626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#D37708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1187182" y="7072164"/>
            <a:ext cx="1064603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 Erro / perigo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190239" y="7358472"/>
            <a:ext cx="75889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#DC2826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2872549" y="7072164"/>
            <a:ext cx="129901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 Erro / destaque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2878288" y="7358472"/>
            <a:ext cx="72511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#EF4444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7791568" y="7638901"/>
            <a:ext cx="3083819" cy="231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784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d. Cores neutras da interface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2869199" y="9061002"/>
            <a:ext cx="163403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 Superfície / cartões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9495897" y="9061252"/>
            <a:ext cx="142204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Texto secundário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7810165" y="9061252"/>
            <a:ext cx="122416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Texto principal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9500765" y="5128282"/>
            <a:ext cx="935261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Encontrado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2878380" y="9362629"/>
            <a:ext cx="71586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#FFFFFF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4592775" y="9362629"/>
            <a:ext cx="726358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#E2E8F0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7815002" y="9362629"/>
            <a:ext cx="740404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#0F172A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4594246" y="9061252"/>
            <a:ext cx="579327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Bordas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7816020" y="5128282"/>
            <a:ext cx="63861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Perdido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1191593" y="5128282"/>
            <a:ext cx="623507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Adoção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9502862" y="9362629"/>
            <a:ext cx="72546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#475559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1190621" y="9362629"/>
            <a:ext cx="720669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#F6F8F6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7814980" y="5429659"/>
            <a:ext cx="742626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>
                <a:solidFill>
                  <a:srgbClr val="293241"/>
                </a:solidFill>
                <a:latin typeface="Roboto"/>
                <a:ea typeface="Roboto"/>
                <a:cs typeface="Roboto"/>
                <a:sym typeface="Roboto"/>
              </a:rPr>
              <a:t>#D64545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1192737" y="9061252"/>
            <a:ext cx="509100" cy="1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5"/>
              </a:lnSpc>
            </a:pPr>
            <a:r>
              <a:rPr lang="en-US" sz="1335" b="true">
                <a:solidFill>
                  <a:srgbClr val="293241"/>
                </a:solidFill>
                <a:latin typeface="Roboto Bold"/>
                <a:ea typeface="Roboto Bold"/>
                <a:cs typeface="Roboto Bold"/>
                <a:sym typeface="Roboto Bold"/>
              </a:rPr>
              <a:t>Fundo</a:t>
            </a:r>
          </a:p>
        </p:txBody>
      </p:sp>
      <p:sp>
        <p:nvSpPr>
          <p:cNvPr name="Freeform 75" id="75"/>
          <p:cNvSpPr/>
          <p:nvPr/>
        </p:nvSpPr>
        <p:spPr>
          <a:xfrm flipH="false" flipV="false" rot="0">
            <a:off x="7816020" y="2221572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76" id="76"/>
          <p:cNvSpPr/>
          <p:nvPr/>
        </p:nvSpPr>
        <p:spPr>
          <a:xfrm flipH="false" flipV="false" rot="0">
            <a:off x="9505524" y="219299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77" id="77"/>
          <p:cNvSpPr/>
          <p:nvPr/>
        </p:nvSpPr>
        <p:spPr>
          <a:xfrm flipH="false" flipV="false" rot="0">
            <a:off x="7810165" y="41171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6" y="0"/>
                </a:lnTo>
                <a:lnTo>
                  <a:pt x="1279326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78" id="78"/>
          <p:cNvSpPr/>
          <p:nvPr/>
        </p:nvSpPr>
        <p:spPr>
          <a:xfrm flipH="false" flipV="false" rot="0">
            <a:off x="9505524" y="4088532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79" id="79"/>
          <p:cNvSpPr/>
          <p:nvPr/>
        </p:nvSpPr>
        <p:spPr>
          <a:xfrm flipH="false" flipV="false" rot="0">
            <a:off x="11200883" y="405995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80" id="80"/>
          <p:cNvSpPr/>
          <p:nvPr/>
        </p:nvSpPr>
        <p:spPr>
          <a:xfrm flipH="false" flipV="false" rot="0">
            <a:off x="7816020" y="6032413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81" id="81"/>
          <p:cNvSpPr/>
          <p:nvPr/>
        </p:nvSpPr>
        <p:spPr>
          <a:xfrm flipH="false" flipV="false" rot="0">
            <a:off x="7816020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82" id="82"/>
          <p:cNvSpPr/>
          <p:nvPr/>
        </p:nvSpPr>
        <p:spPr>
          <a:xfrm flipH="false" flipV="false" rot="0">
            <a:off x="9505524" y="6032413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83" id="83"/>
          <p:cNvSpPr/>
          <p:nvPr/>
        </p:nvSpPr>
        <p:spPr>
          <a:xfrm flipH="false" flipV="false" rot="0">
            <a:off x="11195028" y="6032413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84" id="84"/>
          <p:cNvSpPr/>
          <p:nvPr/>
        </p:nvSpPr>
        <p:spPr>
          <a:xfrm flipH="false" flipV="false" rot="0">
            <a:off x="12884532" y="6032413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7"/>
                </a:lnTo>
                <a:lnTo>
                  <a:pt x="0" y="897717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85" id="85"/>
          <p:cNvSpPr/>
          <p:nvPr/>
        </p:nvSpPr>
        <p:spPr>
          <a:xfrm flipH="false" flipV="false" rot="0">
            <a:off x="9505524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86" id="86"/>
          <p:cNvSpPr/>
          <p:nvPr/>
        </p:nvSpPr>
        <p:spPr>
          <a:xfrm flipH="false" flipV="false" rot="0">
            <a:off x="11195028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87" id="87"/>
          <p:cNvSpPr/>
          <p:nvPr/>
        </p:nvSpPr>
        <p:spPr>
          <a:xfrm flipH="false" flipV="false" rot="0">
            <a:off x="12884532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Freeform 88" id="88"/>
          <p:cNvSpPr/>
          <p:nvPr/>
        </p:nvSpPr>
        <p:spPr>
          <a:xfrm flipH="false" flipV="false" rot="0">
            <a:off x="14574036" y="7965207"/>
            <a:ext cx="1279327" cy="897716"/>
          </a:xfrm>
          <a:custGeom>
            <a:avLst/>
            <a:gdLst/>
            <a:ahLst/>
            <a:cxnLst/>
            <a:rect r="r" b="b" t="t" l="l"/>
            <a:pathLst>
              <a:path h="897716" w="1279327">
                <a:moveTo>
                  <a:pt x="0" y="0"/>
                </a:moveTo>
                <a:lnTo>
                  <a:pt x="1279327" y="0"/>
                </a:lnTo>
                <a:lnTo>
                  <a:pt x="1279327" y="897716"/>
                </a:lnTo>
                <a:lnTo>
                  <a:pt x="0" y="897716"/>
                </a:lnTo>
                <a:lnTo>
                  <a:pt x="0" y="0"/>
                </a:lnTo>
                <a:close/>
              </a:path>
            </a:pathLst>
          </a:custGeom>
          <a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 l="-199" t="0" r="-198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169164"/>
            <a:ext cx="6858000" cy="708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DESENVOLVIMENTO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914400" y="857250"/>
            <a:ext cx="16459200" cy="1154430"/>
            <a:chOff x="0" y="0"/>
            <a:chExt cx="21945600" cy="15392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  <p:txBody>
            <a:bodyPr/>
            <a:p/>
          </p:txBody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Correspondência: sugere, não confirma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914400" y="3958590"/>
            <a:ext cx="4846320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Índice heurístico de semelhança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4400" y="5234940"/>
            <a:ext cx="4846320" cy="142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Não é probabilidade: os usuários confirmam ou descartam.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14400" y="6701790"/>
            <a:ext cx="484632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Limiares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14400" y="7193280"/>
            <a:ext cx="4846320" cy="1440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55 pts: entra na lista. 60 pts: gera aviso (até 3).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14400" y="8441055"/>
            <a:ext cx="16459200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Soma limitada a 0–100; pesos definidos de forma empírica, ainda sem calibração com casos reais (Quadro 4 do TCC).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6459200" y="93954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23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30" id="30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32" id="32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34" id="34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36" id="36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8" id="38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40" id="40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42" id="42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44" id="44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14400" y="2129790"/>
            <a:ext cx="4937760" cy="1756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0"/>
              </a:lnSpc>
            </a:pPr>
            <a:r>
              <a:rPr lang="en-US" sz="11000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0–100</a:t>
            </a:r>
          </a:p>
        </p:txBody>
      </p:sp>
      <p:graphicFrame>
        <p:nvGraphicFramePr>
          <p:cNvPr name="Table 48" id="48"/>
          <p:cNvGraphicFramePr>
            <a:graphicFrameLocks noGrp="true"/>
          </p:cNvGraphicFramePr>
          <p:nvPr/>
        </p:nvGraphicFramePr>
        <p:xfrm>
          <a:off x="6172200" y="2240280"/>
          <a:ext cx="11176000" cy="5829300"/>
        </p:xfrm>
        <a:graphic>
          <a:graphicData uri="http://schemas.openxmlformats.org/drawingml/2006/table">
            <a:tbl>
              <a:tblPr/>
              <a:tblGrid>
                <a:gridCol w="2146173"/>
                <a:gridCol w="3646404"/>
                <a:gridCol w="2919019"/>
                <a:gridCol w="2464404"/>
              </a:tblGrid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Critério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Igual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Parcial ou não informado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Diferente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Espécie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 o par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Sexo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+3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 o par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Porte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+15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+6 diferente · +5 ausente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 (pequeno × grande)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Raça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+25 · +18 se uma contém a outra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+8 ambos SRD · +4 SRD × raça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−20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Pelagem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+20 (2+ cores) · +12 (1 cor)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+4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−25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Idade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+5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−15 (filhote × idoso)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Distância (GPS)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+15 até 1,2 km · +10 até 3,5 · +5 até 8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 de 8 a 20 km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−15 acima de 20 km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Sem GPS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+12 mesmo bairro · +5 mesma cidade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 sem dados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−20 cidades diferentes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Demonstração do WeFIND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DESENVOLVIMENTO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05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Avaliação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552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que ainda serão realizados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  <p:txBody>
            <a:bodyPr/>
            <a:p/>
          </p:txBody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  AVALIAÇÃO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959691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Como o aplicativo será avaliado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14400" y="2392680"/>
            <a:ext cx="182880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3764280"/>
            <a:ext cx="402336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Verificação funcional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4400" y="4604766"/>
            <a:ext cx="356616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Conferir cada requisito nos fluxos principais, no celular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5943600" y="2560320"/>
            <a:ext cx="548640" cy="1097280"/>
            <a:chOff x="0" y="0"/>
            <a:chExt cx="731520" cy="1463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5943600" y="2467451"/>
            <a:ext cx="548640" cy="1190149"/>
            <a:chOff x="0" y="0"/>
            <a:chExt cx="731520" cy="158686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5943600" y="2374583"/>
            <a:ext cx="548640" cy="1283018"/>
            <a:chOff x="0" y="0"/>
            <a:chExt cx="731520" cy="171069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5943600" y="2281714"/>
            <a:ext cx="548640" cy="1375886"/>
            <a:chOff x="0" y="0"/>
            <a:chExt cx="731520" cy="183451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5943600" y="2188845"/>
            <a:ext cx="548640" cy="1468755"/>
            <a:chOff x="0" y="0"/>
            <a:chExt cx="731520" cy="1958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4526280" y="2095976"/>
            <a:ext cx="548640" cy="1561624"/>
            <a:chOff x="0" y="0"/>
            <a:chExt cx="731520" cy="208216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4526280" y="2003108"/>
            <a:ext cx="548640" cy="1654492"/>
            <a:chOff x="0" y="0"/>
            <a:chExt cx="731520" cy="22059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7184" t="0" r="-337185" b="0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4526280" y="1910239"/>
            <a:ext cx="548640" cy="1747361"/>
            <a:chOff x="0" y="0"/>
            <a:chExt cx="731520" cy="2329815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31520" cy="2329814"/>
            </a:xfrm>
            <a:custGeom>
              <a:avLst/>
              <a:gdLst/>
              <a:ahLst/>
              <a:cxnLst/>
              <a:rect r="r" b="b" t="t" l="l"/>
              <a:pathLst>
                <a:path h="232981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329814"/>
                  </a:lnTo>
                  <a:lnTo>
                    <a:pt x="0" y="23298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58633" t="0" r="-358633" b="0"/>
              </a:stretch>
            </a:blipFill>
          </p:spPr>
          <p:txBody>
            <a:bodyPr/>
            <a:p/>
          </p:txBody>
        </p:sp>
        <p:sp>
          <p:nvSpPr>
            <p:cNvPr name="TextBox 39" id="39"/>
            <p:cNvSpPr txBox="true"/>
            <p:nvPr/>
          </p:nvSpPr>
          <p:spPr>
            <a:xfrm>
              <a:off x="0" y="-123825"/>
              <a:ext cx="731520" cy="2453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5120640" y="2392680"/>
            <a:ext cx="182880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120640" y="3764280"/>
            <a:ext cx="384048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Segurança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120640" y="4604766"/>
            <a:ext cx="356616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 estática do APK com o MobSF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1612880" y="2560320"/>
            <a:ext cx="548640" cy="1097280"/>
            <a:chOff x="0" y="0"/>
            <a:chExt cx="731520" cy="14630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  <p:txBody>
            <a:bodyPr/>
            <a:p/>
          </p:txBody>
        </p:sp>
      </p:grpSp>
      <p:grpSp>
        <p:nvGrpSpPr>
          <p:cNvPr name="Group 45" id="45"/>
          <p:cNvGrpSpPr/>
          <p:nvPr/>
        </p:nvGrpSpPr>
        <p:grpSpPr>
          <a:xfrm rot="0">
            <a:off x="11612880" y="2467451"/>
            <a:ext cx="548640" cy="1190149"/>
            <a:chOff x="0" y="0"/>
            <a:chExt cx="731520" cy="158686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  <p:txBody>
            <a:bodyPr/>
            <a:p/>
          </p:txBody>
        </p:sp>
      </p:grpSp>
      <p:grpSp>
        <p:nvGrpSpPr>
          <p:cNvPr name="Group 47" id="47"/>
          <p:cNvGrpSpPr/>
          <p:nvPr/>
        </p:nvGrpSpPr>
        <p:grpSpPr>
          <a:xfrm rot="0">
            <a:off x="11612880" y="2374583"/>
            <a:ext cx="548640" cy="1283018"/>
            <a:chOff x="0" y="0"/>
            <a:chExt cx="731520" cy="171069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  <p:txBody>
            <a:bodyPr/>
            <a:p/>
          </p:txBody>
        </p:sp>
      </p:grpSp>
      <p:grpSp>
        <p:nvGrpSpPr>
          <p:cNvPr name="Group 49" id="49"/>
          <p:cNvGrpSpPr/>
          <p:nvPr/>
        </p:nvGrpSpPr>
        <p:grpSpPr>
          <a:xfrm rot="0">
            <a:off x="11612880" y="2281714"/>
            <a:ext cx="548640" cy="1375886"/>
            <a:chOff x="0" y="0"/>
            <a:chExt cx="731520" cy="183451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  <p:txBody>
            <a:bodyPr/>
            <a:p/>
          </p:txBody>
        </p:sp>
      </p:grpSp>
      <p:grpSp>
        <p:nvGrpSpPr>
          <p:cNvPr name="Group 51" id="51"/>
          <p:cNvGrpSpPr/>
          <p:nvPr/>
        </p:nvGrpSpPr>
        <p:grpSpPr>
          <a:xfrm rot="0">
            <a:off x="11612880" y="2188845"/>
            <a:ext cx="548640" cy="1468755"/>
            <a:chOff x="0" y="0"/>
            <a:chExt cx="731520" cy="19583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8732520" y="2095976"/>
            <a:ext cx="548640" cy="1561624"/>
            <a:chOff x="0" y="0"/>
            <a:chExt cx="731520" cy="208216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  <p:txBody>
            <a:bodyPr/>
            <a:p/>
          </p:txBody>
        </p:sp>
      </p:grpSp>
      <p:grpSp>
        <p:nvGrpSpPr>
          <p:cNvPr name="Group 55" id="55"/>
          <p:cNvGrpSpPr/>
          <p:nvPr/>
        </p:nvGrpSpPr>
        <p:grpSpPr>
          <a:xfrm rot="0">
            <a:off x="8732520" y="2003108"/>
            <a:ext cx="548640" cy="1654492"/>
            <a:chOff x="0" y="0"/>
            <a:chExt cx="731520" cy="220599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7184" t="0" r="-337185" b="0"/>
              </a:stretch>
            </a:blipFill>
          </p:spPr>
          <p:txBody>
            <a:bodyPr/>
            <a:p/>
          </p:txBody>
        </p:sp>
      </p:grpSp>
      <p:grpSp>
        <p:nvGrpSpPr>
          <p:cNvPr name="Group 57" id="57"/>
          <p:cNvGrpSpPr/>
          <p:nvPr/>
        </p:nvGrpSpPr>
        <p:grpSpPr>
          <a:xfrm rot="0">
            <a:off x="8732520" y="1910239"/>
            <a:ext cx="548640" cy="1747361"/>
            <a:chOff x="0" y="0"/>
            <a:chExt cx="731520" cy="2329815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31520" cy="2329814"/>
            </a:xfrm>
            <a:custGeom>
              <a:avLst/>
              <a:gdLst/>
              <a:ahLst/>
              <a:cxnLst/>
              <a:rect r="r" b="b" t="t" l="l"/>
              <a:pathLst>
                <a:path h="232981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329814"/>
                  </a:lnTo>
                  <a:lnTo>
                    <a:pt x="0" y="23298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58633" t="0" r="-358633" b="0"/>
              </a:stretch>
            </a:blipFill>
          </p:spPr>
          <p:txBody>
            <a:bodyPr/>
            <a:p/>
          </p:txBody>
        </p:sp>
        <p:sp>
          <p:nvSpPr>
            <p:cNvPr name="TextBox 59" id="59"/>
            <p:cNvSpPr txBox="true"/>
            <p:nvPr/>
          </p:nvSpPr>
          <p:spPr>
            <a:xfrm>
              <a:off x="0" y="-123825"/>
              <a:ext cx="731520" cy="2453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2938760" y="2095976"/>
            <a:ext cx="548640" cy="1561624"/>
            <a:chOff x="0" y="0"/>
            <a:chExt cx="731520" cy="2082165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12938760" y="2003108"/>
            <a:ext cx="548640" cy="1654492"/>
            <a:chOff x="0" y="0"/>
            <a:chExt cx="731520" cy="220599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7184" t="0" r="-337185" b="0"/>
              </a:stretch>
            </a:blipFill>
          </p:spPr>
          <p:txBody>
            <a:bodyPr/>
            <a:p/>
          </p:txBody>
        </p:sp>
      </p:grpSp>
      <p:grpSp>
        <p:nvGrpSpPr>
          <p:cNvPr name="Group 64" id="64"/>
          <p:cNvGrpSpPr/>
          <p:nvPr/>
        </p:nvGrpSpPr>
        <p:grpSpPr>
          <a:xfrm rot="0">
            <a:off x="12938760" y="1910239"/>
            <a:ext cx="548640" cy="1747361"/>
            <a:chOff x="0" y="0"/>
            <a:chExt cx="731520" cy="2329815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731520" cy="2329814"/>
            </a:xfrm>
            <a:custGeom>
              <a:avLst/>
              <a:gdLst/>
              <a:ahLst/>
              <a:cxnLst/>
              <a:rect r="r" b="b" t="t" l="l"/>
              <a:pathLst>
                <a:path h="2329814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329814"/>
                  </a:lnTo>
                  <a:lnTo>
                    <a:pt x="0" y="23298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58633" t="0" r="-358633" b="0"/>
              </a:stretch>
            </a:blipFill>
          </p:spPr>
          <p:txBody>
            <a:bodyPr/>
            <a:p/>
          </p:txBody>
        </p:sp>
        <p:sp>
          <p:nvSpPr>
            <p:cNvPr name="TextBox 66" id="66"/>
            <p:cNvSpPr txBox="true"/>
            <p:nvPr/>
          </p:nvSpPr>
          <p:spPr>
            <a:xfrm>
              <a:off x="0" y="-123825"/>
              <a:ext cx="731520" cy="2453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9326880" y="2392680"/>
            <a:ext cx="182880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3533120" y="2392680"/>
            <a:ext cx="182880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9326880" y="3764280"/>
            <a:ext cx="384048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Usabilidade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3533120" y="3764280"/>
            <a:ext cx="384048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Correspondência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9326880" y="4604766"/>
            <a:ext cx="356616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Tarefas no Quant UX e questionário SUS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3533120" y="4604766"/>
            <a:ext cx="356616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Pares do mesmo animal e de animais diferentes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26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76" id="7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78" id="7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80" id="8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82" id="8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84" id="8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86" id="8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88" id="88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90" id="90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914400" y="5989320"/>
            <a:ext cx="16459200" cy="2606040"/>
            <a:chOff x="0" y="0"/>
            <a:chExt cx="21945600" cy="347472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1945600" cy="3474720"/>
            </a:xfrm>
            <a:custGeom>
              <a:avLst/>
              <a:gdLst/>
              <a:ahLst/>
              <a:cxnLst/>
              <a:rect r="r" b="b" t="t" l="l"/>
              <a:pathLst>
                <a:path h="3474720" w="21945600">
                  <a:moveTo>
                    <a:pt x="0" y="278003"/>
                  </a:moveTo>
                  <a:cubicBezTo>
                    <a:pt x="0" y="124460"/>
                    <a:pt x="124460" y="0"/>
                    <a:pt x="278003" y="0"/>
                  </a:cubicBezTo>
                  <a:lnTo>
                    <a:pt x="21667597" y="0"/>
                  </a:lnTo>
                  <a:cubicBezTo>
                    <a:pt x="21821139" y="0"/>
                    <a:pt x="21945600" y="124460"/>
                    <a:pt x="21945600" y="278003"/>
                  </a:cubicBezTo>
                  <a:lnTo>
                    <a:pt x="21945600" y="3196717"/>
                  </a:lnTo>
                  <a:cubicBezTo>
                    <a:pt x="21945600" y="3350260"/>
                    <a:pt x="21821139" y="3474720"/>
                    <a:pt x="21667597" y="3474720"/>
                  </a:cubicBezTo>
                  <a:lnTo>
                    <a:pt x="278003" y="3474720"/>
                  </a:lnTo>
                  <a:cubicBezTo>
                    <a:pt x="124460" y="3474720"/>
                    <a:pt x="0" y="3350260"/>
                    <a:pt x="0" y="3196717"/>
                  </a:cubicBezTo>
                  <a:close/>
                </a:path>
              </a:pathLst>
            </a:custGeom>
            <a:solidFill>
              <a:srgbClr val="EEF3ED"/>
            </a:solidFill>
          </p:spPr>
          <p:txBody>
            <a:bodyPr/>
            <a:p/>
          </p:txBody>
        </p:sp>
      </p:grpSp>
      <p:grpSp>
        <p:nvGrpSpPr>
          <p:cNvPr name="Group 93" id="93"/>
          <p:cNvGrpSpPr/>
          <p:nvPr/>
        </p:nvGrpSpPr>
        <p:grpSpPr>
          <a:xfrm rot="0">
            <a:off x="1371600" y="5989320"/>
            <a:ext cx="7315200" cy="2606040"/>
            <a:chOff x="0" y="0"/>
            <a:chExt cx="9753600" cy="347472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9753600" cy="3474720"/>
            </a:xfrm>
            <a:custGeom>
              <a:avLst/>
              <a:gdLst/>
              <a:ahLst/>
              <a:cxnLst/>
              <a:rect r="r" b="b" t="t" l="l"/>
              <a:pathLst>
                <a:path h="347472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694" r="0" b="-4694"/>
              </a:stretch>
            </a:blipFill>
          </p:spPr>
          <p:txBody>
            <a:bodyPr/>
            <a:p/>
          </p:txBody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9753600" cy="3512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FOCO: USABILIDADE COM O QUANT UX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Tutores fazem tarefas reais no aplicativo, como publicar um animal perdido e registrar um avistamento.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9601200" y="5989320"/>
            <a:ext cx="7315200" cy="2606040"/>
            <a:chOff x="0" y="0"/>
            <a:chExt cx="9753600" cy="347472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9753600" cy="3474720"/>
            </a:xfrm>
            <a:custGeom>
              <a:avLst/>
              <a:gdLst/>
              <a:ahLst/>
              <a:cxnLst/>
              <a:rect r="r" b="b" t="t" l="l"/>
              <a:pathLst>
                <a:path h="347472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4694" r="0" b="-4694"/>
              </a:stretch>
            </a:blipFill>
          </p:spPr>
          <p:txBody>
            <a:bodyPr/>
            <a:p/>
          </p:txBody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9753600" cy="3512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 QUE SERÁ MEDIDO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Conclusão de cada tarefa, tempo gasto e onde as pessoas tocam. Ao final, o questionário SUS.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914400" y="8740140"/>
            <a:ext cx="15544800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Etapa prevista para depois da qualificação; os resultados entram na versão final do TCC.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26945"/>
            <a:ext cx="9144000" cy="833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50845"/>
            <a:ext cx="6400800" cy="246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44490"/>
            <a:ext cx="15544800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Conclusão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299835"/>
            <a:ext cx="15544800" cy="10667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Entregas, limites e próximos passos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8" id="8"/>
          <p:cNvSpPr txBox="true"/>
          <p:nvPr/>
        </p:nvSpPr>
        <p:spPr>
          <a:xfrm rot="0">
            <a:off x="1463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11" id="11"/>
          <p:cNvSpPr txBox="true"/>
          <p:nvPr/>
        </p:nvSpPr>
        <p:spPr>
          <a:xfrm rot="0">
            <a:off x="32918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51206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17" id="17"/>
          <p:cNvSpPr txBox="true"/>
          <p:nvPr/>
        </p:nvSpPr>
        <p:spPr>
          <a:xfrm rot="0">
            <a:off x="69494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  <p:txBody>
            <a:bodyPr/>
            <a:p/>
          </p:txBody>
        </p:sp>
      </p:grpSp>
      <p:sp>
        <p:nvSpPr>
          <p:cNvPr name="TextBox 20" id="20"/>
          <p:cNvSpPr txBox="true"/>
          <p:nvPr/>
        </p:nvSpPr>
        <p:spPr>
          <a:xfrm rot="0">
            <a:off x="87782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607040" y="8970645"/>
            <a:ext cx="1645920" cy="600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146304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  CONCLUSÃO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Conclusão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14400" y="2042160"/>
            <a:ext cx="5120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Entregue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2834640"/>
            <a:ext cx="5120640" cy="6309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 WeFIND funcional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Mapa georreferenciado e rota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Avistamentos colaborativos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Chat, cartaz com QR e devolução segura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Correspondências sugeridas automaticamente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83680" y="2042160"/>
            <a:ext cx="5120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Limites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583680" y="2834640"/>
            <a:ext cx="5120640" cy="318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Teste</a:t>
            </a: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 de usabilidade ainda não realizado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Pesos de correspondência ainda não calibrados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Limpeza de publicações só no aparelho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Privacidade de usuários ainda depende da interface</a:t>
            </a:r>
          </a:p>
        </p:txBody>
      </p:sp>
      <p:sp>
        <p:nvSpPr>
          <p:cNvPr name="AutoShape 24" id="24"/>
          <p:cNvSpPr/>
          <p:nvPr/>
        </p:nvSpPr>
        <p:spPr>
          <a:xfrm rot="5395140">
            <a:off x="2675096" y="5525814"/>
            <a:ext cx="6719888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25" id="25"/>
          <p:cNvSpPr txBox="true"/>
          <p:nvPr/>
        </p:nvSpPr>
        <p:spPr>
          <a:xfrm rot="0">
            <a:off x="12252960" y="2042160"/>
            <a:ext cx="5120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Próximos passos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252960" y="2834640"/>
            <a:ext cx="5120640" cy="6309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Teste de usabilidade com Quant UX e SUS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Testar a correspondência com pares revisados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 de segurança do APK (MobSF)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Restringir no banco os dados de perfil e as coordenadas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Limpeza global de publicações no backend</a:t>
            </a:r>
          </a:p>
          <a:p>
            <a:pPr algn="l" marL="470535" indent="-156845" lvl="2">
              <a:lnSpc>
                <a:spcPts val="3120"/>
              </a:lnSpc>
              <a:buFont typeface="Arial"/>
              <a:buChar char="⚬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 IA para comparar fotos</a:t>
            </a:r>
          </a:p>
        </p:txBody>
      </p:sp>
      <p:sp>
        <p:nvSpPr>
          <p:cNvPr name="AutoShape 27" id="27"/>
          <p:cNvSpPr/>
          <p:nvPr/>
        </p:nvSpPr>
        <p:spPr>
          <a:xfrm rot="5395140">
            <a:off x="8687171" y="5525814"/>
            <a:ext cx="6719888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28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9" id="3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43" id="4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  <p:txBody>
            <a:bodyPr/>
            <a:p/>
          </p:txBody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803234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796090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788946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914400" y="781802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774659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914400" y="767515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760371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914400" y="753227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5"/>
            </a:xfrm>
            <a:custGeom>
              <a:avLst/>
              <a:gdLst/>
              <a:ahLst/>
              <a:cxnLst/>
              <a:rect r="r" b="b" t="t" l="l"/>
              <a:pathLst>
                <a:path h="15297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5"/>
                  </a:lnTo>
                  <a:lnTo>
                    <a:pt x="0" y="152971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341" r="0" b="-229342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914400" y="746084"/>
            <a:ext cx="16459200" cy="1154430"/>
            <a:chOff x="0" y="0"/>
            <a:chExt cx="21945600" cy="1539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539240"/>
            </a:xfrm>
            <a:custGeom>
              <a:avLst/>
              <a:gdLst/>
              <a:ahLst/>
              <a:cxnLst/>
              <a:rect r="r" b="b" t="t" l="l"/>
              <a:pathLst>
                <a:path h="1539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39240"/>
                  </a:lnTo>
                  <a:lnTo>
                    <a:pt x="0" y="1539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27806" r="0" b="-227806"/>
              </a:stretch>
            </a:blip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21945600" cy="1548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Principais referências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  <p:txBody>
            <a:bodyPr/>
            <a:p/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  <p:txBody>
            <a:bodyPr/>
            <a:p/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348" r="0" b="-200346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822960" y="9344025"/>
            <a:ext cx="8229600" cy="668655"/>
            <a:chOff x="0" y="0"/>
            <a:chExt cx="10972800" cy="8915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891540"/>
            </a:xfrm>
            <a:custGeom>
              <a:avLst/>
              <a:gdLst/>
              <a:ahLst/>
              <a:cxnLst/>
              <a:rect r="r" b="b" t="t" l="l"/>
              <a:pathLst>
                <a:path h="8915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91540"/>
                  </a:lnTo>
                  <a:lnTo>
                    <a:pt x="0" y="8915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89815" r="0" b="-189815"/>
              </a:stretch>
            </a:blipFill>
          </p:spPr>
          <p:txBody>
            <a:bodyPr/>
            <a:p/>
          </p:txBody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097280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14400" y="1954530"/>
            <a:ext cx="7863840" cy="7235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13.709, de 14 de agosto de 2018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Lei Geral de Proteção de Dados Pessoais (LGPD). Brasília, DF: Presidência da República, 2018.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BROOKE, J.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SUS: a “quick and dirty” usability scale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In: JORDAN, P. W. et al. (ed.). Usability evaluation in industry. London: Taylor &amp; Francis, 1996. p. 189–194.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CAVOUKIAN, A.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Privacy by Design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the 7 foundational principles. Toronto: Information and Privacy Commissioner of Ontario, 2009.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GIL, A. C.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Como elaborar projetos de pesquisa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7. ed. São Paulo: Atlas, 2022.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HUANG, L. et al.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Search methods used to locate missing cats and locations where missing cats are found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Animals, v. 8, n. 1, art. 5, 2018.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IBGE.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Pesquisa Nacional de Saúde 2019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informações sobre domicílios, acesso e utilização dos serviços de saúde. Rio de Janeiro: IBGE, 2020.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ISO.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ISO/IEC 25010:2023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product quality model. Geneva: ISO, 2023.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MARCONI, M. A.; LAKATOS, E. M.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Metodologia científica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8. ed. São Paulo: Atlas, 2022.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MOBSF.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Mobile Security Framework (MobSF)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automated mobile application security assessment. 2026. Disponível em: github.com/MobSF/Mobile-Security-Framework-MobSF. Acesso em: 14 out. 2026.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PRESSMAN, R. S.; MAXIM, B. R.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Engenharia de software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uma abordagem profissional. 9. ed. Porto Alegre: AMGH, 2021.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372600" y="1954530"/>
            <a:ext cx="7863840" cy="7235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SAURO, J.; LEWIS, J. R.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Quantifying the user experience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2. ed. Cambridge: Morgan Kaufmann, 2016.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SINNOTT, R. W.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Virtues of the Haversine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Sky and Telescope, v. 68, n. 2, p. 159, 1984.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SOMMERVILLE, I.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Engenharia de software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10. ed. São Paulo: Pearson Education do Brasil, 2019.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SOUZA, F. C. M. et al.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FugaPet-Rotas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um algoritmo inteligente para recomendação de rotas visando buscar animais desaparecidos. In: ESCOLA REGIONAL DE ENGENHARIA DE SOFTWARE, 6., 2022, Blumenau. Anais [...]. Porto Alegre: SBC, 2022. p. 199–208.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VALENTE, M. T.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Engenharia de software moderna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Belo Horizonte: Edição do Autor, 2023.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WEISS, E.; SLATER, M.; LORD, 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Frequency of lost dogs and cats in the United States and the methods used to locate them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Animals, v. 2, n. 2, p. 301–315, 2012.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772400" y="1952149"/>
            <a:ext cx="2743200" cy="2651760"/>
            <a:chOff x="0" y="0"/>
            <a:chExt cx="3657600" cy="3535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57600" cy="3535680"/>
            </a:xfrm>
            <a:custGeom>
              <a:avLst/>
              <a:gdLst/>
              <a:ahLst/>
              <a:cxnLst/>
              <a:rect r="r" b="b" t="t" l="l"/>
              <a:pathLst>
                <a:path h="35356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3535680"/>
                  </a:lnTo>
                  <a:lnTo>
                    <a:pt x="0" y="3535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724" r="0" b="-1724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1828800" y="5227320"/>
            <a:ext cx="14630400" cy="1539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58"/>
              </a:lnSpc>
            </a:pPr>
            <a:r>
              <a:rPr lang="en-US" sz="8799" b="true">
                <a:solidFill>
                  <a:srgbClr val="1B2A1F"/>
                </a:solidFill>
                <a:latin typeface="Cambria Bold"/>
                <a:ea typeface="Cambria Bold"/>
                <a:cs typeface="Cambria Bold"/>
                <a:sym typeface="Cambria Bold"/>
              </a:rPr>
              <a:t>Obrigado!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28800" y="6400800"/>
            <a:ext cx="14630400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Fico à disposição para perguntas e comentários.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28800" y="7513320"/>
            <a:ext cx="14630400" cy="1082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</a:pPr>
            <a:r>
              <a:rPr lang="en-US" sz="27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Luis Henrique Fonseca Victoria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828800" y="8305800"/>
            <a:ext cx="1463040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IFSul Campus Pelotas  |  Curso Superior de Tecnologia em Sistemas para Internet  | 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66774" y="4508659"/>
            <a:ext cx="9554461" cy="46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6"/>
              </a:lnSpc>
            </a:pPr>
            <a:r>
              <a:rPr lang="en-US" sz="2088" u="sng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  <a:hlinkClick r:id="rId3" tooltip="https://luishenriquetsi.github.io/wefind/"/>
              </a:rPr>
              <a:t>Acesse o link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366774" y="4865818"/>
            <a:ext cx="9554461" cy="46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6"/>
              </a:lnSpc>
            </a:pPr>
            <a:r>
              <a:rPr lang="en-US" sz="2088" u="sng">
                <a:solidFill>
                  <a:srgbClr val="0097B2"/>
                </a:solidFill>
                <a:latin typeface="Calibri (MS)"/>
                <a:ea typeface="Calibri (MS)"/>
                <a:cs typeface="Calibri (MS)"/>
                <a:sym typeface="Calibri (MS)"/>
              </a:rPr>
              <a:t>https://luishenriquetsi.github.io/wefind/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DAHYmgjp1t8</dc:identifier>
  <dcterms:modified xsi:type="dcterms:W3CDTF">2011-08-01T06:04:30Z</dcterms:modified>
  <cp:revision>1</cp:revision>
  <dc:title>WeFIND - tcc apresentacao sem testes</dc:title>
</cp:coreProperties>
</file>