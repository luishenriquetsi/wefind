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1.svg" ContentType="image/svg+xml"/>
  <Override PartName="/ppt/media/image26.svg" ContentType="image/svg+xml"/>
  <Override PartName="/ppt/media/image28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6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sv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7.png"/><Relationship Id="rId12" Type="http://schemas.openxmlformats.org/officeDocument/2006/relationships/image" Target="../media/image18.sv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sv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25.png"/><Relationship Id="rId12" Type="http://schemas.openxmlformats.org/officeDocument/2006/relationships/image" Target="../media/image26.svg"/><Relationship Id="rId13" Type="http://schemas.openxmlformats.org/officeDocument/2006/relationships/image" Target="../media/image27.png"/><Relationship Id="rId14" Type="http://schemas.openxmlformats.org/officeDocument/2006/relationships/image" Target="../media/image28.sv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image" Target="../media/image39.png"/><Relationship Id="rId16" Type="http://schemas.openxmlformats.org/officeDocument/2006/relationships/image" Target="../media/image40.svg"/><Relationship Id="rId17" Type="http://schemas.openxmlformats.org/officeDocument/2006/relationships/image" Target="../media/image41.png"/><Relationship Id="rId18" Type="http://schemas.openxmlformats.org/officeDocument/2006/relationships/image" Target="../media/image42.svg"/><Relationship Id="rId19" Type="http://schemas.openxmlformats.org/officeDocument/2006/relationships/image" Target="../media/image43.png"/><Relationship Id="rId20" Type="http://schemas.openxmlformats.org/officeDocument/2006/relationships/image" Target="../media/image44.svg"/><Relationship Id="rId21" Type="http://schemas.openxmlformats.org/officeDocument/2006/relationships/image" Target="../media/image45.png"/><Relationship Id="rId22" Type="http://schemas.openxmlformats.org/officeDocument/2006/relationships/image" Target="../media/image46.svg"/><Relationship Id="rId23" Type="http://schemas.openxmlformats.org/officeDocument/2006/relationships/image" Target="../media/image47.png"/><Relationship Id="rId24" Type="http://schemas.openxmlformats.org/officeDocument/2006/relationships/image" Target="../media/image4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49.png"/><Relationship Id="rId11" Type="http://schemas.openxmlformats.org/officeDocument/2006/relationships/image" Target="../media/image50.svg"/><Relationship Id="rId12" Type="http://schemas.openxmlformats.org/officeDocument/2006/relationships/image" Target="../media/image51.png"/><Relationship Id="rId13" Type="http://schemas.openxmlformats.org/officeDocument/2006/relationships/image" Target="../media/image52.sv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svg"/><Relationship Id="rId18" Type="http://schemas.openxmlformats.org/officeDocument/2006/relationships/image" Target="../media/image57.png"/><Relationship Id="rId19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49.png"/><Relationship Id="rId12" Type="http://schemas.openxmlformats.org/officeDocument/2006/relationships/image" Target="../media/image50.svg"/><Relationship Id="rId13" Type="http://schemas.openxmlformats.org/officeDocument/2006/relationships/image" Target="../media/image51.png"/><Relationship Id="rId14" Type="http://schemas.openxmlformats.org/officeDocument/2006/relationships/image" Target="../media/image52.sv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svg"/><Relationship Id="rId19" Type="http://schemas.openxmlformats.org/officeDocument/2006/relationships/image" Target="../media/image30.png"/><Relationship Id="rId20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Relationship Id="rId24" Type="http://schemas.openxmlformats.org/officeDocument/2006/relationships/image" Target="../media/image74.png"/><Relationship Id="rId25" Type="http://schemas.openxmlformats.org/officeDocument/2006/relationships/image" Target="../media/image75.png"/><Relationship Id="rId26" Type="http://schemas.openxmlformats.org/officeDocument/2006/relationships/image" Target="../media/image7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2.png"/><Relationship Id="rId12" Type="http://schemas.openxmlformats.org/officeDocument/2006/relationships/image" Target="../media/image77.png"/><Relationship Id="rId13" Type="http://schemas.openxmlformats.org/officeDocument/2006/relationships/image" Target="../media/image64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75.png"/><Relationship Id="rId20" Type="http://schemas.openxmlformats.org/officeDocument/2006/relationships/image" Target="../media/image83.png"/><Relationship Id="rId21" Type="http://schemas.openxmlformats.org/officeDocument/2006/relationships/image" Target="../media/image84.png"/><Relationship Id="rId22" Type="http://schemas.openxmlformats.org/officeDocument/2006/relationships/image" Target="../media/image85.png"/><Relationship Id="rId23" Type="http://schemas.openxmlformats.org/officeDocument/2006/relationships/image" Target="../media/image86.png"/><Relationship Id="rId24" Type="http://schemas.openxmlformats.org/officeDocument/2006/relationships/image" Target="../media/image87.png"/><Relationship Id="rId25" Type="http://schemas.openxmlformats.org/officeDocument/2006/relationships/image" Target="../media/image88.png"/><Relationship Id="rId26" Type="http://schemas.openxmlformats.org/officeDocument/2006/relationships/image" Target="../media/image89.png"/><Relationship Id="rId27" Type="http://schemas.openxmlformats.org/officeDocument/2006/relationships/image" Target="../media/image9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image" Target="../media/image93.svg"/><Relationship Id="rId13" Type="http://schemas.openxmlformats.org/officeDocument/2006/relationships/image" Target="../media/image94.png"/><Relationship Id="rId14" Type="http://schemas.openxmlformats.org/officeDocument/2006/relationships/image" Target="../media/image95.svg"/><Relationship Id="rId15" Type="http://schemas.openxmlformats.org/officeDocument/2006/relationships/image" Target="../media/image96.png"/><Relationship Id="rId16" Type="http://schemas.openxmlformats.org/officeDocument/2006/relationships/image" Target="../media/image97.svg"/><Relationship Id="rId17" Type="http://schemas.openxmlformats.org/officeDocument/2006/relationships/image" Target="../media/image98.png"/><Relationship Id="rId18" Type="http://schemas.openxmlformats.org/officeDocument/2006/relationships/image" Target="../media/image99.svg"/><Relationship Id="rId19" Type="http://schemas.openxmlformats.org/officeDocument/2006/relationships/image" Target="../media/image100.png"/><Relationship Id="rId20" Type="http://schemas.openxmlformats.org/officeDocument/2006/relationships/image" Target="../media/image101.svg"/><Relationship Id="rId21" Type="http://schemas.openxmlformats.org/officeDocument/2006/relationships/image" Target="../media/image102.png"/><Relationship Id="rId22" Type="http://schemas.openxmlformats.org/officeDocument/2006/relationships/image" Target="../media/image103.svg"/><Relationship Id="rId23" Type="http://schemas.openxmlformats.org/officeDocument/2006/relationships/image" Target="../media/image104.png"/><Relationship Id="rId24" Type="http://schemas.openxmlformats.org/officeDocument/2006/relationships/image" Target="../media/image105.svg"/><Relationship Id="rId25" Type="http://schemas.openxmlformats.org/officeDocument/2006/relationships/image" Target="../media/image106.png"/><Relationship Id="rId26" Type="http://schemas.openxmlformats.org/officeDocument/2006/relationships/image" Target="../media/image107.svg"/><Relationship Id="rId27" Type="http://schemas.openxmlformats.org/officeDocument/2006/relationships/image" Target="../media/image108.png"/><Relationship Id="rId28" Type="http://schemas.openxmlformats.org/officeDocument/2006/relationships/image" Target="../media/image109.svg"/><Relationship Id="rId29" Type="http://schemas.openxmlformats.org/officeDocument/2006/relationships/image" Target="../media/image110.png"/><Relationship Id="rId30" Type="http://schemas.openxmlformats.org/officeDocument/2006/relationships/image" Target="../media/image111.svg"/><Relationship Id="rId31" Type="http://schemas.openxmlformats.org/officeDocument/2006/relationships/image" Target="../media/image112.png"/><Relationship Id="rId32" Type="http://schemas.openxmlformats.org/officeDocument/2006/relationships/image" Target="../media/image113.svg"/><Relationship Id="rId33" Type="http://schemas.openxmlformats.org/officeDocument/2006/relationships/image" Target="../media/image114.png"/><Relationship Id="rId34" Type="http://schemas.openxmlformats.org/officeDocument/2006/relationships/image" Target="../media/image115.svg"/><Relationship Id="rId35" Type="http://schemas.openxmlformats.org/officeDocument/2006/relationships/image" Target="../media/image116.png"/><Relationship Id="rId36" Type="http://schemas.openxmlformats.org/officeDocument/2006/relationships/image" Target="../media/image1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hyperlink" Target="https://luishenriquetsi.github.io/wefind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866008"/>
            <a:ext cx="15823606" cy="11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perdidos, encontrados e para adoção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390849"/>
            <a:ext cx="13922893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88289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282311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64870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58409"/>
            <a:ext cx="13600671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-878424"/>
            <a:ext cx="16459200" cy="3814239"/>
            <a:chOff x="0" y="0"/>
            <a:chExt cx="21945600" cy="5085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022" r="0" b="-3402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-885568"/>
            <a:ext cx="16459200" cy="3821382"/>
            <a:chOff x="0" y="0"/>
            <a:chExt cx="21945600" cy="5095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 de Apresentação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4400" y="2510314"/>
            <a:ext cx="1828800" cy="1513046"/>
            <a:chOff x="0" y="0"/>
            <a:chExt cx="24384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2503170"/>
            <a:ext cx="1828800" cy="1520190"/>
            <a:chOff x="0" y="0"/>
            <a:chExt cx="24384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6080" y="2657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6080" y="3076956"/>
            <a:ext cx="4981165" cy="80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2510314"/>
            <a:ext cx="1828800" cy="1513046"/>
            <a:chOff x="0" y="0"/>
            <a:chExt cx="2438400" cy="20173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6880" y="2503170"/>
            <a:ext cx="1828800" cy="1520190"/>
            <a:chOff x="0" y="0"/>
            <a:chExt cx="2438400" cy="2026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338560" y="2657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 e pesquisa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38560" y="3076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Metodologia, pesquisa de campo e similares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4400" y="4796314"/>
            <a:ext cx="1828800" cy="1513046"/>
            <a:chOff x="0" y="0"/>
            <a:chExt cx="2438400" cy="201739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14400" y="4789170"/>
            <a:ext cx="1828800" cy="1520190"/>
            <a:chOff x="0" y="0"/>
            <a:chExt cx="2438400" cy="20269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292608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2608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326880" y="4796314"/>
            <a:ext cx="1828800" cy="1513046"/>
            <a:chOff x="0" y="0"/>
            <a:chExt cx="2438400" cy="20173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26880" y="4789170"/>
            <a:ext cx="1828800" cy="1520190"/>
            <a:chOff x="0" y="0"/>
            <a:chExt cx="2438400" cy="2026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33856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33856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design e demonstração em vídeo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14400" y="7082314"/>
            <a:ext cx="1828800" cy="1513046"/>
            <a:chOff x="0" y="0"/>
            <a:chExt cx="2438400" cy="201739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14400" y="7075170"/>
            <a:ext cx="1828800" cy="1520190"/>
            <a:chOff x="0" y="0"/>
            <a:chExt cx="2438400" cy="20269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292608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Próximas etapas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92608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326880" y="7082314"/>
            <a:ext cx="1828800" cy="1513046"/>
            <a:chOff x="0" y="0"/>
            <a:chExt cx="2438400" cy="20173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326880" y="7075170"/>
            <a:ext cx="1828800" cy="1520190"/>
            <a:chOff x="0" y="0"/>
            <a:chExt cx="2438400" cy="20269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45" id="145"/>
          <p:cNvSpPr txBox="true"/>
          <p:nvPr/>
        </p:nvSpPr>
        <p:spPr>
          <a:xfrm rot="0">
            <a:off x="1133856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33856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66" id="166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4080034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5451634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Motivação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5878354"/>
            <a:ext cx="4937760" cy="158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Acompanhei de perto a busca de uma pessoa próxima pelo seu animal desaparecido, feita pelas redes sociais.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943600" y="4247674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4154805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4061936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3969067"/>
            <a:ext cx="548640" cy="1375886"/>
            <a:chOff x="0" y="0"/>
            <a:chExt cx="731520" cy="18345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943600" y="3876199"/>
            <a:ext cx="548640" cy="1468755"/>
            <a:chOff x="0" y="0"/>
            <a:chExt cx="731520" cy="1958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943600" y="3783330"/>
            <a:ext cx="548640" cy="1561624"/>
            <a:chOff x="0" y="0"/>
            <a:chExt cx="731520" cy="20821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943600" y="3690461"/>
            <a:ext cx="548640" cy="1654492"/>
            <a:chOff x="0" y="0"/>
            <a:chExt cx="731520" cy="22059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943600" y="3597592"/>
            <a:ext cx="548640" cy="1747361"/>
            <a:chOff x="0" y="0"/>
            <a:chExt cx="731520" cy="23298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583680" y="4080034"/>
            <a:ext cx="1828800" cy="11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83680" y="5451634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 que observei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83680" y="5878354"/>
            <a:ext cx="4937760" cy="195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Montar o cartaz levava tempo, as publicações sumiam em poucas horas e, se faltava alguma informação, não dava para corrigir o que já estava sendo compartilhado.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12880" y="4247674"/>
            <a:ext cx="548640" cy="1097280"/>
            <a:chOff x="0" y="0"/>
            <a:chExt cx="73152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4154805"/>
            <a:ext cx="548640" cy="1190149"/>
            <a:chOff x="0" y="0"/>
            <a:chExt cx="731520" cy="1586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2880" y="4061936"/>
            <a:ext cx="548640" cy="1283018"/>
            <a:chOff x="0" y="0"/>
            <a:chExt cx="731520" cy="1710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12880" y="3969067"/>
            <a:ext cx="548640" cy="1375886"/>
            <a:chOff x="0" y="0"/>
            <a:chExt cx="731520" cy="18345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12880" y="3876199"/>
            <a:ext cx="548640" cy="1468755"/>
            <a:chOff x="0" y="0"/>
            <a:chExt cx="731520" cy="19583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612880" y="3783330"/>
            <a:ext cx="548640" cy="1561624"/>
            <a:chOff x="0" y="0"/>
            <a:chExt cx="731520" cy="20821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12880" y="3690461"/>
            <a:ext cx="548640" cy="1654492"/>
            <a:chOff x="0" y="0"/>
            <a:chExt cx="731520" cy="22059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12880" y="3597592"/>
            <a:ext cx="548640" cy="1747361"/>
            <a:chOff x="0" y="0"/>
            <a:chExt cx="731520" cy="23298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252960" y="4080034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252960" y="5451634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 que faltava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52960" y="5878354"/>
            <a:ext cx="4937760" cy="120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Uma forma rápida de divulgar e manter a informação sempre atualizada.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-444084"/>
            <a:ext cx="16459200" cy="3814239"/>
            <a:chOff x="0" y="0"/>
            <a:chExt cx="21945600" cy="50856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022" r="0" b="-3402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-451228"/>
            <a:ext cx="16459200" cy="3821382"/>
            <a:chOff x="0" y="0"/>
            <a:chExt cx="21945600" cy="5095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24" r="0" b="-339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Panorama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7955280" cy="6720840"/>
            <a:chOff x="0" y="0"/>
            <a:chExt cx="10607040" cy="896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7160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ESTUDOS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1600" y="3108960"/>
            <a:ext cx="3200400" cy="2468880"/>
            <a:chOff x="0" y="0"/>
            <a:chExt cx="4267200" cy="3291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3101816"/>
            <a:ext cx="3200400" cy="2476024"/>
            <a:chOff x="0" y="0"/>
            <a:chExt cx="4267200" cy="33013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33,8 mi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72000" y="3108960"/>
            <a:ext cx="3840480" cy="2468880"/>
            <a:chOff x="0" y="0"/>
            <a:chExt cx="5120640" cy="3291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72000" y="3080385"/>
            <a:ext cx="3840480" cy="2497455"/>
            <a:chOff x="0" y="0"/>
            <a:chExt cx="5120640" cy="3329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lares brasileiros têm cachorro, e 14,1 milhões têm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IBGE, 2020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4620">
            <a:off x="1360484" y="56780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371600" y="5852160"/>
            <a:ext cx="3200400" cy="2468880"/>
            <a:chOff x="0" y="0"/>
            <a:chExt cx="4267200" cy="3291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71600" y="5845016"/>
            <a:ext cx="3200400" cy="2476024"/>
            <a:chOff x="0" y="0"/>
            <a:chExt cx="4267200" cy="33013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000" y="5852160"/>
            <a:ext cx="3840480" cy="2468880"/>
            <a:chOff x="0" y="0"/>
            <a:chExt cx="5120640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572000" y="5823585"/>
            <a:ext cx="3840480" cy="2497455"/>
            <a:chOff x="0" y="0"/>
            <a:chExt cx="5120640" cy="33299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tutores já perderam um cão ou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EUA · Weiss et al., 2012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18320" y="2148840"/>
            <a:ext cx="7955280" cy="6720840"/>
            <a:chOff x="0" y="0"/>
            <a:chExt cx="10607040" cy="896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F8EFE8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87552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DE CAMPO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875520" y="3108960"/>
            <a:ext cx="3200400" cy="1554480"/>
            <a:chOff x="0" y="0"/>
            <a:chExt cx="4267200" cy="2072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75520" y="3101816"/>
            <a:ext cx="3200400" cy="1561624"/>
            <a:chOff x="0" y="0"/>
            <a:chExt cx="4267200" cy="20821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75920" y="3108960"/>
            <a:ext cx="3840480" cy="1554480"/>
            <a:chOff x="0" y="0"/>
            <a:chExt cx="5120640" cy="2072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075920" y="3080385"/>
            <a:ext cx="3840480" cy="1583055"/>
            <a:chOff x="0" y="0"/>
            <a:chExt cx="5120640" cy="21107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usam coleira, plaquinha ou microchip no animal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23 de 48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 rot="4620">
            <a:off x="9864404" y="47636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9875520" y="4937760"/>
            <a:ext cx="3200400" cy="1554480"/>
            <a:chOff x="0" y="0"/>
            <a:chExt cx="4267200" cy="2072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75520" y="4930616"/>
            <a:ext cx="3200400" cy="1561624"/>
            <a:chOff x="0" y="0"/>
            <a:chExt cx="4267200" cy="20821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32%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075920" y="4937760"/>
            <a:ext cx="3840480" cy="1554480"/>
            <a:chOff x="0" y="0"/>
            <a:chExt cx="5120640" cy="2072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075920" y="4909185"/>
            <a:ext cx="3840480" cy="1583055"/>
            <a:chOff x="0" y="0"/>
            <a:chExt cx="5120640" cy="21107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quem já perdeu um animal nunca o reencontrou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8 de 25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4620">
            <a:off x="9864404" y="65924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9875520" y="6766560"/>
            <a:ext cx="3200400" cy="1554480"/>
            <a:chOff x="0" y="0"/>
            <a:chExt cx="4267200" cy="2072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875520" y="6759416"/>
            <a:ext cx="3200400" cy="1561624"/>
            <a:chOff x="0" y="0"/>
            <a:chExt cx="4267200" cy="208216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37,5%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075920" y="6766560"/>
            <a:ext cx="3840480" cy="1554480"/>
            <a:chOff x="0" y="0"/>
            <a:chExt cx="5120640" cy="2072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075920" y="6737985"/>
            <a:ext cx="3840480" cy="1583055"/>
            <a:chOff x="0" y="0"/>
            <a:chExt cx="5120640" cy="21107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já viram golpes ou trotes nas divulgações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18 de 48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16459200" cy="1600200"/>
            <a:chOff x="0" y="0"/>
            <a:chExt cx="21945600" cy="2133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9456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21732239" y="0"/>
                  </a:lnTo>
                  <a:cubicBezTo>
                    <a:pt x="21850096" y="0"/>
                    <a:pt x="21945600" y="95504"/>
                    <a:pt x="21945600" y="213360"/>
                  </a:cubicBezTo>
                  <a:lnTo>
                    <a:pt x="21945600" y="1920240"/>
                  </a:lnTo>
                  <a:cubicBezTo>
                    <a:pt x="21945600" y="2038096"/>
                    <a:pt x="21850096" y="2133600"/>
                    <a:pt x="21732239" y="2133600"/>
                  </a:cubicBezTo>
                  <a:lnTo>
                    <a:pt x="213360" y="2133600"/>
                  </a:lnTo>
                  <a:cubicBezTo>
                    <a:pt x="95504" y="2133600"/>
                    <a:pt x="0" y="2038096"/>
                    <a:pt x="0" y="192024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2377440"/>
            <a:ext cx="2926080" cy="1143000"/>
            <a:chOff x="0" y="0"/>
            <a:chExt cx="3901440" cy="152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" t="0" r="-153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2341721"/>
            <a:ext cx="2926080" cy="1178719"/>
            <a:chOff x="0" y="0"/>
            <a:chExt cx="3901440" cy="15716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1571625"/>
            </a:xfrm>
            <a:custGeom>
              <a:avLst/>
              <a:gdLst/>
              <a:ahLst/>
              <a:cxnLst/>
              <a:rect r="r" b="b" t="t" l="l"/>
              <a:pathLst>
                <a:path h="15716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71625"/>
                  </a:lnTo>
                  <a:lnTo>
                    <a:pt x="0" y="15716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684" t="0" r="-168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90144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8"/>
                </a:lnSpc>
              </a:pPr>
              <a:r>
                <a:rPr lang="en-US" sz="1998" b="true">
                  <a:solidFill>
                    <a:srgbClr val="E6C9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GERAL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206240" y="2331720"/>
            <a:ext cx="12710160" cy="1234440"/>
            <a:chOff x="0" y="0"/>
            <a:chExt cx="169468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946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484" r="0" b="-15048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206240" y="2281714"/>
            <a:ext cx="12710160" cy="1284446"/>
            <a:chOff x="0" y="0"/>
            <a:chExt cx="16946880" cy="17125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9468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2813" r="0" b="-1428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6946880" cy="177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 uma aplicação móvel colaborativa que apoie tutores e a comunidade na divulgação e na busca por animais perdidos, encontrados e para adoção.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14400" y="4019550"/>
            <a:ext cx="9144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998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0051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18872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57400" y="4823460"/>
            <a:ext cx="253746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Identificar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dificuldades de tutores e protetores na divulgação e na busca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508389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537210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40780" y="482346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Analisar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 de animais perdidos e encontrados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26727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955548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424160" y="482346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Definir e modelar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 e os diagramas em UML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345065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373886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07540" y="4823460"/>
            <a:ext cx="25374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 do aplicativo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90051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18872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5740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aplicativo móvel com suas funcionalidades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508389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537210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240780" y="697230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mecanismo de correspondência entre as publicações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926727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955548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2416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Avaliar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com tarefas e a escala SUS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 e pesquisa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Metodologia, pesquisa de campo e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183130"/>
            <a:ext cx="7315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O TRABALHO FOI FEITO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914475" y="6163056"/>
            <a:ext cx="7223685" cy="9525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14400" y="2788920"/>
            <a:ext cx="713232" cy="713232"/>
            <a:chOff x="0" y="0"/>
            <a:chExt cx="950976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2760345"/>
            <a:ext cx="713232" cy="741807"/>
            <a:chOff x="0" y="0"/>
            <a:chExt cx="950976" cy="9890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2715768"/>
            <a:ext cx="6400800" cy="868680"/>
            <a:chOff x="0" y="0"/>
            <a:chExt cx="8534400" cy="1158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920240" y="2680049"/>
            <a:ext cx="6400800" cy="904399"/>
            <a:chOff x="0" y="0"/>
            <a:chExt cx="8534400" cy="1205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Ouvir e pesquisar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Questionário com 48 participantes e análise de 4 plataformas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3977640"/>
            <a:ext cx="713232" cy="713232"/>
            <a:chOff x="0" y="0"/>
            <a:chExt cx="950976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3949065"/>
            <a:ext cx="713232" cy="741807"/>
            <a:chOff x="0" y="0"/>
            <a:chExt cx="950976" cy="9890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20240" y="3904488"/>
            <a:ext cx="6400800" cy="868680"/>
            <a:chOff x="0" y="0"/>
            <a:chExt cx="8534400" cy="1158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920240" y="3868769"/>
            <a:ext cx="6400800" cy="904399"/>
            <a:chOff x="0" y="0"/>
            <a:chExt cx="8534400" cy="12058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 o aplicativo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 6 partes, uma de cada vez  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" y="5166360"/>
            <a:ext cx="713232" cy="713232"/>
            <a:chOff x="0" y="0"/>
            <a:chExt cx="950976" cy="9509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5137785"/>
            <a:ext cx="713232" cy="741807"/>
            <a:chOff x="0" y="0"/>
            <a:chExt cx="950976" cy="9890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20240" y="5093208"/>
            <a:ext cx="6400800" cy="868680"/>
            <a:chOff x="0" y="0"/>
            <a:chExt cx="8534400" cy="1158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920240" y="5057489"/>
            <a:ext cx="6400800" cy="904399"/>
            <a:chOff x="0" y="0"/>
            <a:chExt cx="8534400" cy="12058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Testar com tutores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 funcionais, segurança e usabilidade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6400800"/>
            <a:ext cx="7223760" cy="868680"/>
            <a:chOff x="0" y="0"/>
            <a:chExt cx="9631680" cy="1158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9400032" y="0"/>
                  </a:lnTo>
                  <a:cubicBezTo>
                    <a:pt x="9527921" y="0"/>
                    <a:pt x="9631680" y="103759"/>
                    <a:pt x="9631680" y="231648"/>
                  </a:cubicBezTo>
                  <a:lnTo>
                    <a:pt x="9631680" y="926592"/>
                  </a:lnTo>
                  <a:cubicBezTo>
                    <a:pt x="9631680" y="1054481"/>
                    <a:pt x="9527921" y="1158240"/>
                    <a:pt x="9400032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88720" y="6400800"/>
            <a:ext cx="6766560" cy="868680"/>
            <a:chOff x="0" y="0"/>
            <a:chExt cx="9022080" cy="1158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220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1672" r="0" b="-101673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88720" y="6372225"/>
            <a:ext cx="6766560" cy="897255"/>
            <a:chOff x="0" y="0"/>
            <a:chExt cx="9022080" cy="1196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022080" cy="1196340"/>
            </a:xfrm>
            <a:custGeom>
              <a:avLst/>
              <a:gdLst/>
              <a:ahLst/>
              <a:cxnLst/>
              <a:rect r="r" b="b" t="t" l="l"/>
              <a:pathLst>
                <a:path h="11963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96340"/>
                  </a:lnTo>
                  <a:lnTo>
                    <a:pt x="0" y="1196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44" r="0" b="-9694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022080" cy="123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Pesquisa aplicada, exploratória e descritiva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Gil (2022); Marconi e Lakatos (2022)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8047" y="7537447"/>
            <a:ext cx="3216250" cy="1475708"/>
            <a:chOff x="0" y="0"/>
            <a:chExt cx="4288333" cy="1967611"/>
          </a:xfrm>
        </p:grpSpPr>
        <p:sp>
          <p:nvSpPr>
            <p:cNvPr name="Freeform 76" id="76" descr="quadro_kanban_trello_wefind.png"/>
            <p:cNvSpPr/>
            <p:nvPr/>
          </p:nvSpPr>
          <p:spPr>
            <a:xfrm flipH="false" flipV="false" rot="0">
              <a:off x="0" y="0"/>
              <a:ext cx="4288282" cy="1967611"/>
            </a:xfrm>
            <a:custGeom>
              <a:avLst/>
              <a:gdLst/>
              <a:ahLst/>
              <a:cxnLst/>
              <a:rect r="r" b="b" t="t" l="l"/>
              <a:pathLst>
                <a:path h="1967611" w="4288282">
                  <a:moveTo>
                    <a:pt x="0" y="0"/>
                  </a:moveTo>
                  <a:lnTo>
                    <a:pt x="4288282" y="0"/>
                  </a:lnTo>
                  <a:lnTo>
                    <a:pt x="4288282" y="1967611"/>
                  </a:lnTo>
                  <a:lnTo>
                    <a:pt x="0" y="1967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856" r="-1" b="-2856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4210050" y="7669530"/>
            <a:ext cx="392811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Tarefas no Trello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961120" y="2148840"/>
            <a:ext cx="8412480" cy="6675120"/>
            <a:chOff x="0" y="0"/>
            <a:chExt cx="11216640" cy="89001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16640" cy="8900161"/>
            </a:xfrm>
            <a:custGeom>
              <a:avLst/>
              <a:gdLst/>
              <a:ahLst/>
              <a:cxnLst/>
              <a:rect r="r" b="b" t="t" l="l"/>
              <a:pathLst>
                <a:path h="8900161" w="11216640">
                  <a:moveTo>
                    <a:pt x="0" y="355981"/>
                  </a:moveTo>
                  <a:cubicBezTo>
                    <a:pt x="0" y="159385"/>
                    <a:pt x="159385" y="0"/>
                    <a:pt x="355981" y="0"/>
                  </a:cubicBezTo>
                  <a:lnTo>
                    <a:pt x="10860659" y="0"/>
                  </a:lnTo>
                  <a:cubicBezTo>
                    <a:pt x="11057255" y="0"/>
                    <a:pt x="11216640" y="159385"/>
                    <a:pt x="11216640" y="355981"/>
                  </a:cubicBezTo>
                  <a:lnTo>
                    <a:pt x="11216640" y="8544179"/>
                  </a:lnTo>
                  <a:cubicBezTo>
                    <a:pt x="11216640" y="8740775"/>
                    <a:pt x="11057255" y="8900161"/>
                    <a:pt x="10860659" y="8900161"/>
                  </a:cubicBezTo>
                  <a:lnTo>
                    <a:pt x="355981" y="8900161"/>
                  </a:lnTo>
                  <a:cubicBezTo>
                    <a:pt x="159385" y="8900160"/>
                    <a:pt x="0" y="8740775"/>
                    <a:pt x="0" y="8544179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418320" y="2366010"/>
            <a:ext cx="75895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CONSTRUÇÃO EM 6 PARTES (ITERATIVA E INCREMENTAL)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418320" y="2926080"/>
            <a:ext cx="292608" cy="292608"/>
            <a:chOff x="0" y="0"/>
            <a:chExt cx="390144" cy="3901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02368" y="2898648"/>
            <a:ext cx="1828800" cy="365760"/>
            <a:chOff x="0" y="0"/>
            <a:chExt cx="243840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02368" y="2877217"/>
            <a:ext cx="1828800" cy="387191"/>
            <a:chOff x="0" y="0"/>
            <a:chExt cx="2438400" cy="51625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Planejar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018520" y="2926080"/>
            <a:ext cx="292608" cy="292608"/>
            <a:chOff x="0" y="0"/>
            <a:chExt cx="390144" cy="3901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402568" y="2898648"/>
            <a:ext cx="1828800" cy="365760"/>
            <a:chOff x="0" y="0"/>
            <a:chExt cx="243840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402568" y="2877217"/>
            <a:ext cx="1828800" cy="387191"/>
            <a:chOff x="0" y="0"/>
            <a:chExt cx="2438400" cy="5162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20472" y="2926080"/>
            <a:ext cx="292608" cy="292608"/>
            <a:chOff x="0" y="0"/>
            <a:chExt cx="390144" cy="390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304520" y="2898648"/>
            <a:ext cx="1828800" cy="365760"/>
            <a:chOff x="0" y="0"/>
            <a:chExt cx="2438400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304520" y="2877217"/>
            <a:ext cx="1828800" cy="387191"/>
            <a:chOff x="0" y="0"/>
            <a:chExt cx="2438400" cy="51625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Testar no celular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425928" y="2926080"/>
            <a:ext cx="292608" cy="292608"/>
            <a:chOff x="0" y="0"/>
            <a:chExt cx="390144" cy="3901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809976" y="2898648"/>
            <a:ext cx="1828800" cy="365760"/>
            <a:chOff x="0" y="0"/>
            <a:chExt cx="243840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809976" y="2877217"/>
            <a:ext cx="1828800" cy="387191"/>
            <a:chOff x="0" y="0"/>
            <a:chExt cx="2438400" cy="5162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18320" y="3520440"/>
            <a:ext cx="1463040" cy="502920"/>
            <a:chOff x="0" y="0"/>
            <a:chExt cx="1950720" cy="6705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418320" y="3499009"/>
            <a:ext cx="1463040" cy="524351"/>
            <a:chOff x="0" y="0"/>
            <a:chExt cx="1950720" cy="69913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Acesso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972800" y="3575304"/>
            <a:ext cx="749808" cy="402336"/>
            <a:chOff x="0" y="0"/>
            <a:chExt cx="999744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777472" y="3575304"/>
            <a:ext cx="749808" cy="402336"/>
            <a:chOff x="0" y="0"/>
            <a:chExt cx="999744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582144" y="3575304"/>
            <a:ext cx="749808" cy="402336"/>
            <a:chOff x="0" y="0"/>
            <a:chExt cx="999744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386816" y="3575304"/>
            <a:ext cx="749808" cy="402336"/>
            <a:chOff x="0" y="0"/>
            <a:chExt cx="999744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18320" y="4233672"/>
            <a:ext cx="1463040" cy="502920"/>
            <a:chOff x="0" y="0"/>
            <a:chExt cx="1950720" cy="6705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418320" y="4212241"/>
            <a:ext cx="1463040" cy="524351"/>
            <a:chOff x="0" y="0"/>
            <a:chExt cx="1950720" cy="69913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Mapa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484864" y="4288536"/>
            <a:ext cx="749808" cy="402336"/>
            <a:chOff x="0" y="0"/>
            <a:chExt cx="999744" cy="53644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289536" y="4288536"/>
            <a:ext cx="749808" cy="402336"/>
            <a:chOff x="0" y="0"/>
            <a:chExt cx="999744" cy="5364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094208" y="4288536"/>
            <a:ext cx="749808" cy="402336"/>
            <a:chOff x="0" y="0"/>
            <a:chExt cx="999744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3898880" y="4288536"/>
            <a:ext cx="749808" cy="402336"/>
            <a:chOff x="0" y="0"/>
            <a:chExt cx="999744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18320" y="4946904"/>
            <a:ext cx="1463040" cy="502920"/>
            <a:chOff x="0" y="0"/>
            <a:chExt cx="1950720" cy="67056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418320" y="4925473"/>
            <a:ext cx="1463040" cy="524351"/>
            <a:chOff x="0" y="0"/>
            <a:chExt cx="1950720" cy="69913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Publicações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996928" y="5001768"/>
            <a:ext cx="749808" cy="402336"/>
            <a:chOff x="0" y="0"/>
            <a:chExt cx="999744" cy="53644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801600" y="5001768"/>
            <a:ext cx="749808" cy="402336"/>
            <a:chOff x="0" y="0"/>
            <a:chExt cx="999744" cy="5364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3606272" y="5001768"/>
            <a:ext cx="749808" cy="402336"/>
            <a:chOff x="0" y="0"/>
            <a:chExt cx="999744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4410944" y="5001768"/>
            <a:ext cx="749808" cy="402336"/>
            <a:chOff x="0" y="0"/>
            <a:chExt cx="999744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18320" y="5660136"/>
            <a:ext cx="1463040" cy="502920"/>
            <a:chOff x="0" y="0"/>
            <a:chExt cx="1950720" cy="6705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418320" y="5638705"/>
            <a:ext cx="1463040" cy="524351"/>
            <a:chOff x="0" y="0"/>
            <a:chExt cx="1950720" cy="69913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Comunicação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2508992" y="5715000"/>
            <a:ext cx="749808" cy="402336"/>
            <a:chOff x="0" y="0"/>
            <a:chExt cx="999744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313664" y="5715000"/>
            <a:ext cx="749808" cy="402336"/>
            <a:chOff x="0" y="0"/>
            <a:chExt cx="999744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4118336" y="5715000"/>
            <a:ext cx="749808" cy="402336"/>
            <a:chOff x="0" y="0"/>
            <a:chExt cx="999744" cy="5364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4923008" y="5715000"/>
            <a:ext cx="749808" cy="402336"/>
            <a:chOff x="0" y="0"/>
            <a:chExt cx="999744" cy="53644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418320" y="6373368"/>
            <a:ext cx="1463040" cy="502920"/>
            <a:chOff x="0" y="0"/>
            <a:chExt cx="1950720" cy="6705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418320" y="6351937"/>
            <a:ext cx="1463040" cy="524351"/>
            <a:chOff x="0" y="0"/>
            <a:chExt cx="1950720" cy="699135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Cartaz QR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021056" y="6428232"/>
            <a:ext cx="749808" cy="402336"/>
            <a:chOff x="0" y="0"/>
            <a:chExt cx="999744" cy="5364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25728" y="6428232"/>
            <a:ext cx="749808" cy="402336"/>
            <a:chOff x="0" y="0"/>
            <a:chExt cx="999744" cy="53644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630400" y="6428232"/>
            <a:ext cx="749808" cy="402336"/>
            <a:chOff x="0" y="0"/>
            <a:chExt cx="999744" cy="5364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5435072" y="6428232"/>
            <a:ext cx="749808" cy="402336"/>
            <a:chOff x="0" y="0"/>
            <a:chExt cx="999744" cy="53644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9418320" y="7086600"/>
            <a:ext cx="1463040" cy="502920"/>
            <a:chOff x="0" y="0"/>
            <a:chExt cx="1950720" cy="6705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418320" y="7065169"/>
            <a:ext cx="1463040" cy="524351"/>
            <a:chOff x="0" y="0"/>
            <a:chExt cx="1950720" cy="69913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 Reencontro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533120" y="7141464"/>
            <a:ext cx="749808" cy="402336"/>
            <a:chOff x="0" y="0"/>
            <a:chExt cx="999744" cy="5364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4337792" y="7141464"/>
            <a:ext cx="749808" cy="402336"/>
            <a:chOff x="0" y="0"/>
            <a:chExt cx="999744" cy="53644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5142464" y="7141464"/>
            <a:ext cx="749808" cy="402336"/>
            <a:chOff x="0" y="0"/>
            <a:chExt cx="999744" cy="53644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5947136" y="7141464"/>
            <a:ext cx="749808" cy="402336"/>
            <a:chOff x="0" y="0"/>
            <a:chExt cx="999744" cy="5364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sp>
        <p:nvSpPr>
          <p:cNvPr name="AutoShape 187" id="187"/>
          <p:cNvSpPr/>
          <p:nvPr/>
        </p:nvSpPr>
        <p:spPr>
          <a:xfrm rot="10620">
            <a:off x="10953712" y="7826502"/>
            <a:ext cx="6164637" cy="0"/>
          </a:xfrm>
          <a:prstGeom prst="line">
            <a:avLst/>
          </a:prstGeom>
          <a:ln cap="rnd" w="19050">
            <a:solidFill>
              <a:srgbClr val="5B6B5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8" id="188"/>
          <p:cNvSpPr txBox="true"/>
          <p:nvPr/>
        </p:nvSpPr>
        <p:spPr>
          <a:xfrm rot="0">
            <a:off x="13898880" y="7861554"/>
            <a:ext cx="32004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tempo do projeto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9418320" y="812673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Cada parte foi planejada, feita, testada no celular e entregue antes da próxima (Valente, 2023).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87200" y="2144554"/>
            <a:ext cx="2743200" cy="1513046"/>
            <a:chOff x="0" y="0"/>
            <a:chExt cx="36576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7200" y="2137410"/>
            <a:ext cx="2743200" cy="1520190"/>
            <a:chOff x="0" y="0"/>
            <a:chExt cx="36576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630400" y="194881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30400" y="277177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52 questões; consulta em out. de 2026</a:t>
            </a:r>
          </a:p>
        </p:txBody>
      </p:sp>
      <p:sp>
        <p:nvSpPr>
          <p:cNvPr name="AutoShape 42" id="42"/>
          <p:cNvSpPr/>
          <p:nvPr/>
        </p:nvSpPr>
        <p:spPr>
          <a:xfrm rot="5880">
            <a:off x="11839556" y="416337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887200" y="4339114"/>
            <a:ext cx="2743200" cy="1513046"/>
            <a:chOff x="0" y="0"/>
            <a:chExt cx="3657600" cy="20173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4331970"/>
            <a:ext cx="2743200" cy="1520190"/>
            <a:chOff x="0" y="0"/>
            <a:chExt cx="3657600" cy="202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4630400" y="414337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630400" y="496633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64" id="64"/>
          <p:cNvSpPr/>
          <p:nvPr/>
        </p:nvSpPr>
        <p:spPr>
          <a:xfrm rot="5880">
            <a:off x="11839556" y="635793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887200" y="6533674"/>
            <a:ext cx="2743200" cy="1513046"/>
            <a:chOff x="0" y="0"/>
            <a:chExt cx="3657600" cy="20173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887200" y="6526530"/>
            <a:ext cx="2743200" cy="1520190"/>
            <a:chOff x="0" y="0"/>
            <a:chExt cx="3657600" cy="20269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83%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4630400" y="633793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publicariam em até 3 min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630400" y="716089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40 de 48 participantes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8349615"/>
            <a:ext cx="16459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Facebook; 72,9% moram em Pelotas. Os resultados descrevem apenas o grupo consultado.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14400" y="2005965"/>
            <a:ext cx="1024128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mais fez falta nas primeiras horas da busca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914400" y="2606040"/>
            <a:ext cx="10515600" cy="411480"/>
            <a:chOff x="0" y="0"/>
            <a:chExt cx="1402080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02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020800">
                  <a:moveTo>
                    <a:pt x="0" y="0"/>
                  </a:moveTo>
                  <a:lnTo>
                    <a:pt x="14020800" y="0"/>
                  </a:lnTo>
                  <a:lnTo>
                    <a:pt x="1402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4020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Respostas dos 25 que já perderam um animal; cada pessoa marcou até 3 opções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3598164"/>
            <a:ext cx="4389120" cy="768096"/>
            <a:chOff x="0" y="0"/>
            <a:chExt cx="5852160" cy="10241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852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8843" r="0" b="-7384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58521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Avisos </a:t>
              </a: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quem viu o animal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486400" y="3598164"/>
            <a:ext cx="4754880" cy="475488"/>
            <a:chOff x="0" y="0"/>
            <a:chExt cx="6339840" cy="6339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486400" y="3598164"/>
            <a:ext cx="3994099" cy="475488"/>
            <a:chOff x="0" y="0"/>
            <a:chExt cx="5325466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25491" cy="633984"/>
            </a:xfrm>
            <a:custGeom>
              <a:avLst/>
              <a:gdLst/>
              <a:ahLst/>
              <a:cxnLst/>
              <a:rect r="r" b="b" t="t" l="l"/>
              <a:pathLst>
                <a:path h="633984" w="5325491">
                  <a:moveTo>
                    <a:pt x="0" y="0"/>
                  </a:moveTo>
                  <a:lnTo>
                    <a:pt x="5325491" y="0"/>
                  </a:lnTo>
                  <a:lnTo>
                    <a:pt x="532549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617659" y="3598164"/>
            <a:ext cx="1463040" cy="475488"/>
            <a:chOff x="0" y="0"/>
            <a:chExt cx="1950720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4400" y="4539996"/>
            <a:ext cx="4389120" cy="960120"/>
            <a:chOff x="0" y="0"/>
            <a:chExt cx="5852160" cy="12801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Alcançar as pessoas do bairro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486400" y="4786884"/>
            <a:ext cx="4754880" cy="475488"/>
            <a:chOff x="0" y="0"/>
            <a:chExt cx="633984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5486400" y="4786884"/>
            <a:ext cx="3423514" cy="475488"/>
            <a:chOff x="0" y="0"/>
            <a:chExt cx="4564685" cy="6339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564634" cy="633984"/>
            </a:xfrm>
            <a:custGeom>
              <a:avLst/>
              <a:gdLst/>
              <a:ahLst/>
              <a:cxnLst/>
              <a:rect r="r" b="b" t="t" l="l"/>
              <a:pathLst>
                <a:path h="633984" w="4564634">
                  <a:moveTo>
                    <a:pt x="0" y="0"/>
                  </a:moveTo>
                  <a:lnTo>
                    <a:pt x="4564634" y="0"/>
                  </a:lnTo>
                  <a:lnTo>
                    <a:pt x="456463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047074" y="4786884"/>
            <a:ext cx="1463040" cy="475488"/>
            <a:chOff x="0" y="0"/>
            <a:chExt cx="1950720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14400" y="5728716"/>
            <a:ext cx="4389120" cy="960120"/>
            <a:chOff x="0" y="0"/>
            <a:chExt cx="5852160" cy="12801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 de animal parecido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5486400" y="5975604"/>
            <a:ext cx="4754880" cy="475488"/>
            <a:chOff x="0" y="0"/>
            <a:chExt cx="6339840" cy="6339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5486400" y="5975604"/>
            <a:ext cx="2282342" cy="475488"/>
            <a:chOff x="0" y="0"/>
            <a:chExt cx="3043123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43174" cy="633984"/>
            </a:xfrm>
            <a:custGeom>
              <a:avLst/>
              <a:gdLst/>
              <a:ahLst/>
              <a:cxnLst/>
              <a:rect r="r" b="b" t="t" l="l"/>
              <a:pathLst>
                <a:path h="633984" w="3043174">
                  <a:moveTo>
                    <a:pt x="0" y="0"/>
                  </a:moveTo>
                  <a:lnTo>
                    <a:pt x="3043174" y="0"/>
                  </a:lnTo>
                  <a:lnTo>
                    <a:pt x="304317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7905902" y="5975604"/>
            <a:ext cx="1463040" cy="475488"/>
            <a:chOff x="0" y="0"/>
            <a:chExt cx="1950720" cy="63398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48%</a:t>
              </a:r>
            </a:p>
          </p:txBody>
        </p:sp>
      </p:grp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0051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45920" y="3086129"/>
            <a:ext cx="2103120" cy="2103120"/>
            <a:chOff x="0" y="0"/>
            <a:chExt cx="2804160" cy="2804160"/>
          </a:xfrm>
        </p:grpSpPr>
        <p:sp>
          <p:nvSpPr>
            <p:cNvPr name="Freeform 42" id="42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519819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5943600" y="3086129"/>
            <a:ext cx="2103120" cy="2103120"/>
            <a:chOff x="0" y="0"/>
            <a:chExt cx="2804160" cy="280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6852" t="0" r="-16852" b="0"/>
              </a:stretch>
            </a:blip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949587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241280" y="3086129"/>
            <a:ext cx="2103120" cy="2103120"/>
            <a:chOff x="0" y="0"/>
            <a:chExt cx="2804160" cy="2804160"/>
          </a:xfrm>
        </p:grpSpPr>
        <p:sp>
          <p:nvSpPr>
            <p:cNvPr name="Freeform 48" id="48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85" t="0" r="-186" b="0"/>
              </a:stretch>
            </a:blip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379355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4538960" y="3086129"/>
            <a:ext cx="2103120" cy="2103120"/>
            <a:chOff x="0" y="0"/>
            <a:chExt cx="2804160" cy="2804160"/>
          </a:xfrm>
        </p:grpSpPr>
        <p:sp>
          <p:nvSpPr>
            <p:cNvPr name="Freeform 51" id="51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9728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9728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9496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9496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264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9264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9032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9032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14400" y="2194560"/>
          <a:ext cx="16179800" cy="6616700"/>
        </p:xfrm>
        <a:graphic>
          <a:graphicData uri="http://schemas.openxmlformats.org/drawingml/2006/table">
            <a:tbl>
              <a:tblPr/>
              <a:tblGrid>
                <a:gridCol w="6651696"/>
                <a:gridCol w="1905621"/>
                <a:gridCol w="1905621"/>
                <a:gridCol w="1905621"/>
                <a:gridCol w="1905621"/>
                <a:gridCol w="1905621"/>
              </a:tblGrid>
              <a:tr h="623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0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331720" y="21270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31720" y="26928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21270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26928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55" id="5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3578840" y="21270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78840" y="26928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61" id="6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2331720" y="39558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331720" y="45216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67" id="6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7955280" y="39558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955280" y="45216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73" id="7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3578840" y="3955856"/>
            <a:ext cx="3703320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578840" y="4521641"/>
            <a:ext cx="370332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161288" y="5875020"/>
            <a:ext cx="4754880" cy="94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6784848" y="5875020"/>
            <a:ext cx="475488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2408408" y="5875020"/>
            <a:ext cx="4754880" cy="94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161288" y="7246620"/>
            <a:ext cx="4754880" cy="94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6784848" y="7246620"/>
            <a:ext cx="4754880" cy="94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2408408" y="7246620"/>
            <a:ext cx="4754880" cy="94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28"/>
            <a:chOff x="0" y="0"/>
            <a:chExt cx="21945600" cy="5124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72"/>
            <a:chOff x="0" y="0"/>
            <a:chExt cx="21945600" cy="5134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29"/>
            </a:xfrm>
            <a:custGeom>
              <a:avLst/>
              <a:gdLst/>
              <a:ahLst/>
              <a:cxnLst/>
              <a:rect r="r" b="b" t="t" l="l"/>
              <a:pathLst>
                <a:path h="51342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29"/>
                  </a:lnTo>
                  <a:lnTo>
                    <a:pt x="0" y="51342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28" r="0" b="-332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-232620"/>
            <a:ext cx="16459200" cy="3857835"/>
            <a:chOff x="0" y="0"/>
            <a:chExt cx="21945600" cy="514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143754"/>
            </a:xfrm>
            <a:custGeom>
              <a:avLst/>
              <a:gdLst/>
              <a:ahLst/>
              <a:cxnLst/>
              <a:rect r="r" b="b" t="t" l="l"/>
              <a:pathLst>
                <a:path h="51437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43754"/>
                  </a:lnTo>
                  <a:lnTo>
                    <a:pt x="0" y="514375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073" r="0" b="-3307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-239763"/>
            <a:ext cx="16459200" cy="3864978"/>
            <a:chOff x="0" y="0"/>
            <a:chExt cx="21945600" cy="51533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5153305"/>
            </a:xfrm>
            <a:custGeom>
              <a:avLst/>
              <a:gdLst/>
              <a:ahLst/>
              <a:cxnLst/>
              <a:rect r="r" b="b" t="t" l="l"/>
              <a:pathLst>
                <a:path h="51533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53305"/>
                  </a:lnTo>
                  <a:lnTo>
                    <a:pt x="0" y="51533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977" r="0" b="-329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516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980">
            <a:off x="863594" y="2938081"/>
            <a:ext cx="165608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440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12064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2064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2064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32688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2688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2688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53312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3312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3312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499616" y="6900291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9616" y="7160895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705856" y="6900291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05856" y="7160895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118336" y="6900291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18336" y="7160895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853249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automática diária no servidor, para as publicações de todos os usuários.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9912096" y="6900291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12096" y="7160895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6" id="36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2880360" y="2475357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8036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2" id="42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315700" y="2475357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1570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(nenhum dos 48 participantes exibiria o endereço completo).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8" id="48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2880360" y="5630037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8036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4" id="54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1315700" y="5630037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1570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22960" y="83972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74" r="0" b="-2003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requisitos não funcionais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88036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31570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5" id="5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288036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88036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61" id="6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131570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1570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2960" y="8349615"/>
            <a:ext cx="16596360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2960" y="2499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2884456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960" y="43281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4705350"/>
            <a:ext cx="61722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2960" y="7071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7466647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35875" y="32261"/>
            <a:ext cx="9147200" cy="10254739"/>
            <a:chOff x="0" y="0"/>
            <a:chExt cx="12196267" cy="136729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6318" cy="13672947"/>
            </a:xfrm>
            <a:custGeom>
              <a:avLst/>
              <a:gdLst/>
              <a:ahLst/>
              <a:cxnLst/>
              <a:rect r="r" b="b" t="t" l="l"/>
              <a:pathLst>
                <a:path h="13672947" w="12196318">
                  <a:moveTo>
                    <a:pt x="0" y="0"/>
                  </a:moveTo>
                  <a:lnTo>
                    <a:pt x="12196318" y="0"/>
                  </a:lnTo>
                  <a:lnTo>
                    <a:pt x="12196318" y="13672947"/>
                  </a:lnTo>
                  <a:lnTo>
                    <a:pt x="0" y="136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" t="0" r="-18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25957" y="695192"/>
            <a:ext cx="10247671" cy="9591808"/>
            <a:chOff x="0" y="0"/>
            <a:chExt cx="13663562" cy="12789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63549" cy="12789027"/>
            </a:xfrm>
            <a:custGeom>
              <a:avLst/>
              <a:gdLst/>
              <a:ahLst/>
              <a:cxnLst/>
              <a:rect r="r" b="b" t="t" l="l"/>
              <a:pathLst>
                <a:path h="12789027" w="13663549">
                  <a:moveTo>
                    <a:pt x="0" y="0"/>
                  </a:moveTo>
                  <a:lnTo>
                    <a:pt x="13663549" y="0"/>
                  </a:lnTo>
                  <a:lnTo>
                    <a:pt x="13663549" y="12789027"/>
                  </a:lnTo>
                  <a:lnTo>
                    <a:pt x="0" y="1278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0" r="0" b="-8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914400"/>
            <a:ext cx="60350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203454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243687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322326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362559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441198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481431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56007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60030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78942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719175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97814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838047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tecnologias, design e demonstração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08960" y="2148840"/>
            <a:ext cx="12070080" cy="1463040"/>
            <a:chOff x="0" y="0"/>
            <a:chExt cx="1609344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09344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6093441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5800832" y="0"/>
                  </a:lnTo>
                  <a:cubicBezTo>
                    <a:pt x="15962376" y="0"/>
                    <a:pt x="16093441" y="131064"/>
                    <a:pt x="16093441" y="292608"/>
                  </a:cubicBezTo>
                  <a:lnTo>
                    <a:pt x="16093441" y="1658112"/>
                  </a:lnTo>
                  <a:cubicBezTo>
                    <a:pt x="16093441" y="1819656"/>
                    <a:pt x="15962376" y="1950720"/>
                    <a:pt x="15800832" y="1950720"/>
                  </a:cubicBezTo>
                  <a:lnTo>
                    <a:pt x="292608" y="1950720"/>
                  </a:lnTo>
                  <a:cubicBezTo>
                    <a:pt x="131064" y="1950720"/>
                    <a:pt x="0" y="1819656"/>
                    <a:pt x="0" y="165811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429000" y="1829402"/>
            <a:ext cx="3108960" cy="1463040"/>
            <a:chOff x="0" y="0"/>
            <a:chExt cx="414528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14528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 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 pessoa usa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900735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38160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32320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000551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33823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67095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Câmera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00367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Notificações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3639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</a:t>
            </a:r>
          </a:p>
        </p:txBody>
      </p:sp>
      <p:sp>
        <p:nvSpPr>
          <p:cNvPr name="AutoShape 55" id="55"/>
          <p:cNvSpPr/>
          <p:nvPr/>
        </p:nvSpPr>
        <p:spPr>
          <a:xfrm flipH="true">
            <a:off x="9144000" y="3706114"/>
            <a:ext cx="14294" cy="545846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6" id="56"/>
          <p:cNvGrpSpPr/>
          <p:nvPr/>
        </p:nvGrpSpPr>
        <p:grpSpPr>
          <a:xfrm rot="0">
            <a:off x="9372600" y="3657600"/>
            <a:ext cx="3657600" cy="457200"/>
            <a:chOff x="0" y="0"/>
            <a:chExt cx="48768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conexão segura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949440" y="4251960"/>
            <a:ext cx="4389120" cy="1508760"/>
            <a:chOff x="0" y="0"/>
            <a:chExt cx="5852160" cy="2011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5449824" y="0"/>
                  </a:lnTo>
                  <a:cubicBezTo>
                    <a:pt x="5672074" y="0"/>
                    <a:pt x="5852160" y="180086"/>
                    <a:pt x="5852160" y="402336"/>
                  </a:cubicBezTo>
                  <a:lnTo>
                    <a:pt x="5852160" y="1609344"/>
                  </a:lnTo>
                  <a:cubicBezTo>
                    <a:pt x="5852160" y="1831594"/>
                    <a:pt x="5672074" y="2011680"/>
                    <a:pt x="5449824" y="2011680"/>
                  </a:cubicBezTo>
                  <a:lnTo>
                    <a:pt x="402336" y="2011680"/>
                  </a:lnTo>
                  <a:cubicBezTo>
                    <a:pt x="180086" y="2011680"/>
                    <a:pt x="0" y="1831594"/>
                    <a:pt x="0" y="1609344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223760" y="4544568"/>
            <a:ext cx="914400" cy="914400"/>
            <a:chOff x="0" y="0"/>
            <a:chExt cx="121920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366760" y="3903607"/>
            <a:ext cx="2880360" cy="1508760"/>
            <a:chOff x="0" y="0"/>
            <a:chExt cx="3840480" cy="20116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40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7206" t="0" r="-1720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8404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  Backend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D6E4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onde tudo fica guardado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003746" y="4244021"/>
            <a:ext cx="3947798" cy="884558"/>
            <a:chOff x="0" y="0"/>
            <a:chExt cx="5263731" cy="11794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212848" y="4434835"/>
            <a:ext cx="502920" cy="502920"/>
            <a:chOff x="0" y="0"/>
            <a:chExt cx="670560" cy="670560"/>
          </a:xfrm>
        </p:grpSpPr>
        <p:sp>
          <p:nvSpPr>
            <p:cNvPr name="Freeform 69" id="69" descr="lock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880360" y="4251955"/>
            <a:ext cx="2971800" cy="868680"/>
            <a:chOff x="0" y="0"/>
            <a:chExt cx="3962400" cy="1158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 Auth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inclusive com Google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003746" y="5158421"/>
            <a:ext cx="3947798" cy="884558"/>
            <a:chOff x="0" y="0"/>
            <a:chExt cx="5263731" cy="11794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2880360" y="5166355"/>
            <a:ext cx="2971800" cy="868680"/>
            <a:chOff x="0" y="0"/>
            <a:chExt cx="3962400" cy="1158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+ RLS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e regras de acesso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36466" y="4229100"/>
            <a:ext cx="3947798" cy="884558"/>
            <a:chOff x="0" y="0"/>
            <a:chExt cx="5263731" cy="11794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213080" y="4237034"/>
            <a:ext cx="2971800" cy="868680"/>
            <a:chOff x="0" y="0"/>
            <a:chExt cx="3962400" cy="11582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guarda as fotos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36466" y="5143500"/>
            <a:ext cx="3947798" cy="884558"/>
            <a:chOff x="0" y="0"/>
            <a:chExt cx="5263731" cy="11794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213080" y="5151434"/>
            <a:ext cx="2971800" cy="868680"/>
            <a:chOff x="0" y="0"/>
            <a:chExt cx="3962400" cy="1158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e avisos na hora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>
            <a:off x="5951544" y="4686300"/>
            <a:ext cx="1059462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11371457" y="4671379"/>
            <a:ext cx="965009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5929310" y="5586411"/>
            <a:ext cx="955764" cy="44298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11418647" y="5585779"/>
            <a:ext cx="917819" cy="2920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7170106" y="6118546"/>
            <a:ext cx="3947798" cy="884558"/>
            <a:chOff x="0" y="0"/>
            <a:chExt cx="5263731" cy="11794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8046720" y="6126480"/>
            <a:ext cx="2971800" cy="868680"/>
            <a:chOff x="0" y="0"/>
            <a:chExt cx="3962400" cy="11582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Functions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tarefas no servidor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>
            <a:off x="9144000" y="5760720"/>
            <a:ext cx="5" cy="357826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H="true">
            <a:off x="9128126" y="6979287"/>
            <a:ext cx="0" cy="721951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9" id="99"/>
          <p:cNvGrpSpPr/>
          <p:nvPr/>
        </p:nvGrpSpPr>
        <p:grpSpPr>
          <a:xfrm rot="0">
            <a:off x="9372600" y="7040880"/>
            <a:ext cx="3657600" cy="457200"/>
            <a:chOff x="0" y="0"/>
            <a:chExt cx="487680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pede o envio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108960" y="7589520"/>
            <a:ext cx="12070080" cy="1417320"/>
            <a:chOff x="0" y="0"/>
            <a:chExt cx="16093440" cy="1889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6093439" cy="1889760"/>
            </a:xfrm>
            <a:custGeom>
              <a:avLst/>
              <a:gdLst/>
              <a:ahLst/>
              <a:cxnLst/>
              <a:rect r="r" b="b" t="t" l="l"/>
              <a:pathLst>
                <a:path h="1889760" w="16093439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lnTo>
                    <a:pt x="15809976" y="0"/>
                  </a:lnTo>
                  <a:cubicBezTo>
                    <a:pt x="15966567" y="0"/>
                    <a:pt x="16093439" y="126873"/>
                    <a:pt x="16093439" y="283464"/>
                  </a:cubicBezTo>
                  <a:lnTo>
                    <a:pt x="16093439" y="1606296"/>
                  </a:lnTo>
                  <a:cubicBezTo>
                    <a:pt x="16093439" y="1762887"/>
                    <a:pt x="15966567" y="1889760"/>
                    <a:pt x="15809976" y="1889760"/>
                  </a:cubicBezTo>
                  <a:lnTo>
                    <a:pt x="283464" y="1889760"/>
                  </a:lnTo>
                  <a:cubicBezTo>
                    <a:pt x="126873" y="1889760"/>
                    <a:pt x="0" y="1762887"/>
                    <a:pt x="0" y="1606296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3429000" y="7301489"/>
            <a:ext cx="3108960" cy="1417320"/>
            <a:chOff x="0" y="0"/>
            <a:chExt cx="4145280" cy="18897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452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491" t="0" r="-849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4145280" cy="189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  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quem avisa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138160" y="7589520"/>
            <a:ext cx="3017520" cy="1417320"/>
            <a:chOff x="0" y="0"/>
            <a:chExt cx="4023360" cy="18897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02336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263" t="0" r="-1026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02336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 API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robô que envia, no Render</a:t>
              </a:r>
            </a:p>
          </p:txBody>
        </p:sp>
      </p:grpSp>
      <p:sp>
        <p:nvSpPr>
          <p:cNvPr name="AutoShape 110" id="110"/>
          <p:cNvSpPr/>
          <p:nvPr/>
        </p:nvSpPr>
        <p:spPr>
          <a:xfrm flipV="true">
            <a:off x="11155680" y="8293608"/>
            <a:ext cx="706943" cy="4572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1" id="111"/>
          <p:cNvGrpSpPr/>
          <p:nvPr/>
        </p:nvGrpSpPr>
        <p:grpSpPr>
          <a:xfrm rot="0">
            <a:off x="12893040" y="7589520"/>
            <a:ext cx="2194560" cy="1417320"/>
            <a:chOff x="0" y="0"/>
            <a:chExt cx="2926080" cy="18897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260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862" t="0" r="-32862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92608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e avisos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6202487" y="2423160"/>
            <a:ext cx="493776" cy="493776"/>
            <a:chOff x="0" y="0"/>
            <a:chExt cx="658368" cy="658368"/>
          </a:xfrm>
        </p:grpSpPr>
        <p:sp>
          <p:nvSpPr>
            <p:cNvPr name="Freeform 115" id="115" descr="/tmp/un/ppt/media/image53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439912" y="2423160"/>
            <a:ext cx="493776" cy="493776"/>
            <a:chOff x="0" y="0"/>
            <a:chExt cx="658368" cy="658368"/>
          </a:xfrm>
        </p:grpSpPr>
        <p:sp>
          <p:nvSpPr>
            <p:cNvPr name="Freeform 117" id="117" descr="/tmp/un/ppt/media/image54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7434072" y="2423160"/>
            <a:ext cx="493776" cy="493776"/>
            <a:chOff x="0" y="0"/>
            <a:chExt cx="658368" cy="658368"/>
          </a:xfrm>
        </p:grpSpPr>
        <p:sp>
          <p:nvSpPr>
            <p:cNvPr name="Freeform 119" id="119" descr="/tmp/un/ppt/media/image55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302303" y="2423160"/>
            <a:ext cx="493776" cy="493776"/>
            <a:chOff x="0" y="0"/>
            <a:chExt cx="658368" cy="658368"/>
          </a:xfrm>
        </p:grpSpPr>
        <p:sp>
          <p:nvSpPr>
            <p:cNvPr name="Freeform 121" id="121" descr="/tmp/un/ppt/media/image70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335575" y="2423160"/>
            <a:ext cx="493776" cy="493776"/>
            <a:chOff x="0" y="0"/>
            <a:chExt cx="658368" cy="658368"/>
          </a:xfrm>
        </p:grpSpPr>
        <p:sp>
          <p:nvSpPr>
            <p:cNvPr name="Freeform 123" id="123" descr="/tmp/un/ppt/media/image56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368847" y="2423160"/>
            <a:ext cx="493776" cy="493776"/>
            <a:chOff x="0" y="0"/>
            <a:chExt cx="658368" cy="658368"/>
          </a:xfrm>
        </p:grpSpPr>
        <p:sp>
          <p:nvSpPr>
            <p:cNvPr name="Freeform 125" id="125" descr="/tmp/un/ppt/media/image71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402119" y="2423160"/>
            <a:ext cx="493776" cy="493776"/>
            <a:chOff x="0" y="0"/>
            <a:chExt cx="658368" cy="658368"/>
          </a:xfrm>
        </p:grpSpPr>
        <p:sp>
          <p:nvSpPr>
            <p:cNvPr name="Freeform 127" id="127" descr="/tmp/un/ppt/media/image72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35391" y="2423160"/>
            <a:ext cx="493776" cy="493776"/>
            <a:chOff x="0" y="0"/>
            <a:chExt cx="658368" cy="658368"/>
          </a:xfrm>
        </p:grpSpPr>
        <p:sp>
          <p:nvSpPr>
            <p:cNvPr name="Freeform 129" id="129" descr="/tmp/un/ppt/media/image74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7424928" y="4745736"/>
            <a:ext cx="512064" cy="512064"/>
            <a:chOff x="0" y="0"/>
            <a:chExt cx="682752" cy="682752"/>
          </a:xfrm>
        </p:grpSpPr>
        <p:sp>
          <p:nvSpPr>
            <p:cNvPr name="Freeform 131" id="131" descr="/tmp/un/ppt/media/image75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2212848" y="5349235"/>
            <a:ext cx="502920" cy="502920"/>
            <a:chOff x="0" y="0"/>
            <a:chExt cx="670560" cy="67056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126" r="0" b="-2128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545568" y="4419914"/>
            <a:ext cx="502920" cy="502920"/>
            <a:chOff x="0" y="0"/>
            <a:chExt cx="670560" cy="670560"/>
          </a:xfrm>
        </p:grpSpPr>
        <p:sp>
          <p:nvSpPr>
            <p:cNvPr name="Freeform 135" id="135" descr="/tmp/un/ppt/media/image60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545568" y="5334314"/>
            <a:ext cx="502920" cy="502920"/>
            <a:chOff x="0" y="0"/>
            <a:chExt cx="670560" cy="670560"/>
          </a:xfrm>
        </p:grpSpPr>
        <p:sp>
          <p:nvSpPr>
            <p:cNvPr name="Freeform 137" id="137" descr="/tmp/un/ppt/media/image61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7379208" y="6309360"/>
            <a:ext cx="502920" cy="502920"/>
            <a:chOff x="0" y="0"/>
            <a:chExt cx="670560" cy="670560"/>
          </a:xfrm>
        </p:grpSpPr>
        <p:sp>
          <p:nvSpPr>
            <p:cNvPr name="Freeform 139" id="139" descr="/tmp/un/ppt/media/image6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070080" y="7973568"/>
            <a:ext cx="640080" cy="640080"/>
            <a:chOff x="0" y="0"/>
            <a:chExt cx="853440" cy="853440"/>
          </a:xfrm>
        </p:grpSpPr>
        <p:sp>
          <p:nvSpPr>
            <p:cNvPr name="Freeform 141" id="141" descr="/tmp/un/ppt/media/image64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7315200" y="7973568"/>
            <a:ext cx="640080" cy="640080"/>
            <a:chOff x="0" y="0"/>
            <a:chExt cx="853440" cy="85344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4444" r="0" b="-4443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2496295" y="7851143"/>
            <a:ext cx="318011" cy="318011"/>
            <a:chOff x="0" y="0"/>
            <a:chExt cx="424015" cy="424015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53E3E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424015" cy="45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por que cada escolha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39546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2103120"/>
            <a:ext cx="16459200" cy="1828800"/>
            <a:chOff x="0" y="0"/>
            <a:chExt cx="2194560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652992" y="0"/>
                  </a:lnTo>
                  <a:cubicBezTo>
                    <a:pt x="21814537" y="0"/>
                    <a:pt x="21945600" y="131064"/>
                    <a:pt x="21945600" y="292608"/>
                  </a:cubicBezTo>
                  <a:lnTo>
                    <a:pt x="21945600" y="2145792"/>
                  </a:lnTo>
                  <a:cubicBezTo>
                    <a:pt x="21945600" y="2307336"/>
                    <a:pt x="21814537" y="2438400"/>
                    <a:pt x="21652992" y="2438400"/>
                  </a:cubicBezTo>
                  <a:lnTo>
                    <a:pt x="292608" y="2438400"/>
                  </a:lnTo>
                  <a:cubicBezTo>
                    <a:pt x="131064" y="2438400"/>
                    <a:pt x="0" y="2307336"/>
                    <a:pt x="0" y="214579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0160" y="2103120"/>
            <a:ext cx="4206240" cy="1828800"/>
            <a:chOff x="0" y="0"/>
            <a:chExt cx="560832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60832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 código para Android e iOS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69671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e iOS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1695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testar e gerar o app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3719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JavaScript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5743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NativeWind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telas mais rápido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7767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Maps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gratuito e conhecido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29791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API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mapa e login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4400" y="4069080"/>
            <a:ext cx="16459200" cy="1645920"/>
            <a:chOff x="0" y="0"/>
            <a:chExt cx="2194560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80160" y="4069080"/>
            <a:ext cx="4206240" cy="1645920"/>
            <a:chOff x="0" y="0"/>
            <a:chExt cx="56083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tudo pronto, sem servidor próprio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12280" y="4069080"/>
            <a:ext cx="4572000" cy="1645920"/>
            <a:chOff x="0" y="0"/>
            <a:chExt cx="609600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banco e fotos prontos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81560" y="4069080"/>
            <a:ext cx="4572000" cy="1645920"/>
            <a:chOff x="0" y="0"/>
            <a:chExt cx="609600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relacional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5852160"/>
            <a:ext cx="16459200" cy="1645920"/>
            <a:chOff x="0" y="0"/>
            <a:chExt cx="21945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5852160"/>
            <a:ext cx="4206240" cy="1645920"/>
            <a:chOff x="0" y="0"/>
            <a:chExt cx="5608320" cy="21945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as pessoas já estão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12280" y="5852160"/>
            <a:ext cx="4572000" cy="1645920"/>
            <a:chOff x="0" y="0"/>
            <a:chExt cx="609600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todos usam no dia a dia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81560" y="5852160"/>
            <a:ext cx="4572000" cy="1645920"/>
            <a:chOff x="0" y="0"/>
            <a:chExt cx="609600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+ Evolution API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hospeda o envio automático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7635240"/>
            <a:ext cx="16459200" cy="1508760"/>
            <a:chOff x="0" y="0"/>
            <a:chExt cx="21945600" cy="2011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21704173" y="0"/>
                  </a:lnTo>
                  <a:cubicBezTo>
                    <a:pt x="21837523" y="0"/>
                    <a:pt x="21945600" y="108077"/>
                    <a:pt x="21945600" y="241427"/>
                  </a:cubicBezTo>
                  <a:lnTo>
                    <a:pt x="21945600" y="1770253"/>
                  </a:lnTo>
                  <a:cubicBezTo>
                    <a:pt x="21945600" y="1903603"/>
                    <a:pt x="21837523" y="2011680"/>
                    <a:pt x="21704173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0160" y="7635240"/>
            <a:ext cx="4206240" cy="1508760"/>
            <a:chOff x="0" y="0"/>
            <a:chExt cx="560832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60832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Apoio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organizar e construir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56967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e GitHub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versões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426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98855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Figma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telas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63447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Astah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28039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VS Code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9263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5722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Copilot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6377940" y="2331720"/>
            <a:ext cx="502920" cy="502920"/>
            <a:chOff x="0" y="0"/>
            <a:chExt cx="670560" cy="670560"/>
          </a:xfrm>
        </p:grpSpPr>
        <p:sp>
          <p:nvSpPr>
            <p:cNvPr name="Freeform 88" id="88" descr="/tmp/un/ppt/media/image53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298180" y="2331720"/>
            <a:ext cx="502920" cy="502920"/>
            <a:chOff x="0" y="0"/>
            <a:chExt cx="670560" cy="670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218420" y="2331720"/>
            <a:ext cx="502920" cy="502920"/>
            <a:chOff x="0" y="0"/>
            <a:chExt cx="670560" cy="670560"/>
          </a:xfrm>
        </p:grpSpPr>
        <p:sp>
          <p:nvSpPr>
            <p:cNvPr name="Freeform 92" id="92" descr="/tmp/un/ppt/media/image5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138660" y="2331720"/>
            <a:ext cx="502920" cy="502920"/>
            <a:chOff x="0" y="0"/>
            <a:chExt cx="670560" cy="670560"/>
          </a:xfrm>
        </p:grpSpPr>
        <p:sp>
          <p:nvSpPr>
            <p:cNvPr name="Freeform 94" id="94" descr="/tmp/un/ppt/media/image57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058900" y="2331720"/>
            <a:ext cx="502920" cy="502920"/>
            <a:chOff x="0" y="0"/>
            <a:chExt cx="670560" cy="670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876861" y="2331720"/>
            <a:ext cx="707479" cy="502920"/>
            <a:chOff x="0" y="0"/>
            <a:chExt cx="943305" cy="6705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43356" cy="670560"/>
            </a:xfrm>
            <a:custGeom>
              <a:avLst/>
              <a:gdLst/>
              <a:ahLst/>
              <a:cxnLst/>
              <a:rect r="r" b="b" t="t" l="l"/>
              <a:pathLst>
                <a:path h="670560" w="943356">
                  <a:moveTo>
                    <a:pt x="0" y="0"/>
                  </a:moveTo>
                  <a:lnTo>
                    <a:pt x="943356" y="0"/>
                  </a:lnTo>
                  <a:lnTo>
                    <a:pt x="943356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49588" t="0" r="-49584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875020" y="4549140"/>
            <a:ext cx="685800" cy="685800"/>
            <a:chOff x="0" y="0"/>
            <a:chExt cx="914400" cy="914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544300" y="4549140"/>
            <a:ext cx="685800" cy="685800"/>
            <a:chOff x="0" y="0"/>
            <a:chExt cx="91440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127" r="0" b="-2127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875020" y="6332220"/>
            <a:ext cx="685800" cy="685800"/>
            <a:chOff x="0" y="0"/>
            <a:chExt cx="914400" cy="914400"/>
          </a:xfrm>
        </p:grpSpPr>
        <p:sp>
          <p:nvSpPr>
            <p:cNvPr name="Freeform 104" id="104" descr="/tmp/un/ppt/media/image64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544300" y="6332220"/>
            <a:ext cx="685800" cy="685800"/>
            <a:chOff x="0" y="0"/>
            <a:chExt cx="914400" cy="914400"/>
          </a:xfrm>
        </p:grpSpPr>
        <p:sp>
          <p:nvSpPr>
            <p:cNvPr name="Freeform 106" id="106" descr="/tmp/un/ppt/media/image63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240780" y="7863840"/>
            <a:ext cx="502920" cy="502920"/>
            <a:chOff x="0" y="0"/>
            <a:chExt cx="670560" cy="670560"/>
          </a:xfrm>
        </p:grpSpPr>
        <p:sp>
          <p:nvSpPr>
            <p:cNvPr name="Freeform 108" id="108" descr="/tmp/un/ppt/media/image6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886700" y="7863840"/>
            <a:ext cx="502920" cy="502920"/>
            <a:chOff x="0" y="0"/>
            <a:chExt cx="670560" cy="670560"/>
          </a:xfrm>
        </p:grpSpPr>
        <p:sp>
          <p:nvSpPr>
            <p:cNvPr name="Freeform 110" id="110" descr="/tmp/un/ppt/media/image66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612420" y="7863840"/>
            <a:ext cx="343310" cy="502920"/>
            <a:chOff x="0" y="0"/>
            <a:chExt cx="457746" cy="670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57708" cy="670560"/>
            </a:xfrm>
            <a:custGeom>
              <a:avLst/>
              <a:gdLst/>
              <a:ahLst/>
              <a:cxnLst/>
              <a:rect r="r" b="b" t="t" l="l"/>
              <a:pathLst>
                <a:path h="670560" w="457708">
                  <a:moveTo>
                    <a:pt x="0" y="0"/>
                  </a:moveTo>
                  <a:lnTo>
                    <a:pt x="457708" y="0"/>
                  </a:lnTo>
                  <a:lnTo>
                    <a:pt x="457708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198" r="-8" b="-1196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178540" y="7863840"/>
            <a:ext cx="502920" cy="502920"/>
            <a:chOff x="0" y="0"/>
            <a:chExt cx="670560" cy="670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824460" y="7863840"/>
            <a:ext cx="502920" cy="502920"/>
            <a:chOff x="0" y="0"/>
            <a:chExt cx="670560" cy="6705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470380" y="7863840"/>
            <a:ext cx="502920" cy="502920"/>
            <a:chOff x="0" y="0"/>
            <a:chExt cx="670560" cy="670560"/>
          </a:xfrm>
        </p:grpSpPr>
        <p:sp>
          <p:nvSpPr>
            <p:cNvPr name="Freeform 118" id="118" descr="/tmp/un/ppt/media/image69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6116300" y="7863840"/>
            <a:ext cx="502920" cy="502920"/>
            <a:chOff x="0" y="0"/>
            <a:chExt cx="670560" cy="670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3958590"/>
            <a:ext cx="484632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34940"/>
            <a:ext cx="484632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701790"/>
            <a:ext cx="484632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7193280"/>
            <a:ext cx="4846320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pts: entra na lista. 60 pts: gera aviso (até 3).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44105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Soma limitada a 0–100; pesos definidos de forma empírica, ainda sem calibração com casos reais (Quadro 4 do TCC).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14400" y="2129790"/>
            <a:ext cx="493776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0–100</a:t>
            </a:r>
          </a:p>
        </p:txBody>
      </p:sp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6172200" y="2240280"/>
          <a:ext cx="11176000" cy="5829300"/>
        </p:xfrm>
        <a:graphic>
          <a:graphicData uri="http://schemas.openxmlformats.org/drawingml/2006/table">
            <a:tbl>
              <a:tblPr/>
              <a:tblGrid>
                <a:gridCol w="2146173"/>
                <a:gridCol w="3646404"/>
                <a:gridCol w="2919019"/>
                <a:gridCol w="2464404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Critério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Igual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Parcial ou não informado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Diferente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Espécie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Sexo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Porte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+6 diferente · +5 ausente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(pequeno × grande)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+25 · +18 se uma contém a outra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+8 ambos SRD · +4 SRD × 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Pelagem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 (2+ cores) · +12 (1 cor)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(filhote × idoso)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Distância (GPS)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 até 1,2 km · +10 até 3,5 · +5 até 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 de 8 a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acima de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 GPS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+12 mesmo bairro · +5 mesma cidade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sem dados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 cidades diferentes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21" id="2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397481" y="7577538"/>
            <a:ext cx="38918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511540"/>
            <a:ext cx="64008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037132" y="6795449"/>
            <a:ext cx="2612546" cy="111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01734" y="1882601"/>
            <a:ext cx="206720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a. Identidade visual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15410" y="3214539"/>
            <a:ext cx="69960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Primária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15139" y="3500847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00901" y="3214539"/>
            <a:ext cx="92157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Secundária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02586" y="3500847"/>
            <a:ext cx="75311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#B1734A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98432" y="3781276"/>
            <a:ext cx="239744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b. Tipos de publicação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02519" y="5429659"/>
            <a:ext cx="75978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#D5803D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90239" y="5429659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#DC2777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88481" y="5725158"/>
            <a:ext cx="3392560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c. Avisos e estados da interface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15433" y="7072164"/>
            <a:ext cx="69729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Sucesso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815139" y="7358472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05524" y="7072164"/>
            <a:ext cx="4593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Aviso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02691" y="7358472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#D37708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187182" y="7072164"/>
            <a:ext cx="106460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perigo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190239" y="7358472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#DC2826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72549" y="7072164"/>
            <a:ext cx="129901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destaque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78288" y="7358472"/>
            <a:ext cx="7251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#EF4444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91568" y="7638901"/>
            <a:ext cx="3083819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d. Cores neutras da interface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869199" y="9061002"/>
            <a:ext cx="163403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Superfície / cartões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495897" y="9061252"/>
            <a:ext cx="142204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secundário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10165" y="9061252"/>
            <a:ext cx="122416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principal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00765" y="5128282"/>
            <a:ext cx="93526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Encontrado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78380" y="9362629"/>
            <a:ext cx="7158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#FFFFFF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592775" y="9362629"/>
            <a:ext cx="72635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#E2E8F0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815002" y="9362629"/>
            <a:ext cx="74040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#0F172A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94246" y="9061252"/>
            <a:ext cx="57932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Bordas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16020" y="5128282"/>
            <a:ext cx="6386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Perdido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191593" y="5128282"/>
            <a:ext cx="62350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Adoção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02862" y="9362629"/>
            <a:ext cx="7254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#475559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190621" y="9362629"/>
            <a:ext cx="7206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#F6F8F6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814980" y="5429659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#D64545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92737" y="9061252"/>
            <a:ext cx="50910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Fundo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7816020" y="222157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6" id="76"/>
          <p:cNvSpPr/>
          <p:nvPr/>
        </p:nvSpPr>
        <p:spPr>
          <a:xfrm flipH="false" flipV="false" rot="0">
            <a:off x="9505524" y="219299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7810165" y="41171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6" y="0"/>
                </a:lnTo>
                <a:lnTo>
                  <a:pt x="1279326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8" id="78"/>
          <p:cNvSpPr/>
          <p:nvPr/>
        </p:nvSpPr>
        <p:spPr>
          <a:xfrm flipH="false" flipV="false" rot="0">
            <a:off x="9505524" y="408853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9" id="79"/>
          <p:cNvSpPr/>
          <p:nvPr/>
        </p:nvSpPr>
        <p:spPr>
          <a:xfrm flipH="false" flipV="false" rot="0">
            <a:off x="11200883" y="405995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0" id="80"/>
          <p:cNvSpPr/>
          <p:nvPr/>
        </p:nvSpPr>
        <p:spPr>
          <a:xfrm flipH="false" flipV="false" rot="0">
            <a:off x="7816020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7816020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2" id="82"/>
          <p:cNvSpPr/>
          <p:nvPr/>
        </p:nvSpPr>
        <p:spPr>
          <a:xfrm flipH="false" flipV="false" rot="0">
            <a:off x="9505524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3" id="83"/>
          <p:cNvSpPr/>
          <p:nvPr/>
        </p:nvSpPr>
        <p:spPr>
          <a:xfrm flipH="false" flipV="false" rot="0">
            <a:off x="11195028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4" id="84"/>
          <p:cNvSpPr/>
          <p:nvPr/>
        </p:nvSpPr>
        <p:spPr>
          <a:xfrm flipH="false" flipV="false" rot="0">
            <a:off x="12884532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5" id="85"/>
          <p:cNvSpPr/>
          <p:nvPr/>
        </p:nvSpPr>
        <p:spPr>
          <a:xfrm flipH="false" flipV="false" rot="0">
            <a:off x="9505524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6" id="86"/>
          <p:cNvSpPr/>
          <p:nvPr/>
        </p:nvSpPr>
        <p:spPr>
          <a:xfrm flipH="false" flipV="false" rot="0">
            <a:off x="11195028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7" id="87"/>
          <p:cNvSpPr/>
          <p:nvPr/>
        </p:nvSpPr>
        <p:spPr>
          <a:xfrm flipH="false" flipV="false" rot="0">
            <a:off x="12884532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8" id="88"/>
          <p:cNvSpPr/>
          <p:nvPr/>
        </p:nvSpPr>
        <p:spPr>
          <a:xfrm flipH="false" flipV="false" rot="0">
            <a:off x="14574036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Próximas etapas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PRÓXIMAS ETAPAS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será avaliado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3764280"/>
            <a:ext cx="40233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cada requisito nos fluxos principais, no celular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526280" y="2003108"/>
            <a:ext cx="548640" cy="1654492"/>
            <a:chOff x="0" y="0"/>
            <a:chExt cx="731520" cy="22059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526280" y="1910239"/>
            <a:ext cx="548640" cy="1747361"/>
            <a:chOff x="0" y="0"/>
            <a:chExt cx="731520" cy="23298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12064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2064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Segurança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2064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com o MobSF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732520" y="2003108"/>
            <a:ext cx="548640" cy="1654492"/>
            <a:chOff x="0" y="0"/>
            <a:chExt cx="731520" cy="22059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732520" y="1910239"/>
            <a:ext cx="548640" cy="1747361"/>
            <a:chOff x="0" y="0"/>
            <a:chExt cx="731520" cy="23298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38760" y="2095976"/>
            <a:ext cx="548640" cy="1561624"/>
            <a:chOff x="0" y="0"/>
            <a:chExt cx="731520" cy="20821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938760" y="2003108"/>
            <a:ext cx="548640" cy="1654492"/>
            <a:chOff x="0" y="0"/>
            <a:chExt cx="731520" cy="22059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938760" y="1910239"/>
            <a:ext cx="548640" cy="1747361"/>
            <a:chOff x="0" y="0"/>
            <a:chExt cx="731520" cy="23298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32688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3312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32688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3312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32688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 no Quant UX e questionário SUS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do mesmo animal e de animais diferentes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14400" y="5989320"/>
            <a:ext cx="16459200" cy="2606040"/>
            <a:chOff x="0" y="0"/>
            <a:chExt cx="21945600" cy="34747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945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945600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21667597" y="0"/>
                  </a:lnTo>
                  <a:cubicBezTo>
                    <a:pt x="21821139" y="0"/>
                    <a:pt x="21945600" y="124460"/>
                    <a:pt x="21945600" y="278003"/>
                  </a:cubicBezTo>
                  <a:lnTo>
                    <a:pt x="21945600" y="3196717"/>
                  </a:lnTo>
                  <a:cubicBezTo>
                    <a:pt x="21945600" y="3350260"/>
                    <a:pt x="21821139" y="3474720"/>
                    <a:pt x="21667597" y="3474720"/>
                  </a:cubicBezTo>
                  <a:lnTo>
                    <a:pt x="278003" y="3474720"/>
                  </a:lnTo>
                  <a:cubicBezTo>
                    <a:pt x="124460" y="3474720"/>
                    <a:pt x="0" y="3350260"/>
                    <a:pt x="0" y="3196717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71600" y="5989320"/>
            <a:ext cx="7315200" cy="2606040"/>
            <a:chOff x="0" y="0"/>
            <a:chExt cx="9753600" cy="3474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FOCO: USABILIDADE COM O QUANT UX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Tutores fazem tarefas reais no aplicativo, como publicar um animal perdido e registrar um avistamento.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01200" y="5989320"/>
            <a:ext cx="7315200" cy="2606040"/>
            <a:chOff x="0" y="0"/>
            <a:chExt cx="9753600" cy="34747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SERÁ MEDIDO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 de cada tarefa, tempo gasto e onde as pessoas tocam. Ao final, o questionário SUS.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14400" y="8740140"/>
            <a:ext cx="155448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Etapa prevista para depois da qualificação; os resultados entram na versão final do TCC.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10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146304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83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automaticamente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2834640"/>
            <a:ext cx="5120640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Avaliação com usuários ainda não realizada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por conveniência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ainda não calibrados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Avisos de proximidade calculados no aparelho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ainda depende da interface</a:t>
            </a:r>
          </a:p>
        </p:txBody>
      </p:sp>
      <p:sp>
        <p:nvSpPr>
          <p:cNvPr name="AutoShape 24" id="24"/>
          <p:cNvSpPr/>
          <p:nvPr/>
        </p:nvSpPr>
        <p:spPr>
          <a:xfrm rot="5395140">
            <a:off x="2675096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25296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0" y="283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de usabilidade com Quant UX e SUS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Testar a correspondência com pares revisados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de segurança do APK (MobSF)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Levar ao servidor os avisos de proximidade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</p:txBody>
      </p:sp>
      <p:sp>
        <p:nvSpPr>
          <p:cNvPr name="AutoShape 27" id="27"/>
          <p:cNvSpPr/>
          <p:nvPr/>
        </p:nvSpPr>
        <p:spPr>
          <a:xfrm rot="5395140">
            <a:off x="8687171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753227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746084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IBGE.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MARCONI, M. A.; LAKATOS, E. M.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26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27320"/>
            <a:ext cx="14630400" cy="153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400800"/>
            <a:ext cx="146304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513320"/>
            <a:ext cx="146304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305800"/>
            <a:ext cx="146304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4" y="4508659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4" y="4865818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0097B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