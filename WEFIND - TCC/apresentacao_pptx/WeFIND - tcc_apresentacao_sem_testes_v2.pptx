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1.svg" ContentType="image/svg+xml"/>
  <Override PartName="/ppt/media/image26.svg" ContentType="image/svg+xml"/>
  <Override PartName="/ppt/media/image28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6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6" r:id="rId45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Cooper BT Bold" charset="1" panose="0208080404030B020404"/>
      <p:regular r:id="rId36"/>
    </p:embeddedFont>
    <p:embeddedFont>
      <p:font typeface="Cooper BT Light" charset="1" panose="0208050304030B020404"/>
      <p:regular r:id="rId37"/>
    </p:embeddedFont>
    <p:embeddedFont>
      <p:font typeface="Cambria Bold" charset="1" panose="02040803050406030204"/>
      <p:regular r:id="rId38"/>
    </p:embeddedFont>
    <p:embeddedFont>
      <p:font typeface="Calibri (MS)" charset="1" panose="020F0502020204030204"/>
      <p:regular r:id="rId39"/>
    </p:embeddedFont>
    <p:embeddedFont>
      <p:font typeface="Calibri (MS) Bold" charset="1" panose="020F0702030404030204"/>
      <p:regular r:id="rId40"/>
    </p:embeddedFont>
    <p:embeddedFont>
      <p:font typeface="Calibri (MS) Italics" charset="1" panose="020F05020202040A0204"/>
      <p:regular r:id="rId41"/>
    </p:embeddedFont>
    <p:embeddedFont>
      <p:font typeface="Roboto Bold" charset="1" panose="02000000000000000000"/>
      <p:regular r:id="rId42"/>
    </p:embeddedFont>
    <p:embeddedFont>
      <p:font typeface="Roboto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font" Target="fonts/font36.fntdata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notesMaster" Target="notesMasters/notesMaster1.xml"/><Relationship Id="rId45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JavaScript: escolhi pela familiaridade, e é a linguagem do React Native.</a:t>
            </a:r>
          </a:p>
          <a:p>
            <a:r>
              <a:t>React Native: com um código só, o app roda no Android e no iOS.</a:t>
            </a:r>
          </a:p>
          <a:p>
            <a:r>
              <a:t>Expo: testo direto no celular e gero o instalador sem configuração complicada.</a:t>
            </a:r>
          </a:p>
          <a:p>
            <a:r>
              <a:t>Google Maps: é o mapa que as pessoas já conhecem, com integração pronta.</a:t>
            </a:r>
          </a:p>
          <a:p>
            <a:r>
              <a:t>API do Google: login em um toque, sem criar senha.</a:t>
            </a:r>
          </a:p>
          <a:p>
            <a:r>
              <a:t>Supabase: em vez de montar um servidor do zero, já entrega login, banco e fotos, e escala conforme o app cresce.</a:t>
            </a:r>
          </a:p>
          <a:p>
            <a:r>
              <a:t>PostgreSQL: banco relacional, com regras de acesso por usuário (RLS).</a:t>
            </a:r>
          </a:p>
          <a:p>
            <a:r>
              <a:t>WhatsApp: é onde as pessoas já estão. A Evolution API, hospedada no Render, envia os códigos e avisos de graça.</a:t>
            </a:r>
          </a:p>
          <a:p>
            <a:r>
              <a:t>Apoio: Git e GitHub para versões, Trello com quadro Kanban, Figma para as telas, Astah para a UML, VS Code, e ChatGPT e Copilot como apoio, sempre revisado.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No centro do modelo está a publicação, que pertence a um usuário.</a:t>
            </a:r>
          </a:p>
          <a:p>
            <a:r>
              <a:t>2. Em volta dela ficam os avistamentos, relatos de quem viu o animal, e as conversas, com as mensagens do chat.</a:t>
            </a:r>
          </a:p>
          <a:p>
            <a:r>
              <a:t>3. A solicitação de devolução registra o pedido do tutor, a comprovação de tutela e a entrega combinada. E o usuário cadastra os seus pets, como prevenção.</a:t>
            </a:r>
          </a:p>
          <a:p>
            <a:r>
              <a:t>4. Por último, a denúncia e a classificação, que servem para a moderação.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12.png"/><Relationship Id="rId11" Type="http://schemas.openxmlformats.org/officeDocument/2006/relationships/image" Target="../media/image13.svg"/><Relationship Id="rId12" Type="http://schemas.openxmlformats.org/officeDocument/2006/relationships/image" Target="../media/image14.png"/><Relationship Id="rId13" Type="http://schemas.openxmlformats.org/officeDocument/2006/relationships/image" Target="../media/image1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7.png"/><Relationship Id="rId12" Type="http://schemas.openxmlformats.org/officeDocument/2006/relationships/image" Target="../media/image18.sv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sv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25.png"/><Relationship Id="rId12" Type="http://schemas.openxmlformats.org/officeDocument/2006/relationships/image" Target="../media/image26.svg"/><Relationship Id="rId13" Type="http://schemas.openxmlformats.org/officeDocument/2006/relationships/image" Target="../media/image27.png"/><Relationship Id="rId14" Type="http://schemas.openxmlformats.org/officeDocument/2006/relationships/image" Target="../media/image28.sv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35.png"/><Relationship Id="rId12" Type="http://schemas.openxmlformats.org/officeDocument/2006/relationships/image" Target="../media/image36.svg"/><Relationship Id="rId13" Type="http://schemas.openxmlformats.org/officeDocument/2006/relationships/image" Target="../media/image37.png"/><Relationship Id="rId14" Type="http://schemas.openxmlformats.org/officeDocument/2006/relationships/image" Target="../media/image38.svg"/><Relationship Id="rId15" Type="http://schemas.openxmlformats.org/officeDocument/2006/relationships/image" Target="../media/image39.png"/><Relationship Id="rId16" Type="http://schemas.openxmlformats.org/officeDocument/2006/relationships/image" Target="../media/image40.svg"/><Relationship Id="rId17" Type="http://schemas.openxmlformats.org/officeDocument/2006/relationships/image" Target="../media/image41.png"/><Relationship Id="rId18" Type="http://schemas.openxmlformats.org/officeDocument/2006/relationships/image" Target="../media/image42.svg"/><Relationship Id="rId19" Type="http://schemas.openxmlformats.org/officeDocument/2006/relationships/image" Target="../media/image43.png"/><Relationship Id="rId20" Type="http://schemas.openxmlformats.org/officeDocument/2006/relationships/image" Target="../media/image44.svg"/><Relationship Id="rId21" Type="http://schemas.openxmlformats.org/officeDocument/2006/relationships/image" Target="../media/image45.png"/><Relationship Id="rId22" Type="http://schemas.openxmlformats.org/officeDocument/2006/relationships/image" Target="../media/image46.svg"/><Relationship Id="rId23" Type="http://schemas.openxmlformats.org/officeDocument/2006/relationships/image" Target="../media/image47.png"/><Relationship Id="rId24" Type="http://schemas.openxmlformats.org/officeDocument/2006/relationships/image" Target="../media/image48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49.png"/><Relationship Id="rId11" Type="http://schemas.openxmlformats.org/officeDocument/2006/relationships/image" Target="../media/image50.svg"/><Relationship Id="rId12" Type="http://schemas.openxmlformats.org/officeDocument/2006/relationships/image" Target="../media/image51.png"/><Relationship Id="rId13" Type="http://schemas.openxmlformats.org/officeDocument/2006/relationships/image" Target="../media/image52.svg"/><Relationship Id="rId14" Type="http://schemas.openxmlformats.org/officeDocument/2006/relationships/image" Target="../media/image53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Relationship Id="rId17" Type="http://schemas.openxmlformats.org/officeDocument/2006/relationships/image" Target="../media/image56.svg"/><Relationship Id="rId18" Type="http://schemas.openxmlformats.org/officeDocument/2006/relationships/image" Target="../media/image57.png"/><Relationship Id="rId19" Type="http://schemas.openxmlformats.org/officeDocument/2006/relationships/image" Target="../media/image5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49.png"/><Relationship Id="rId12" Type="http://schemas.openxmlformats.org/officeDocument/2006/relationships/image" Target="../media/image50.svg"/><Relationship Id="rId13" Type="http://schemas.openxmlformats.org/officeDocument/2006/relationships/image" Target="../media/image51.png"/><Relationship Id="rId14" Type="http://schemas.openxmlformats.org/officeDocument/2006/relationships/image" Target="../media/image52.sv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svg"/><Relationship Id="rId19" Type="http://schemas.openxmlformats.org/officeDocument/2006/relationships/image" Target="../media/image30.png"/><Relationship Id="rId20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5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0.png"/><Relationship Id="rId1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68.png"/><Relationship Id="rId19" Type="http://schemas.openxmlformats.org/officeDocument/2006/relationships/image" Target="../media/image69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Relationship Id="rId22" Type="http://schemas.openxmlformats.org/officeDocument/2006/relationships/image" Target="../media/image72.png"/><Relationship Id="rId23" Type="http://schemas.openxmlformats.org/officeDocument/2006/relationships/image" Target="../media/image73.png"/><Relationship Id="rId24" Type="http://schemas.openxmlformats.org/officeDocument/2006/relationships/image" Target="../media/image7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62.png"/><Relationship Id="rId12" Type="http://schemas.openxmlformats.org/officeDocument/2006/relationships/image" Target="../media/image75.png"/><Relationship Id="rId13" Type="http://schemas.openxmlformats.org/officeDocument/2006/relationships/image" Target="../media/image64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image" Target="../media/image73.png"/><Relationship Id="rId20" Type="http://schemas.openxmlformats.org/officeDocument/2006/relationships/image" Target="../media/image81.png"/><Relationship Id="rId21" Type="http://schemas.openxmlformats.org/officeDocument/2006/relationships/image" Target="../media/image82.png"/><Relationship Id="rId22" Type="http://schemas.openxmlformats.org/officeDocument/2006/relationships/image" Target="../media/image83.png"/><Relationship Id="rId23" Type="http://schemas.openxmlformats.org/officeDocument/2006/relationships/image" Target="../media/image84.png"/><Relationship Id="rId24" Type="http://schemas.openxmlformats.org/officeDocument/2006/relationships/image" Target="../media/image85.png"/><Relationship Id="rId25" Type="http://schemas.openxmlformats.org/officeDocument/2006/relationships/image" Target="../media/image86.png"/><Relationship Id="rId26" Type="http://schemas.openxmlformats.org/officeDocument/2006/relationships/image" Target="../media/image87.png"/><Relationship Id="rId27" Type="http://schemas.openxmlformats.org/officeDocument/2006/relationships/image" Target="../media/image88.png"/><Relationship Id="rId28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svg"/><Relationship Id="rId13" Type="http://schemas.openxmlformats.org/officeDocument/2006/relationships/image" Target="../media/image92.png"/><Relationship Id="rId14" Type="http://schemas.openxmlformats.org/officeDocument/2006/relationships/image" Target="../media/image93.svg"/><Relationship Id="rId15" Type="http://schemas.openxmlformats.org/officeDocument/2006/relationships/image" Target="../media/image94.png"/><Relationship Id="rId16" Type="http://schemas.openxmlformats.org/officeDocument/2006/relationships/image" Target="../media/image95.svg"/><Relationship Id="rId17" Type="http://schemas.openxmlformats.org/officeDocument/2006/relationships/image" Target="../media/image96.png"/><Relationship Id="rId18" Type="http://schemas.openxmlformats.org/officeDocument/2006/relationships/image" Target="../media/image97.svg"/><Relationship Id="rId19" Type="http://schemas.openxmlformats.org/officeDocument/2006/relationships/image" Target="../media/image98.png"/><Relationship Id="rId20" Type="http://schemas.openxmlformats.org/officeDocument/2006/relationships/image" Target="../media/image99.svg"/><Relationship Id="rId21" Type="http://schemas.openxmlformats.org/officeDocument/2006/relationships/image" Target="../media/image100.png"/><Relationship Id="rId22" Type="http://schemas.openxmlformats.org/officeDocument/2006/relationships/image" Target="../media/image101.svg"/><Relationship Id="rId23" Type="http://schemas.openxmlformats.org/officeDocument/2006/relationships/image" Target="../media/image102.png"/><Relationship Id="rId24" Type="http://schemas.openxmlformats.org/officeDocument/2006/relationships/image" Target="../media/image103.svg"/><Relationship Id="rId25" Type="http://schemas.openxmlformats.org/officeDocument/2006/relationships/image" Target="../media/image104.png"/><Relationship Id="rId26" Type="http://schemas.openxmlformats.org/officeDocument/2006/relationships/image" Target="../media/image105.svg"/><Relationship Id="rId27" Type="http://schemas.openxmlformats.org/officeDocument/2006/relationships/image" Target="../media/image106.png"/><Relationship Id="rId28" Type="http://schemas.openxmlformats.org/officeDocument/2006/relationships/image" Target="../media/image107.svg"/><Relationship Id="rId29" Type="http://schemas.openxmlformats.org/officeDocument/2006/relationships/image" Target="../media/image108.png"/><Relationship Id="rId30" Type="http://schemas.openxmlformats.org/officeDocument/2006/relationships/image" Target="../media/image109.svg"/><Relationship Id="rId31" Type="http://schemas.openxmlformats.org/officeDocument/2006/relationships/image" Target="../media/image110.png"/><Relationship Id="rId32" Type="http://schemas.openxmlformats.org/officeDocument/2006/relationships/image" Target="../media/image111.svg"/><Relationship Id="rId33" Type="http://schemas.openxmlformats.org/officeDocument/2006/relationships/image" Target="../media/image112.png"/><Relationship Id="rId34" Type="http://schemas.openxmlformats.org/officeDocument/2006/relationships/image" Target="../media/image113.svg"/><Relationship Id="rId35" Type="http://schemas.openxmlformats.org/officeDocument/2006/relationships/image" Target="../media/image114.png"/><Relationship Id="rId36" Type="http://schemas.openxmlformats.org/officeDocument/2006/relationships/image" Target="../media/image11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hyperlink" Target="https://luishenriquetsi.github.io/wefind/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  <p:txBody>
            <a:bodyPr/>
            <a:p/>
          </p:txBody>
        </p:sp>
      </p:grpSp>
      <p:sp>
        <p:nvSpPr>
          <p:cNvPr name="TextBox 6" id="6"/>
          <p:cNvSpPr txBox="true"/>
          <p:nvPr/>
        </p:nvSpPr>
        <p:spPr>
          <a:xfrm rot="0">
            <a:off x="1232202" y="4875533"/>
            <a:ext cx="15823606" cy="114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perdidos, encontrados e para adoção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390849"/>
            <a:ext cx="13922893" cy="43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7882890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282311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648700"/>
            <a:ext cx="13525500" cy="770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758409"/>
            <a:ext cx="13600671" cy="43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-878424"/>
            <a:ext cx="16459200" cy="3814239"/>
            <a:chOff x="0" y="0"/>
            <a:chExt cx="21945600" cy="50856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5085715"/>
            </a:xfrm>
            <a:custGeom>
              <a:avLst/>
              <a:gdLst/>
              <a:ahLst/>
              <a:cxnLst/>
              <a:rect r="r" b="b" t="t" l="l"/>
              <a:pathLst>
                <a:path h="5085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5715"/>
                  </a:lnTo>
                  <a:lnTo>
                    <a:pt x="0" y="5085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022" r="0" b="-34021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-885568"/>
            <a:ext cx="16459200" cy="3821382"/>
            <a:chOff x="0" y="0"/>
            <a:chExt cx="21945600" cy="5095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5095180"/>
            </a:xfrm>
            <a:custGeom>
              <a:avLst/>
              <a:gdLst/>
              <a:ahLst/>
              <a:cxnLst/>
              <a:rect r="r" b="b" t="t" l="l"/>
              <a:pathLst>
                <a:path h="50951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5180"/>
                  </a:lnTo>
                  <a:lnTo>
                    <a:pt x="0" y="50951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3924" r="0" b="-33924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5104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 de Apresentação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4400" y="2524601"/>
            <a:ext cx="1828800" cy="1498759"/>
            <a:chOff x="0" y="0"/>
            <a:chExt cx="2438400" cy="19983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2517458"/>
            <a:ext cx="1828800" cy="1505902"/>
            <a:chOff x="0" y="0"/>
            <a:chExt cx="2438400" cy="2007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4400" y="2510314"/>
            <a:ext cx="1828800" cy="1513046"/>
            <a:chOff x="0" y="0"/>
            <a:chExt cx="2438400" cy="20173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503170"/>
            <a:ext cx="1828800" cy="1520190"/>
            <a:chOff x="0" y="0"/>
            <a:chExt cx="2438400" cy="202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926080" y="2657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926080" y="3076956"/>
            <a:ext cx="4981165" cy="80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Motivação, problema e objetivos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9326880" y="2524601"/>
            <a:ext cx="1828800" cy="1498759"/>
            <a:chOff x="0" y="0"/>
            <a:chExt cx="2438400" cy="199834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26880" y="2517458"/>
            <a:ext cx="1828800" cy="1505902"/>
            <a:chOff x="0" y="0"/>
            <a:chExt cx="2438400" cy="20078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26880" y="2510314"/>
            <a:ext cx="1828800" cy="1513046"/>
            <a:chOff x="0" y="0"/>
            <a:chExt cx="2438400" cy="20173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26880" y="2503170"/>
            <a:ext cx="1828800" cy="1520190"/>
            <a:chOff x="0" y="0"/>
            <a:chExt cx="2438400" cy="20269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11338560" y="2657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Metodologia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338560" y="3076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de campo e similares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" y="4810601"/>
            <a:ext cx="1828800" cy="1498759"/>
            <a:chOff x="0" y="0"/>
            <a:chExt cx="2438400" cy="199834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4803458"/>
            <a:ext cx="1828800" cy="1505902"/>
            <a:chOff x="0" y="0"/>
            <a:chExt cx="2438400" cy="200787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914400" y="4796314"/>
            <a:ext cx="1828800" cy="1513046"/>
            <a:chOff x="0" y="0"/>
            <a:chExt cx="2438400" cy="201739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914400" y="4789170"/>
            <a:ext cx="1828800" cy="1520190"/>
            <a:chOff x="0" y="0"/>
            <a:chExt cx="2438400" cy="20269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2926080" y="4943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Modelagem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926080" y="5362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90" id="90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94" id="94"/>
          <p:cNvGrpSpPr/>
          <p:nvPr/>
        </p:nvGrpSpPr>
        <p:grpSpPr>
          <a:xfrm rot="0">
            <a:off x="9326880" y="4810601"/>
            <a:ext cx="1828800" cy="1498759"/>
            <a:chOff x="0" y="0"/>
            <a:chExt cx="2438400" cy="199834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96" id="96"/>
          <p:cNvGrpSpPr/>
          <p:nvPr/>
        </p:nvGrpSpPr>
        <p:grpSpPr>
          <a:xfrm rot="0">
            <a:off x="9326880" y="4803458"/>
            <a:ext cx="1828800" cy="1505902"/>
            <a:chOff x="0" y="0"/>
            <a:chExt cx="2438400" cy="200787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26880" y="4796314"/>
            <a:ext cx="1828800" cy="1513046"/>
            <a:chOff x="0" y="0"/>
            <a:chExt cx="2438400" cy="201739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326880" y="4789170"/>
            <a:ext cx="1828800" cy="1520190"/>
            <a:chOff x="0" y="0"/>
            <a:chExt cx="2438400" cy="20269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1338560" y="4943475"/>
            <a:ext cx="603504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Desenvolvimento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338560" y="5362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design e demonstração em vídeo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14400" y="7096601"/>
            <a:ext cx="1828800" cy="1498759"/>
            <a:chOff x="0" y="0"/>
            <a:chExt cx="2438400" cy="199834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14400" y="7089457"/>
            <a:ext cx="1828800" cy="1505902"/>
            <a:chOff x="0" y="0"/>
            <a:chExt cx="2438400" cy="200787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14400" y="7082314"/>
            <a:ext cx="1828800" cy="1513046"/>
            <a:chOff x="0" y="0"/>
            <a:chExt cx="2438400" cy="201739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14400" y="7075170"/>
            <a:ext cx="1828800" cy="1520190"/>
            <a:chOff x="0" y="0"/>
            <a:chExt cx="2438400" cy="202692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2926080" y="7229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Avaliação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2926080" y="7648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Testes que ainda serão realizados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  <p:txBody>
            <a:bodyPr/>
            <a:p/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  <p:txBody>
            <a:bodyPr/>
            <a:p/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  <p:txBody>
            <a:bodyPr/>
            <a:p/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  <p:txBody>
            <a:bodyPr/>
            <a:p/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  <p:txBody>
            <a:bodyPr/>
            <a:p/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9326880" y="7096601"/>
            <a:ext cx="1828800" cy="1498759"/>
            <a:chOff x="0" y="0"/>
            <a:chExt cx="2438400" cy="1998345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  <p:txBody>
            <a:bodyPr/>
            <a:p/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326880" y="7089457"/>
            <a:ext cx="1828800" cy="1505902"/>
            <a:chOff x="0" y="0"/>
            <a:chExt cx="2438400" cy="200787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  <p:txBody>
            <a:bodyPr/>
            <a:p/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326880" y="7082314"/>
            <a:ext cx="1828800" cy="1513046"/>
            <a:chOff x="0" y="0"/>
            <a:chExt cx="2438400" cy="201739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4384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225" t="0" r="-56225" b="0"/>
              </a:stretch>
            </a:blipFill>
          </p:spPr>
          <p:txBody>
            <a:bodyPr/>
            <a:p/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326880" y="7075170"/>
            <a:ext cx="1828800" cy="1520190"/>
            <a:chOff x="0" y="0"/>
            <a:chExt cx="2438400" cy="202692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24384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6652" t="0" r="-56652" b="0"/>
              </a:stretch>
            </a:blipFill>
          </p:spPr>
          <p:txBody>
            <a:bodyPr/>
            <a:p/>
          </p:txBody>
        </p:sp>
        <p:sp>
          <p:nvSpPr>
            <p:cNvPr name="TextBox 144" id="144"/>
            <p:cNvSpPr txBox="true"/>
            <p:nvPr/>
          </p:nvSpPr>
          <p:spPr>
            <a:xfrm>
              <a:off x="0" y="-9525"/>
              <a:ext cx="24384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145" id="145"/>
          <p:cNvSpPr txBox="true"/>
          <p:nvPr/>
        </p:nvSpPr>
        <p:spPr>
          <a:xfrm rot="0">
            <a:off x="11338560" y="7229475"/>
            <a:ext cx="6035040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Conclusão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1338560" y="7648956"/>
            <a:ext cx="6035040" cy="438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66" id="166"/>
          <p:cNvSpPr txBox="true"/>
          <p:nvPr/>
        </p:nvSpPr>
        <p:spPr>
          <a:xfrm rot="0">
            <a:off x="16459200" y="9433560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Motivação, problema e objetivos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3338989"/>
            <a:ext cx="1828800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4710589"/>
            <a:ext cx="71323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Motivação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5292090"/>
            <a:ext cx="7132320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Uma pessoa próxima perdeu o animal dela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busca foi feita pelas redes sociais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Acompanhei tudo de perto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732520" y="3516154"/>
            <a:ext cx="548640" cy="1097280"/>
            <a:chOff x="0" y="0"/>
            <a:chExt cx="73152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732520" y="3423285"/>
            <a:ext cx="548640" cy="1190149"/>
            <a:chOff x="0" y="0"/>
            <a:chExt cx="731520" cy="15868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32520" y="3330416"/>
            <a:ext cx="548640" cy="1283018"/>
            <a:chOff x="0" y="0"/>
            <a:chExt cx="731520" cy="17106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32520" y="3237548"/>
            <a:ext cx="548640" cy="1375886"/>
            <a:chOff x="0" y="0"/>
            <a:chExt cx="731520" cy="18345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32520" y="3144679"/>
            <a:ext cx="548640" cy="1468755"/>
            <a:chOff x="0" y="0"/>
            <a:chExt cx="731520" cy="1958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732520" y="3051810"/>
            <a:ext cx="548640" cy="1561624"/>
            <a:chOff x="0" y="0"/>
            <a:chExt cx="731520" cy="208216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32520" y="2958941"/>
            <a:ext cx="548640" cy="1654492"/>
            <a:chOff x="0" y="0"/>
            <a:chExt cx="731520" cy="22059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32520" y="2866072"/>
            <a:ext cx="548640" cy="1747361"/>
            <a:chOff x="0" y="0"/>
            <a:chExt cx="731520" cy="232981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2329815"/>
            </a:xfrm>
            <a:custGeom>
              <a:avLst/>
              <a:gdLst/>
              <a:ahLst/>
              <a:cxnLst/>
              <a:rect r="r" b="b" t="t" l="l"/>
              <a:pathLst>
                <a:path h="23298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5"/>
                  </a:lnTo>
                  <a:lnTo>
                    <a:pt x="0" y="23298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918" t="0" r="-358916" b="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732520" y="2773204"/>
            <a:ext cx="548640" cy="1840230"/>
            <a:chOff x="0" y="0"/>
            <a:chExt cx="731520" cy="2453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2453640"/>
            </a:xfrm>
            <a:custGeom>
              <a:avLst/>
              <a:gdLst/>
              <a:ahLst/>
              <a:cxnLst/>
              <a:rect r="r" b="b" t="t" l="l"/>
              <a:pathLst>
                <a:path h="2453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453640"/>
                  </a:lnTo>
                  <a:lnTo>
                    <a:pt x="0" y="24536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80351" t="0" r="-380351" b="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123825"/>
              <a:ext cx="731520" cy="2577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692640" y="3338989"/>
            <a:ext cx="1828800" cy="118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692640" y="4710589"/>
            <a:ext cx="76809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92640" y="5292090"/>
            <a:ext cx="7680960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Montar o anúncio com foto e contato levava tempo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 informações ficavam espalhadas em vários grupos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dava para corrigir o que já tinha sido compartilhado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Apareciam golpes e trotes nas divulgações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-444084"/>
            <a:ext cx="16459200" cy="3814239"/>
            <a:chOff x="0" y="0"/>
            <a:chExt cx="21945600" cy="50856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085715"/>
            </a:xfrm>
            <a:custGeom>
              <a:avLst/>
              <a:gdLst/>
              <a:ahLst/>
              <a:cxnLst/>
              <a:rect r="r" b="b" t="t" l="l"/>
              <a:pathLst>
                <a:path h="5085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5715"/>
                  </a:lnTo>
                  <a:lnTo>
                    <a:pt x="0" y="50857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4022" r="0" b="-34021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-451228"/>
            <a:ext cx="16459200" cy="3821382"/>
            <a:chOff x="0" y="0"/>
            <a:chExt cx="21945600" cy="50951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5095180"/>
            </a:xfrm>
            <a:custGeom>
              <a:avLst/>
              <a:gdLst/>
              <a:ahLst/>
              <a:cxnLst/>
              <a:rect r="r" b="b" t="t" l="l"/>
              <a:pathLst>
                <a:path h="50951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5180"/>
                  </a:lnTo>
                  <a:lnTo>
                    <a:pt x="0" y="50951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924" r="0" b="-33924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5104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Panorama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148840"/>
            <a:ext cx="7955280" cy="6720840"/>
            <a:chOff x="0" y="0"/>
            <a:chExt cx="10607040" cy="8961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07039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07039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10248646" y="0"/>
                  </a:lnTo>
                  <a:cubicBezTo>
                    <a:pt x="10446639" y="0"/>
                    <a:pt x="10607039" y="160528"/>
                    <a:pt x="10607039" y="358394"/>
                  </a:cubicBezTo>
                  <a:lnTo>
                    <a:pt x="10607039" y="8602726"/>
                  </a:lnTo>
                  <a:cubicBezTo>
                    <a:pt x="10607039" y="8800719"/>
                    <a:pt x="10446512" y="8961120"/>
                    <a:pt x="1024864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sp>
        <p:nvSpPr>
          <p:cNvPr name="TextBox 39" id="39"/>
          <p:cNvSpPr txBox="true"/>
          <p:nvPr/>
        </p:nvSpPr>
        <p:spPr>
          <a:xfrm rot="0">
            <a:off x="1371600" y="2411730"/>
            <a:ext cx="70408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ESTUDOS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71600" y="3108960"/>
            <a:ext cx="3200400" cy="2468880"/>
            <a:chOff x="0" y="0"/>
            <a:chExt cx="4267200" cy="3291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67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9045" t="0" r="-49046" b="0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71600" y="3101816"/>
            <a:ext cx="3200400" cy="2476024"/>
            <a:chOff x="0" y="0"/>
            <a:chExt cx="4267200" cy="330136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67200" cy="3301365"/>
            </a:xfrm>
            <a:custGeom>
              <a:avLst/>
              <a:gdLst/>
              <a:ahLst/>
              <a:cxnLst/>
              <a:rect r="r" b="b" t="t" l="l"/>
              <a:pathLst>
                <a:path h="33013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301365"/>
                  </a:lnTo>
                  <a:lnTo>
                    <a:pt x="0" y="33013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9263" t="0" r="-49263" b="0"/>
              </a:stretch>
            </a:blipFill>
          </p:spPr>
          <p:txBody>
            <a:bodyPr/>
            <a:p/>
          </p:txBody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2672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33,8 mi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72000" y="3108960"/>
            <a:ext cx="3840480" cy="2468880"/>
            <a:chOff x="0" y="0"/>
            <a:chExt cx="5120640" cy="3291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2538" t="0" r="-32538" b="0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4572000" y="3080385"/>
            <a:ext cx="3840480" cy="2497455"/>
            <a:chOff x="0" y="0"/>
            <a:chExt cx="5120640" cy="33299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329940"/>
                  </a:lnTo>
                  <a:lnTo>
                    <a:pt x="0" y="33299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435" t="0" r="-33435" b="0"/>
              </a:stretch>
            </a:blipFill>
          </p:spPr>
          <p:txBody>
            <a:bodyPr/>
            <a:p/>
          </p:txBody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12064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lares brasileiros têm cachorro, e 14,1 milhões têm gato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IBGE, 2020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4620">
            <a:off x="1360484" y="5678043"/>
            <a:ext cx="706313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1" id="51"/>
          <p:cNvGrpSpPr/>
          <p:nvPr/>
        </p:nvGrpSpPr>
        <p:grpSpPr>
          <a:xfrm rot="0">
            <a:off x="1371600" y="5852160"/>
            <a:ext cx="3200400" cy="2468880"/>
            <a:chOff x="0" y="0"/>
            <a:chExt cx="4267200" cy="3291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67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9045" t="0" r="-49046" b="0"/>
              </a:stretch>
            </a:blip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71600" y="5845016"/>
            <a:ext cx="3200400" cy="2476024"/>
            <a:chOff x="0" y="0"/>
            <a:chExt cx="4267200" cy="33013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67200" cy="3301365"/>
            </a:xfrm>
            <a:custGeom>
              <a:avLst/>
              <a:gdLst/>
              <a:ahLst/>
              <a:cxnLst/>
              <a:rect r="r" b="b" t="t" l="l"/>
              <a:pathLst>
                <a:path h="33013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301365"/>
                  </a:lnTo>
                  <a:lnTo>
                    <a:pt x="0" y="33013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9263" t="0" r="-49263" b="0"/>
              </a:stretch>
            </a:blipFill>
          </p:spPr>
          <p:txBody>
            <a:bodyPr/>
            <a:p/>
          </p:txBody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267200" cy="3310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572000" y="5852160"/>
            <a:ext cx="3840480" cy="2468880"/>
            <a:chOff x="0" y="0"/>
            <a:chExt cx="5120640" cy="329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2538" t="0" r="-32538" b="0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4572000" y="5823585"/>
            <a:ext cx="3840480" cy="2497455"/>
            <a:chOff x="0" y="0"/>
            <a:chExt cx="5120640" cy="33299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2064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329940"/>
                  </a:lnTo>
                  <a:lnTo>
                    <a:pt x="0" y="33299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3435" t="0" r="-33435" b="0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5120640" cy="3368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dos tutores já perderam um cão ou gato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EUA · Weiss et al., 2012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18320" y="2148840"/>
            <a:ext cx="7955280" cy="6720840"/>
            <a:chOff x="0" y="0"/>
            <a:chExt cx="10607040" cy="89611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607039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07039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10248646" y="0"/>
                  </a:lnTo>
                  <a:cubicBezTo>
                    <a:pt x="10446639" y="0"/>
                    <a:pt x="10607039" y="160528"/>
                    <a:pt x="10607039" y="358394"/>
                  </a:cubicBezTo>
                  <a:lnTo>
                    <a:pt x="10607039" y="8602726"/>
                  </a:lnTo>
                  <a:cubicBezTo>
                    <a:pt x="10607039" y="8800719"/>
                    <a:pt x="10446512" y="8961120"/>
                    <a:pt x="1024864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F8EFE8"/>
            </a:solidFill>
          </p:spPr>
          <p:txBody>
            <a:bodyPr/>
            <a:p/>
          </p:txBody>
        </p:sp>
      </p:grpSp>
      <p:sp>
        <p:nvSpPr>
          <p:cNvPr name="TextBox 63" id="63"/>
          <p:cNvSpPr txBox="true"/>
          <p:nvPr/>
        </p:nvSpPr>
        <p:spPr>
          <a:xfrm rot="0">
            <a:off x="9875520" y="2411730"/>
            <a:ext cx="704088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DE CAMPO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875520" y="3568960"/>
            <a:ext cx="3200400" cy="1554480"/>
            <a:chOff x="0" y="0"/>
            <a:chExt cx="4267200" cy="2072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62" t="0" r="-12362" b="0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9875520" y="3561816"/>
            <a:ext cx="3200400" cy="1561624"/>
            <a:chOff x="0" y="0"/>
            <a:chExt cx="4267200" cy="20821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67200" cy="2082165"/>
            </a:xfrm>
            <a:custGeom>
              <a:avLst/>
              <a:gdLst/>
              <a:ahLst/>
              <a:cxnLst/>
              <a:rect r="r" b="b" t="t" l="l"/>
              <a:pathLst>
                <a:path h="20821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605" t="0" r="-12605" b="0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26720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48%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075920" y="3568960"/>
            <a:ext cx="3840480" cy="1554480"/>
            <a:chOff x="0" y="0"/>
            <a:chExt cx="5120640" cy="2072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68" t="0" r="-1968" b="0"/>
              </a:stretch>
            </a:blipFill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075920" y="3540385"/>
            <a:ext cx="3840480" cy="1583055"/>
            <a:chOff x="0" y="0"/>
            <a:chExt cx="5120640" cy="21107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2110740"/>
            </a:xfrm>
            <a:custGeom>
              <a:avLst/>
              <a:gdLst/>
              <a:ahLst/>
              <a:cxnLst/>
              <a:rect r="r" b="b" t="t" l="l"/>
              <a:pathLst>
                <a:path h="21107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10740"/>
                  </a:lnTo>
                  <a:lnTo>
                    <a:pt x="0" y="21107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887" t="0" r="-2887" b="0"/>
              </a:stretch>
            </a:blipFill>
          </p:spPr>
          <p:txBody>
            <a:bodyPr/>
            <a:p/>
          </p:txBody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5120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usam coleira, plaquinha ou microchip no animal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23 de 48</a:t>
              </a:r>
            </a:p>
          </p:txBody>
        </p:sp>
      </p:grpSp>
      <p:sp>
        <p:nvSpPr>
          <p:cNvPr name="AutoShape 74" id="74"/>
          <p:cNvSpPr/>
          <p:nvPr/>
        </p:nvSpPr>
        <p:spPr>
          <a:xfrm rot="4620">
            <a:off x="9864404" y="5678043"/>
            <a:ext cx="706313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75" id="75"/>
          <p:cNvGrpSpPr/>
          <p:nvPr/>
        </p:nvGrpSpPr>
        <p:grpSpPr>
          <a:xfrm rot="0">
            <a:off x="9875520" y="6317760"/>
            <a:ext cx="3200400" cy="1554480"/>
            <a:chOff x="0" y="0"/>
            <a:chExt cx="4267200" cy="2072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62" t="0" r="-12362" b="0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9875520" y="6310616"/>
            <a:ext cx="3200400" cy="1561624"/>
            <a:chOff x="0" y="0"/>
            <a:chExt cx="4267200" cy="208216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267200" cy="2082165"/>
            </a:xfrm>
            <a:custGeom>
              <a:avLst/>
              <a:gdLst/>
              <a:ahLst/>
              <a:cxnLst/>
              <a:rect r="r" b="b" t="t" l="l"/>
              <a:pathLst>
                <a:path h="2082165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605" t="0" r="-12605" b="0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4267200" cy="2091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32%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075920" y="6317760"/>
            <a:ext cx="3840480" cy="1554480"/>
            <a:chOff x="0" y="0"/>
            <a:chExt cx="5120640" cy="2072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20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68" t="0" r="-1968" b="0"/>
              </a:stretch>
            </a:blipFill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075920" y="6289185"/>
            <a:ext cx="3840480" cy="1583055"/>
            <a:chOff x="0" y="0"/>
            <a:chExt cx="5120640" cy="21107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20640" cy="2110740"/>
            </a:xfrm>
            <a:custGeom>
              <a:avLst/>
              <a:gdLst/>
              <a:ahLst/>
              <a:cxnLst/>
              <a:rect r="r" b="b" t="t" l="l"/>
              <a:pathLst>
                <a:path h="21107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10740"/>
                  </a:lnTo>
                  <a:lnTo>
                    <a:pt x="0" y="21107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887" t="0" r="-2887" b="0"/>
              </a:stretch>
            </a:blipFill>
          </p:spPr>
          <p:txBody>
            <a:bodyPr/>
            <a:p/>
          </p:txBody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512064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quem já perdeu um animal nunca o reencontrou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8 de 25</a:t>
              </a: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2148840"/>
            <a:ext cx="16459200" cy="1600200"/>
            <a:chOff x="0" y="0"/>
            <a:chExt cx="21945600" cy="2133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194560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21732239" y="0"/>
                  </a:lnTo>
                  <a:cubicBezTo>
                    <a:pt x="21850096" y="0"/>
                    <a:pt x="21945600" y="95504"/>
                    <a:pt x="21945600" y="213360"/>
                  </a:cubicBezTo>
                  <a:lnTo>
                    <a:pt x="21945600" y="1920240"/>
                  </a:lnTo>
                  <a:cubicBezTo>
                    <a:pt x="21945600" y="2038096"/>
                    <a:pt x="21850096" y="2133600"/>
                    <a:pt x="21732239" y="2133600"/>
                  </a:cubicBezTo>
                  <a:lnTo>
                    <a:pt x="213360" y="2133600"/>
                  </a:lnTo>
                  <a:cubicBezTo>
                    <a:pt x="95504" y="2133600"/>
                    <a:pt x="0" y="2038096"/>
                    <a:pt x="0" y="192024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1600" y="2377440"/>
            <a:ext cx="2926080" cy="1143000"/>
            <a:chOff x="0" y="0"/>
            <a:chExt cx="3901440" cy="1524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0144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53" t="0" r="-153" b="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" y="2341721"/>
            <a:ext cx="2926080" cy="1178719"/>
            <a:chOff x="0" y="0"/>
            <a:chExt cx="3901440" cy="15716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01440" cy="1571625"/>
            </a:xfrm>
            <a:custGeom>
              <a:avLst/>
              <a:gdLst/>
              <a:ahLst/>
              <a:cxnLst/>
              <a:rect r="r" b="b" t="t" l="l"/>
              <a:pathLst>
                <a:path h="1571625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71625"/>
                  </a:lnTo>
                  <a:lnTo>
                    <a:pt x="0" y="157162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684" t="0" r="-1684" b="0"/>
              </a:stretch>
            </a:blipFill>
          </p:spPr>
          <p:txBody>
            <a:bodyPr/>
            <a:p/>
          </p:txBody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901440" cy="1619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8"/>
                </a:lnSpc>
              </a:pPr>
              <a:r>
                <a:rPr lang="en-US" sz="1998" b="true">
                  <a:solidFill>
                    <a:srgbClr val="E6C9B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GERAL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206240" y="2331720"/>
            <a:ext cx="12710160" cy="1234440"/>
            <a:chOff x="0" y="0"/>
            <a:chExt cx="1694688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946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946880">
                  <a:moveTo>
                    <a:pt x="0" y="0"/>
                  </a:moveTo>
                  <a:lnTo>
                    <a:pt x="16946880" y="0"/>
                  </a:lnTo>
                  <a:lnTo>
                    <a:pt x="16946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0484" r="0" b="-150483"/>
              </a:stretch>
            </a:blipFill>
          </p:spPr>
          <p:txBody>
            <a:bodyPr/>
            <a:p/>
          </p:txBody>
        </p:sp>
      </p:grpSp>
      <p:grpSp>
        <p:nvGrpSpPr>
          <p:cNvPr name="Group 46" id="46"/>
          <p:cNvGrpSpPr/>
          <p:nvPr/>
        </p:nvGrpSpPr>
        <p:grpSpPr>
          <a:xfrm rot="0">
            <a:off x="4206240" y="2281714"/>
            <a:ext cx="12710160" cy="1284446"/>
            <a:chOff x="0" y="0"/>
            <a:chExt cx="16946880" cy="171259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9468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16946880">
                  <a:moveTo>
                    <a:pt x="0" y="0"/>
                  </a:moveTo>
                  <a:lnTo>
                    <a:pt x="16946880" y="0"/>
                  </a:lnTo>
                  <a:lnTo>
                    <a:pt x="169468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2813" r="0" b="-142813"/>
              </a:stretch>
            </a:blipFill>
          </p:spPr>
          <p:txBody>
            <a:bodyPr/>
            <a:p/>
          </p:txBody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16946880" cy="1779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Desenvolver uma aplicação móvel colaborativa que apoie tutores e a comunidade na divulgação e na busca por animais perdidos e encontrados e na adoção responsável.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14400" y="4019550"/>
            <a:ext cx="9144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8"/>
              </a:lnSpc>
            </a:pPr>
            <a:r>
              <a:rPr lang="en-US" sz="1998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0051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1" id="51"/>
          <p:cNvSpPr txBox="true"/>
          <p:nvPr/>
        </p:nvSpPr>
        <p:spPr>
          <a:xfrm rot="0">
            <a:off x="118872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057400" y="4823460"/>
            <a:ext cx="2537460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Identificar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 dificuldades de tutores e protetores na divulgação e na busca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508389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4" id="54"/>
          <p:cNvSpPr txBox="true"/>
          <p:nvPr/>
        </p:nvSpPr>
        <p:spPr>
          <a:xfrm rot="0">
            <a:off x="537210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240780" y="4823460"/>
            <a:ext cx="2537460" cy="13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Analisar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 de animais perdidos e encontrados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926727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7" id="57"/>
          <p:cNvSpPr txBox="true"/>
          <p:nvPr/>
        </p:nvSpPr>
        <p:spPr>
          <a:xfrm rot="0">
            <a:off x="955548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424160" y="482346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Definir e modelar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 e os diagramas em UML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3450653" y="464955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0" id="60"/>
          <p:cNvSpPr txBox="true"/>
          <p:nvPr/>
        </p:nvSpPr>
        <p:spPr>
          <a:xfrm rot="0">
            <a:off x="1373886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607540" y="4823460"/>
            <a:ext cx="253746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 do aplicativo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90051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3" id="63"/>
          <p:cNvSpPr txBox="true"/>
          <p:nvPr/>
        </p:nvSpPr>
        <p:spPr>
          <a:xfrm rot="0">
            <a:off x="118872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57400" y="697230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aplicativo móvel com suas funcionalidades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508389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6" id="66"/>
          <p:cNvSpPr txBox="true"/>
          <p:nvPr/>
        </p:nvSpPr>
        <p:spPr>
          <a:xfrm rot="0">
            <a:off x="537210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240780" y="6972300"/>
            <a:ext cx="2537460" cy="13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mecanismo de correspondência entre as publicações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9267273" y="6798393"/>
            <a:ext cx="3936873" cy="1902333"/>
          </a:xfrm>
          <a:custGeom>
            <a:avLst/>
            <a:gdLst/>
            <a:ahLst/>
            <a:cxnLst/>
            <a:rect r="r" b="b" t="t" l="l"/>
            <a:pathLst>
              <a:path h="1902333" w="3936873">
                <a:moveTo>
                  <a:pt x="0" y="0"/>
                </a:moveTo>
                <a:lnTo>
                  <a:pt x="3936873" y="0"/>
                </a:lnTo>
                <a:lnTo>
                  <a:pt x="3936873" y="1902333"/>
                </a:lnTo>
                <a:lnTo>
                  <a:pt x="0" y="19023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69" id="69"/>
          <p:cNvSpPr txBox="true"/>
          <p:nvPr/>
        </p:nvSpPr>
        <p:spPr>
          <a:xfrm rot="0">
            <a:off x="955548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8"/>
              </a:lnSpc>
            </a:pPr>
            <a:r>
              <a:rPr lang="en-US" sz="37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424160" y="6972300"/>
            <a:ext cx="253746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Avaliar</a:t>
            </a:r>
          </a:p>
          <a:p>
            <a:pPr algn="l">
              <a:lnSpc>
                <a:spcPts val="2398"/>
              </a:lnSpc>
            </a:pPr>
            <a:r>
              <a:rPr lang="en-US" sz="1998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com tarefas no Quant UX e a escala SUS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Metodologia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de campo e similares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Metodologia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14400" y="2183130"/>
            <a:ext cx="731520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O TRABALHO FOI FEITO</a:t>
            </a:r>
          </a:p>
        </p:txBody>
      </p:sp>
      <p:sp>
        <p:nvSpPr>
          <p:cNvPr name="AutoShape 37" id="37"/>
          <p:cNvSpPr/>
          <p:nvPr/>
        </p:nvSpPr>
        <p:spPr>
          <a:xfrm flipV="true">
            <a:off x="914475" y="6163056"/>
            <a:ext cx="7223685" cy="9525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8" id="38"/>
          <p:cNvGrpSpPr/>
          <p:nvPr/>
        </p:nvGrpSpPr>
        <p:grpSpPr>
          <a:xfrm rot="0">
            <a:off x="914400" y="2788920"/>
            <a:ext cx="713232" cy="713232"/>
            <a:chOff x="0" y="0"/>
            <a:chExt cx="950976" cy="9509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2760345"/>
            <a:ext cx="713232" cy="741807"/>
            <a:chOff x="0" y="0"/>
            <a:chExt cx="950976" cy="9890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20240" y="2715768"/>
            <a:ext cx="6400800" cy="868680"/>
            <a:chOff x="0" y="0"/>
            <a:chExt cx="8534400" cy="1158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920240" y="2680049"/>
            <a:ext cx="6400800" cy="904399"/>
            <a:chOff x="0" y="0"/>
            <a:chExt cx="8534400" cy="12058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Investigar o problema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Questionário com 48 participantes e análise de 4 plataformas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3977640"/>
            <a:ext cx="713232" cy="713232"/>
            <a:chOff x="0" y="0"/>
            <a:chExt cx="950976" cy="9509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914400" y="3949065"/>
            <a:ext cx="713232" cy="741807"/>
            <a:chOff x="0" y="0"/>
            <a:chExt cx="950976" cy="9890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  <p:txBody>
            <a:bodyPr/>
            <a:p/>
          </p:txBody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920240" y="3904488"/>
            <a:ext cx="6400800" cy="868680"/>
            <a:chOff x="0" y="0"/>
            <a:chExt cx="8534400" cy="1158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920240" y="3868769"/>
            <a:ext cx="6400800" cy="904399"/>
            <a:chOff x="0" y="0"/>
            <a:chExt cx="8534400" cy="120586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Construir o aplicativo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Desenvolvimento iterativo e incremental  →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4400" y="5166360"/>
            <a:ext cx="713232" cy="713232"/>
            <a:chOff x="0" y="0"/>
            <a:chExt cx="950976" cy="9509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914400" y="5137785"/>
            <a:ext cx="713232" cy="741807"/>
            <a:chOff x="0" y="0"/>
            <a:chExt cx="950976" cy="9890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0976" cy="989076"/>
            </a:xfrm>
            <a:custGeom>
              <a:avLst/>
              <a:gdLst/>
              <a:ahLst/>
              <a:cxnLst/>
              <a:rect r="r" b="b" t="t" l="l"/>
              <a:pathLst>
                <a:path h="9890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89076"/>
                  </a:lnTo>
                  <a:lnTo>
                    <a:pt x="0" y="9890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3443" t="0" r="-83443" b="0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50976" cy="10271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20240" y="5093208"/>
            <a:ext cx="6400800" cy="868680"/>
            <a:chOff x="0" y="0"/>
            <a:chExt cx="8534400" cy="11582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473" r="0" b="-93474"/>
              </a:stretch>
            </a:blipFill>
          </p:spPr>
          <p:txBody>
            <a:bodyPr/>
            <a:p/>
          </p:txBody>
        </p:sp>
      </p:grpSp>
      <p:grpSp>
        <p:nvGrpSpPr>
          <p:cNvPr name="Group 65" id="65"/>
          <p:cNvGrpSpPr/>
          <p:nvPr/>
        </p:nvGrpSpPr>
        <p:grpSpPr>
          <a:xfrm rot="0">
            <a:off x="1920240" y="5057489"/>
            <a:ext cx="6400800" cy="904399"/>
            <a:chOff x="0" y="0"/>
            <a:chExt cx="8534400" cy="120586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34400" cy="1205865"/>
            </a:xfrm>
            <a:custGeom>
              <a:avLst/>
              <a:gdLst/>
              <a:ahLst/>
              <a:cxnLst/>
              <a:rect r="r" b="b" t="t" l="l"/>
              <a:pathLst>
                <a:path h="1205865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205865"/>
                  </a:lnTo>
                  <a:lnTo>
                    <a:pt x="0" y="120586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7903" r="0" b="-87903"/>
              </a:stretch>
            </a:blipFill>
          </p:spPr>
          <p:txBody>
            <a:bodyPr/>
            <a:p/>
          </p:txBody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534400" cy="1253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Testar com tutores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 funcionais, segurança e usabilidade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14400" y="6400800"/>
            <a:ext cx="7223760" cy="868680"/>
            <a:chOff x="0" y="0"/>
            <a:chExt cx="9631680" cy="1158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9400032" y="0"/>
                  </a:lnTo>
                  <a:cubicBezTo>
                    <a:pt x="9527921" y="0"/>
                    <a:pt x="9631680" y="103759"/>
                    <a:pt x="9631680" y="231648"/>
                  </a:cubicBezTo>
                  <a:lnTo>
                    <a:pt x="9631680" y="926592"/>
                  </a:lnTo>
                  <a:cubicBezTo>
                    <a:pt x="9631680" y="1054481"/>
                    <a:pt x="9527921" y="1158240"/>
                    <a:pt x="9400032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88720" y="6400800"/>
            <a:ext cx="6766560" cy="868680"/>
            <a:chOff x="0" y="0"/>
            <a:chExt cx="9022080" cy="1158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0220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1672" r="0" b="-101673"/>
              </a:stretch>
            </a:blipFill>
          </p:spPr>
          <p:txBody>
            <a:bodyPr/>
            <a:p/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88720" y="6372225"/>
            <a:ext cx="6766560" cy="897255"/>
            <a:chOff x="0" y="0"/>
            <a:chExt cx="9022080" cy="11963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022080" cy="1196340"/>
            </a:xfrm>
            <a:custGeom>
              <a:avLst/>
              <a:gdLst/>
              <a:ahLst/>
              <a:cxnLst/>
              <a:rect r="r" b="b" t="t" l="l"/>
              <a:pathLst>
                <a:path h="11963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96340"/>
                  </a:lnTo>
                  <a:lnTo>
                    <a:pt x="0" y="1196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944" r="0" b="-96944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022080" cy="1234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Pesquisa aplicada, exploratória e descritiva</a:t>
              </a: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Gil (2022); Marconi e Lakatos (2022)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08047" y="7537447"/>
            <a:ext cx="3216250" cy="1475708"/>
            <a:chOff x="0" y="0"/>
            <a:chExt cx="4288333" cy="1967611"/>
          </a:xfrm>
        </p:grpSpPr>
        <p:sp>
          <p:nvSpPr>
            <p:cNvPr name="Freeform 76" id="76" descr="quadro_kanban_trello_wefind.png"/>
            <p:cNvSpPr/>
            <p:nvPr/>
          </p:nvSpPr>
          <p:spPr>
            <a:xfrm flipH="false" flipV="false" rot="0">
              <a:off x="0" y="0"/>
              <a:ext cx="4288282" cy="1967611"/>
            </a:xfrm>
            <a:custGeom>
              <a:avLst/>
              <a:gdLst/>
              <a:ahLst/>
              <a:cxnLst/>
              <a:rect r="r" b="b" t="t" l="l"/>
              <a:pathLst>
                <a:path h="1967611" w="4288282">
                  <a:moveTo>
                    <a:pt x="0" y="0"/>
                  </a:moveTo>
                  <a:lnTo>
                    <a:pt x="4288282" y="0"/>
                  </a:lnTo>
                  <a:lnTo>
                    <a:pt x="4288282" y="1967611"/>
                  </a:lnTo>
                  <a:lnTo>
                    <a:pt x="0" y="1967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856" r="-1" b="-2856"/>
              </a:stretch>
            </a:blipFill>
          </p:spPr>
          <p:txBody>
            <a:bodyPr/>
            <a:p/>
          </p:txBody>
        </p:sp>
      </p:grpSp>
      <p:sp>
        <p:nvSpPr>
          <p:cNvPr name="TextBox 77" id="77"/>
          <p:cNvSpPr txBox="true"/>
          <p:nvPr/>
        </p:nvSpPr>
        <p:spPr>
          <a:xfrm rot="0">
            <a:off x="4210050" y="7669530"/>
            <a:ext cx="392811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Tarefas no Trello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quadro Kanban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961120" y="2148840"/>
            <a:ext cx="8412480" cy="6675120"/>
            <a:chOff x="0" y="0"/>
            <a:chExt cx="11216640" cy="89001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216640" cy="8900161"/>
            </a:xfrm>
            <a:custGeom>
              <a:avLst/>
              <a:gdLst/>
              <a:ahLst/>
              <a:cxnLst/>
              <a:rect r="r" b="b" t="t" l="l"/>
              <a:pathLst>
                <a:path h="8900161" w="11216640">
                  <a:moveTo>
                    <a:pt x="0" y="355981"/>
                  </a:moveTo>
                  <a:cubicBezTo>
                    <a:pt x="0" y="159385"/>
                    <a:pt x="159385" y="0"/>
                    <a:pt x="355981" y="0"/>
                  </a:cubicBezTo>
                  <a:lnTo>
                    <a:pt x="10860659" y="0"/>
                  </a:lnTo>
                  <a:cubicBezTo>
                    <a:pt x="11057255" y="0"/>
                    <a:pt x="11216640" y="159385"/>
                    <a:pt x="11216640" y="355981"/>
                  </a:cubicBezTo>
                  <a:lnTo>
                    <a:pt x="11216640" y="8544179"/>
                  </a:lnTo>
                  <a:cubicBezTo>
                    <a:pt x="11216640" y="8740775"/>
                    <a:pt x="11057255" y="8900161"/>
                    <a:pt x="10860659" y="8900161"/>
                  </a:cubicBezTo>
                  <a:lnTo>
                    <a:pt x="355981" y="8900161"/>
                  </a:lnTo>
                  <a:cubicBezTo>
                    <a:pt x="159385" y="8900160"/>
                    <a:pt x="0" y="8740775"/>
                    <a:pt x="0" y="8544179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sp>
        <p:nvSpPr>
          <p:cNvPr name="TextBox 80" id="80"/>
          <p:cNvSpPr txBox="true"/>
          <p:nvPr/>
        </p:nvSpPr>
        <p:spPr>
          <a:xfrm rot="0">
            <a:off x="9418320" y="2366010"/>
            <a:ext cx="758952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 6 PARTES DA CONSTRUÇÃO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418320" y="2926080"/>
            <a:ext cx="292608" cy="292608"/>
            <a:chOff x="0" y="0"/>
            <a:chExt cx="390144" cy="3901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02368" y="2898648"/>
            <a:ext cx="1828800" cy="365760"/>
            <a:chOff x="0" y="0"/>
            <a:chExt cx="2438400" cy="4876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  <p:txBody>
            <a:bodyPr/>
            <a:p/>
          </p:txBody>
        </p:sp>
      </p:grpSp>
      <p:grpSp>
        <p:nvGrpSpPr>
          <p:cNvPr name="Group 85" id="85"/>
          <p:cNvGrpSpPr/>
          <p:nvPr/>
        </p:nvGrpSpPr>
        <p:grpSpPr>
          <a:xfrm rot="0">
            <a:off x="9802368" y="2877217"/>
            <a:ext cx="1828800" cy="387191"/>
            <a:chOff x="0" y="0"/>
            <a:chExt cx="2438400" cy="51625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  <p:txBody>
            <a:bodyPr/>
            <a:p/>
          </p:txBody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Planejar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018520" y="2926080"/>
            <a:ext cx="292608" cy="292608"/>
            <a:chOff x="0" y="0"/>
            <a:chExt cx="390144" cy="39014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402568" y="2898648"/>
            <a:ext cx="1828800" cy="365760"/>
            <a:chOff x="0" y="0"/>
            <a:chExt cx="2438400" cy="487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402568" y="2877217"/>
            <a:ext cx="1828800" cy="387191"/>
            <a:chOff x="0" y="0"/>
            <a:chExt cx="2438400" cy="51625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  <p:txBody>
            <a:bodyPr/>
            <a:p/>
          </p:txBody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Desenvolver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920472" y="2926080"/>
            <a:ext cx="292608" cy="292608"/>
            <a:chOff x="0" y="0"/>
            <a:chExt cx="390144" cy="39014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304520" y="2898648"/>
            <a:ext cx="1828800" cy="365760"/>
            <a:chOff x="0" y="0"/>
            <a:chExt cx="2438400" cy="4876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304520" y="2877217"/>
            <a:ext cx="1828800" cy="387191"/>
            <a:chOff x="0" y="0"/>
            <a:chExt cx="2438400" cy="51625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Testar no celular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425928" y="2926080"/>
            <a:ext cx="292608" cy="292608"/>
            <a:chOff x="0" y="0"/>
            <a:chExt cx="390144" cy="390144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809976" y="2898648"/>
            <a:ext cx="1828800" cy="365760"/>
            <a:chOff x="0" y="0"/>
            <a:chExt cx="243840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356" r="0" b="-47359"/>
              </a:stretch>
            </a:blipFill>
          </p:spPr>
          <p:txBody>
            <a:bodyPr/>
            <a:p/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5809976" y="2877217"/>
            <a:ext cx="1828800" cy="387191"/>
            <a:chOff x="0" y="0"/>
            <a:chExt cx="2438400" cy="51625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38400" cy="516255"/>
            </a:xfrm>
            <a:custGeom>
              <a:avLst/>
              <a:gdLst/>
              <a:ahLst/>
              <a:cxnLst/>
              <a:rect r="r" b="b" t="t" l="l"/>
              <a:pathLst>
                <a:path h="51625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516255"/>
                  </a:lnTo>
                  <a:lnTo>
                    <a:pt x="0" y="51625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032" r="0" b="-42032"/>
              </a:stretch>
            </a:blipFill>
          </p:spPr>
          <p:txBody>
            <a:bodyPr/>
            <a:p/>
          </p:txBody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2438400" cy="544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8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Entregar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418320" y="3520440"/>
            <a:ext cx="1463040" cy="502920"/>
            <a:chOff x="0" y="0"/>
            <a:chExt cx="1950720" cy="6705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418320" y="3499009"/>
            <a:ext cx="1463040" cy="524351"/>
            <a:chOff x="0" y="0"/>
            <a:chExt cx="1950720" cy="69913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Acesso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972800" y="3575304"/>
            <a:ext cx="749808" cy="402336"/>
            <a:chOff x="0" y="0"/>
            <a:chExt cx="999744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1777472" y="3575304"/>
            <a:ext cx="749808" cy="402336"/>
            <a:chOff x="0" y="0"/>
            <a:chExt cx="999744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2582144" y="3575304"/>
            <a:ext cx="749808" cy="402336"/>
            <a:chOff x="0" y="0"/>
            <a:chExt cx="999744" cy="5364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3386816" y="3575304"/>
            <a:ext cx="749808" cy="402336"/>
            <a:chOff x="0" y="0"/>
            <a:chExt cx="999744" cy="53644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418320" y="4233672"/>
            <a:ext cx="1463040" cy="502920"/>
            <a:chOff x="0" y="0"/>
            <a:chExt cx="1950720" cy="6705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418320" y="4212241"/>
            <a:ext cx="1463040" cy="524351"/>
            <a:chOff x="0" y="0"/>
            <a:chExt cx="1950720" cy="69913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Mapa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484864" y="4288536"/>
            <a:ext cx="749808" cy="402336"/>
            <a:chOff x="0" y="0"/>
            <a:chExt cx="999744" cy="53644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2289536" y="4288536"/>
            <a:ext cx="749808" cy="402336"/>
            <a:chOff x="0" y="0"/>
            <a:chExt cx="999744" cy="536448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3094208" y="4288536"/>
            <a:ext cx="749808" cy="402336"/>
            <a:chOff x="0" y="0"/>
            <a:chExt cx="999744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3898880" y="4288536"/>
            <a:ext cx="749808" cy="402336"/>
            <a:chOff x="0" y="0"/>
            <a:chExt cx="999744" cy="53644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418320" y="4946904"/>
            <a:ext cx="1463040" cy="502920"/>
            <a:chOff x="0" y="0"/>
            <a:chExt cx="1950720" cy="67056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9418320" y="4925473"/>
            <a:ext cx="1463040" cy="524351"/>
            <a:chOff x="0" y="0"/>
            <a:chExt cx="1950720" cy="69913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39" id="139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Publicações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1996928" y="5001768"/>
            <a:ext cx="749808" cy="402336"/>
            <a:chOff x="0" y="0"/>
            <a:chExt cx="999744" cy="53644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2801600" y="5001768"/>
            <a:ext cx="749808" cy="402336"/>
            <a:chOff x="0" y="0"/>
            <a:chExt cx="999744" cy="53644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13606272" y="5001768"/>
            <a:ext cx="749808" cy="402336"/>
            <a:chOff x="0" y="0"/>
            <a:chExt cx="999744" cy="536448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4410944" y="5001768"/>
            <a:ext cx="749808" cy="402336"/>
            <a:chOff x="0" y="0"/>
            <a:chExt cx="999744" cy="536448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9418320" y="5660136"/>
            <a:ext cx="1463040" cy="502920"/>
            <a:chOff x="0" y="0"/>
            <a:chExt cx="1950720" cy="67056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418320" y="5638705"/>
            <a:ext cx="1463040" cy="524351"/>
            <a:chOff x="0" y="0"/>
            <a:chExt cx="1950720" cy="69913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52" id="152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Comunicação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12508992" y="5715000"/>
            <a:ext cx="749808" cy="402336"/>
            <a:chOff x="0" y="0"/>
            <a:chExt cx="999744" cy="536448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3313664" y="5715000"/>
            <a:ext cx="749808" cy="402336"/>
            <a:chOff x="0" y="0"/>
            <a:chExt cx="999744" cy="536448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4118336" y="5715000"/>
            <a:ext cx="749808" cy="402336"/>
            <a:chOff x="0" y="0"/>
            <a:chExt cx="999744" cy="536448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4923008" y="5715000"/>
            <a:ext cx="749808" cy="402336"/>
            <a:chOff x="0" y="0"/>
            <a:chExt cx="999744" cy="536448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9418320" y="6373368"/>
            <a:ext cx="1463040" cy="502920"/>
            <a:chOff x="0" y="0"/>
            <a:chExt cx="1950720" cy="67056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9418320" y="6351937"/>
            <a:ext cx="1463040" cy="524351"/>
            <a:chOff x="0" y="0"/>
            <a:chExt cx="1950720" cy="699135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65" id="165"/>
            <p:cNvSpPr txBox="true"/>
            <p:nvPr/>
          </p:nvSpPr>
          <p:spPr>
            <a:xfrm>
              <a:off x="0" y="-28575"/>
              <a:ext cx="1950720" cy="727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Divulgação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3021056" y="6428232"/>
            <a:ext cx="749808" cy="402336"/>
            <a:chOff x="0" y="0"/>
            <a:chExt cx="999744" cy="53644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3825728" y="6428232"/>
            <a:ext cx="749808" cy="402336"/>
            <a:chOff x="0" y="0"/>
            <a:chExt cx="999744" cy="536448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14630400" y="6428232"/>
            <a:ext cx="749808" cy="402336"/>
            <a:chOff x="0" y="0"/>
            <a:chExt cx="999744" cy="536448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15435072" y="6428232"/>
            <a:ext cx="749808" cy="402336"/>
            <a:chOff x="0" y="0"/>
            <a:chExt cx="999744" cy="536448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9418320" y="7086600"/>
            <a:ext cx="1463040" cy="502920"/>
            <a:chOff x="0" y="0"/>
            <a:chExt cx="1950720" cy="67056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43" r="0" b="-6643"/>
              </a:stretch>
            </a:blipFill>
          </p:spPr>
          <p:txBody>
            <a:bodyPr/>
            <a:p/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418320" y="7065169"/>
            <a:ext cx="1463040" cy="524351"/>
            <a:chOff x="0" y="0"/>
            <a:chExt cx="1950720" cy="699135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950720" cy="699135"/>
            </a:xfrm>
            <a:custGeom>
              <a:avLst/>
              <a:gdLst/>
              <a:ahLst/>
              <a:cxnLst/>
              <a:rect r="r" b="b" t="t" l="l"/>
              <a:pathLst>
                <a:path h="699135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99135"/>
                  </a:lnTo>
                  <a:lnTo>
                    <a:pt x="0" y="69913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66" r="0" b="-4366"/>
              </a:stretch>
            </a:blipFill>
          </p:spPr>
          <p:txBody>
            <a:bodyPr/>
            <a:p/>
          </p:txBody>
        </p:sp>
        <p:sp>
          <p:nvSpPr>
            <p:cNvPr name="TextBox 178" id="178"/>
            <p:cNvSpPr txBox="true"/>
            <p:nvPr/>
          </p:nvSpPr>
          <p:spPr>
            <a:xfrm>
              <a:off x="0" y="-28575"/>
              <a:ext cx="2731008" cy="727710"/>
            </a:xfrm>
            <a:prstGeom prst="rect">
              <a:avLst/>
            </a:prstGeom>
          </p:spPr>
          <p:txBody>
            <a:bodyPr anchor="ctr" rtlCol="false" tIns="0" lIns="0" bIns="0" rIns="0" wrap="none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 Reencontro seguro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3533120" y="7141464"/>
            <a:ext cx="749808" cy="402336"/>
            <a:chOff x="0" y="0"/>
            <a:chExt cx="999744" cy="53644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  <p:txBody>
            <a:bodyPr/>
            <a:p/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14337792" y="7141464"/>
            <a:ext cx="749808" cy="402336"/>
            <a:chOff x="0" y="0"/>
            <a:chExt cx="999744" cy="536448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15142464" y="7141464"/>
            <a:ext cx="749808" cy="402336"/>
            <a:chOff x="0" y="0"/>
            <a:chExt cx="999744" cy="536448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15947136" y="7141464"/>
            <a:ext cx="749808" cy="402336"/>
            <a:chOff x="0" y="0"/>
            <a:chExt cx="999744" cy="53644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  <p:txBody>
            <a:bodyPr/>
            <a:p/>
          </p:txBody>
        </p:sp>
      </p:grpSp>
      <p:sp>
        <p:nvSpPr>
          <p:cNvPr name="AutoShape 187" id="187"/>
          <p:cNvSpPr/>
          <p:nvPr/>
        </p:nvSpPr>
        <p:spPr>
          <a:xfrm rot="10620">
            <a:off x="10953712" y="7826502"/>
            <a:ext cx="6164637" cy="0"/>
          </a:xfrm>
          <a:prstGeom prst="line">
            <a:avLst/>
          </a:prstGeom>
          <a:ln cap="rnd" w="19050">
            <a:solidFill>
              <a:srgbClr val="5B6B5F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sp>
        <p:nvSpPr>
          <p:cNvPr name="TextBox 188" id="188"/>
          <p:cNvSpPr txBox="true"/>
          <p:nvPr/>
        </p:nvSpPr>
        <p:spPr>
          <a:xfrm rot="0">
            <a:off x="13898880" y="7861554"/>
            <a:ext cx="3200400" cy="37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8"/>
              </a:lnSpc>
            </a:pPr>
            <a:r>
              <a:rPr lang="en-US" sz="1299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tempo do projeto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9418320" y="8126730"/>
            <a:ext cx="76809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Cada parte foi planejada, feita, testada no celular e entregue antes da próxima (Valente, 2023).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METODOLOGIA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 participantes descreveram o problema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87200" y="2165985"/>
            <a:ext cx="2743200" cy="1491615"/>
            <a:chOff x="0" y="0"/>
            <a:chExt cx="3657600" cy="1988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887200" y="2158841"/>
            <a:ext cx="2743200" cy="1498759"/>
            <a:chOff x="0" y="0"/>
            <a:chExt cx="3657600" cy="19983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887200" y="2151698"/>
            <a:ext cx="2743200" cy="1505902"/>
            <a:chOff x="0" y="0"/>
            <a:chExt cx="3657600" cy="20078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887200" y="2144554"/>
            <a:ext cx="2743200" cy="1513046"/>
            <a:chOff x="0" y="0"/>
            <a:chExt cx="3657600" cy="20173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887200" y="2137410"/>
            <a:ext cx="2743200" cy="1520190"/>
            <a:chOff x="0" y="0"/>
            <a:chExt cx="3657600" cy="2026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65%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4630400" y="194881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encontraram ou acolheram um animal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630400" y="319177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 de 48 participantes</a:t>
            </a:r>
          </a:p>
        </p:txBody>
      </p:sp>
      <p:sp>
        <p:nvSpPr>
          <p:cNvPr name="AutoShape 42" id="42"/>
          <p:cNvSpPr/>
          <p:nvPr/>
        </p:nvSpPr>
        <p:spPr>
          <a:xfrm rot="5880">
            <a:off x="11839556" y="4163378"/>
            <a:ext cx="558175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43" id="43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887200" y="4360545"/>
            <a:ext cx="2743200" cy="1491615"/>
            <a:chOff x="0" y="0"/>
            <a:chExt cx="3657600" cy="19888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87200" y="4353401"/>
            <a:ext cx="2743200" cy="1498759"/>
            <a:chOff x="0" y="0"/>
            <a:chExt cx="3657600" cy="199834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887200" y="4346258"/>
            <a:ext cx="2743200" cy="1505902"/>
            <a:chOff x="0" y="0"/>
            <a:chExt cx="3657600" cy="200787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887200" y="4339114"/>
            <a:ext cx="2743200" cy="1513046"/>
            <a:chOff x="0" y="0"/>
            <a:chExt cx="3657600" cy="201739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887200" y="4331970"/>
            <a:ext cx="2743200" cy="1520190"/>
            <a:chOff x="0" y="0"/>
            <a:chExt cx="3657600" cy="2026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  <p:txBody>
            <a:bodyPr/>
            <a:p/>
          </p:txBody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52%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4630400" y="414337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630400" y="496633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 de 48 participantes</a:t>
            </a:r>
          </a:p>
        </p:txBody>
      </p:sp>
      <p:sp>
        <p:nvSpPr>
          <p:cNvPr name="AutoShape 64" id="64"/>
          <p:cNvSpPr/>
          <p:nvPr/>
        </p:nvSpPr>
        <p:spPr>
          <a:xfrm rot="5880">
            <a:off x="11839556" y="6357938"/>
            <a:ext cx="558175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65" id="65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  <p:txBody>
            <a:bodyPr/>
            <a:p/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  <p:txBody>
            <a:bodyPr/>
            <a:p/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  <p:txBody>
            <a:bodyPr/>
            <a:p/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887200" y="6555105"/>
            <a:ext cx="2743200" cy="1491615"/>
            <a:chOff x="0" y="0"/>
            <a:chExt cx="3657600" cy="19888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  <p:txBody>
            <a:bodyPr/>
            <a:p/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887200" y="6547961"/>
            <a:ext cx="2743200" cy="1498759"/>
            <a:chOff x="0" y="0"/>
            <a:chExt cx="3657600" cy="199834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887200" y="6540818"/>
            <a:ext cx="2743200" cy="1505902"/>
            <a:chOff x="0" y="0"/>
            <a:chExt cx="3657600" cy="200787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  <p:txBody>
            <a:bodyPr/>
            <a:p/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887200" y="6533674"/>
            <a:ext cx="2743200" cy="1513046"/>
            <a:chOff x="0" y="0"/>
            <a:chExt cx="3657600" cy="201739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57600" cy="2017395"/>
            </a:xfrm>
            <a:custGeom>
              <a:avLst/>
              <a:gdLst/>
              <a:ahLst/>
              <a:cxnLst/>
              <a:rect r="r" b="b" t="t" l="l"/>
              <a:pathLst>
                <a:path h="20173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816" t="0" r="-20816" b="0"/>
              </a:stretch>
            </a:blipFill>
          </p:spPr>
          <p:txBody>
            <a:bodyPr/>
            <a:p/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887200" y="6526530"/>
            <a:ext cx="2743200" cy="1520190"/>
            <a:chOff x="0" y="0"/>
            <a:chExt cx="3657600" cy="20269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3657600" cy="2026920"/>
            </a:xfrm>
            <a:custGeom>
              <a:avLst/>
              <a:gdLst/>
              <a:ahLst/>
              <a:cxnLst/>
              <a:rect r="r" b="b" t="t" l="l"/>
              <a:pathLst>
                <a:path h="20269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26920"/>
                  </a:lnTo>
                  <a:lnTo>
                    <a:pt x="0" y="20269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1101" t="0" r="-21101" b="0"/>
              </a:stretch>
            </a:blipFill>
          </p:spPr>
          <p:txBody>
            <a:bodyPr/>
            <a:p/>
          </p:txBody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3657600" cy="2036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83%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4630400" y="6337935"/>
            <a:ext cx="27432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publicariam em até 3 min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630400" y="7160895"/>
            <a:ext cx="27432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40 de 48 participantes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14400" y="8349615"/>
            <a:ext cx="164592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conveniência: formulário divulgado em dois grupos públicos do Facebook. Os resultados descrevem apenas o grupo consultado.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914400" y="2005965"/>
            <a:ext cx="1024128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mais fez falta nas primeiras horas da busca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14400" y="188214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3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METODOLOGIA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914400" y="2606040"/>
            <a:ext cx="10515600" cy="411480"/>
            <a:chOff x="0" y="0"/>
            <a:chExt cx="14020800" cy="548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402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020800">
                  <a:moveTo>
                    <a:pt x="0" y="0"/>
                  </a:moveTo>
                  <a:lnTo>
                    <a:pt x="14020800" y="0"/>
                  </a:lnTo>
                  <a:lnTo>
                    <a:pt x="1402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47950" r="0" b="-447950"/>
              </a:stretch>
            </a:blipFill>
          </p:spPr>
          <p:txBody>
            <a:bodyPr/>
            <a:p/>
          </p:txBody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4020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Respostas dos 25 que já perderam um animal; cada pessoa marcou até 3 opções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14400" y="3598164"/>
            <a:ext cx="4389120" cy="768096"/>
            <a:chOff x="0" y="0"/>
            <a:chExt cx="5852160" cy="102412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8521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8843" r="0" b="-73843"/>
              </a:stretch>
            </a:blipFill>
          </p:spPr>
          <p:txBody>
            <a:bodyPr/>
            <a:p/>
          </p:txBody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58521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Avisos </a:t>
              </a: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quem viu o animal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486400" y="3598164"/>
            <a:ext cx="4754880" cy="475488"/>
            <a:chOff x="0" y="0"/>
            <a:chExt cx="6339840" cy="63398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  <p:txBody>
            <a:bodyPr/>
            <a:p/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5486400" y="3598164"/>
            <a:ext cx="3994099" cy="475488"/>
            <a:chOff x="0" y="0"/>
            <a:chExt cx="5325466" cy="63398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325491" cy="633984"/>
            </a:xfrm>
            <a:custGeom>
              <a:avLst/>
              <a:gdLst/>
              <a:ahLst/>
              <a:cxnLst/>
              <a:rect r="r" b="b" t="t" l="l"/>
              <a:pathLst>
                <a:path h="633984" w="5325491">
                  <a:moveTo>
                    <a:pt x="0" y="0"/>
                  </a:moveTo>
                  <a:lnTo>
                    <a:pt x="5325491" y="0"/>
                  </a:lnTo>
                  <a:lnTo>
                    <a:pt x="5325491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B1734A"/>
            </a:solidFill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617659" y="3598164"/>
            <a:ext cx="1463040" cy="475488"/>
            <a:chOff x="0" y="0"/>
            <a:chExt cx="1950720" cy="63398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84%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914400" y="4539996"/>
            <a:ext cx="4389120" cy="960120"/>
            <a:chOff x="0" y="0"/>
            <a:chExt cx="5852160" cy="128016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852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74" r="0" b="-39074"/>
              </a:stretch>
            </a:blipFill>
          </p:spPr>
          <p:txBody>
            <a:bodyPr/>
            <a:p/>
          </p:txBody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58521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Alcançar as pessoas do bairro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5486400" y="4786884"/>
            <a:ext cx="4754880" cy="475488"/>
            <a:chOff x="0" y="0"/>
            <a:chExt cx="6339840" cy="6339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  <p:txBody>
            <a:bodyPr/>
            <a:p/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5486400" y="4786884"/>
            <a:ext cx="3423514" cy="475488"/>
            <a:chOff x="0" y="0"/>
            <a:chExt cx="4564685" cy="63398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564634" cy="633984"/>
            </a:xfrm>
            <a:custGeom>
              <a:avLst/>
              <a:gdLst/>
              <a:ahLst/>
              <a:cxnLst/>
              <a:rect r="r" b="b" t="t" l="l"/>
              <a:pathLst>
                <a:path h="633984" w="4564634">
                  <a:moveTo>
                    <a:pt x="0" y="0"/>
                  </a:moveTo>
                  <a:lnTo>
                    <a:pt x="4564634" y="0"/>
                  </a:lnTo>
                  <a:lnTo>
                    <a:pt x="456463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9047074" y="4786884"/>
            <a:ext cx="1463040" cy="475488"/>
            <a:chOff x="0" y="0"/>
            <a:chExt cx="1950720" cy="63398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130" id="13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72%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914400" y="5728716"/>
            <a:ext cx="4389120" cy="960120"/>
            <a:chOff x="0" y="0"/>
            <a:chExt cx="5852160" cy="128016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852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9074" r="0" b="-39074"/>
              </a:stretch>
            </a:blipFill>
          </p:spPr>
          <p:txBody>
            <a:bodyPr/>
            <a:p/>
          </p:txBody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5852160" cy="1327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Alerta de animal parecido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5486400" y="5975604"/>
            <a:ext cx="4754880" cy="475488"/>
            <a:chOff x="0" y="0"/>
            <a:chExt cx="6339840" cy="6339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6339840" cy="633984"/>
            </a:xfrm>
            <a:custGeom>
              <a:avLst/>
              <a:gdLst/>
              <a:ahLst/>
              <a:cxnLst/>
              <a:rect r="r" b="b" t="t" l="l"/>
              <a:pathLst>
                <a:path h="633984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E4E9E3"/>
            </a:solidFill>
          </p:spPr>
          <p:txBody>
            <a:bodyPr/>
            <a:p/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5486400" y="5975604"/>
            <a:ext cx="2282342" cy="475488"/>
            <a:chOff x="0" y="0"/>
            <a:chExt cx="3043123" cy="633984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3043174" cy="633984"/>
            </a:xfrm>
            <a:custGeom>
              <a:avLst/>
              <a:gdLst/>
              <a:ahLst/>
              <a:cxnLst/>
              <a:rect r="r" b="b" t="t" l="l"/>
              <a:pathLst>
                <a:path h="633984" w="3043174">
                  <a:moveTo>
                    <a:pt x="0" y="0"/>
                  </a:moveTo>
                  <a:lnTo>
                    <a:pt x="3043174" y="0"/>
                  </a:lnTo>
                  <a:lnTo>
                    <a:pt x="3043174" y="633984"/>
                  </a:lnTo>
                  <a:lnTo>
                    <a:pt x="0" y="633984"/>
                  </a:ln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7905902" y="5975604"/>
            <a:ext cx="1463040" cy="475488"/>
            <a:chOff x="0" y="0"/>
            <a:chExt cx="1950720" cy="63398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950720" cy="633984"/>
            </a:xfrm>
            <a:custGeom>
              <a:avLst/>
              <a:gdLst/>
              <a:ahLst/>
              <a:cxnLst/>
              <a:rect r="r" b="b" t="t" l="l"/>
              <a:pathLst>
                <a:path h="63398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140" id="140"/>
            <p:cNvSpPr txBox="true"/>
            <p:nvPr/>
          </p:nvSpPr>
          <p:spPr>
            <a:xfrm>
              <a:off x="0" y="-47625"/>
              <a:ext cx="195072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48%</a:t>
              </a:r>
            </a:p>
          </p:txBody>
        </p:sp>
      </p:grpSp>
      <p:sp>
        <p:nvSpPr>
          <p:cNvPr name="TextBox 141" id="14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Sistemas similares analisados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90051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6" t="0" r="-46" b="0"/>
            </a:stretch>
          </a:blipFill>
        </p:spPr>
        <p:txBody>
          <a:bodyPr/>
          <a:p/>
        </p:txBody>
      </p:sp>
      <p:grpSp>
        <p:nvGrpSpPr>
          <p:cNvPr name="Group 41" id="41"/>
          <p:cNvGrpSpPr/>
          <p:nvPr/>
        </p:nvGrpSpPr>
        <p:grpSpPr>
          <a:xfrm rot="0">
            <a:off x="1645920" y="3086129"/>
            <a:ext cx="2103120" cy="2103120"/>
            <a:chOff x="0" y="0"/>
            <a:chExt cx="2804160" cy="2804160"/>
          </a:xfrm>
        </p:grpSpPr>
        <p:sp>
          <p:nvSpPr>
            <p:cNvPr name="Freeform 42" id="42" descr="viumeu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519819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6" t="0" r="-46" b="0"/>
            </a:stretch>
          </a:blipFill>
        </p:spPr>
        <p:txBody>
          <a:bodyPr/>
          <a:p/>
        </p:txBody>
      </p:sp>
      <p:grpSp>
        <p:nvGrpSpPr>
          <p:cNvPr name="Group 44" id="44"/>
          <p:cNvGrpSpPr/>
          <p:nvPr/>
        </p:nvGrpSpPr>
        <p:grpSpPr>
          <a:xfrm rot="0">
            <a:off x="5943600" y="3086129"/>
            <a:ext cx="2103120" cy="2103120"/>
            <a:chOff x="0" y="0"/>
            <a:chExt cx="2804160" cy="2804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6852" t="0" r="-16852" b="0"/>
              </a:stretch>
            </a:blipFill>
          </p:spPr>
          <p:txBody>
            <a:bodyPr/>
            <a:p/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949587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6" t="0" r="-46" b="0"/>
            </a:stretch>
          </a:blipFill>
        </p:spPr>
        <p:txBody>
          <a:bodyPr/>
          <a:p/>
        </p:txBody>
      </p:sp>
      <p:grpSp>
        <p:nvGrpSpPr>
          <p:cNvPr name="Group 47" id="47"/>
          <p:cNvGrpSpPr/>
          <p:nvPr/>
        </p:nvGrpSpPr>
        <p:grpSpPr>
          <a:xfrm rot="0">
            <a:off x="10241280" y="3086129"/>
            <a:ext cx="2103120" cy="2103120"/>
            <a:chOff x="0" y="0"/>
            <a:chExt cx="2804160" cy="2804160"/>
          </a:xfrm>
        </p:grpSpPr>
        <p:sp>
          <p:nvSpPr>
            <p:cNvPr name="Freeform 48" id="48" descr="alert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185" t="0" r="-186" b="0"/>
              </a:stretch>
            </a:blipFill>
          </p:spPr>
          <p:txBody>
            <a:bodyPr/>
            <a:p/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1379355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6" t="0" r="-46" b="0"/>
            </a:stretch>
          </a:blipFill>
        </p:spPr>
        <p:txBody>
          <a:bodyPr/>
          <a:p/>
        </p:txBody>
      </p:sp>
      <p:grpSp>
        <p:nvGrpSpPr>
          <p:cNvPr name="Group 50" id="50"/>
          <p:cNvGrpSpPr/>
          <p:nvPr/>
        </p:nvGrpSpPr>
        <p:grpSpPr>
          <a:xfrm rot="0">
            <a:off x="14538960" y="3086129"/>
            <a:ext cx="2103120" cy="2103120"/>
            <a:chOff x="0" y="0"/>
            <a:chExt cx="2804160" cy="2804160"/>
          </a:xfrm>
        </p:grpSpPr>
        <p:sp>
          <p:nvSpPr>
            <p:cNvPr name="Freeform 51" id="51" descr="facebook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9728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Viu Meu Pet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9728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site e app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39496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PawBoost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9496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Internacional · site e app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9264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AlertPet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9264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campanhas pagas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990320" y="5480714"/>
            <a:ext cx="3200400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Facebook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990320" y="6263669"/>
            <a:ext cx="32004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Rede social · grupos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METODOLOGIA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914400" y="2194560"/>
          <a:ext cx="16179800" cy="6616700"/>
        </p:xfrm>
        <a:graphic>
          <a:graphicData uri="http://schemas.openxmlformats.org/drawingml/2006/table">
            <a:tbl>
              <a:tblPr/>
              <a:tblGrid>
                <a:gridCol w="6651696"/>
                <a:gridCol w="1905621"/>
                <a:gridCol w="1905621"/>
                <a:gridCol w="1905621"/>
                <a:gridCol w="1905621"/>
                <a:gridCol w="1905621"/>
              </a:tblGrid>
              <a:tr h="6233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70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8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575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20" id="20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169164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METODOLOGIA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591" r="0" b="-201591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374" r="0" b="-200374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 requisitos funcionais centrais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4400" y="2240280"/>
            <a:ext cx="5181600" cy="457200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1800">
                <a:solidFill>
                  <a:srgbClr val="B1734A"/>
                </a:solidFill>
                <a:latin typeface="Calibri (MS)"/>
              </a:rPr>
              <a:t>BASE DO APLICATIVO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53200" y="2240280"/>
            <a:ext cx="5181600" cy="457200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1800">
                <a:solidFill>
                  <a:srgbClr val="B1734A"/>
                </a:solidFill>
                <a:latin typeface="Calibri (MS)"/>
              </a:rPr>
              <a:t>BUSCA COLABORATIVA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92000" y="2240280"/>
            <a:ext cx="5181600" cy="457200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1800">
                <a:solidFill>
                  <a:srgbClr val="B1734A"/>
                </a:solidFill>
                <a:latin typeface="Calibri (MS)"/>
              </a:rPr>
              <a:t>DIFERENCIAIS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14400" y="274320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914400" y="274320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274320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Criar e acessar conta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14400" y="367588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914400" y="367588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20240" y="367588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Atualizar perfil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14400" y="4608576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88" name="TextBox 87"/>
          <p:cNvSpPr txBox="1"/>
          <p:nvPr/>
        </p:nvSpPr>
        <p:spPr>
          <a:xfrm>
            <a:off x="914400" y="4608576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4608576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Consultar publicações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14400" y="5541264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914400" y="5541264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920240" y="5541264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Publicar anúncio de animal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14400" y="6473952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94" name="TextBox 93"/>
          <p:cNvSpPr txBox="1"/>
          <p:nvPr/>
        </p:nvSpPr>
        <p:spPr>
          <a:xfrm>
            <a:off x="914400" y="6473952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6473952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Atualizar publicação própria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14400" y="740664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914400" y="740664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920240" y="740664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Visualizar publicações no mapa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914400" y="833932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914400" y="833932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20240" y="833932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Pesquisar e filtrar publicações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553200" y="274320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6553200" y="274320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559040" y="274320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Traçar rota até a pista mais recente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553200" y="367588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6" name="TextBox 105"/>
          <p:cNvSpPr txBox="1"/>
          <p:nvPr/>
        </p:nvSpPr>
        <p:spPr>
          <a:xfrm>
            <a:off x="6553200" y="367588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RF09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59040" y="367588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Registrar avistamento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6553200" y="4608576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6553200" y="4608576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559040" y="4608576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Consultar e atualizar avistamentos próprios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6553200" y="5541264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6553200" y="5541264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559040" y="5541264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Trocar mensagens sobre publicação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553200" y="6473952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15" name="TextBox 114"/>
          <p:cNvSpPr txBox="1"/>
          <p:nvPr/>
        </p:nvSpPr>
        <p:spPr>
          <a:xfrm>
            <a:off x="6553200" y="6473952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559040" y="6473952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Receber e consultar notificações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553200" y="740664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18" name="TextBox 117"/>
          <p:cNvSpPr txBox="1"/>
          <p:nvPr/>
        </p:nvSpPr>
        <p:spPr>
          <a:xfrm>
            <a:off x="6553200" y="740664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59040" y="740664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Denunciar conteúdo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553200" y="833932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21" name="TextBox 120"/>
          <p:cNvSpPr txBox="1"/>
          <p:nvPr/>
        </p:nvSpPr>
        <p:spPr>
          <a:xfrm>
            <a:off x="6553200" y="833932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59040" y="833932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Analisar denúncias e moderar conteúdo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192000" y="274320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24" name="TextBox 123"/>
          <p:cNvSpPr txBox="1"/>
          <p:nvPr/>
        </p:nvSpPr>
        <p:spPr>
          <a:xfrm>
            <a:off x="12192000" y="274320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197840" y="274320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Gerar e compartilhar cartaz de divulgação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2192000" y="367588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27" name="TextBox 126"/>
          <p:cNvSpPr txBox="1"/>
          <p:nvPr/>
        </p:nvSpPr>
        <p:spPr>
          <a:xfrm>
            <a:off x="12192000" y="367588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197840" y="367588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Expirar e remover publicação não renovada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12192000" y="4608576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0" name="TextBox 129"/>
          <p:cNvSpPr txBox="1"/>
          <p:nvPr/>
        </p:nvSpPr>
        <p:spPr>
          <a:xfrm>
            <a:off x="12192000" y="4608576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RF17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197840" y="4608576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Sugerir correspondências entre publicações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12192000" y="5541264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3" name="TextBox 132"/>
          <p:cNvSpPr txBox="1"/>
          <p:nvPr/>
        </p:nvSpPr>
        <p:spPr>
          <a:xfrm>
            <a:off x="12192000" y="5541264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RF18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197840" y="5541264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Solicitar e analisar comprovação de tutela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2192000" y="6473952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6" name="TextBox 135"/>
          <p:cNvSpPr txBox="1"/>
          <p:nvPr/>
        </p:nvSpPr>
        <p:spPr>
          <a:xfrm>
            <a:off x="12192000" y="6473952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RF19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197840" y="6473952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Manter animais de estimação e carteirinha digital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2192000" y="7406640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39" name="TextBox 138"/>
          <p:cNvSpPr txBox="1"/>
          <p:nvPr/>
        </p:nvSpPr>
        <p:spPr>
          <a:xfrm>
            <a:off x="12192000" y="7406640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RF20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197840" y="7406640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Disponibilizar animal para adoção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2192000" y="8339328"/>
            <a:ext cx="51816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142" name="TextBox 141"/>
          <p:cNvSpPr txBox="1"/>
          <p:nvPr/>
        </p:nvSpPr>
        <p:spPr>
          <a:xfrm>
            <a:off x="12192000" y="8339328"/>
            <a:ext cx="100584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RF21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197840" y="8339328"/>
            <a:ext cx="4175760" cy="841248"/>
          </a:xfrm>
          <a:prstGeom prst="rect">
            <a:avLst/>
          </a:prstGeom>
          <a:noFill/>
        </p:spPr>
        <p:txBody>
          <a:bodyPr wrap="square" lIns="0" rIns="0" tIns="64008">
            <a:spAutoFit/>
          </a:bodyPr>
          <a:lstStyle/>
          <a:p>
            <a:r>
              <a:rPr b="0" sz="2000">
                <a:solidFill>
                  <a:srgbClr val="0F172A"/>
                </a:solidFill>
                <a:latin typeface="Calibri (MS)"/>
              </a:rPr>
              <a:t>Classificar membro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40"/>
            <a:chOff x="0" y="0"/>
            <a:chExt cx="21945600" cy="5105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4" r="0" b="-33694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384"/>
            <a:chOff x="0" y="0"/>
            <a:chExt cx="21945600" cy="51151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179"/>
            </a:xfrm>
            <a:custGeom>
              <a:avLst/>
              <a:gdLst/>
              <a:ahLst/>
              <a:cxnLst/>
              <a:rect r="r" b="b" t="t" l="l"/>
              <a:pathLst>
                <a:path h="51151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179"/>
                  </a:lnTo>
                  <a:lnTo>
                    <a:pt x="0" y="51151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38" r="0" b="-33538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-218332"/>
            <a:ext cx="16459200" cy="3843528"/>
            <a:chOff x="0" y="0"/>
            <a:chExt cx="21945600" cy="51247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5124704"/>
            </a:xfrm>
            <a:custGeom>
              <a:avLst/>
              <a:gdLst/>
              <a:ahLst/>
              <a:cxnLst/>
              <a:rect r="r" b="b" t="t" l="l"/>
              <a:pathLst>
                <a:path h="51247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382" r="0" b="-33383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-225476"/>
            <a:ext cx="16459200" cy="3850672"/>
            <a:chOff x="0" y="0"/>
            <a:chExt cx="21945600" cy="51342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134229"/>
            </a:xfrm>
            <a:custGeom>
              <a:avLst/>
              <a:gdLst/>
              <a:ahLst/>
              <a:cxnLst/>
              <a:rect r="r" b="b" t="t" l="l"/>
              <a:pathLst>
                <a:path h="51342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34229"/>
                  </a:lnTo>
                  <a:lnTo>
                    <a:pt x="0" y="51342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28" r="0" b="-33228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-232620"/>
            <a:ext cx="16459200" cy="3857835"/>
            <a:chOff x="0" y="0"/>
            <a:chExt cx="21945600" cy="51437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5143754"/>
            </a:xfrm>
            <a:custGeom>
              <a:avLst/>
              <a:gdLst/>
              <a:ahLst/>
              <a:cxnLst/>
              <a:rect r="r" b="b" t="t" l="l"/>
              <a:pathLst>
                <a:path h="51437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43754"/>
                  </a:lnTo>
                  <a:lnTo>
                    <a:pt x="0" y="514375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073" r="0" b="-33074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-239763"/>
            <a:ext cx="16459200" cy="3864978"/>
            <a:chOff x="0" y="0"/>
            <a:chExt cx="21945600" cy="51533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5153305"/>
            </a:xfrm>
            <a:custGeom>
              <a:avLst/>
              <a:gdLst/>
              <a:ahLst/>
              <a:cxnLst/>
              <a:rect r="r" b="b" t="t" l="l"/>
              <a:pathLst>
                <a:path h="515330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53305"/>
                  </a:lnTo>
                  <a:lnTo>
                    <a:pt x="0" y="51533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977" r="0" b="-32977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51628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1980">
            <a:off x="863594" y="2938081"/>
            <a:ext cx="16560822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4" id="24"/>
          <p:cNvSpPr txBox="true"/>
          <p:nvPr/>
        </p:nvSpPr>
        <p:spPr>
          <a:xfrm rot="0">
            <a:off x="91440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8" id="28"/>
          <p:cNvSpPr txBox="true"/>
          <p:nvPr/>
        </p:nvSpPr>
        <p:spPr>
          <a:xfrm rot="0">
            <a:off x="512064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2064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2064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2" id="32"/>
          <p:cNvSpPr txBox="true"/>
          <p:nvPr/>
        </p:nvSpPr>
        <p:spPr>
          <a:xfrm rot="0">
            <a:off x="932688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2688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2688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6" id="36"/>
          <p:cNvSpPr txBox="true"/>
          <p:nvPr/>
        </p:nvSpPr>
        <p:spPr>
          <a:xfrm rot="0">
            <a:off x="13533120" y="3406140"/>
            <a:ext cx="384048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33120" y="4120515"/>
            <a:ext cx="384048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33120" y="4783455"/>
            <a:ext cx="3749040" cy="1891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896112" y="6906925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0" id="40"/>
          <p:cNvSpPr txBox="true"/>
          <p:nvPr/>
        </p:nvSpPr>
        <p:spPr>
          <a:xfrm rot="0">
            <a:off x="1499616" y="6720000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9616" y="7230000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5102352" y="6906925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3" id="43"/>
          <p:cNvSpPr txBox="true"/>
          <p:nvPr/>
        </p:nvSpPr>
        <p:spPr>
          <a:xfrm rot="0">
            <a:off x="5705856" y="6720000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05856" y="7230000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3514832" y="6906925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6" id="46"/>
          <p:cNvSpPr txBox="true"/>
          <p:nvPr/>
        </p:nvSpPr>
        <p:spPr>
          <a:xfrm rot="0">
            <a:off x="14118336" y="6720000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118336" y="7230000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" y="8532495"/>
            <a:ext cx="1645920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automática diária no servidor (3h), para as publicações de todos os usuários.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459200" y="93954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60" id="6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308592" y="6906925"/>
            <a:ext cx="300514" cy="300514"/>
            <a:chOff x="0" y="0"/>
            <a:chExt cx="400685" cy="40068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  <p:txBody>
            <a:bodyPr/>
            <a:p/>
          </p:txBody>
        </p:sp>
      </p:grpSp>
      <p:sp>
        <p:nvSpPr>
          <p:cNvPr name="TextBox 71" id="71"/>
          <p:cNvSpPr txBox="true"/>
          <p:nvPr/>
        </p:nvSpPr>
        <p:spPr>
          <a:xfrm rot="0">
            <a:off x="9912096" y="6720000"/>
            <a:ext cx="3383280" cy="63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912096" y="7230000"/>
            <a:ext cx="3383280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animal procura um novo lar.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4400" y="2286000"/>
            <a:ext cx="8000000" cy="420000"/>
          </a:xfrm>
          <a:prstGeom prst="rect">
            <a:avLst/>
          </a:prstGeom>
          <a:noFill/>
        </p:spPr>
        <p:txBody>
          <a:bodyPr wrap="square" lIns="0">
            <a:noAutofit/>
          </a:bodyPr>
          <a:lstStyle/>
          <a:p>
            <a:pPr algn="l"/>
            <a:r>
              <a:rPr b="1" sz="1800">
                <a:solidFill>
                  <a:srgbClr val="B1734A"/>
                </a:solidFill>
                <a:latin typeface="Calibri (MS)"/>
              </a:rPr>
              <a:t>ETAPAS DO PRAZO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6172200"/>
            <a:ext cx="8000000" cy="420000"/>
          </a:xfrm>
          <a:prstGeom prst="rect">
            <a:avLst/>
          </a:prstGeom>
          <a:noFill/>
        </p:spPr>
        <p:txBody>
          <a:bodyPr wrap="square" lIns="0">
            <a:noAutofit/>
          </a:bodyPr>
          <a:lstStyle/>
          <a:p>
            <a:pPr algn="l"/>
            <a:r>
              <a:rPr b="1" sz="1800">
                <a:solidFill>
                  <a:srgbClr val="B1734A"/>
                </a:solidFill>
                <a:latin typeface="Calibri (MS)"/>
              </a:rPr>
              <a:t>TIPOS DE PUBLICAÇÃO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4400" y="608000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228" r="0" b="-212228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  <p:txBody>
            <a:bodyPr/>
            <a:p/>
          </p:txBody>
        </p:sp>
      </p:grpSp>
      <p:sp>
        <p:nvSpPr>
          <p:cNvPr name="TextBox 57" id="57"/>
          <p:cNvSpPr txBox="true"/>
          <p:nvPr/>
        </p:nvSpPr>
        <p:spPr>
          <a:xfrm rot="0">
            <a:off x="822960" y="8321040"/>
            <a:ext cx="1659636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74" r="0" b="-200374"/>
              </a:stretch>
            </a:blipFill>
          </p:spPr>
          <p:txBody>
            <a:bodyPr/>
            <a:p/>
          </p:txBody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requisitos não funcionais</a:t>
              </a:r>
            </a:p>
          </p:txBody>
        </p:sp>
      </p:grpSp>
      <p:cxnSp>
        <p:nvCxnSpPr>
          <p:cNvPr id="63" name="Connector 62"/>
          <p:cNvCxnSpPr/>
          <p:nvPr/>
        </p:nvCxnSpPr>
        <p:spPr>
          <a:xfrm>
            <a:off x="914400" y="237744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914400" y="2377440"/>
            <a:ext cx="155448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RNF01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0" y="2377440"/>
            <a:ext cx="512064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0F172A"/>
                </a:solidFill>
                <a:latin typeface="Calibri (MS)"/>
              </a:rPr>
              <a:t>Autenticação e acesso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2377440"/>
            <a:ext cx="960120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0" sz="2000">
                <a:solidFill>
                  <a:srgbClr val="475569"/>
                </a:solidFill>
                <a:latin typeface="Calibri (MS)"/>
              </a:rPr>
              <a:t>Supabase Auth e políticas RLS: ninguém altera ou exclui dados de outra conta.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14400" y="384048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914400" y="3840480"/>
            <a:ext cx="155448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RNF02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68880" y="3840480"/>
            <a:ext cx="512064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0F172A"/>
                </a:solidFill>
                <a:latin typeface="Calibri (MS)"/>
              </a:rPr>
              <a:t>Privacidade da localização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3840480"/>
            <a:ext cx="960120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0" sz="2000">
                <a:solidFill>
                  <a:srgbClr val="475569"/>
                </a:solidFill>
                <a:latin typeface="Calibri (MS)"/>
              </a:rPr>
              <a:t>Telas públicas mostram o endereço de forma aproximada (nenhum dos 48 participantes exibiria o endereço completo).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14400" y="530352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914400" y="5303520"/>
            <a:ext cx="155448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RNF03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468880" y="5303520"/>
            <a:ext cx="512064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0F172A"/>
                </a:solidFill>
                <a:latin typeface="Calibri (MS)"/>
              </a:rPr>
              <a:t>Comunicação segura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72400" y="5303520"/>
            <a:ext cx="960120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0" sz="2000">
                <a:solidFill>
                  <a:srgbClr val="475569"/>
                </a:solidFill>
                <a:latin typeface="Calibri (MS)"/>
              </a:rPr>
              <a:t>Todas as requisições entre o aplicativo e a nuvem usam HTTPS.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14400" y="6766560"/>
            <a:ext cx="16459200" cy="0"/>
          </a:xfrm>
          <a:prstGeom prst="line">
            <a:avLst/>
          </a:prstGeom>
          <a:ln w="9525">
            <a:solidFill>
              <a:srgbClr val="E2E8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914400" y="6766560"/>
            <a:ext cx="155448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B1734A"/>
                </a:solidFill>
                <a:latin typeface="Calibri (MS)"/>
              </a:rPr>
              <a:t>RNF04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68880" y="6766560"/>
            <a:ext cx="512064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1" sz="2000">
                <a:solidFill>
                  <a:srgbClr val="0F172A"/>
                </a:solidFill>
                <a:latin typeface="Calibri (MS)"/>
              </a:rPr>
              <a:t>Compressão de imagens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0" y="6766560"/>
            <a:ext cx="9601200" cy="1371600"/>
          </a:xfrm>
          <a:prstGeom prst="rect">
            <a:avLst/>
          </a:prstGeom>
          <a:noFill/>
        </p:spPr>
        <p:txBody>
          <a:bodyPr wrap="square" lIns="0" rIns="0" tIns="91440">
            <a:spAutoFit/>
          </a:bodyPr>
          <a:lstStyle/>
          <a:p>
            <a:r>
              <a:rPr b="0" sz="2000">
                <a:solidFill>
                  <a:srgbClr val="475569"/>
                </a:solidFill>
                <a:latin typeface="Calibri (MS)"/>
              </a:rPr>
              <a:t>As fotos são comprimidas no aparelho antes do envio.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128480" cy="1712595"/>
            </a:xfrm>
            <a:custGeom>
              <a:avLst/>
              <a:gdLst/>
              <a:ahLst/>
              <a:cxnLst/>
              <a:rect r="r" b="b" t="t" l="l"/>
              <a:pathLst>
                <a:path h="17125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5"/>
                  </a:lnTo>
                  <a:lnTo>
                    <a:pt x="0" y="171259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591" r="0" b="-201591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793242"/>
            <a:ext cx="16596360" cy="1291590"/>
            <a:chOff x="0" y="0"/>
            <a:chExt cx="22128480" cy="1722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28480" cy="1722120"/>
            </a:xfrm>
            <a:custGeom>
              <a:avLst/>
              <a:gdLst/>
              <a:ahLst/>
              <a:cxnLst/>
              <a:rect r="r" b="b" t="t" l="l"/>
              <a:pathLst>
                <a:path h="1722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22120"/>
                  </a:lnTo>
                  <a:lnTo>
                    <a:pt x="0" y="1722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0374" r="0" b="-200374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22128480" cy="1731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41" id="41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2" id="42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43" id="4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44" id="44"/>
          <p:cNvSpPr txBox="true"/>
          <p:nvPr/>
        </p:nvSpPr>
        <p:spPr>
          <a:xfrm rot="0">
            <a:off x="2880360" y="232111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80360" y="322326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devolução é combinada em local público.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47" id="47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8" id="48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9" id="4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315700" y="232111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15700" y="322326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no mapa, grade de ~1 km.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53" id="53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4" id="54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55" id="5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56" id="56"/>
          <p:cNvSpPr txBox="true"/>
          <p:nvPr/>
        </p:nvSpPr>
        <p:spPr>
          <a:xfrm rot="0">
            <a:off x="2880360" y="547579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880360" y="637794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6" r="0" b="-126"/>
            </a:stretch>
          </a:blipFill>
        </p:spPr>
        <p:txBody>
          <a:bodyPr/>
          <a:p/>
        </p:txBody>
      </p:sp>
      <p:sp>
        <p:nvSpPr>
          <p:cNvPr name="Freeform 59" id="59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60" id="60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61" id="6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315700" y="5475799"/>
            <a:ext cx="576072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315700" y="6377940"/>
            <a:ext cx="5760720" cy="192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22960" y="8349615"/>
            <a:ext cx="16596360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Nenhum dos 48 participantes exibiria o endereço completo de um animal acolhido.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0" r="0" b="-65201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00" r="0" b="-65201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200" r="0" b="-65201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200" r="0" b="-65201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01" r="0" b="-65200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3709264"/>
            </a:xfrm>
            <a:custGeom>
              <a:avLst/>
              <a:gdLst/>
              <a:ahLst/>
              <a:cxnLst/>
              <a:rect r="r" b="b" t="t" l="l"/>
              <a:pathLst>
                <a:path h="3709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4"/>
                  </a:lnTo>
                  <a:lnTo>
                    <a:pt x="0" y="37092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5281" r="0" b="-65281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2960" y="24993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22960" y="2884456"/>
            <a:ext cx="6172200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2960" y="43281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22960" y="4705350"/>
            <a:ext cx="617220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(com recompensa ou de forma anônima), registra avistamentos, conversa, cadastra seus pets, pede ou analisa a tutela, combina o encontro e classifica membros.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22960" y="7071360"/>
            <a:ext cx="61722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2960" y="7466647"/>
            <a:ext cx="6172200" cy="25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7835875" y="32261"/>
            <a:ext cx="9147200" cy="10254739"/>
            <a:chOff x="0" y="0"/>
            <a:chExt cx="12196267" cy="1367298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196318" cy="13672947"/>
            </a:xfrm>
            <a:custGeom>
              <a:avLst/>
              <a:gdLst/>
              <a:ahLst/>
              <a:cxnLst/>
              <a:rect r="r" b="b" t="t" l="l"/>
              <a:pathLst>
                <a:path h="13672947" w="12196318">
                  <a:moveTo>
                    <a:pt x="0" y="0"/>
                  </a:moveTo>
                  <a:lnTo>
                    <a:pt x="12196318" y="0"/>
                  </a:lnTo>
                  <a:lnTo>
                    <a:pt x="12196318" y="13672947"/>
                  </a:lnTo>
                  <a:lnTo>
                    <a:pt x="0" y="13672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8" t="0" r="-18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125957" y="695192"/>
            <a:ext cx="10247671" cy="9591808"/>
            <a:chOff x="0" y="0"/>
            <a:chExt cx="13663562" cy="1278907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663549" cy="12789027"/>
            </a:xfrm>
            <a:custGeom>
              <a:avLst/>
              <a:gdLst/>
              <a:ahLst/>
              <a:cxnLst/>
              <a:rect r="r" b="b" t="t" l="l"/>
              <a:pathLst>
                <a:path h="12789027" w="13663549">
                  <a:moveTo>
                    <a:pt x="0" y="0"/>
                  </a:moveTo>
                  <a:lnTo>
                    <a:pt x="13663549" y="0"/>
                  </a:lnTo>
                  <a:lnTo>
                    <a:pt x="13663549" y="12789027"/>
                  </a:lnTo>
                  <a:lnTo>
                    <a:pt x="0" y="12789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80" r="0" b="-80"/>
              </a:stretch>
            </a:blip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MODELAGEM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914400"/>
            <a:ext cx="60350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22860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 Publicação no centro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26883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Pertence a um usuário; tem fotos e recompensa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39860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 Avistamento e conversa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43883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de quem viu o animal e chat privado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56860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 Devolução e prevenção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60883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Solicitação e encontro de devolução; pets do usuário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7386000"/>
            <a:ext cx="6035040" cy="745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 Denúncia e classificação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7788336"/>
            <a:ext cx="6035040" cy="107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notas entre membros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2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Desenvolvimento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tecnologias, design e demonstração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459200" y="9395460"/>
            <a:ext cx="9144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108960" y="2148840"/>
            <a:ext cx="12070080" cy="1463040"/>
            <a:chOff x="0" y="0"/>
            <a:chExt cx="16093440" cy="19507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093441" cy="1950720"/>
            </a:xfrm>
            <a:custGeom>
              <a:avLst/>
              <a:gdLst/>
              <a:ahLst/>
              <a:cxnLst/>
              <a:rect r="r" b="b" t="t" l="l"/>
              <a:pathLst>
                <a:path h="1950720" w="16093441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15800832" y="0"/>
                  </a:lnTo>
                  <a:cubicBezTo>
                    <a:pt x="15962376" y="0"/>
                    <a:pt x="16093441" y="131064"/>
                    <a:pt x="16093441" y="292608"/>
                  </a:cubicBezTo>
                  <a:lnTo>
                    <a:pt x="16093441" y="1658112"/>
                  </a:lnTo>
                  <a:cubicBezTo>
                    <a:pt x="16093441" y="1819656"/>
                    <a:pt x="15962376" y="1950720"/>
                    <a:pt x="15800832" y="1950720"/>
                  </a:cubicBezTo>
                  <a:lnTo>
                    <a:pt x="292608" y="1950720"/>
                  </a:lnTo>
                  <a:cubicBezTo>
                    <a:pt x="131064" y="1950720"/>
                    <a:pt x="0" y="1819656"/>
                    <a:pt x="0" y="165811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3429000" y="1829402"/>
            <a:ext cx="3108960" cy="1463040"/>
            <a:chOff x="0" y="0"/>
            <a:chExt cx="4145280" cy="1950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4528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378" t="0" r="-10378" b="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14528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  Aplicativo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onde a pessoa usa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5923026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79511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182231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95735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GPS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488168" y="2979420"/>
            <a:ext cx="133502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Câmera e galeria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983212" y="2979420"/>
            <a:ext cx="109728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Notificações</a:t>
            </a:r>
          </a:p>
        </p:txBody>
      </p:sp>
      <p:sp>
        <p:nvSpPr>
          <p:cNvPr name="AutoShape 53" id="53"/>
          <p:cNvSpPr/>
          <p:nvPr/>
        </p:nvSpPr>
        <p:spPr>
          <a:xfrm flipH="true">
            <a:off x="9144000" y="3706114"/>
            <a:ext cx="14294" cy="545846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54" id="54"/>
          <p:cNvGrpSpPr/>
          <p:nvPr/>
        </p:nvGrpSpPr>
        <p:grpSpPr>
          <a:xfrm rot="0">
            <a:off x="9372600" y="3657600"/>
            <a:ext cx="3657600" cy="457200"/>
            <a:chOff x="0" y="0"/>
            <a:chExt cx="487680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5880" r="0" b="-105880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  ·  conexão segura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949440" y="4251960"/>
            <a:ext cx="4389120" cy="1508760"/>
            <a:chOff x="0" y="0"/>
            <a:chExt cx="5852160" cy="2011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521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85216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5449824" y="0"/>
                  </a:lnTo>
                  <a:cubicBezTo>
                    <a:pt x="5672074" y="0"/>
                    <a:pt x="5852160" y="180086"/>
                    <a:pt x="5852160" y="402336"/>
                  </a:cubicBezTo>
                  <a:lnTo>
                    <a:pt x="5852160" y="1609344"/>
                  </a:lnTo>
                  <a:cubicBezTo>
                    <a:pt x="5852160" y="1831594"/>
                    <a:pt x="5672074" y="2011680"/>
                    <a:pt x="5449824" y="2011680"/>
                  </a:cubicBezTo>
                  <a:lnTo>
                    <a:pt x="402336" y="2011680"/>
                  </a:lnTo>
                  <a:cubicBezTo>
                    <a:pt x="180086" y="2011680"/>
                    <a:pt x="0" y="1831594"/>
                    <a:pt x="0" y="1609344"/>
                  </a:cubicBezTo>
                  <a:close/>
                </a:path>
              </a:pathLst>
            </a:custGeom>
            <a:solidFill>
              <a:srgbClr val="2E5634"/>
            </a:solid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7223760" y="4544568"/>
            <a:ext cx="914400" cy="914400"/>
            <a:chOff x="0" y="0"/>
            <a:chExt cx="121920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8366760" y="3903607"/>
            <a:ext cx="2880360" cy="1508760"/>
            <a:chOff x="0" y="0"/>
            <a:chExt cx="3840480" cy="2011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404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7206" t="0" r="-17206" b="0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38404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  Backend</a:t>
              </a:r>
            </a:p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D6E4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onde tudo fica guardado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003746" y="4244021"/>
            <a:ext cx="3947798" cy="884558"/>
            <a:chOff x="0" y="0"/>
            <a:chExt cx="5263731" cy="11794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2212848" y="4434835"/>
            <a:ext cx="502920" cy="502920"/>
            <a:chOff x="0" y="0"/>
            <a:chExt cx="670560" cy="670560"/>
          </a:xfrm>
        </p:grpSpPr>
        <p:sp>
          <p:nvSpPr>
            <p:cNvPr name="Freeform 67" id="67" descr="lock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68" id="68"/>
          <p:cNvGrpSpPr/>
          <p:nvPr/>
        </p:nvGrpSpPr>
        <p:grpSpPr>
          <a:xfrm rot="0">
            <a:off x="2880360" y="4251955"/>
            <a:ext cx="2971800" cy="868680"/>
            <a:chOff x="0" y="0"/>
            <a:chExt cx="3962400" cy="1158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 Auth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login, inclusive com Google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003746" y="5158421"/>
            <a:ext cx="3947798" cy="884558"/>
            <a:chOff x="0" y="0"/>
            <a:chExt cx="5263731" cy="117941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3" id="73"/>
          <p:cNvGrpSpPr/>
          <p:nvPr/>
        </p:nvGrpSpPr>
        <p:grpSpPr>
          <a:xfrm rot="0">
            <a:off x="2880360" y="5166355"/>
            <a:ext cx="2971800" cy="868680"/>
            <a:chOff x="0" y="0"/>
            <a:chExt cx="3962400" cy="1158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 + RLS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banco e regras de acesso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336466" y="4229100"/>
            <a:ext cx="3947798" cy="884558"/>
            <a:chOff x="0" y="0"/>
            <a:chExt cx="5263731" cy="11794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213080" y="4237034"/>
            <a:ext cx="2971800" cy="868680"/>
            <a:chOff x="0" y="0"/>
            <a:chExt cx="3962400" cy="11582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guarda as fotos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336466" y="5143500"/>
            <a:ext cx="3947798" cy="884558"/>
            <a:chOff x="0" y="0"/>
            <a:chExt cx="5263731" cy="117941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213080" y="5151434"/>
            <a:ext cx="2971800" cy="868680"/>
            <a:chOff x="0" y="0"/>
            <a:chExt cx="3962400" cy="11582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 e avisos na hora</a:t>
              </a:r>
            </a:p>
          </p:txBody>
        </p:sp>
      </p:grpSp>
      <p:sp>
        <p:nvSpPr>
          <p:cNvPr name="AutoShape 86" id="86"/>
          <p:cNvSpPr/>
          <p:nvPr/>
        </p:nvSpPr>
        <p:spPr>
          <a:xfrm>
            <a:off x="5951544" y="4686300"/>
            <a:ext cx="1059462" cy="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11371457" y="4671379"/>
            <a:ext cx="965009" cy="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5929310" y="5586411"/>
            <a:ext cx="955764" cy="44298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 flipV="true">
            <a:off x="11418647" y="5585779"/>
            <a:ext cx="917819" cy="2920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0" id="90"/>
          <p:cNvGrpSpPr/>
          <p:nvPr/>
        </p:nvGrpSpPr>
        <p:grpSpPr>
          <a:xfrm rot="0">
            <a:off x="7170106" y="6118546"/>
            <a:ext cx="3947798" cy="884558"/>
            <a:chOff x="0" y="0"/>
            <a:chExt cx="5263731" cy="117941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63769" cy="1179449"/>
            </a:xfrm>
            <a:custGeom>
              <a:avLst/>
              <a:gdLst/>
              <a:ahLst/>
              <a:cxnLst/>
              <a:rect r="r" b="b" t="t" l="l"/>
              <a:pathLst>
                <a:path h="1179449" w="5263769">
                  <a:moveTo>
                    <a:pt x="0" y="176911"/>
                  </a:moveTo>
                  <a:cubicBezTo>
                    <a:pt x="0" y="79248"/>
                    <a:pt x="79248" y="0"/>
                    <a:pt x="176911" y="0"/>
                  </a:cubicBezTo>
                  <a:lnTo>
                    <a:pt x="5086858" y="0"/>
                  </a:lnTo>
                  <a:cubicBezTo>
                    <a:pt x="5184521" y="0"/>
                    <a:pt x="5263769" y="79248"/>
                    <a:pt x="5263769" y="176911"/>
                  </a:cubicBezTo>
                  <a:lnTo>
                    <a:pt x="5263769" y="1002538"/>
                  </a:lnTo>
                  <a:cubicBezTo>
                    <a:pt x="5263769" y="1100201"/>
                    <a:pt x="5184521" y="1179449"/>
                    <a:pt x="5086858" y="1179449"/>
                  </a:cubicBezTo>
                  <a:lnTo>
                    <a:pt x="176911" y="1179449"/>
                  </a:lnTo>
                  <a:cubicBezTo>
                    <a:pt x="79248" y="1179449"/>
                    <a:pt x="0" y="1100201"/>
                    <a:pt x="0" y="1002538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92" id="92"/>
          <p:cNvGrpSpPr/>
          <p:nvPr/>
        </p:nvGrpSpPr>
        <p:grpSpPr>
          <a:xfrm rot="0">
            <a:off x="8046720" y="6126480"/>
            <a:ext cx="2971800" cy="868680"/>
            <a:chOff x="0" y="0"/>
            <a:chExt cx="3962400" cy="11582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962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3962400">
                  <a:moveTo>
                    <a:pt x="0" y="0"/>
                  </a:moveTo>
                  <a:lnTo>
                    <a:pt x="3962400" y="0"/>
                  </a:lnTo>
                  <a:lnTo>
                    <a:pt x="3962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659" r="0" b="-16659"/>
              </a:stretch>
            </a:blipFill>
          </p:spPr>
          <p:txBody>
            <a:bodyPr/>
            <a:p/>
          </p:txBody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96240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Edge Functions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código no servidor, com as chaves secretas</a:t>
              </a:r>
            </a:p>
          </p:txBody>
        </p:sp>
      </p:grpSp>
      <p:sp>
        <p:nvSpPr>
          <p:cNvPr name="AutoShape 95" id="95"/>
          <p:cNvSpPr/>
          <p:nvPr/>
        </p:nvSpPr>
        <p:spPr>
          <a:xfrm>
            <a:off x="9144000" y="5760720"/>
            <a:ext cx="5" cy="357826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H="true">
            <a:off x="9128126" y="6979287"/>
            <a:ext cx="0" cy="721951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97" id="97"/>
          <p:cNvGrpSpPr/>
          <p:nvPr/>
        </p:nvGrpSpPr>
        <p:grpSpPr>
          <a:xfrm rot="0">
            <a:off x="9372600" y="7040880"/>
            <a:ext cx="3657600" cy="457200"/>
            <a:chOff x="0" y="0"/>
            <a:chExt cx="4876800" cy="609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876800" cy="609600"/>
            </a:xfrm>
            <a:custGeom>
              <a:avLst/>
              <a:gdLst/>
              <a:ahLst/>
              <a:cxnLst/>
              <a:rect r="r" b="b" t="t" l="l"/>
              <a:pathLst>
                <a:path h="60960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5880" r="0" b="-105880"/>
              </a:stretch>
            </a:blipFill>
          </p:spPr>
          <p:txBody>
            <a:bodyPr/>
            <a:p/>
          </p:txBody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8768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  ·  pede o envio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3108960" y="7589520"/>
            <a:ext cx="12070080" cy="1417320"/>
            <a:chOff x="0" y="0"/>
            <a:chExt cx="16093440" cy="188976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6093439" cy="1889760"/>
            </a:xfrm>
            <a:custGeom>
              <a:avLst/>
              <a:gdLst/>
              <a:ahLst/>
              <a:cxnLst/>
              <a:rect r="r" b="b" t="t" l="l"/>
              <a:pathLst>
                <a:path h="1889760" w="16093439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lnTo>
                    <a:pt x="15809976" y="0"/>
                  </a:lnTo>
                  <a:cubicBezTo>
                    <a:pt x="15966567" y="0"/>
                    <a:pt x="16093439" y="126873"/>
                    <a:pt x="16093439" y="283464"/>
                  </a:cubicBezTo>
                  <a:lnTo>
                    <a:pt x="16093439" y="1606296"/>
                  </a:lnTo>
                  <a:cubicBezTo>
                    <a:pt x="16093439" y="1762887"/>
                    <a:pt x="15966567" y="1889760"/>
                    <a:pt x="15809976" y="1889760"/>
                  </a:cubicBezTo>
                  <a:lnTo>
                    <a:pt x="283464" y="1889760"/>
                  </a:lnTo>
                  <a:cubicBezTo>
                    <a:pt x="126873" y="1889760"/>
                    <a:pt x="0" y="1762887"/>
                    <a:pt x="0" y="1606296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429000" y="7301489"/>
            <a:ext cx="3108960" cy="1417320"/>
            <a:chOff x="0" y="0"/>
            <a:chExt cx="4145280" cy="188976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145280" cy="1889760"/>
            </a:xfrm>
            <a:custGeom>
              <a:avLst/>
              <a:gdLst/>
              <a:ahLst/>
              <a:cxnLst/>
              <a:rect r="r" b="b" t="t" l="l"/>
              <a:pathLst>
                <a:path h="18897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8491" t="0" r="-8491" b="0"/>
              </a:stretch>
            </a:blip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4145280" cy="1899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  Mensageria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quem avisa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138160" y="7589520"/>
            <a:ext cx="3017520" cy="1417320"/>
            <a:chOff x="0" y="0"/>
            <a:chExt cx="4023360" cy="18897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023360" cy="1889760"/>
            </a:xfrm>
            <a:custGeom>
              <a:avLst/>
              <a:gdLst/>
              <a:ahLst/>
              <a:cxnLst/>
              <a:rect r="r" b="b" t="t" l="l"/>
              <a:pathLst>
                <a:path h="18897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263" t="0" r="-10263" b="0"/>
              </a:stretch>
            </a:blip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023360" cy="1927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Evolution API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liga um número de WhatsApp ao app; hospedada no Render</a:t>
              </a:r>
            </a:p>
          </p:txBody>
        </p:sp>
      </p:grpSp>
      <p:sp>
        <p:nvSpPr>
          <p:cNvPr name="AutoShape 108" id="108"/>
          <p:cNvSpPr/>
          <p:nvPr/>
        </p:nvSpPr>
        <p:spPr>
          <a:xfrm flipV="true">
            <a:off x="11155680" y="8293608"/>
            <a:ext cx="706943" cy="4572"/>
          </a:xfrm>
          <a:prstGeom prst="line">
            <a:avLst/>
          </a:prstGeom>
          <a:ln cap="rnd" w="28575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109" id="109"/>
          <p:cNvGrpSpPr/>
          <p:nvPr/>
        </p:nvGrpSpPr>
        <p:grpSpPr>
          <a:xfrm rot="0">
            <a:off x="12893040" y="7589520"/>
            <a:ext cx="2194560" cy="1417320"/>
            <a:chOff x="0" y="0"/>
            <a:chExt cx="2926080" cy="18897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926080" cy="1889760"/>
            </a:xfrm>
            <a:custGeom>
              <a:avLst/>
              <a:gdLst/>
              <a:ahLst/>
              <a:cxnLst/>
              <a:rect r="r" b="b" t="t" l="l"/>
              <a:pathLst>
                <a:path h="188976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889760"/>
                  </a:lnTo>
                  <a:lnTo>
                    <a:pt x="0" y="18897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2862" t="0" r="-32862" b="0"/>
              </a:stretch>
            </a:blipFill>
          </p:spPr>
          <p:txBody>
            <a:bodyPr/>
            <a:p/>
          </p:txBody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926080" cy="1927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código e avisos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6224778" y="2423160"/>
            <a:ext cx="493776" cy="493776"/>
            <a:chOff x="0" y="0"/>
            <a:chExt cx="658368" cy="658368"/>
          </a:xfrm>
        </p:grpSpPr>
        <p:sp>
          <p:nvSpPr>
            <p:cNvPr name="Freeform 113" id="113" descr="/tmp/un/ppt/media/image53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8581263" y="2423160"/>
            <a:ext cx="493776" cy="493776"/>
            <a:chOff x="0" y="0"/>
            <a:chExt cx="658368" cy="658368"/>
          </a:xfrm>
        </p:grpSpPr>
        <p:sp>
          <p:nvSpPr>
            <p:cNvPr name="Freeform 115" id="115" descr="/tmp/un/ppt/media/image54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7483983" y="2423160"/>
            <a:ext cx="493776" cy="493776"/>
            <a:chOff x="0" y="0"/>
            <a:chExt cx="658368" cy="658368"/>
          </a:xfrm>
        </p:grpSpPr>
        <p:sp>
          <p:nvSpPr>
            <p:cNvPr name="Freeform 117" id="117" descr="/tmp/un/ppt/media/image55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614916" y="2423160"/>
            <a:ext cx="493776" cy="493776"/>
            <a:chOff x="0" y="0"/>
            <a:chExt cx="658368" cy="658368"/>
          </a:xfrm>
        </p:grpSpPr>
        <p:sp>
          <p:nvSpPr>
            <p:cNvPr name="Freeform 119" id="119" descr="/tmp/un/ppt/media/image70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789920" y="2423160"/>
            <a:ext cx="493776" cy="493776"/>
            <a:chOff x="0" y="0"/>
            <a:chExt cx="658368" cy="658368"/>
          </a:xfrm>
        </p:grpSpPr>
        <p:sp>
          <p:nvSpPr>
            <p:cNvPr name="Freeform 121" id="121" descr="/tmp/un/ppt/media/image71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2284964" y="2423160"/>
            <a:ext cx="493776" cy="493776"/>
            <a:chOff x="0" y="0"/>
            <a:chExt cx="658368" cy="658368"/>
          </a:xfrm>
        </p:grpSpPr>
        <p:sp>
          <p:nvSpPr>
            <p:cNvPr name="Freeform 123" id="123" descr="/tmp/un/ppt/media/image72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7424928" y="4745736"/>
            <a:ext cx="512064" cy="512064"/>
            <a:chOff x="0" y="0"/>
            <a:chExt cx="682752" cy="682752"/>
          </a:xfrm>
        </p:grpSpPr>
        <p:sp>
          <p:nvSpPr>
            <p:cNvPr name="Freeform 125" id="125" descr="/tmp/un/ppt/media/image75.png"/>
            <p:cNvSpPr/>
            <p:nvPr/>
          </p:nvSpPr>
          <p:spPr>
            <a:xfrm flipH="false" flipV="false" rot="0">
              <a:off x="0" y="0"/>
              <a:ext cx="682752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2212848" y="5349235"/>
            <a:ext cx="502920" cy="502920"/>
            <a:chOff x="0" y="0"/>
            <a:chExt cx="670560" cy="67056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2126" r="0" b="-2128"/>
              </a:stretch>
            </a:blipFill>
          </p:spPr>
          <p:txBody>
            <a:bodyPr/>
            <a:p/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545568" y="4419914"/>
            <a:ext cx="502920" cy="502920"/>
            <a:chOff x="0" y="0"/>
            <a:chExt cx="670560" cy="670560"/>
          </a:xfrm>
        </p:grpSpPr>
        <p:sp>
          <p:nvSpPr>
            <p:cNvPr name="Freeform 129" id="129" descr="/tmp/un/ppt/media/image60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545568" y="5334314"/>
            <a:ext cx="502920" cy="502920"/>
            <a:chOff x="0" y="0"/>
            <a:chExt cx="670560" cy="670560"/>
          </a:xfrm>
        </p:grpSpPr>
        <p:sp>
          <p:nvSpPr>
            <p:cNvPr name="Freeform 131" id="131" descr="/tmp/un/ppt/media/image61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7379208" y="6309360"/>
            <a:ext cx="502920" cy="502920"/>
            <a:chOff x="0" y="0"/>
            <a:chExt cx="670560" cy="670560"/>
          </a:xfrm>
        </p:grpSpPr>
        <p:sp>
          <p:nvSpPr>
            <p:cNvPr name="Freeform 133" id="133" descr="/tmp/un/ppt/media/image62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2070080" y="7973568"/>
            <a:ext cx="640080" cy="640080"/>
            <a:chOff x="0" y="0"/>
            <a:chExt cx="853440" cy="853440"/>
          </a:xfrm>
        </p:grpSpPr>
        <p:sp>
          <p:nvSpPr>
            <p:cNvPr name="Freeform 135" id="135" descr="/tmp/un/ppt/media/image64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7315200" y="7973568"/>
            <a:ext cx="640080" cy="640080"/>
            <a:chOff x="0" y="0"/>
            <a:chExt cx="853440" cy="85344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4444" r="0" b="-4443"/>
              </a:stretch>
            </a:blipFill>
          </p:spPr>
          <p:txBody>
            <a:bodyPr/>
            <a:p/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2496295" y="7851143"/>
            <a:ext cx="318011" cy="318011"/>
            <a:chOff x="0" y="0"/>
            <a:chExt cx="424015" cy="424015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424053" cy="424053"/>
            </a:xfrm>
            <a:custGeom>
              <a:avLst/>
              <a:gdLst/>
              <a:ahLst/>
              <a:cxnLst/>
              <a:rect r="r" b="b" t="t" l="l"/>
              <a:pathLst>
                <a:path h="424053" w="424053">
                  <a:moveTo>
                    <a:pt x="0" y="211963"/>
                  </a:moveTo>
                  <a:cubicBezTo>
                    <a:pt x="0" y="94869"/>
                    <a:pt x="94869" y="0"/>
                    <a:pt x="211963" y="0"/>
                  </a:cubicBezTo>
                  <a:cubicBezTo>
                    <a:pt x="329057" y="0"/>
                    <a:pt x="424053" y="94869"/>
                    <a:pt x="424053" y="211963"/>
                  </a:cubicBezTo>
                  <a:cubicBezTo>
                    <a:pt x="424053" y="329057"/>
                    <a:pt x="329057" y="424053"/>
                    <a:pt x="211963" y="424053"/>
                  </a:cubicBezTo>
                  <a:cubicBezTo>
                    <a:pt x="94869" y="424053"/>
                    <a:pt x="0" y="329057"/>
                    <a:pt x="0" y="211963"/>
                  </a:cubicBezTo>
                  <a:close/>
                </a:path>
              </a:pathLst>
            </a:custGeom>
            <a:solidFill>
              <a:srgbClr val="E53E3E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  <p:txBody>
            <a:bodyPr/>
            <a:p/>
          </p:txBody>
        </p:sp>
        <p:sp>
          <p:nvSpPr>
            <p:cNvPr name="TextBox 140" id="140"/>
            <p:cNvSpPr txBox="true"/>
            <p:nvPr/>
          </p:nvSpPr>
          <p:spPr>
            <a:xfrm>
              <a:off x="0" y="-28575"/>
              <a:ext cx="424015" cy="452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59"/>
                </a:lnSpc>
              </a:pPr>
              <a:r>
                <a:rPr lang="en-US" sz="12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por que cada escolha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459200" y="939546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14400" y="2103120"/>
            <a:ext cx="16459200" cy="1828800"/>
            <a:chOff x="0" y="0"/>
            <a:chExt cx="21945600" cy="2438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21652992" y="0"/>
                  </a:lnTo>
                  <a:cubicBezTo>
                    <a:pt x="21814537" y="0"/>
                    <a:pt x="21945600" y="131064"/>
                    <a:pt x="21945600" y="292608"/>
                  </a:cubicBezTo>
                  <a:lnTo>
                    <a:pt x="21945600" y="2145792"/>
                  </a:lnTo>
                  <a:cubicBezTo>
                    <a:pt x="21945600" y="2307336"/>
                    <a:pt x="21814537" y="2438400"/>
                    <a:pt x="21652992" y="2438400"/>
                  </a:cubicBezTo>
                  <a:lnTo>
                    <a:pt x="292608" y="2438400"/>
                  </a:lnTo>
                  <a:cubicBezTo>
                    <a:pt x="131064" y="2438400"/>
                    <a:pt x="0" y="2307336"/>
                    <a:pt x="0" y="214579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0160" y="2103120"/>
            <a:ext cx="4206240" cy="1828800"/>
            <a:chOff x="0" y="0"/>
            <a:chExt cx="5608320" cy="2438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083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5784" t="0" r="-5784" b="0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560832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Aplicativo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um código para Android e iOS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193024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Android e iOS juntos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97312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testa direto no celular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88736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JavaScript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já tinha familiaridade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01600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Maps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mapa já conhecido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105888" y="2887980"/>
            <a:ext cx="186537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Google API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 sem criar senha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14400" y="4069080"/>
            <a:ext cx="16459200" cy="1645920"/>
            <a:chOff x="0" y="0"/>
            <a:chExt cx="21945600" cy="21945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21682202" y="0"/>
                  </a:lnTo>
                  <a:cubicBezTo>
                    <a:pt x="21827744" y="0"/>
                    <a:pt x="21945600" y="117856"/>
                    <a:pt x="21945600" y="263398"/>
                  </a:cubicBezTo>
                  <a:lnTo>
                    <a:pt x="21945600" y="1931162"/>
                  </a:lnTo>
                  <a:cubicBezTo>
                    <a:pt x="21945600" y="2076577"/>
                    <a:pt x="21827744" y="2194560"/>
                    <a:pt x="216822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80160" y="4069080"/>
            <a:ext cx="4206240" cy="1645920"/>
            <a:chOff x="0" y="0"/>
            <a:chExt cx="5608320" cy="2194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60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5" t="0" r="-205" b="0"/>
              </a:stretch>
            </a:blipFill>
          </p:spPr>
          <p:txBody>
            <a:bodyPr/>
            <a:p/>
          </p:txBody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6083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Backend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tudo pronto, sem servidor próprio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12280" y="4069080"/>
            <a:ext cx="4572000" cy="1645920"/>
            <a:chOff x="0" y="0"/>
            <a:chExt cx="6096000" cy="21945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Supabase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pronto, sem servidor do zero, e escala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481560" y="4069080"/>
            <a:ext cx="4572000" cy="1645920"/>
            <a:chOff x="0" y="0"/>
            <a:chExt cx="6096000" cy="2194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dados relacionados, com regras de acesso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14400" y="5852160"/>
            <a:ext cx="16459200" cy="1645920"/>
            <a:chOff x="0" y="0"/>
            <a:chExt cx="21945600" cy="21945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263398"/>
                  </a:moveTo>
                  <a:cubicBezTo>
                    <a:pt x="0" y="117856"/>
                    <a:pt x="117856" y="0"/>
                    <a:pt x="263398" y="0"/>
                  </a:cubicBezTo>
                  <a:lnTo>
                    <a:pt x="21682202" y="0"/>
                  </a:lnTo>
                  <a:cubicBezTo>
                    <a:pt x="21827744" y="0"/>
                    <a:pt x="21945600" y="117856"/>
                    <a:pt x="21945600" y="263398"/>
                  </a:cubicBezTo>
                  <a:lnTo>
                    <a:pt x="21945600" y="1931162"/>
                  </a:lnTo>
                  <a:cubicBezTo>
                    <a:pt x="21945600" y="2076577"/>
                    <a:pt x="21827744" y="2194560"/>
                    <a:pt x="21682202" y="2194560"/>
                  </a:cubicBezTo>
                  <a:lnTo>
                    <a:pt x="263398" y="2194560"/>
                  </a:lnTo>
                  <a:cubicBezTo>
                    <a:pt x="117856" y="2194560"/>
                    <a:pt x="0" y="2076704"/>
                    <a:pt x="0" y="1931162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80160" y="5852160"/>
            <a:ext cx="4206240" cy="1645920"/>
            <a:chOff x="0" y="0"/>
            <a:chExt cx="5608320" cy="21945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083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5" t="0" r="-205" b="0"/>
              </a:stretch>
            </a:blipFill>
          </p:spPr>
          <p:txBody>
            <a:bodyPr/>
            <a:p/>
          </p:txBody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560832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Mensageria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onde as pessoas já estão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6812280" y="5852160"/>
            <a:ext cx="4572000" cy="1645920"/>
            <a:chOff x="0" y="0"/>
            <a:chExt cx="6096000" cy="21945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WhatsApp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app que todos já usam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481560" y="5852160"/>
            <a:ext cx="4572000" cy="1645920"/>
            <a:chOff x="0" y="0"/>
            <a:chExt cx="6096000" cy="21945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96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125" r="0" b="-4125"/>
              </a:stretch>
            </a:blipFill>
          </p:spPr>
          <p:txBody>
            <a:bodyPr/>
            <a:p/>
          </p:txBody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09600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Render + Evolution API</a:t>
              </a:r>
            </a:p>
            <a:p>
              <a:pPr algn="l">
                <a:lnSpc>
                  <a:spcPts val="2040"/>
                </a:lnSpc>
              </a:pPr>
              <a:r>
                <a:rPr lang="en-US" sz="17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envio automático e gratuito pelo WhatsApp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4400" y="7635240"/>
            <a:ext cx="16459200" cy="1508760"/>
            <a:chOff x="0" y="0"/>
            <a:chExt cx="21945600" cy="2011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945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945600">
                  <a:moveTo>
                    <a:pt x="0" y="241427"/>
                  </a:moveTo>
                  <a:cubicBezTo>
                    <a:pt x="0" y="108077"/>
                    <a:pt x="108077" y="0"/>
                    <a:pt x="241427" y="0"/>
                  </a:cubicBezTo>
                  <a:lnTo>
                    <a:pt x="21704173" y="0"/>
                  </a:lnTo>
                  <a:cubicBezTo>
                    <a:pt x="21837523" y="0"/>
                    <a:pt x="21945600" y="108077"/>
                    <a:pt x="21945600" y="241427"/>
                  </a:cubicBezTo>
                  <a:lnTo>
                    <a:pt x="21945600" y="1770253"/>
                  </a:lnTo>
                  <a:cubicBezTo>
                    <a:pt x="21945600" y="1903603"/>
                    <a:pt x="21837523" y="2011680"/>
                    <a:pt x="21704173" y="2011680"/>
                  </a:cubicBezTo>
                  <a:lnTo>
                    <a:pt x="241427" y="2011680"/>
                  </a:lnTo>
                  <a:cubicBezTo>
                    <a:pt x="108077" y="2011680"/>
                    <a:pt x="0" y="1903603"/>
                    <a:pt x="0" y="1770253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80160" y="7635240"/>
            <a:ext cx="4206240" cy="1508760"/>
            <a:chOff x="0" y="0"/>
            <a:chExt cx="5608320" cy="2011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6083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321" r="0" b="-4321"/>
              </a:stretch>
            </a:blipFill>
          </p:spPr>
          <p:txBody>
            <a:bodyPr/>
            <a:p/>
          </p:txBody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60832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Apoio</a:t>
              </a:r>
            </a:p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organizar e construir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569671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 e GitHub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versões do código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34263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Trello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quadro Kanban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898855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Figma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protótipo das telas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63447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Astah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diagramas UML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28039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VS Code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editor gratuito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92631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ChatGPT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apoio revisado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572232" y="8420100"/>
            <a:ext cx="1591056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Copilot</a:t>
            </a:r>
          </a:p>
          <a:p>
            <a:pPr algn="ctr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sugere código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8874252" y="2331720"/>
            <a:ext cx="502920" cy="502920"/>
            <a:chOff x="0" y="0"/>
            <a:chExt cx="670560" cy="670560"/>
          </a:xfrm>
        </p:grpSpPr>
        <p:sp>
          <p:nvSpPr>
            <p:cNvPr name="Freeform 88" id="88" descr="/tmp/un/ppt/media/image53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178540" y="2331720"/>
            <a:ext cx="502920" cy="502920"/>
            <a:chOff x="0" y="0"/>
            <a:chExt cx="670560" cy="6705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6569964" y="2331720"/>
            <a:ext cx="502920" cy="502920"/>
            <a:chOff x="0" y="0"/>
            <a:chExt cx="670560" cy="670560"/>
          </a:xfrm>
        </p:grpSpPr>
        <p:sp>
          <p:nvSpPr>
            <p:cNvPr name="Freeform 92" id="92" descr="/tmp/un/ppt/media/image55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482828" y="2331720"/>
            <a:ext cx="502920" cy="502920"/>
            <a:chOff x="0" y="0"/>
            <a:chExt cx="670560" cy="6705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684836" y="2331720"/>
            <a:ext cx="707479" cy="502920"/>
            <a:chOff x="0" y="0"/>
            <a:chExt cx="943305" cy="6705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43356" cy="670560"/>
            </a:xfrm>
            <a:custGeom>
              <a:avLst/>
              <a:gdLst/>
              <a:ahLst/>
              <a:cxnLst/>
              <a:rect r="r" b="b" t="t" l="l"/>
              <a:pathLst>
                <a:path h="670560" w="943356">
                  <a:moveTo>
                    <a:pt x="0" y="0"/>
                  </a:moveTo>
                  <a:lnTo>
                    <a:pt x="943356" y="0"/>
                  </a:lnTo>
                  <a:lnTo>
                    <a:pt x="943356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49588" t="0" r="-49584" b="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5875020" y="4549140"/>
            <a:ext cx="685800" cy="685800"/>
            <a:chOff x="0" y="0"/>
            <a:chExt cx="914400" cy="9144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544300" y="4549140"/>
            <a:ext cx="685800" cy="685800"/>
            <a:chOff x="0" y="0"/>
            <a:chExt cx="914400" cy="9144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2127" r="0" b="-2127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875020" y="6332220"/>
            <a:ext cx="685800" cy="685800"/>
            <a:chOff x="0" y="0"/>
            <a:chExt cx="914400" cy="914400"/>
          </a:xfrm>
        </p:grpSpPr>
        <p:sp>
          <p:nvSpPr>
            <p:cNvPr name="Freeform 104" id="104" descr="/tmp/un/ppt/media/image64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544300" y="6332220"/>
            <a:ext cx="685800" cy="685800"/>
            <a:chOff x="0" y="0"/>
            <a:chExt cx="914400" cy="914400"/>
          </a:xfrm>
        </p:grpSpPr>
        <p:sp>
          <p:nvSpPr>
            <p:cNvPr name="Freeform 106" id="106" descr="/tmp/un/ppt/media/image63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6240780" y="7863840"/>
            <a:ext cx="502920" cy="502920"/>
            <a:chOff x="0" y="0"/>
            <a:chExt cx="670560" cy="670560"/>
          </a:xfrm>
        </p:grpSpPr>
        <p:sp>
          <p:nvSpPr>
            <p:cNvPr name="Freeform 108" id="108" descr="/tmp/un/ppt/media/image65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886700" y="7863840"/>
            <a:ext cx="502920" cy="502920"/>
            <a:chOff x="0" y="0"/>
            <a:chExt cx="670560" cy="670560"/>
          </a:xfrm>
        </p:grpSpPr>
        <p:sp>
          <p:nvSpPr>
            <p:cNvPr name="Freeform 110" id="110" descr="/tmp/un/ppt/media/image66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612420" y="7863840"/>
            <a:ext cx="343310" cy="502920"/>
            <a:chOff x="0" y="0"/>
            <a:chExt cx="457746" cy="6705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57708" cy="670560"/>
            </a:xfrm>
            <a:custGeom>
              <a:avLst/>
              <a:gdLst/>
              <a:ahLst/>
              <a:cxnLst/>
              <a:rect r="r" b="b" t="t" l="l"/>
              <a:pathLst>
                <a:path h="670560" w="457708">
                  <a:moveTo>
                    <a:pt x="0" y="0"/>
                  </a:moveTo>
                  <a:lnTo>
                    <a:pt x="457708" y="0"/>
                  </a:lnTo>
                  <a:lnTo>
                    <a:pt x="457708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198" r="-8" b="-1196"/>
              </a:stretch>
            </a:blipFill>
          </p:spPr>
          <p:txBody>
            <a:bodyPr/>
            <a:p/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178540" y="7863840"/>
            <a:ext cx="502920" cy="502920"/>
            <a:chOff x="0" y="0"/>
            <a:chExt cx="670560" cy="67056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824460" y="7863840"/>
            <a:ext cx="502920" cy="502920"/>
            <a:chOff x="0" y="0"/>
            <a:chExt cx="670560" cy="67056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470380" y="7863840"/>
            <a:ext cx="502920" cy="502920"/>
            <a:chOff x="0" y="0"/>
            <a:chExt cx="670560" cy="670560"/>
          </a:xfrm>
        </p:grpSpPr>
        <p:sp>
          <p:nvSpPr>
            <p:cNvPr name="Freeform 118" id="118" descr="/tmp/un/ppt/media/image69.png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6116300" y="7863840"/>
            <a:ext cx="502920" cy="502920"/>
            <a:chOff x="0" y="0"/>
            <a:chExt cx="670560" cy="6705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21" id="21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97481" y="7577538"/>
            <a:ext cx="389184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511540"/>
            <a:ext cx="64008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3037132" y="6795449"/>
            <a:ext cx="2612546" cy="1110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801734" y="1882601"/>
            <a:ext cx="2067207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a. Identidade visual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815410" y="3214539"/>
            <a:ext cx="69960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Primária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15139" y="3500847"/>
            <a:ext cx="7267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#2E5634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00901" y="3214539"/>
            <a:ext cx="92157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Secundária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02586" y="3500847"/>
            <a:ext cx="75311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#B1734A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98432" y="3781276"/>
            <a:ext cx="2397447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b. Tipos de publicação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02519" y="5429659"/>
            <a:ext cx="759783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#D5803D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90239" y="5429659"/>
            <a:ext cx="75889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#DC2777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88481" y="5725158"/>
            <a:ext cx="3392560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c. Avisos e estados da interface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815433" y="7072164"/>
            <a:ext cx="697290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Sucesso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815139" y="7358472"/>
            <a:ext cx="7267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#2E5634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05524" y="7072164"/>
            <a:ext cx="45931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Aviso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502691" y="7358472"/>
            <a:ext cx="74262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#D37708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187182" y="7072164"/>
            <a:ext cx="1064603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Erro / perigo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190239" y="7358472"/>
            <a:ext cx="75889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#DC2826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872549" y="7072164"/>
            <a:ext cx="129901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Erro / destaque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878288" y="7358472"/>
            <a:ext cx="72511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#EF4444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791568" y="7638901"/>
            <a:ext cx="3083819" cy="2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784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d. Cores neutras da interface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869199" y="9061002"/>
            <a:ext cx="163403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 Superfície / cartões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495897" y="9061252"/>
            <a:ext cx="142204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Texto secundário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810165" y="9061252"/>
            <a:ext cx="122416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Texto principal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500765" y="5128282"/>
            <a:ext cx="935261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Encontrado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78380" y="9362629"/>
            <a:ext cx="7158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#FFFFFF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592775" y="9362629"/>
            <a:ext cx="726358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#E2E8F0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815002" y="9362629"/>
            <a:ext cx="740404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#0F172A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594246" y="9061252"/>
            <a:ext cx="579327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Bordas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16020" y="5128282"/>
            <a:ext cx="63861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Perdido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191593" y="5128282"/>
            <a:ext cx="623507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Adoção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502862" y="9362629"/>
            <a:ext cx="7254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#475559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190621" y="9362629"/>
            <a:ext cx="720669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#F6F8F6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814980" y="5429659"/>
            <a:ext cx="742626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>
                <a:solidFill>
                  <a:srgbClr val="293241"/>
                </a:solidFill>
                <a:latin typeface="Roboto"/>
                <a:ea typeface="Roboto"/>
                <a:cs typeface="Roboto"/>
                <a:sym typeface="Roboto"/>
              </a:rPr>
              <a:t>#D64545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192737" y="9061252"/>
            <a:ext cx="509100" cy="17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5"/>
              </a:lnSpc>
            </a:pPr>
            <a:r>
              <a:rPr lang="en-US" sz="1335" b="true">
                <a:solidFill>
                  <a:srgbClr val="293241"/>
                </a:solidFill>
                <a:latin typeface="Roboto Bold"/>
                <a:ea typeface="Roboto Bold"/>
                <a:cs typeface="Roboto Bold"/>
                <a:sym typeface="Roboto Bold"/>
              </a:rPr>
              <a:t>Fundo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7816020" y="2221572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76" id="76"/>
          <p:cNvSpPr/>
          <p:nvPr/>
        </p:nvSpPr>
        <p:spPr>
          <a:xfrm flipH="false" flipV="false" rot="0">
            <a:off x="9505524" y="219299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77" id="77"/>
          <p:cNvSpPr/>
          <p:nvPr/>
        </p:nvSpPr>
        <p:spPr>
          <a:xfrm flipH="false" flipV="false" rot="0">
            <a:off x="7810165" y="41171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6" y="0"/>
                </a:lnTo>
                <a:lnTo>
                  <a:pt x="1279326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78" id="78"/>
          <p:cNvSpPr/>
          <p:nvPr/>
        </p:nvSpPr>
        <p:spPr>
          <a:xfrm flipH="false" flipV="false" rot="0">
            <a:off x="9505524" y="4088532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79" id="79"/>
          <p:cNvSpPr/>
          <p:nvPr/>
        </p:nvSpPr>
        <p:spPr>
          <a:xfrm flipH="false" flipV="false" rot="0">
            <a:off x="11200883" y="405995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0" id="80"/>
          <p:cNvSpPr/>
          <p:nvPr/>
        </p:nvSpPr>
        <p:spPr>
          <a:xfrm flipH="false" flipV="false" rot="0">
            <a:off x="7816020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1" id="81"/>
          <p:cNvSpPr/>
          <p:nvPr/>
        </p:nvSpPr>
        <p:spPr>
          <a:xfrm flipH="false" flipV="false" rot="0">
            <a:off x="7816020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2" id="82"/>
          <p:cNvSpPr/>
          <p:nvPr/>
        </p:nvSpPr>
        <p:spPr>
          <a:xfrm flipH="false" flipV="false" rot="0">
            <a:off x="9505524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3" id="83"/>
          <p:cNvSpPr/>
          <p:nvPr/>
        </p:nvSpPr>
        <p:spPr>
          <a:xfrm flipH="false" flipV="false" rot="0">
            <a:off x="11195028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4" id="84"/>
          <p:cNvSpPr/>
          <p:nvPr/>
        </p:nvSpPr>
        <p:spPr>
          <a:xfrm flipH="false" flipV="false" rot="0">
            <a:off x="12884532" y="6032413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7"/>
                </a:lnTo>
                <a:lnTo>
                  <a:pt x="0" y="89771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5" id="85"/>
          <p:cNvSpPr/>
          <p:nvPr/>
        </p:nvSpPr>
        <p:spPr>
          <a:xfrm flipH="false" flipV="false" rot="0">
            <a:off x="9505524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6" id="86"/>
          <p:cNvSpPr/>
          <p:nvPr/>
        </p:nvSpPr>
        <p:spPr>
          <a:xfrm flipH="false" flipV="false" rot="0">
            <a:off x="11195028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7" id="87"/>
          <p:cNvSpPr/>
          <p:nvPr/>
        </p:nvSpPr>
        <p:spPr>
          <a:xfrm flipH="false" flipV="false" rot="0">
            <a:off x="12884532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name="Freeform 88" id="88"/>
          <p:cNvSpPr/>
          <p:nvPr/>
        </p:nvSpPr>
        <p:spPr>
          <a:xfrm flipH="false" flipV="false" rot="0">
            <a:off x="14574036" y="7965207"/>
            <a:ext cx="1279327" cy="897716"/>
          </a:xfrm>
          <a:custGeom>
            <a:avLst/>
            <a:gdLst/>
            <a:ahLst/>
            <a:cxnLst/>
            <a:rect r="r" b="b" t="t" l="l"/>
            <a:pathLst>
              <a:path h="897716" w="1279327">
                <a:moveTo>
                  <a:pt x="0" y="0"/>
                </a:moveTo>
                <a:lnTo>
                  <a:pt x="1279327" y="0"/>
                </a:lnTo>
                <a:lnTo>
                  <a:pt x="1279327" y="897716"/>
                </a:lnTo>
                <a:lnTo>
                  <a:pt x="0" y="897716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-199" t="0" r="-198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Tipografia: Roboto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91" id="9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97" id="9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99" id="9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07" id="107"/>
          <p:cNvSpPr txBox="true"/>
          <p:nvPr/>
        </p:nvSpPr>
        <p:spPr>
          <a:xfrm rot="0">
            <a:off x="914400" y="188214"/>
            <a:ext cx="6858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3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pic>
        <p:nvPicPr>
          <p:cNvPr id="142" name="Picture 141" descr="figura15_tipografia_robot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095" y="2286000"/>
            <a:ext cx="15865810" cy="6914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69164"/>
            <a:ext cx="685800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857250"/>
            <a:ext cx="16459200" cy="1154430"/>
            <a:chOff x="0" y="0"/>
            <a:chExt cx="21945600" cy="1539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3958590"/>
            <a:ext cx="4846320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5234940"/>
            <a:ext cx="4846320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6701790"/>
            <a:ext cx="4846320" cy="72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7193280"/>
            <a:ext cx="4846320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pts: entra na lista. 60 pts: gera aviso (até 3).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8441055"/>
            <a:ext cx="16459200" cy="106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Soma limitada a 0–100; pesos definidos de forma empírica, ainda sem calibração com casos reais (Quadro 4 do TCC).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459200" y="93954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40" id="4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42" id="42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14400" y="2129790"/>
            <a:ext cx="4937760" cy="175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1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0–100</a:t>
            </a:r>
          </a:p>
        </p:txBody>
      </p:sp>
      <p:graphicFrame>
        <p:nvGraphicFramePr>
          <p:cNvPr name="Table 48" id="48"/>
          <p:cNvGraphicFramePr>
            <a:graphicFrameLocks noGrp="true"/>
          </p:cNvGraphicFramePr>
          <p:nvPr/>
        </p:nvGraphicFramePr>
        <p:xfrm>
          <a:off x="6172200" y="2240280"/>
          <a:ext cx="11176000" cy="5829300"/>
        </p:xfrm>
        <a:graphic>
          <a:graphicData uri="http://schemas.openxmlformats.org/drawingml/2006/table">
            <a:tbl>
              <a:tblPr/>
              <a:tblGrid>
                <a:gridCol w="2146173"/>
                <a:gridCol w="3646404"/>
                <a:gridCol w="2919019"/>
                <a:gridCol w="2464404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Critério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Igual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Parcial ou não informado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Diferente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Espécie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o par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Sexo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o par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Porte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+6 diferente · +5 ausente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(pequeno × grande)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+25 · +18 se uma contém a outra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+8 ambos SRD · +4 SRD × raça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Pelagem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 (2+ cores) · +12 (1 cor)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Idade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−15 (filhote × idoso)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Distância (GPS)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 até 1,2 km · +10 até 3,5 · +5 até 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 de 8 a 20 km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−15 acima de 20 km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Sem GPS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+12 mesmo bairro · +5 mesma cidade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sem dados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−20 cidades diferentes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DESENVOLVIMENTO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Avaliação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55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Testes que ainda serão realizados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959691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será avaliado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3764280"/>
            <a:ext cx="40233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Conferir cada requisito nos fluxos principais, no celular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4526280" y="2095976"/>
            <a:ext cx="548640" cy="1561624"/>
            <a:chOff x="0" y="0"/>
            <a:chExt cx="731520" cy="20821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4526280" y="2003108"/>
            <a:ext cx="548640" cy="1654492"/>
            <a:chOff x="0" y="0"/>
            <a:chExt cx="731520" cy="22059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4526280" y="1910239"/>
            <a:ext cx="548640" cy="1747361"/>
            <a:chOff x="0" y="0"/>
            <a:chExt cx="731520" cy="232981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12064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2064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Segurança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12064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com o MobSF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  <p:txBody>
            <a:bodyPr/>
            <a:p/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  <p:txBody>
            <a:bodyPr/>
            <a:p/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  <p:txBody>
            <a:bodyPr/>
            <a:p/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  <p:txBody>
            <a:bodyPr/>
            <a:p/>
          </p:txBody>
        </p:sp>
      </p:grpSp>
      <p:grpSp>
        <p:nvGrpSpPr>
          <p:cNvPr name="Group 53" id="53"/>
          <p:cNvGrpSpPr/>
          <p:nvPr/>
        </p:nvGrpSpPr>
        <p:grpSpPr>
          <a:xfrm rot="0">
            <a:off x="8732520" y="2095976"/>
            <a:ext cx="548640" cy="1561624"/>
            <a:chOff x="0" y="0"/>
            <a:chExt cx="731520" cy="208216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  <p:txBody>
            <a:bodyPr/>
            <a:p/>
          </p:txBody>
        </p:sp>
      </p:grpSp>
      <p:grpSp>
        <p:nvGrpSpPr>
          <p:cNvPr name="Group 55" id="55"/>
          <p:cNvGrpSpPr/>
          <p:nvPr/>
        </p:nvGrpSpPr>
        <p:grpSpPr>
          <a:xfrm rot="0">
            <a:off x="8732520" y="2003108"/>
            <a:ext cx="548640" cy="1654492"/>
            <a:chOff x="0" y="0"/>
            <a:chExt cx="731520" cy="22059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  <p:txBody>
            <a:bodyPr/>
            <a:p/>
          </p:txBody>
        </p:sp>
      </p:grpSp>
      <p:grpSp>
        <p:nvGrpSpPr>
          <p:cNvPr name="Group 57" id="57"/>
          <p:cNvGrpSpPr/>
          <p:nvPr/>
        </p:nvGrpSpPr>
        <p:grpSpPr>
          <a:xfrm rot="0">
            <a:off x="8732520" y="1910239"/>
            <a:ext cx="548640" cy="1747361"/>
            <a:chOff x="0" y="0"/>
            <a:chExt cx="731520" cy="232981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  <p:txBody>
            <a:bodyPr/>
            <a:p/>
          </p:txBody>
        </p:sp>
        <p:sp>
          <p:nvSpPr>
            <p:cNvPr name="TextBox 59" id="59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938760" y="2095976"/>
            <a:ext cx="548640" cy="1561624"/>
            <a:chOff x="0" y="0"/>
            <a:chExt cx="731520" cy="208216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  <p:txBody>
            <a:bodyPr/>
            <a:p/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938760" y="2003108"/>
            <a:ext cx="548640" cy="1654492"/>
            <a:chOff x="0" y="0"/>
            <a:chExt cx="731520" cy="220599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7184" t="0" r="-337185" b="0"/>
              </a:stretch>
            </a:blipFill>
          </p:spPr>
          <p:txBody>
            <a:bodyPr/>
            <a:p/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938760" y="1910239"/>
            <a:ext cx="548640" cy="1747361"/>
            <a:chOff x="0" y="0"/>
            <a:chExt cx="731520" cy="232981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2329814"/>
            </a:xfrm>
            <a:custGeom>
              <a:avLst/>
              <a:gdLst/>
              <a:ahLst/>
              <a:cxnLst/>
              <a:rect r="r" b="b" t="t" l="l"/>
              <a:pathLst>
                <a:path h="232981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329814"/>
                  </a:lnTo>
                  <a:lnTo>
                    <a:pt x="0" y="23298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58633" t="0" r="-358633" b="0"/>
              </a:stretch>
            </a:blipFill>
          </p:spPr>
          <p:txBody>
            <a:bodyPr/>
            <a:p/>
          </p:txBody>
        </p:sp>
        <p:sp>
          <p:nvSpPr>
            <p:cNvPr name="TextBox 66" id="66"/>
            <p:cNvSpPr txBox="true"/>
            <p:nvPr/>
          </p:nvSpPr>
          <p:spPr>
            <a:xfrm>
              <a:off x="0" y="-123825"/>
              <a:ext cx="7315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932688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533120" y="2392680"/>
            <a:ext cx="182880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32688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533120" y="3764280"/>
            <a:ext cx="384048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32688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Tarefas no Quant UX e questionário SUS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533120" y="4604766"/>
            <a:ext cx="356616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do mesmo animal e de animais diferentes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76" id="7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78" id="7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82" id="8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84" id="8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88" id="88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14400" y="5989320"/>
            <a:ext cx="16459200" cy="2606040"/>
            <a:chOff x="0" y="0"/>
            <a:chExt cx="21945600" cy="34747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945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21945600">
                  <a:moveTo>
                    <a:pt x="0" y="278003"/>
                  </a:moveTo>
                  <a:cubicBezTo>
                    <a:pt x="0" y="124460"/>
                    <a:pt x="124460" y="0"/>
                    <a:pt x="278003" y="0"/>
                  </a:cubicBezTo>
                  <a:lnTo>
                    <a:pt x="21667597" y="0"/>
                  </a:lnTo>
                  <a:cubicBezTo>
                    <a:pt x="21821139" y="0"/>
                    <a:pt x="21945600" y="124460"/>
                    <a:pt x="21945600" y="278003"/>
                  </a:cubicBezTo>
                  <a:lnTo>
                    <a:pt x="21945600" y="3196717"/>
                  </a:lnTo>
                  <a:cubicBezTo>
                    <a:pt x="21945600" y="3350260"/>
                    <a:pt x="21821139" y="3474720"/>
                    <a:pt x="21667597" y="3474720"/>
                  </a:cubicBezTo>
                  <a:lnTo>
                    <a:pt x="278003" y="3474720"/>
                  </a:lnTo>
                  <a:cubicBezTo>
                    <a:pt x="124460" y="3474720"/>
                    <a:pt x="0" y="3350260"/>
                    <a:pt x="0" y="3196717"/>
                  </a:cubicBezTo>
                  <a:close/>
                </a:path>
              </a:pathLst>
            </a:custGeom>
            <a:solidFill>
              <a:srgbClr val="EEF3ED"/>
            </a:solidFill>
          </p:spPr>
          <p:txBody>
            <a:bodyPr/>
            <a:p/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71600" y="5989320"/>
            <a:ext cx="7315200" cy="2606040"/>
            <a:chOff x="0" y="0"/>
            <a:chExt cx="9753600" cy="34747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753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694" r="0" b="-4694"/>
              </a:stretch>
            </a:blipFill>
          </p:spPr>
          <p:txBody>
            <a:bodyPr/>
            <a:p/>
          </p:txBody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753600" cy="351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FOCO: USABILIDADE COM O QUANT UX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Tutores fazem tarefas reais no aplicativo, como publicar um animal perdido e registrar um avistamento.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601200" y="5989320"/>
            <a:ext cx="7315200" cy="2606040"/>
            <a:chOff x="0" y="0"/>
            <a:chExt cx="9753600" cy="34747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753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694" r="0" b="-4694"/>
              </a:stretch>
            </a:blipFill>
          </p:spPr>
          <p:txBody>
            <a:bodyPr/>
            <a:p/>
          </p:txBody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9753600" cy="3512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 QUE SERÁ MEDIDO</a:t>
              </a: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Conclusão de cada tarefa, tempo gasto e onde as pessoas tocam. Ao final, o questionário SUS.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914400" y="8740140"/>
            <a:ext cx="155448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Etapa prevista para depois da qualificação; os resultados entram na versão final do TCC.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26945"/>
            <a:ext cx="9144000" cy="8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50845"/>
            <a:ext cx="6400800" cy="246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44490"/>
            <a:ext cx="1554480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299835"/>
            <a:ext cx="15544800" cy="106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8" id="8"/>
          <p:cNvSpPr txBox="true"/>
          <p:nvPr/>
        </p:nvSpPr>
        <p:spPr>
          <a:xfrm rot="0">
            <a:off x="1463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18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4" id="14"/>
          <p:cNvSpPr txBox="true"/>
          <p:nvPr/>
        </p:nvSpPr>
        <p:spPr>
          <a:xfrm rot="0">
            <a:off x="51206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494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  <p:txBody>
            <a:bodyPr/>
            <a:p/>
          </p:txBody>
        </p:sp>
      </p:grpSp>
      <p:sp>
        <p:nvSpPr>
          <p:cNvPr name="TextBox 20" id="20"/>
          <p:cNvSpPr txBox="true"/>
          <p:nvPr/>
        </p:nvSpPr>
        <p:spPr>
          <a:xfrm rot="0">
            <a:off x="87782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  <p:txBody>
            <a:bodyPr/>
            <a:p/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607040" y="8970645"/>
            <a:ext cx="1645920" cy="600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146304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CONCLUSÃO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  <p:txBody>
            <a:bodyPr/>
            <a:p/>
          </p:txBody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Conclusão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2834640"/>
            <a:ext cx="5120640" cy="6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Chat, cartaz com QR e devolução segura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 automaticamente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automática diária no servidor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8368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83680" y="2834640"/>
            <a:ext cx="512064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Teste</a:t>
            </a: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 de usabilidade ainda não realizado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ainda não calibrados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Privacidade de usuários ainda depende da interface</a:t>
            </a:r>
          </a:p>
        </p:txBody>
      </p:sp>
      <p:sp>
        <p:nvSpPr>
          <p:cNvPr name="AutoShape 24" id="24"/>
          <p:cNvSpPr/>
          <p:nvPr/>
        </p:nvSpPr>
        <p:spPr>
          <a:xfrm rot="5395140">
            <a:off x="2675096" y="5525814"/>
            <a:ext cx="671988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5" id="25"/>
          <p:cNvSpPr txBox="true"/>
          <p:nvPr/>
        </p:nvSpPr>
        <p:spPr>
          <a:xfrm rot="0">
            <a:off x="12252960" y="2042160"/>
            <a:ext cx="512064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52960" y="2834640"/>
            <a:ext cx="5120640" cy="630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de usabilidade com Quant UX e SUS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Testar a correspondência com pares revisados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de segurança do APK (MobSF)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Restringir no banco os dados de perfil e as coordenadas</a:t>
            </a:r>
          </a:p>
          <a:p>
            <a:pPr algn="l" marL="470535" indent="-156845" lvl="2">
              <a:lnSpc>
                <a:spcPts val="3120"/>
              </a:lnSpc>
              <a:buFont typeface="Arial"/>
              <a:buChar char="⚬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</p:txBody>
      </p:sp>
      <p:sp>
        <p:nvSpPr>
          <p:cNvPr name="AutoShape 27" id="27"/>
          <p:cNvSpPr/>
          <p:nvPr/>
        </p:nvSpPr>
        <p:spPr>
          <a:xfrm rot="5395140">
            <a:off x="8687171" y="5525814"/>
            <a:ext cx="6719888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8" id="28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29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  <p:txBody>
            <a:bodyPr/>
            <a:p/>
          </p:txBody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767515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760371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753227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5"/>
            </a:xfrm>
            <a:custGeom>
              <a:avLst/>
              <a:gdLst/>
              <a:ahLst/>
              <a:cxnLst/>
              <a:rect r="r" b="b" t="t" l="l"/>
              <a:pathLst>
                <a:path h="15297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5"/>
                  </a:lnTo>
                  <a:lnTo>
                    <a:pt x="0" y="152971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341" r="0" b="-229342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746084"/>
            <a:ext cx="16459200" cy="1154430"/>
            <a:chOff x="0" y="0"/>
            <a:chExt cx="21945600" cy="1539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539240"/>
            </a:xfrm>
            <a:custGeom>
              <a:avLst/>
              <a:gdLst/>
              <a:ahLst/>
              <a:cxnLst/>
              <a:rect r="r" b="b" t="t" l="l"/>
              <a:pathLst>
                <a:path h="15392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39240"/>
                  </a:lnTo>
                  <a:lnTo>
                    <a:pt x="0" y="15392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7806" r="0" b="-227806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1945600" cy="154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  <p:txBody>
            <a:bodyPr/>
            <a:p/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  <p:txBody>
            <a:bodyPr/>
            <a:p/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  <p:txBody>
            <a:bodyPr/>
            <a:p/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348" r="0" b="-200346"/>
              </a:stretch>
            </a:blipFill>
          </p:spPr>
          <p:txBody>
            <a:bodyPr/>
            <a:p/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9344025"/>
            <a:ext cx="8229600" cy="668655"/>
            <a:chOff x="0" y="0"/>
            <a:chExt cx="10972800" cy="8915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891540"/>
            </a:xfrm>
            <a:custGeom>
              <a:avLst/>
              <a:gdLst/>
              <a:ahLst/>
              <a:cxnLst/>
              <a:rect r="r" b="b" t="t" l="l"/>
              <a:pathLst>
                <a:path h="8915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91540"/>
                  </a:lnTo>
                  <a:lnTo>
                    <a:pt x="0" y="89154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9815" r="0" b="-189815"/>
              </a:stretch>
            </a:blipFill>
          </p:spPr>
          <p:txBody>
            <a:bodyPr/>
            <a:p/>
          </p:txBody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72800" cy="929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14400" y="1954530"/>
            <a:ext cx="7863840" cy="723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Lei nº 13.709, de 14 de agosto de 2018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Lei Geral de Proteção de Dados Pessoais (LGPD). Brasília, DF: Presidência da República,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CAVOUKIAN, A.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Privacy by Design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the 7 foundational principles. Toronto: Information and Privacy Commissioner of Ontario, 2009.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IBGE.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Nacional de Saúde 2019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informações sobre domicílios, acesso e utilização dos serviços de saúde. Rio de Janeiro: IBGE, 2020.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MARCONI, M. A.; LAKATOS, E. M.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Metodologia científica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8.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automated mobile application security assessment. 2026. Disponível em: github.com/MobSF/Mobile-Security-Framework-MobSF.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72600" y="1954530"/>
            <a:ext cx="7863840" cy="723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 Education do Brasil,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 algoritmo inteligente para recomendação de rotas visando buscar animais desaparecidos. In: ESCOLA REGIONAL DE ENGENHARIA DE SOFTWARE, 6., 2022, Blumenau. Anais [...].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  <p:txBody>
            <a:bodyPr/>
            <a:p/>
          </p:txBody>
        </p:sp>
      </p:grpSp>
      <p:sp>
        <p:nvSpPr>
          <p:cNvPr name="TextBox 4" id="4"/>
          <p:cNvSpPr txBox="true"/>
          <p:nvPr/>
        </p:nvSpPr>
        <p:spPr>
          <a:xfrm rot="0">
            <a:off x="1828800" y="5227320"/>
            <a:ext cx="14630400" cy="153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400800"/>
            <a:ext cx="14630400" cy="1097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513320"/>
            <a:ext cx="14630400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305800"/>
            <a:ext cx="1463040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6774" y="4508659"/>
            <a:ext cx="9554461" cy="46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u="sng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luishenriquetsi.github.io/wefind/"/>
              </a:rPr>
              <a:t>Acesse o link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6774" y="4865818"/>
            <a:ext cx="9554461" cy="46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u="sng">
                <a:solidFill>
                  <a:srgbClr val="0097B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https://luishenriquetsi.github.io/wefind/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DAHYmgjp1t8</dc:identifier>
  <dcterms:modified xsi:type="dcterms:W3CDTF">2011-08-01T06:04:30Z</dcterms:modified>
  <cp:revision>1</cp:revision>
  <dc:title>WeFIND - tcc apresentacao sem testes</dc:title>
</cp:coreProperties>
</file>