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Cooper BT Bold" charset="1" panose="0208080404030B020404"/>
      <p:regular r:id="rId36"/>
    </p:embeddedFont>
    <p:embeddedFont>
      <p:font typeface="Cooper BT Light" charset="1" panose="0208050304030B020404"/>
      <p:regular r:id="rId37"/>
    </p:embeddedFont>
    <p:embeddedFont>
      <p:font typeface="Cambria Bold" charset="1" panose="02040803050406030204"/>
      <p:regular r:id="rId38"/>
    </p:embeddedFont>
    <p:embeddedFont>
      <p:font typeface="Calibri (MS)" charset="1" panose="020F0502020204030204"/>
      <p:regular r:id="rId39"/>
    </p:embeddedFont>
    <p:embeddedFont>
      <p:font typeface="Calibri (MS) Bold" charset="1" panose="020F0702030404030204"/>
      <p:regular r:id="rId40"/>
    </p:embeddedFont>
    <p:embeddedFont>
      <p:font typeface="Calibri (MS) Italics" charset="1" panose="020F05020202040A0204"/>
      <p:regular r:id="rId41"/>
    </p:embeddedFont>
    <p:embeddedFont>
      <p:font typeface="Roboto Bold" charset="1" panose="02000000000000000000"/>
      <p:regular r:id="rId42"/>
    </p:embeddedFont>
    <p:embeddedFont>
      <p:font typeface="Calibri (MS) Light" charset="1" panose="020F0302020204030204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png" Type="http://schemas.openxmlformats.org/officeDocument/2006/relationships/image"/><Relationship Id="rId12" Target="../media/image24.png" Type="http://schemas.openxmlformats.org/officeDocument/2006/relationships/image"/><Relationship Id="rId13" Target="../media/image25.png" Type="http://schemas.openxmlformats.org/officeDocument/2006/relationships/image"/><Relationship Id="rId14" Target="../media/image26.png" Type="http://schemas.openxmlformats.org/officeDocument/2006/relationships/image"/><Relationship Id="rId15" Target="../media/image27.png" Type="http://schemas.openxmlformats.org/officeDocument/2006/relationships/image"/><Relationship Id="rId16" Target="../media/image28.svg" Type="http://schemas.openxmlformats.org/officeDocument/2006/relationships/image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png" Type="http://schemas.openxmlformats.org/officeDocument/2006/relationships/image"/><Relationship Id="rId12" Target="../media/image36.svg" Type="http://schemas.openxmlformats.org/officeDocument/2006/relationships/image"/><Relationship Id="rId13" Target="../media/image37.png" Type="http://schemas.openxmlformats.org/officeDocument/2006/relationships/image"/><Relationship Id="rId14" Target="../media/image38.png" Type="http://schemas.openxmlformats.org/officeDocument/2006/relationships/image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svg" Type="http://schemas.openxmlformats.org/officeDocument/2006/relationships/image"/><Relationship Id="rId11" Target="../media/image45.png" Type="http://schemas.openxmlformats.org/officeDocument/2006/relationships/image"/><Relationship Id="rId12" Target="../media/image46.svg" Type="http://schemas.openxmlformats.org/officeDocument/2006/relationships/image"/><Relationship Id="rId13" Target="../media/image47.png" Type="http://schemas.openxmlformats.org/officeDocument/2006/relationships/image"/><Relationship Id="rId14" Target="../media/image48.svg" Type="http://schemas.openxmlformats.org/officeDocument/2006/relationships/image"/><Relationship Id="rId15" Target="../media/image49.png" Type="http://schemas.openxmlformats.org/officeDocument/2006/relationships/image"/><Relationship Id="rId16" Target="../media/image50.svg" Type="http://schemas.openxmlformats.org/officeDocument/2006/relationships/image"/><Relationship Id="rId17" Target="../media/image51.png" Type="http://schemas.openxmlformats.org/officeDocument/2006/relationships/image"/><Relationship Id="rId18" Target="../media/image52.svg" Type="http://schemas.openxmlformats.org/officeDocument/2006/relationships/image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5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5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11" Target="../media/image61.png" Type="http://schemas.openxmlformats.org/officeDocument/2006/relationships/image"/><Relationship Id="rId12" Target="../media/image62.png" Type="http://schemas.openxmlformats.org/officeDocument/2006/relationships/image"/><Relationship Id="rId13" Target="../media/image63.png" Type="http://schemas.openxmlformats.org/officeDocument/2006/relationships/image"/><Relationship Id="rId14" Target="../media/image64.png" Type="http://schemas.openxmlformats.org/officeDocument/2006/relationships/image"/><Relationship Id="rId15" Target="../media/image65.png" Type="http://schemas.openxmlformats.org/officeDocument/2006/relationships/image"/><Relationship Id="rId16" Target="../media/image66.png" Type="http://schemas.openxmlformats.org/officeDocument/2006/relationships/image"/><Relationship Id="rId17" Target="../media/image67.png" Type="http://schemas.openxmlformats.org/officeDocument/2006/relationships/image"/><Relationship Id="rId18" Target="../media/image68.png" Type="http://schemas.openxmlformats.org/officeDocument/2006/relationships/image"/><Relationship Id="rId19" Target="../media/image69.png" Type="http://schemas.openxmlformats.org/officeDocument/2006/relationships/image"/><Relationship Id="rId2" Target="../media/image3.jpeg" Type="http://schemas.openxmlformats.org/officeDocument/2006/relationships/image"/><Relationship Id="rId20" Target="../media/image70.png" Type="http://schemas.openxmlformats.org/officeDocument/2006/relationships/image"/><Relationship Id="rId21" Target="../media/image71.png" Type="http://schemas.openxmlformats.org/officeDocument/2006/relationships/image"/><Relationship Id="rId22" Target="../media/image72.png" Type="http://schemas.openxmlformats.org/officeDocument/2006/relationships/image"/><Relationship Id="rId23" Target="../media/image73.png" Type="http://schemas.openxmlformats.org/officeDocument/2006/relationships/image"/><Relationship Id="rId24" Target="../media/image74.pn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55.png" Type="http://schemas.openxmlformats.org/officeDocument/2006/relationships/image"/><Relationship Id="rId6" Target="../media/image56.png" Type="http://schemas.openxmlformats.org/officeDocument/2006/relationships/image"/><Relationship Id="rId7" Target="../media/image57.png" Type="http://schemas.openxmlformats.org/officeDocument/2006/relationships/image"/><Relationship Id="rId8" Target="../media/image58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8.png" Type="http://schemas.openxmlformats.org/officeDocument/2006/relationships/image"/><Relationship Id="rId11" Target="../media/image79.png" Type="http://schemas.openxmlformats.org/officeDocument/2006/relationships/image"/><Relationship Id="rId12" Target="../media/image80.png" Type="http://schemas.openxmlformats.org/officeDocument/2006/relationships/image"/><Relationship Id="rId13" Target="../media/image81.png" Type="http://schemas.openxmlformats.org/officeDocument/2006/relationships/image"/><Relationship Id="rId14" Target="../media/image82.png" Type="http://schemas.openxmlformats.org/officeDocument/2006/relationships/image"/><Relationship Id="rId15" Target="../media/image61.png" Type="http://schemas.openxmlformats.org/officeDocument/2006/relationships/image"/><Relationship Id="rId16" Target="../media/image62.png" Type="http://schemas.openxmlformats.org/officeDocument/2006/relationships/image"/><Relationship Id="rId17" Target="../media/image63.png" Type="http://schemas.openxmlformats.org/officeDocument/2006/relationships/image"/><Relationship Id="rId18" Target="../media/image64.png" Type="http://schemas.openxmlformats.org/officeDocument/2006/relationships/image"/><Relationship Id="rId19" Target="../media/image66.png" Type="http://schemas.openxmlformats.org/officeDocument/2006/relationships/image"/><Relationship Id="rId2" Target="../media/image3.jpeg" Type="http://schemas.openxmlformats.org/officeDocument/2006/relationships/image"/><Relationship Id="rId20" Target="../media/image83.pn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55.png" Type="http://schemas.openxmlformats.org/officeDocument/2006/relationships/image"/><Relationship Id="rId6" Target="../media/image75.png" Type="http://schemas.openxmlformats.org/officeDocument/2006/relationships/image"/><Relationship Id="rId7" Target="../media/image57.png" Type="http://schemas.openxmlformats.org/officeDocument/2006/relationships/image"/><Relationship Id="rId8" Target="../media/image76.png" Type="http://schemas.openxmlformats.org/officeDocument/2006/relationships/image"/><Relationship Id="rId9" Target="../media/image7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8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85.jpeg" Type="http://schemas.openxmlformats.org/officeDocument/2006/relationships/image"/><Relationship Id="rId6" Target="../media/image86.jpeg" Type="http://schemas.openxmlformats.org/officeDocument/2006/relationships/image"/><Relationship Id="rId7" Target="../media/image87.jpeg" Type="http://schemas.openxmlformats.org/officeDocument/2006/relationships/image"/><Relationship Id="rId8" Target="../media/image88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8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90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3561" y="147123"/>
            <a:ext cx="1557242" cy="1470184"/>
            <a:chOff x="0" y="0"/>
            <a:chExt cx="2076323" cy="19602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6323" cy="1960245"/>
            </a:xfrm>
            <a:custGeom>
              <a:avLst/>
              <a:gdLst/>
              <a:ahLst/>
              <a:cxnLst/>
              <a:rect r="r" b="b" t="t" l="l"/>
              <a:pathLst>
                <a:path h="1960245" w="2076323">
                  <a:moveTo>
                    <a:pt x="0" y="0"/>
                  </a:moveTo>
                  <a:lnTo>
                    <a:pt x="2076323" y="0"/>
                  </a:lnTo>
                  <a:lnTo>
                    <a:pt x="2076323" y="1960245"/>
                  </a:lnTo>
                  <a:lnTo>
                    <a:pt x="0" y="1960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906750" y="362026"/>
            <a:ext cx="2184273" cy="1333309"/>
            <a:chOff x="0" y="0"/>
            <a:chExt cx="2912364" cy="1777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12364" cy="1777746"/>
            </a:xfrm>
            <a:custGeom>
              <a:avLst/>
              <a:gdLst/>
              <a:ahLst/>
              <a:cxnLst/>
              <a:rect r="r" b="b" t="t" l="l"/>
              <a:pathLst>
                <a:path h="1777746" w="2912364">
                  <a:moveTo>
                    <a:pt x="0" y="0"/>
                  </a:moveTo>
                  <a:lnTo>
                    <a:pt x="2912364" y="0"/>
                  </a:lnTo>
                  <a:lnTo>
                    <a:pt x="2912364" y="1777746"/>
                  </a:lnTo>
                  <a:lnTo>
                    <a:pt x="0" y="1777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" r="0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32202" y="4742183"/>
            <a:ext cx="15823606" cy="11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9"/>
              </a:lnSpc>
            </a:pPr>
            <a:r>
              <a:rPr lang="en-US" sz="3999" b="true">
                <a:solidFill>
                  <a:srgbClr val="1B2A1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WeFIND: Aplicativo móvel para divulgação de animais perdidos e encontrados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0832" y="467049"/>
            <a:ext cx="13922893" cy="359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INSTITUTO FEDERAL DE EDUCAÇÃO, CIÊNCIA E TECNOLOGIA SUL-RIO-GRANDENSE - CAMPUS PELOTAS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93880" y="8121015"/>
            <a:ext cx="13525500" cy="53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Aluno: Luis Henrique Fonseca Victoria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81250" y="8520436"/>
            <a:ext cx="13525500" cy="53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Orientadora: Prof.ª Me. Marla Cristina da Silva Sopeña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91851" y="8886825"/>
            <a:ext cx="13525500" cy="53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Coorientadora: Prof.ª Dra. Adriane Pires Rodrigues Ramires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54266" y="834609"/>
            <a:ext cx="13600671" cy="359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CURSO SUPERIOR DE TECNOLOGIA EM SISTEMAS PARA INTERNET |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Roteiro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2560320"/>
            <a:ext cx="1828800" cy="1463040"/>
            <a:chOff x="0" y="0"/>
            <a:chExt cx="2438400" cy="19507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2553176"/>
            <a:ext cx="1828800" cy="1470184"/>
            <a:chOff x="0" y="0"/>
            <a:chExt cx="2438400" cy="196024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2546033"/>
            <a:ext cx="1828800" cy="1477327"/>
            <a:chOff x="0" y="0"/>
            <a:chExt cx="2438400" cy="19697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645" t="0" r="-53645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438400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926080" y="2714625"/>
            <a:ext cx="60350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Introdução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26080" y="3305556"/>
            <a:ext cx="603504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Problema, objetivos e método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26880" y="2560320"/>
            <a:ext cx="1828800" cy="1463040"/>
            <a:chOff x="0" y="0"/>
            <a:chExt cx="2438400" cy="19507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326880" y="2553176"/>
            <a:ext cx="1828800" cy="1470184"/>
            <a:chOff x="0" y="0"/>
            <a:chExt cx="2438400" cy="196024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326880" y="2546033"/>
            <a:ext cx="1828800" cy="1477327"/>
            <a:chOff x="0" y="0"/>
            <a:chExt cx="2438400" cy="19697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645" t="0" r="-53645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2438400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1338560" y="2714625"/>
            <a:ext cx="60350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Pesquisa e diferencial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338560" y="3305556"/>
            <a:ext cx="603504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Campo, sistemas similares e correspondência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14400" y="4846320"/>
            <a:ext cx="1828800" cy="1463040"/>
            <a:chOff x="0" y="0"/>
            <a:chExt cx="2438400" cy="19507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4400" y="4839176"/>
            <a:ext cx="1828800" cy="1470184"/>
            <a:chOff x="0" y="0"/>
            <a:chExt cx="2438400" cy="196024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14400" y="4832032"/>
            <a:ext cx="1828800" cy="1477327"/>
            <a:chOff x="0" y="0"/>
            <a:chExt cx="2438400" cy="19697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645" t="0" r="-53645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2438400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2926080" y="5000625"/>
            <a:ext cx="60350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Requisitos e modelagem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926080" y="5591556"/>
            <a:ext cx="603504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Funcionais, qualidade, ciclo de vida e UML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326880" y="4846320"/>
            <a:ext cx="1828800" cy="1463040"/>
            <a:chOff x="0" y="0"/>
            <a:chExt cx="2438400" cy="19507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326880" y="4839176"/>
            <a:ext cx="1828800" cy="1470184"/>
            <a:chOff x="0" y="0"/>
            <a:chExt cx="2438400" cy="196024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326880" y="4832032"/>
            <a:ext cx="1828800" cy="1477327"/>
            <a:chOff x="0" y="0"/>
            <a:chExt cx="2438400" cy="196977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645" t="0" r="-53645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2438400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1338560" y="5000625"/>
            <a:ext cx="60350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Arquitetura e design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338560" y="5591556"/>
            <a:ext cx="603504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Tecnologias, nuvem, identidade e telas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14400" y="7132320"/>
            <a:ext cx="1828800" cy="1463040"/>
            <a:chOff x="0" y="0"/>
            <a:chExt cx="2438400" cy="19507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14400" y="7125176"/>
            <a:ext cx="1828800" cy="1470184"/>
            <a:chOff x="0" y="0"/>
            <a:chExt cx="2438400" cy="196024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14400" y="7118032"/>
            <a:ext cx="1828800" cy="1477327"/>
            <a:chOff x="0" y="0"/>
            <a:chExt cx="2438400" cy="196977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645" t="0" r="-53645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2438400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05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2926080" y="7286625"/>
            <a:ext cx="60350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Demonstração e avaliação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926080" y="7877556"/>
            <a:ext cx="603504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Vídeo, análise de segurança e usabilidade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326880" y="7132320"/>
            <a:ext cx="1828800" cy="1463040"/>
            <a:chOff x="0" y="0"/>
            <a:chExt cx="2438400" cy="19507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326880" y="7125176"/>
            <a:ext cx="1828800" cy="1470184"/>
            <a:chOff x="0" y="0"/>
            <a:chExt cx="2438400" cy="196024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326880" y="7118032"/>
            <a:ext cx="1828800" cy="1477327"/>
            <a:chOff x="0" y="0"/>
            <a:chExt cx="2438400" cy="196977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645" t="0" r="-53645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2438400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06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1338560" y="7286625"/>
            <a:ext cx="6035040" cy="53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Considerações Finais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338560" y="7877556"/>
            <a:ext cx="603504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Entregas, limites e próximos passos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7085443" y="9624060"/>
            <a:ext cx="19671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465070"/>
            <a:ext cx="9144000" cy="595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98470"/>
            <a:ext cx="6400800" cy="2419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39740"/>
            <a:ext cx="15544800" cy="113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Introdução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633210"/>
            <a:ext cx="15544800" cy="73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Problema, objetivos e método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084992" y="9624060"/>
            <a:ext cx="19671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2176" r="0" b="-29217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97280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411480"/>
            <a:ext cx="10972800" cy="411480"/>
            <a:chOff x="0" y="0"/>
            <a:chExt cx="1463040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240" r="0" b="-46923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375761"/>
            <a:ext cx="10972800" cy="447199"/>
            <a:chOff x="0" y="0"/>
            <a:chExt cx="14630400" cy="5962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596265"/>
            </a:xfrm>
            <a:custGeom>
              <a:avLst/>
              <a:gdLst/>
              <a:ahLst/>
              <a:cxnLst/>
              <a:rect r="r" b="b" t="t" l="l"/>
              <a:pathLst>
                <a:path h="59626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96265"/>
                  </a:lnTo>
                  <a:lnTo>
                    <a:pt x="0" y="5962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767" r="0" b="-42776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340042"/>
            <a:ext cx="10972800" cy="482918"/>
            <a:chOff x="0" y="0"/>
            <a:chExt cx="14630400" cy="6438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643890"/>
            </a:xfrm>
            <a:custGeom>
              <a:avLst/>
              <a:gdLst/>
              <a:ahLst/>
              <a:cxnLst/>
              <a:rect r="r" b="b" t="t" l="l"/>
              <a:pathLst>
                <a:path h="64389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3890"/>
                  </a:lnTo>
                  <a:lnTo>
                    <a:pt x="0" y="6438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2736" r="0" b="-39273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4630400" cy="691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99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 INTRODUÇÃO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968" r="0" b="-20896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2212848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Perder um pet é comum; a busca é dispersa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803310" y="2312079"/>
            <a:ext cx="5341858" cy="3125010"/>
          </a:xfrm>
          <a:custGeom>
            <a:avLst/>
            <a:gdLst/>
            <a:ahLst/>
            <a:cxnLst/>
            <a:rect r="r" b="b" t="t" l="l"/>
            <a:pathLst>
              <a:path h="3125010" w="5341858">
                <a:moveTo>
                  <a:pt x="0" y="0"/>
                </a:moveTo>
                <a:lnTo>
                  <a:pt x="5341858" y="0"/>
                </a:lnTo>
                <a:lnTo>
                  <a:pt x="5341858" y="3125010"/>
                </a:lnTo>
                <a:lnTo>
                  <a:pt x="0" y="31250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195816" y="2554576"/>
            <a:ext cx="4556884" cy="1150001"/>
            <a:chOff x="0" y="0"/>
            <a:chExt cx="6075845" cy="153333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075807" cy="1533271"/>
            </a:xfrm>
            <a:custGeom>
              <a:avLst/>
              <a:gdLst/>
              <a:ahLst/>
              <a:cxnLst/>
              <a:rect r="r" b="b" t="t" l="l"/>
              <a:pathLst>
                <a:path h="153327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533271"/>
                  </a:lnTo>
                  <a:lnTo>
                    <a:pt x="0" y="1533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57" r="0" b="-2716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95816" y="2618870"/>
            <a:ext cx="4556884" cy="1085707"/>
            <a:chOff x="0" y="0"/>
            <a:chExt cx="6075845" cy="144761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75845" cy="1447610"/>
            </a:xfrm>
            <a:custGeom>
              <a:avLst/>
              <a:gdLst/>
              <a:ahLst/>
              <a:cxnLst/>
              <a:rect r="r" b="b" t="t" l="l"/>
              <a:pathLst>
                <a:path h="1447610" w="6075845">
                  <a:moveTo>
                    <a:pt x="0" y="0"/>
                  </a:moveTo>
                  <a:lnTo>
                    <a:pt x="6075845" y="0"/>
                  </a:lnTo>
                  <a:lnTo>
                    <a:pt x="6075845" y="1447610"/>
                  </a:lnTo>
                  <a:lnTo>
                    <a:pt x="0" y="14476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781" r="0" b="-3178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85725"/>
              <a:ext cx="6075845" cy="1361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14–15%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195816" y="3728380"/>
            <a:ext cx="4556884" cy="1176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dos cães e gatos se perderam ao menos uma vez em cinco anos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95816" y="4868380"/>
            <a:ext cx="4556884" cy="406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EUA · Weiss et al., 2012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6450197" y="2312079"/>
            <a:ext cx="5341858" cy="3125010"/>
          </a:xfrm>
          <a:custGeom>
            <a:avLst/>
            <a:gdLst/>
            <a:ahLst/>
            <a:cxnLst/>
            <a:rect r="r" b="b" t="t" l="l"/>
            <a:pathLst>
              <a:path h="3125010" w="5341858">
                <a:moveTo>
                  <a:pt x="0" y="0"/>
                </a:moveTo>
                <a:lnTo>
                  <a:pt x="5341858" y="0"/>
                </a:lnTo>
                <a:lnTo>
                  <a:pt x="5341858" y="3125010"/>
                </a:lnTo>
                <a:lnTo>
                  <a:pt x="0" y="31250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6842693" y="2554576"/>
            <a:ext cx="4556884" cy="1150001"/>
            <a:chOff x="0" y="0"/>
            <a:chExt cx="6075845" cy="153333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075807" cy="1533271"/>
            </a:xfrm>
            <a:custGeom>
              <a:avLst/>
              <a:gdLst/>
              <a:ahLst/>
              <a:cxnLst/>
              <a:rect r="r" b="b" t="t" l="l"/>
              <a:pathLst>
                <a:path h="153327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533271"/>
                  </a:lnTo>
                  <a:lnTo>
                    <a:pt x="0" y="1533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57" r="0" b="-2716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842693" y="2618870"/>
            <a:ext cx="4556884" cy="1085707"/>
            <a:chOff x="0" y="0"/>
            <a:chExt cx="6075845" cy="144761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75845" cy="1447610"/>
            </a:xfrm>
            <a:custGeom>
              <a:avLst/>
              <a:gdLst/>
              <a:ahLst/>
              <a:cxnLst/>
              <a:rect r="r" b="b" t="t" l="l"/>
              <a:pathLst>
                <a:path h="1447610" w="6075845">
                  <a:moveTo>
                    <a:pt x="0" y="0"/>
                  </a:moveTo>
                  <a:lnTo>
                    <a:pt x="6075845" y="0"/>
                  </a:lnTo>
                  <a:lnTo>
                    <a:pt x="6075845" y="1447610"/>
                  </a:lnTo>
                  <a:lnTo>
                    <a:pt x="0" y="14476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781" r="0" b="-3178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85725"/>
              <a:ext cx="6075845" cy="1361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25%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6842693" y="3728380"/>
            <a:ext cx="4556884" cy="1176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dos gatos perdidos não foram recuperados (entre os cães, 7%)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842693" y="4868380"/>
            <a:ext cx="4556884" cy="406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EUA · Weiss et al., 2012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2097074" y="2312079"/>
            <a:ext cx="5341858" cy="3125010"/>
          </a:xfrm>
          <a:custGeom>
            <a:avLst/>
            <a:gdLst/>
            <a:ahLst/>
            <a:cxnLst/>
            <a:rect r="r" b="b" t="t" l="l"/>
            <a:pathLst>
              <a:path h="3125010" w="5341858">
                <a:moveTo>
                  <a:pt x="0" y="0"/>
                </a:moveTo>
                <a:lnTo>
                  <a:pt x="5341858" y="0"/>
                </a:lnTo>
                <a:lnTo>
                  <a:pt x="5341858" y="3125010"/>
                </a:lnTo>
                <a:lnTo>
                  <a:pt x="0" y="31250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12489580" y="2554576"/>
            <a:ext cx="4556884" cy="1150001"/>
            <a:chOff x="0" y="0"/>
            <a:chExt cx="6075845" cy="153333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075807" cy="1533271"/>
            </a:xfrm>
            <a:custGeom>
              <a:avLst/>
              <a:gdLst/>
              <a:ahLst/>
              <a:cxnLst/>
              <a:rect r="r" b="b" t="t" l="l"/>
              <a:pathLst>
                <a:path h="153327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533271"/>
                  </a:lnTo>
                  <a:lnTo>
                    <a:pt x="0" y="1533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57" r="0" b="-2716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489580" y="2618870"/>
            <a:ext cx="4556884" cy="1085707"/>
            <a:chOff x="0" y="0"/>
            <a:chExt cx="6075845" cy="144761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075845" cy="1447610"/>
            </a:xfrm>
            <a:custGeom>
              <a:avLst/>
              <a:gdLst/>
              <a:ahLst/>
              <a:cxnLst/>
              <a:rect r="r" b="b" t="t" l="l"/>
              <a:pathLst>
                <a:path h="1447610" w="6075845">
                  <a:moveTo>
                    <a:pt x="0" y="0"/>
                  </a:moveTo>
                  <a:lnTo>
                    <a:pt x="6075845" y="0"/>
                  </a:lnTo>
                  <a:lnTo>
                    <a:pt x="6075845" y="1447610"/>
                  </a:lnTo>
                  <a:lnTo>
                    <a:pt x="0" y="14476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781" r="0" b="-3178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85725"/>
              <a:ext cx="6075845" cy="1361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+11 mil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2489580" y="3728380"/>
            <a:ext cx="4556884" cy="1176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animais resgatados nas enchentes do RS, em maio de 2024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489580" y="4868380"/>
            <a:ext cx="4556884" cy="406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RS · Sema, 14 mai. 2024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803310" y="5687492"/>
            <a:ext cx="8165354" cy="2274999"/>
          </a:xfrm>
          <a:custGeom>
            <a:avLst/>
            <a:gdLst/>
            <a:ahLst/>
            <a:cxnLst/>
            <a:rect r="r" b="b" t="t" l="l"/>
            <a:pathLst>
              <a:path h="2274999" w="8165354">
                <a:moveTo>
                  <a:pt x="0" y="0"/>
                </a:moveTo>
                <a:lnTo>
                  <a:pt x="8165354" y="0"/>
                </a:lnTo>
                <a:lnTo>
                  <a:pt x="8165354" y="2274998"/>
                </a:lnTo>
                <a:lnTo>
                  <a:pt x="0" y="22749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183310" y="6262507"/>
            <a:ext cx="1124950" cy="1124950"/>
          </a:xfrm>
          <a:custGeom>
            <a:avLst/>
            <a:gdLst/>
            <a:ahLst/>
            <a:cxnLst/>
            <a:rect r="r" b="b" t="t" l="l"/>
            <a:pathLst>
              <a:path h="1124950" w="1124950">
                <a:moveTo>
                  <a:pt x="0" y="0"/>
                </a:moveTo>
                <a:lnTo>
                  <a:pt x="1124950" y="0"/>
                </a:lnTo>
                <a:lnTo>
                  <a:pt x="1124950" y="1124950"/>
                </a:lnTo>
                <a:lnTo>
                  <a:pt x="0" y="11249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1485814" y="6565001"/>
            <a:ext cx="519970" cy="519970"/>
            <a:chOff x="0" y="0"/>
            <a:chExt cx="693293" cy="693293"/>
          </a:xfrm>
        </p:grpSpPr>
        <p:sp>
          <p:nvSpPr>
            <p:cNvPr name="Freeform 50" id="50" descr="icone"/>
            <p:cNvSpPr/>
            <p:nvPr/>
          </p:nvSpPr>
          <p:spPr>
            <a:xfrm flipH="false" flipV="false" rot="0">
              <a:off x="0" y="0"/>
              <a:ext cx="693293" cy="693293"/>
            </a:xfrm>
            <a:custGeom>
              <a:avLst/>
              <a:gdLst/>
              <a:ahLst/>
              <a:cxnLst/>
              <a:rect r="r" b="b" t="t" l="l"/>
              <a:pathLst>
                <a:path h="693293" w="693293">
                  <a:moveTo>
                    <a:pt x="0" y="0"/>
                  </a:moveTo>
                  <a:lnTo>
                    <a:pt x="693293" y="0"/>
                  </a:lnTo>
                  <a:lnTo>
                    <a:pt x="693293" y="693293"/>
                  </a:lnTo>
                  <a:lnTo>
                    <a:pt x="0" y="693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2625814" y="5896651"/>
            <a:ext cx="5950325" cy="653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Informação dispersa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625814" y="6523796"/>
            <a:ext cx="5950325" cy="1276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Redes sociais, grupos, cartazes e vizinhos: fica difícil acompanhar as atualizações da busca.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9273635" y="5687492"/>
            <a:ext cx="8165354" cy="2274999"/>
          </a:xfrm>
          <a:custGeom>
            <a:avLst/>
            <a:gdLst/>
            <a:ahLst/>
            <a:cxnLst/>
            <a:rect r="r" b="b" t="t" l="l"/>
            <a:pathLst>
              <a:path h="2274999" w="8165354">
                <a:moveTo>
                  <a:pt x="0" y="0"/>
                </a:moveTo>
                <a:lnTo>
                  <a:pt x="8165354" y="0"/>
                </a:lnTo>
                <a:lnTo>
                  <a:pt x="8165354" y="2274998"/>
                </a:lnTo>
                <a:lnTo>
                  <a:pt x="0" y="22749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9653645" y="6262507"/>
            <a:ext cx="1124950" cy="1124950"/>
          </a:xfrm>
          <a:custGeom>
            <a:avLst/>
            <a:gdLst/>
            <a:ahLst/>
            <a:cxnLst/>
            <a:rect r="r" b="b" t="t" l="l"/>
            <a:pathLst>
              <a:path h="1124950" w="1124950">
                <a:moveTo>
                  <a:pt x="0" y="0"/>
                </a:moveTo>
                <a:lnTo>
                  <a:pt x="1124950" y="0"/>
                </a:lnTo>
                <a:lnTo>
                  <a:pt x="1124950" y="1124950"/>
                </a:lnTo>
                <a:lnTo>
                  <a:pt x="0" y="11249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5" id="55"/>
          <p:cNvGrpSpPr/>
          <p:nvPr/>
        </p:nvGrpSpPr>
        <p:grpSpPr>
          <a:xfrm rot="0">
            <a:off x="9956140" y="6565001"/>
            <a:ext cx="519970" cy="519970"/>
            <a:chOff x="0" y="0"/>
            <a:chExt cx="693293" cy="693293"/>
          </a:xfrm>
        </p:grpSpPr>
        <p:sp>
          <p:nvSpPr>
            <p:cNvPr name="Freeform 56" id="56" descr="icone"/>
            <p:cNvSpPr/>
            <p:nvPr/>
          </p:nvSpPr>
          <p:spPr>
            <a:xfrm flipH="false" flipV="false" rot="0">
              <a:off x="0" y="0"/>
              <a:ext cx="693293" cy="693293"/>
            </a:xfrm>
            <a:custGeom>
              <a:avLst/>
              <a:gdLst/>
              <a:ahLst/>
              <a:cxnLst/>
              <a:rect r="r" b="b" t="t" l="l"/>
              <a:pathLst>
                <a:path h="693293" w="693293">
                  <a:moveTo>
                    <a:pt x="0" y="0"/>
                  </a:moveTo>
                  <a:lnTo>
                    <a:pt x="693293" y="0"/>
                  </a:lnTo>
                  <a:lnTo>
                    <a:pt x="693293" y="693293"/>
                  </a:lnTo>
                  <a:lnTo>
                    <a:pt x="0" y="693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11096139" y="5896651"/>
            <a:ext cx="5950325" cy="653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Privacidade em risco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096139" y="6523796"/>
            <a:ext cx="5950325" cy="1276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Divulgar telefone e endereço expõe dados pessoais de quem participa da busca.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7085443" y="9624060"/>
            <a:ext cx="19671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14630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MOTIVAÇÃO E OBJETIVO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Uma busca real virou um objetivo claro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14400" y="2440305"/>
            <a:ext cx="182880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3811905"/>
            <a:ext cx="51206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Experiência real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4429125"/>
            <a:ext cx="4937760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busca por um animal desaparecido na família motivou o projeto.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943600" y="2560320"/>
            <a:ext cx="548640" cy="1097280"/>
            <a:chOff x="0" y="0"/>
            <a:chExt cx="731520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943600" y="2467451"/>
            <a:ext cx="548640" cy="1190149"/>
            <a:chOff x="0" y="0"/>
            <a:chExt cx="731520" cy="158686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943600" y="2374583"/>
            <a:ext cx="548640" cy="1283018"/>
            <a:chOff x="0" y="0"/>
            <a:chExt cx="731520" cy="17106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043" t="0" r="-25004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23825"/>
              <a:ext cx="731520" cy="1834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583680" y="2440305"/>
            <a:ext cx="182880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83680" y="3811905"/>
            <a:ext cx="512064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Necessidade identificada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83680" y="4429125"/>
            <a:ext cx="4937760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pesquisa de campo e a análise de sistemas similares apontaram a lacuna.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612880" y="2560320"/>
            <a:ext cx="548640" cy="1097280"/>
            <a:chOff x="0" y="0"/>
            <a:chExt cx="73152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612880" y="2467451"/>
            <a:ext cx="548640" cy="1190149"/>
            <a:chOff x="0" y="0"/>
            <a:chExt cx="731520" cy="158686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612880" y="2374583"/>
            <a:ext cx="548640" cy="1283018"/>
            <a:chOff x="0" y="0"/>
            <a:chExt cx="731520" cy="17106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043" t="0" r="-25004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23825"/>
              <a:ext cx="731520" cy="1834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252960" y="2440305"/>
            <a:ext cx="182880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252960" y="3811905"/>
            <a:ext cx="51206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Proposta do WeFIND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252960" y="4429125"/>
            <a:ext cx="4937760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Colaboração comunitária, geolocalização e comunicação privada.</a:t>
            </a:r>
          </a:p>
        </p:txBody>
      </p:sp>
      <p:sp>
        <p:nvSpPr>
          <p:cNvPr name="AutoShape 33" id="33"/>
          <p:cNvSpPr/>
          <p:nvPr/>
        </p:nvSpPr>
        <p:spPr>
          <a:xfrm rot="1980">
            <a:off x="895340" y="6569393"/>
            <a:ext cx="16497310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914400" y="6829425"/>
            <a:ext cx="73152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Objetivo geral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4400" y="7326630"/>
            <a:ext cx="6949440" cy="163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Desenvolver um app móvel colaborativo para divulgar e buscar animais perdidos e encontrados.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144000" y="6829425"/>
            <a:ext cx="73152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Método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144000" y="7326630"/>
            <a:ext cx="804672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Pesquisa aplicada e exploratório-descritiva: campo, sistemas similares e teste de usabilidade e vulnerabilidade.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550640" y="9624060"/>
            <a:ext cx="73152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14630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OBJETIVOS ESPECÍFICOS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Sete passos até o aplicativo avaliado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550640" y="9624060"/>
            <a:ext cx="73152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 rot="1980">
            <a:off x="904875" y="4196715"/>
            <a:ext cx="16478250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914400" y="1885950"/>
            <a:ext cx="2259873" cy="214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14400" y="4046220"/>
            <a:ext cx="320040" cy="320040"/>
            <a:chOff x="0" y="0"/>
            <a:chExt cx="426720" cy="426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14400" y="4453890"/>
            <a:ext cx="2259873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Identificar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5208270"/>
            <a:ext cx="2168433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dificuldades relatadas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265713" y="1885950"/>
            <a:ext cx="2259873" cy="214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265713" y="4046220"/>
            <a:ext cx="320040" cy="320040"/>
            <a:chOff x="0" y="0"/>
            <a:chExt cx="426720" cy="426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3265713" y="4453890"/>
            <a:ext cx="2259873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Analisar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265713" y="5208270"/>
            <a:ext cx="2168433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sistemas similares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617026" y="1885950"/>
            <a:ext cx="2259873" cy="214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5617026" y="4046220"/>
            <a:ext cx="320040" cy="320040"/>
            <a:chOff x="0" y="0"/>
            <a:chExt cx="426720" cy="426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5617026" y="4453890"/>
            <a:ext cx="2259873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Definir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617026" y="5208270"/>
            <a:ext cx="2168433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os requisitos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968339" y="1885950"/>
            <a:ext cx="2259873" cy="214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968339" y="4046220"/>
            <a:ext cx="320040" cy="320040"/>
            <a:chOff x="0" y="0"/>
            <a:chExt cx="426720" cy="4267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7968339" y="4453890"/>
            <a:ext cx="2259873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Modelar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968339" y="5208270"/>
            <a:ext cx="2168433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sistema em UML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319652" y="1885950"/>
            <a:ext cx="2259873" cy="214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05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0319652" y="4046220"/>
            <a:ext cx="320040" cy="320040"/>
            <a:chOff x="0" y="0"/>
            <a:chExt cx="426720" cy="4267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0319652" y="4453890"/>
            <a:ext cx="2259873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Projetar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319652" y="5208270"/>
            <a:ext cx="2168433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interface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670974" y="1885950"/>
            <a:ext cx="2259873" cy="214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06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2670974" y="4046220"/>
            <a:ext cx="320040" cy="320040"/>
            <a:chOff x="0" y="0"/>
            <a:chExt cx="426720" cy="4267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2670974" y="4453890"/>
            <a:ext cx="2259873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Implementar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670974" y="5208270"/>
            <a:ext cx="2168433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com React Native e Supabase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022287" y="1885950"/>
            <a:ext cx="2259873" cy="214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07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5022287" y="4046220"/>
            <a:ext cx="320040" cy="320040"/>
            <a:chOff x="0" y="0"/>
            <a:chExt cx="426720" cy="4267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B1734A"/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5022287" y="4453890"/>
            <a:ext cx="2259873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Avaliar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022287" y="5208270"/>
            <a:ext cx="2168433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usabilidade (SUS)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465070"/>
            <a:ext cx="9144000" cy="595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98470"/>
            <a:ext cx="6400800" cy="2419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39740"/>
            <a:ext cx="15544800" cy="113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Pesquisa e diferencial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633210"/>
            <a:ext cx="15544800" cy="73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Campo e sistemas similares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084992" y="9624060"/>
            <a:ext cx="19671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14630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PESQUISA DE CAMPO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 participantes descreveram o problema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194560"/>
            <a:ext cx="10241280" cy="6400800"/>
            <a:chOff x="0" y="0"/>
            <a:chExt cx="13655040" cy="8534400"/>
          </a:xfrm>
        </p:grpSpPr>
        <p:sp>
          <p:nvSpPr>
            <p:cNvPr name="Freeform 11" id="11" descr="/tmp/un/ppt/media/image14.png"/>
            <p:cNvSpPr/>
            <p:nvPr/>
          </p:nvSpPr>
          <p:spPr>
            <a:xfrm flipH="false" flipV="false" rot="0">
              <a:off x="0" y="0"/>
              <a:ext cx="13655039" cy="8534400"/>
            </a:xfrm>
            <a:custGeom>
              <a:avLst/>
              <a:gdLst/>
              <a:ahLst/>
              <a:cxnLst/>
              <a:rect r="r" b="b" t="t" l="l"/>
              <a:pathLst>
                <a:path h="8534400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8534400"/>
                  </a:lnTo>
                  <a:lnTo>
                    <a:pt x="0" y="853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0" r="0" b="-11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87200" y="2194560"/>
            <a:ext cx="2743200" cy="1463040"/>
            <a:chOff x="0" y="0"/>
            <a:chExt cx="3657600" cy="1950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887200" y="2187416"/>
            <a:ext cx="2743200" cy="1470184"/>
            <a:chOff x="0" y="0"/>
            <a:chExt cx="3657600" cy="196024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887200" y="2180272"/>
            <a:ext cx="2743200" cy="1477327"/>
            <a:chOff x="0" y="0"/>
            <a:chExt cx="3657600" cy="19697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096" t="0" r="-19096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3657600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4630400" y="2234565"/>
            <a:ext cx="2743200" cy="965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respondentes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630400" y="3057525"/>
            <a:ext cx="27432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 perguntas, de 1º a 11 de set. de 2026</a:t>
            </a:r>
          </a:p>
        </p:txBody>
      </p:sp>
      <p:sp>
        <p:nvSpPr>
          <p:cNvPr name="AutoShape 21" id="21"/>
          <p:cNvSpPr/>
          <p:nvPr/>
        </p:nvSpPr>
        <p:spPr>
          <a:xfrm rot="5940">
            <a:off x="11868131" y="4191953"/>
            <a:ext cx="5524548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11887200" y="4389120"/>
            <a:ext cx="2743200" cy="1463040"/>
            <a:chOff x="0" y="0"/>
            <a:chExt cx="3657600" cy="19507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887200" y="4381976"/>
            <a:ext cx="2743200" cy="1470184"/>
            <a:chOff x="0" y="0"/>
            <a:chExt cx="3657600" cy="196024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887200" y="4374832"/>
            <a:ext cx="2743200" cy="1477327"/>
            <a:chOff x="0" y="0"/>
            <a:chExt cx="3657600" cy="19697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096" t="0" r="-19096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3657600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90%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4630400" y="4429125"/>
            <a:ext cx="2743200" cy="965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já perderam um animal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630400" y="5252085"/>
            <a:ext cx="27432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 de 20 participantes</a:t>
            </a:r>
          </a:p>
        </p:txBody>
      </p:sp>
      <p:sp>
        <p:nvSpPr>
          <p:cNvPr name="AutoShape 31" id="31"/>
          <p:cNvSpPr/>
          <p:nvPr/>
        </p:nvSpPr>
        <p:spPr>
          <a:xfrm rot="5940">
            <a:off x="11868131" y="6386512"/>
            <a:ext cx="5524548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11887200" y="6583680"/>
            <a:ext cx="2743200" cy="1463040"/>
            <a:chOff x="0" y="0"/>
            <a:chExt cx="3657600" cy="19507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887200" y="6576536"/>
            <a:ext cx="2743200" cy="1470184"/>
            <a:chOff x="0" y="0"/>
            <a:chExt cx="3657600" cy="196024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887200" y="6569393"/>
            <a:ext cx="2743200" cy="1477327"/>
            <a:chOff x="0" y="0"/>
            <a:chExt cx="3657600" cy="196977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096" t="0" r="-19096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3657600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80%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4630400" y="6623685"/>
            <a:ext cx="2743200" cy="965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preferem ocultar o endereço exato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630400" y="7446645"/>
            <a:ext cx="27432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16 de 20 participantes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4400" y="8635365"/>
            <a:ext cx="1645920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Amostra por conveniência, recrutada em um grupo de proteção animal no Facebook. Os resultados descrevem apenas o grupo consultado e não se generalizam.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550640" y="96240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14630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SISTEMAS SIMILARES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Nenhuma reúne mapa, rota e correspondência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914400" y="2194560"/>
          <a:ext cx="16383000" cy="6896100"/>
        </p:xfrm>
        <a:graphic>
          <a:graphicData uri="http://schemas.openxmlformats.org/drawingml/2006/table">
            <a:tbl>
              <a:tblPr/>
              <a:tblGrid>
                <a:gridCol w="6735233"/>
                <a:gridCol w="1929553"/>
                <a:gridCol w="1929553"/>
                <a:gridCol w="1929553"/>
                <a:gridCol w="1929553"/>
                <a:gridCol w="1929553"/>
              </a:tblGrid>
              <a:tr h="5828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Funcionalidade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Viu Meu 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PawBoost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AlertPet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Facebook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B17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WeFIND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663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Cadastrar animal com fotos e descrição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74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Disponibilizar aplicativo móvel para busca de animais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74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Gerar cartazes digitais de busca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74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Filtrar animais por espécie e município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74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Enviar alertas sobre publicações relevantes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74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Visualizar animais em mapa interativo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74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Registrar relatos de avistamento com localização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74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Permitir comunicação privada entre usuários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3C5D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74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Traçar rota até o local informado na publicação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266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Sugerir correspondências entre animais perdidos e encontrados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16550640" y="96240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465070"/>
            <a:ext cx="9144000" cy="595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98470"/>
            <a:ext cx="6400800" cy="2419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39740"/>
            <a:ext cx="15544800" cy="113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Requisitos e modelagem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633210"/>
            <a:ext cx="1554480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Funcionais, qualidade, expiração das publicações e UML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084992" y="9624060"/>
            <a:ext cx="30682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2176" r="0" b="-29217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97280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968" r="0" b="-20896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212848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17 requisitos funcionais centrais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10454" y="2319214"/>
            <a:ext cx="5374243" cy="2150983"/>
          </a:xfrm>
          <a:custGeom>
            <a:avLst/>
            <a:gdLst/>
            <a:ahLst/>
            <a:cxnLst/>
            <a:rect r="r" b="b" t="t" l="l"/>
            <a:pathLst>
              <a:path h="2150983" w="5374243">
                <a:moveTo>
                  <a:pt x="0" y="0"/>
                </a:moveTo>
                <a:lnTo>
                  <a:pt x="5374243" y="0"/>
                </a:lnTo>
                <a:lnTo>
                  <a:pt x="5374243" y="2150983"/>
                </a:lnTo>
                <a:lnTo>
                  <a:pt x="0" y="21509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9" t="0" r="-29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80611" y="2589371"/>
            <a:ext cx="993457" cy="993457"/>
          </a:xfrm>
          <a:custGeom>
            <a:avLst/>
            <a:gdLst/>
            <a:ahLst/>
            <a:cxnLst/>
            <a:rect r="r" b="b" t="t" l="l"/>
            <a:pathLst>
              <a:path h="993457" w="993457">
                <a:moveTo>
                  <a:pt x="0" y="0"/>
                </a:moveTo>
                <a:lnTo>
                  <a:pt x="993458" y="0"/>
                </a:lnTo>
                <a:lnTo>
                  <a:pt x="993458" y="993458"/>
                </a:lnTo>
                <a:lnTo>
                  <a:pt x="0" y="9934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346911" y="2855671"/>
            <a:ext cx="460820" cy="460820"/>
            <a:chOff x="0" y="0"/>
            <a:chExt cx="614426" cy="614426"/>
          </a:xfrm>
        </p:grpSpPr>
        <p:sp>
          <p:nvSpPr>
            <p:cNvPr name="Freeform 19" id="19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331720" y="2366010"/>
            <a:ext cx="3703320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Conta e perfil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331720" y="2874645"/>
            <a:ext cx="3703320" cy="526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RF01 e RF02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31720" y="3286125"/>
            <a:ext cx="3703320" cy="110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Cadastro, login, recuperação de senha e perfil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6434014" y="2319214"/>
            <a:ext cx="5374243" cy="2150983"/>
          </a:xfrm>
          <a:custGeom>
            <a:avLst/>
            <a:gdLst/>
            <a:ahLst/>
            <a:cxnLst/>
            <a:rect r="r" b="b" t="t" l="l"/>
            <a:pathLst>
              <a:path h="2150983" w="5374243">
                <a:moveTo>
                  <a:pt x="0" y="0"/>
                </a:moveTo>
                <a:lnTo>
                  <a:pt x="5374243" y="0"/>
                </a:lnTo>
                <a:lnTo>
                  <a:pt x="5374243" y="2150983"/>
                </a:lnTo>
                <a:lnTo>
                  <a:pt x="0" y="21509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9" t="0" r="-29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704171" y="2589371"/>
            <a:ext cx="993458" cy="993457"/>
          </a:xfrm>
          <a:custGeom>
            <a:avLst/>
            <a:gdLst/>
            <a:ahLst/>
            <a:cxnLst/>
            <a:rect r="r" b="b" t="t" l="l"/>
            <a:pathLst>
              <a:path h="993457" w="993458">
                <a:moveTo>
                  <a:pt x="0" y="0"/>
                </a:moveTo>
                <a:lnTo>
                  <a:pt x="993458" y="0"/>
                </a:lnTo>
                <a:lnTo>
                  <a:pt x="993458" y="993458"/>
                </a:lnTo>
                <a:lnTo>
                  <a:pt x="0" y="9934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6970471" y="2855671"/>
            <a:ext cx="460820" cy="460820"/>
            <a:chOff x="0" y="0"/>
            <a:chExt cx="614426" cy="614426"/>
          </a:xfrm>
        </p:grpSpPr>
        <p:sp>
          <p:nvSpPr>
            <p:cNvPr name="Freeform 26" id="26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7955280" y="2366010"/>
            <a:ext cx="3703320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Publicações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955280" y="2874645"/>
            <a:ext cx="3703320" cy="526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RF03 a RF05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955280" y="3286125"/>
            <a:ext cx="3703320" cy="110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Consultar, publicar e atualizar animais perdidos ou encontrados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2057574" y="2319214"/>
            <a:ext cx="5374243" cy="2150983"/>
          </a:xfrm>
          <a:custGeom>
            <a:avLst/>
            <a:gdLst/>
            <a:ahLst/>
            <a:cxnLst/>
            <a:rect r="r" b="b" t="t" l="l"/>
            <a:pathLst>
              <a:path h="2150983" w="5374243">
                <a:moveTo>
                  <a:pt x="0" y="0"/>
                </a:moveTo>
                <a:lnTo>
                  <a:pt x="5374243" y="0"/>
                </a:lnTo>
                <a:lnTo>
                  <a:pt x="5374243" y="2150983"/>
                </a:lnTo>
                <a:lnTo>
                  <a:pt x="0" y="21509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9" t="0" r="-29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327731" y="2589371"/>
            <a:ext cx="993457" cy="993457"/>
          </a:xfrm>
          <a:custGeom>
            <a:avLst/>
            <a:gdLst/>
            <a:ahLst/>
            <a:cxnLst/>
            <a:rect r="r" b="b" t="t" l="l"/>
            <a:pathLst>
              <a:path h="993457" w="993457">
                <a:moveTo>
                  <a:pt x="0" y="0"/>
                </a:moveTo>
                <a:lnTo>
                  <a:pt x="993458" y="0"/>
                </a:lnTo>
                <a:lnTo>
                  <a:pt x="993458" y="993458"/>
                </a:lnTo>
                <a:lnTo>
                  <a:pt x="0" y="9934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2594031" y="2855671"/>
            <a:ext cx="460820" cy="460820"/>
            <a:chOff x="0" y="0"/>
            <a:chExt cx="614426" cy="614426"/>
          </a:xfrm>
        </p:grpSpPr>
        <p:sp>
          <p:nvSpPr>
            <p:cNvPr name="Freeform 33" id="33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3578840" y="2366010"/>
            <a:ext cx="3703320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Mapa e busca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578840" y="2874645"/>
            <a:ext cx="3703320" cy="526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RF06 a RF08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578840" y="3286125"/>
            <a:ext cx="3703320" cy="110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Mapa, filtros por espécie e distância, rota até o local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810454" y="4650934"/>
            <a:ext cx="5374243" cy="2150983"/>
          </a:xfrm>
          <a:custGeom>
            <a:avLst/>
            <a:gdLst/>
            <a:ahLst/>
            <a:cxnLst/>
            <a:rect r="r" b="b" t="t" l="l"/>
            <a:pathLst>
              <a:path h="2150983" w="5374243">
                <a:moveTo>
                  <a:pt x="0" y="0"/>
                </a:moveTo>
                <a:lnTo>
                  <a:pt x="5374243" y="0"/>
                </a:lnTo>
                <a:lnTo>
                  <a:pt x="5374243" y="2150983"/>
                </a:lnTo>
                <a:lnTo>
                  <a:pt x="0" y="21509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9" t="0" r="-29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080611" y="4921091"/>
            <a:ext cx="993457" cy="993458"/>
          </a:xfrm>
          <a:custGeom>
            <a:avLst/>
            <a:gdLst/>
            <a:ahLst/>
            <a:cxnLst/>
            <a:rect r="r" b="b" t="t" l="l"/>
            <a:pathLst>
              <a:path h="993458" w="993457">
                <a:moveTo>
                  <a:pt x="0" y="0"/>
                </a:moveTo>
                <a:lnTo>
                  <a:pt x="993458" y="0"/>
                </a:lnTo>
                <a:lnTo>
                  <a:pt x="993458" y="993458"/>
                </a:lnTo>
                <a:lnTo>
                  <a:pt x="0" y="9934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346911" y="5187391"/>
            <a:ext cx="460820" cy="460820"/>
            <a:chOff x="0" y="0"/>
            <a:chExt cx="614426" cy="614426"/>
          </a:xfrm>
        </p:grpSpPr>
        <p:sp>
          <p:nvSpPr>
            <p:cNvPr name="Freeform 40" id="40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2331720" y="4697730"/>
            <a:ext cx="3703320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Avistamentos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331720" y="5206365"/>
            <a:ext cx="3703320" cy="526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RF09 e RF10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331720" y="5617845"/>
            <a:ext cx="3703320" cy="110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Relatos com local, horário e foto, vinculados à publicação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6434014" y="4650934"/>
            <a:ext cx="5374243" cy="2150983"/>
          </a:xfrm>
          <a:custGeom>
            <a:avLst/>
            <a:gdLst/>
            <a:ahLst/>
            <a:cxnLst/>
            <a:rect r="r" b="b" t="t" l="l"/>
            <a:pathLst>
              <a:path h="2150983" w="5374243">
                <a:moveTo>
                  <a:pt x="0" y="0"/>
                </a:moveTo>
                <a:lnTo>
                  <a:pt x="5374243" y="0"/>
                </a:lnTo>
                <a:lnTo>
                  <a:pt x="5374243" y="2150983"/>
                </a:lnTo>
                <a:lnTo>
                  <a:pt x="0" y="21509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9" t="0" r="-29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6704171" y="4921091"/>
            <a:ext cx="993458" cy="993458"/>
          </a:xfrm>
          <a:custGeom>
            <a:avLst/>
            <a:gdLst/>
            <a:ahLst/>
            <a:cxnLst/>
            <a:rect r="r" b="b" t="t" l="l"/>
            <a:pathLst>
              <a:path h="993458" w="993458">
                <a:moveTo>
                  <a:pt x="0" y="0"/>
                </a:moveTo>
                <a:lnTo>
                  <a:pt x="993458" y="0"/>
                </a:lnTo>
                <a:lnTo>
                  <a:pt x="993458" y="993458"/>
                </a:lnTo>
                <a:lnTo>
                  <a:pt x="0" y="9934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6970471" y="5187391"/>
            <a:ext cx="460820" cy="460820"/>
            <a:chOff x="0" y="0"/>
            <a:chExt cx="614426" cy="614426"/>
          </a:xfrm>
        </p:grpSpPr>
        <p:sp>
          <p:nvSpPr>
            <p:cNvPr name="Freeform 47" id="47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7955280" y="4697730"/>
            <a:ext cx="3703320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Comunicação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955280" y="5206365"/>
            <a:ext cx="3703320" cy="526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RF11 e RF12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955280" y="5617845"/>
            <a:ext cx="3703320" cy="110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por publicação e notificações</a:t>
            </a:r>
          </a:p>
        </p:txBody>
      </p:sp>
      <p:sp>
        <p:nvSpPr>
          <p:cNvPr name="Freeform 51" id="51"/>
          <p:cNvSpPr/>
          <p:nvPr/>
        </p:nvSpPr>
        <p:spPr>
          <a:xfrm flipH="false" flipV="false" rot="0">
            <a:off x="12057574" y="4650934"/>
            <a:ext cx="5374243" cy="2150983"/>
          </a:xfrm>
          <a:custGeom>
            <a:avLst/>
            <a:gdLst/>
            <a:ahLst/>
            <a:cxnLst/>
            <a:rect r="r" b="b" t="t" l="l"/>
            <a:pathLst>
              <a:path h="2150983" w="5374243">
                <a:moveTo>
                  <a:pt x="0" y="0"/>
                </a:moveTo>
                <a:lnTo>
                  <a:pt x="5374243" y="0"/>
                </a:lnTo>
                <a:lnTo>
                  <a:pt x="5374243" y="2150983"/>
                </a:lnTo>
                <a:lnTo>
                  <a:pt x="0" y="21509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9" t="0" r="-29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2327731" y="4921091"/>
            <a:ext cx="993457" cy="993458"/>
          </a:xfrm>
          <a:custGeom>
            <a:avLst/>
            <a:gdLst/>
            <a:ahLst/>
            <a:cxnLst/>
            <a:rect r="r" b="b" t="t" l="l"/>
            <a:pathLst>
              <a:path h="993458" w="993457">
                <a:moveTo>
                  <a:pt x="0" y="0"/>
                </a:moveTo>
                <a:lnTo>
                  <a:pt x="993458" y="0"/>
                </a:lnTo>
                <a:lnTo>
                  <a:pt x="993458" y="993458"/>
                </a:lnTo>
                <a:lnTo>
                  <a:pt x="0" y="9934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12594031" y="5187391"/>
            <a:ext cx="460820" cy="460820"/>
            <a:chOff x="0" y="0"/>
            <a:chExt cx="614426" cy="614426"/>
          </a:xfrm>
        </p:grpSpPr>
        <p:sp>
          <p:nvSpPr>
            <p:cNvPr name="Freeform 54" id="54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13578840" y="4697730"/>
            <a:ext cx="3703320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Moderação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578840" y="5206365"/>
            <a:ext cx="3703320" cy="526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RF13 e RF14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578840" y="5617845"/>
            <a:ext cx="3703320" cy="110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Denúncia de conteúdo e análise pelo administrador</a:t>
            </a:r>
          </a:p>
        </p:txBody>
      </p:sp>
      <p:sp>
        <p:nvSpPr>
          <p:cNvPr name="Freeform 58" id="58"/>
          <p:cNvSpPr/>
          <p:nvPr/>
        </p:nvSpPr>
        <p:spPr>
          <a:xfrm flipH="false" flipV="false" rot="0">
            <a:off x="810454" y="7119814"/>
            <a:ext cx="5374243" cy="2219563"/>
          </a:xfrm>
          <a:custGeom>
            <a:avLst/>
            <a:gdLst/>
            <a:ahLst/>
            <a:cxnLst/>
            <a:rect r="r" b="b" t="t" l="l"/>
            <a:pathLst>
              <a:path h="2219563" w="5374243">
                <a:moveTo>
                  <a:pt x="0" y="0"/>
                </a:moveTo>
                <a:lnTo>
                  <a:pt x="5374243" y="0"/>
                </a:lnTo>
                <a:lnTo>
                  <a:pt x="5374243" y="2219563"/>
                </a:lnTo>
                <a:lnTo>
                  <a:pt x="0" y="2219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-140" r="0" b="-140"/>
            </a:stretch>
          </a:blipFill>
        </p:spPr>
      </p:sp>
      <p:sp>
        <p:nvSpPr>
          <p:cNvPr name="TextBox 59" id="59"/>
          <p:cNvSpPr txBox="true"/>
          <p:nvPr/>
        </p:nvSpPr>
        <p:spPr>
          <a:xfrm rot="0">
            <a:off x="1165860" y="7195185"/>
            <a:ext cx="4663440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RF15  Cartaz de divulgação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65860" y="7783830"/>
            <a:ext cx="4663440" cy="1474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Formatos A4, 9:16 e 1:1; o A4 leva um QR code para a publicação</a:t>
            </a:r>
          </a:p>
        </p:txBody>
      </p:sp>
      <p:sp>
        <p:nvSpPr>
          <p:cNvPr name="Freeform 61" id="61"/>
          <p:cNvSpPr/>
          <p:nvPr/>
        </p:nvSpPr>
        <p:spPr>
          <a:xfrm flipH="false" flipV="false" rot="0">
            <a:off x="6434014" y="7119814"/>
            <a:ext cx="5374243" cy="2219563"/>
          </a:xfrm>
          <a:custGeom>
            <a:avLst/>
            <a:gdLst/>
            <a:ahLst/>
            <a:cxnLst/>
            <a:rect r="r" b="b" t="t" l="l"/>
            <a:pathLst>
              <a:path h="2219563" w="5374243">
                <a:moveTo>
                  <a:pt x="0" y="0"/>
                </a:moveTo>
                <a:lnTo>
                  <a:pt x="5374243" y="0"/>
                </a:lnTo>
                <a:lnTo>
                  <a:pt x="5374243" y="2219563"/>
                </a:lnTo>
                <a:lnTo>
                  <a:pt x="0" y="2219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-140" r="0" b="-140"/>
            </a:stretch>
          </a:blipFill>
        </p:spPr>
      </p:sp>
      <p:sp>
        <p:nvSpPr>
          <p:cNvPr name="TextBox 62" id="62"/>
          <p:cNvSpPr txBox="true"/>
          <p:nvPr/>
        </p:nvSpPr>
        <p:spPr>
          <a:xfrm rot="0">
            <a:off x="6789420" y="7195185"/>
            <a:ext cx="4663440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RF16  Ciclo de vida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789420" y="7783830"/>
            <a:ext cx="4663440" cy="1474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Ativa por 30 dias, aviso 3 dias antes e mais 30 dias de carência</a:t>
            </a:r>
          </a:p>
        </p:txBody>
      </p:sp>
      <p:sp>
        <p:nvSpPr>
          <p:cNvPr name="Freeform 64" id="64"/>
          <p:cNvSpPr/>
          <p:nvPr/>
        </p:nvSpPr>
        <p:spPr>
          <a:xfrm flipH="false" flipV="false" rot="0">
            <a:off x="12057574" y="7119814"/>
            <a:ext cx="5374243" cy="2219563"/>
          </a:xfrm>
          <a:custGeom>
            <a:avLst/>
            <a:gdLst/>
            <a:ahLst/>
            <a:cxnLst/>
            <a:rect r="r" b="b" t="t" l="l"/>
            <a:pathLst>
              <a:path h="2219563" w="5374243">
                <a:moveTo>
                  <a:pt x="0" y="0"/>
                </a:moveTo>
                <a:lnTo>
                  <a:pt x="5374243" y="0"/>
                </a:lnTo>
                <a:lnTo>
                  <a:pt x="5374243" y="2219563"/>
                </a:lnTo>
                <a:lnTo>
                  <a:pt x="0" y="2219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-140" r="0" b="-140"/>
            </a:stretch>
          </a:blipFill>
        </p:spPr>
      </p:sp>
      <p:sp>
        <p:nvSpPr>
          <p:cNvPr name="TextBox 65" id="65"/>
          <p:cNvSpPr txBox="true"/>
          <p:nvPr/>
        </p:nvSpPr>
        <p:spPr>
          <a:xfrm rot="0">
            <a:off x="12412980" y="7195185"/>
            <a:ext cx="4663440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RF17  Correspondências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2412980" y="7783830"/>
            <a:ext cx="4663440" cy="1474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Sugere pares perdido/encontrado, sem confirmar automaticamente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14400" y="397764"/>
            <a:ext cx="45720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2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FUNCIONAIS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6550640" y="96240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2176" r="0" b="-29217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97280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968" r="0" b="-20896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212848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Qualidade: acesso, privacidade e imagens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1045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17771" y="286369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555394" y="3201314"/>
            <a:ext cx="592550" cy="592550"/>
            <a:chOff x="0" y="0"/>
            <a:chExt cx="790067" cy="790067"/>
          </a:xfrm>
        </p:grpSpPr>
        <p:sp>
          <p:nvSpPr>
            <p:cNvPr name="Freeform 19" id="19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880360" y="2611755"/>
            <a:ext cx="5760720" cy="81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RNF01  Autenticação e acesso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80360" y="3451860"/>
            <a:ext cx="5760720" cy="16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Auth e políticas RLS: ninguém altera ou exclui dados de outra conta.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924579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653111" y="286369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990734" y="3201314"/>
            <a:ext cx="592550" cy="592550"/>
            <a:chOff x="0" y="0"/>
            <a:chExt cx="790067" cy="790067"/>
          </a:xfrm>
        </p:grpSpPr>
        <p:sp>
          <p:nvSpPr>
            <p:cNvPr name="Freeform 25" id="25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1315700" y="2611755"/>
            <a:ext cx="5760720" cy="81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RNF02  Privacidade da localização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315700" y="3451860"/>
            <a:ext cx="5760720" cy="16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Telas públicas mostram o endereço de forma aproximada (16 de 20 preferiram ocultar o exato).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81045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17771" y="601837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555394" y="6355994"/>
            <a:ext cx="592550" cy="592550"/>
            <a:chOff x="0" y="0"/>
            <a:chExt cx="790067" cy="790067"/>
          </a:xfrm>
        </p:grpSpPr>
        <p:sp>
          <p:nvSpPr>
            <p:cNvPr name="Freeform 31" id="31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2880360" y="5766435"/>
            <a:ext cx="5760720" cy="81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RNF03  Comunicação segura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880360" y="6606540"/>
            <a:ext cx="5760720" cy="16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Todas as requisições entre o aplicativo e a nuvem usam HTTPS.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924579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9653111" y="601837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9990734" y="6355994"/>
            <a:ext cx="592550" cy="592550"/>
            <a:chOff x="0" y="0"/>
            <a:chExt cx="790067" cy="790067"/>
          </a:xfrm>
        </p:grpSpPr>
        <p:sp>
          <p:nvSpPr>
            <p:cNvPr name="Freeform 37" id="37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1315700" y="5766435"/>
            <a:ext cx="5760720" cy="81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RNF04  Compressão de imagens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315700" y="6606540"/>
            <a:ext cx="5760720" cy="16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As fotos são comprimidas no aparelho antes do envio.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22960" y="8635365"/>
            <a:ext cx="16596360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Base: ISO/IEC 25010. Verificados por inspeção do código e da configuração, sem medições independentes.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4400" y="397764"/>
            <a:ext cx="14630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NÃO FUNCIONAIS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550640" y="96240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14630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FUNCIONAIS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-189757"/>
            <a:ext cx="16459200" cy="3814972"/>
            <a:chOff x="0" y="0"/>
            <a:chExt cx="21945600" cy="50866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5086604"/>
            </a:xfrm>
            <a:custGeom>
              <a:avLst/>
              <a:gdLst/>
              <a:ahLst/>
              <a:cxnLst/>
              <a:rect r="r" b="b" t="t" l="l"/>
              <a:pathLst>
                <a:path h="50866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86604"/>
                  </a:lnTo>
                  <a:lnTo>
                    <a:pt x="0" y="5086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07" r="0" b="-3400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-196901"/>
            <a:ext cx="16459200" cy="3822116"/>
            <a:chOff x="0" y="0"/>
            <a:chExt cx="21945600" cy="50961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5096156"/>
            </a:xfrm>
            <a:custGeom>
              <a:avLst/>
              <a:gdLst/>
              <a:ahLst/>
              <a:cxnLst/>
              <a:rect r="r" b="b" t="t" l="l"/>
              <a:pathLst>
                <a:path h="509615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96156"/>
                  </a:lnTo>
                  <a:lnTo>
                    <a:pt x="0" y="50961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08" r="0" b="-3390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51056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RF16: expiração da publicação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rot="1980">
            <a:off x="892169" y="2966656"/>
            <a:ext cx="16503672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89217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14400" y="3634740"/>
            <a:ext cx="384048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ATIVA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4177665"/>
            <a:ext cx="384048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5069205"/>
            <a:ext cx="3749040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Contados do cadastro ou da última renovação.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509841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120640" y="3634740"/>
            <a:ext cx="384048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20640" y="4177665"/>
            <a:ext cx="384048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 dias antes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20640" y="5069205"/>
            <a:ext cx="3749040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responsável é avisado para renovar o anúncio.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930465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326880" y="3634740"/>
            <a:ext cx="384048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CARÊNCIA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26880" y="4177665"/>
            <a:ext cx="384048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26880" y="5069205"/>
            <a:ext cx="3749040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Oculta do mural e do mapa; ainda pode ser renovada.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351089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3533120" y="3634740"/>
            <a:ext cx="384048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REMOÇÃO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533120" y="4177665"/>
            <a:ext cx="384048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depois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533120" y="5069205"/>
            <a:ext cx="3749040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rotina de limpeza pode excluir a publicação e suas fotos.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892178" y="7164962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499616" y="6957441"/>
            <a:ext cx="45720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E67E22"/>
                </a:solidFill>
                <a:latin typeface="Cambria Bold"/>
                <a:ea typeface="Cambria Bold"/>
                <a:cs typeface="Cambria Bold"/>
                <a:sym typeface="Cambria Bold"/>
              </a:rPr>
              <a:t>Perdido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99616" y="7446645"/>
            <a:ext cx="4754880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Publicação do tutor que procura o animal.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6470018" y="7164962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7077456" y="6957441"/>
            <a:ext cx="45720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16A34A"/>
                </a:solidFill>
                <a:latin typeface="Cambria Bold"/>
                <a:ea typeface="Cambria Bold"/>
                <a:cs typeface="Cambria Bold"/>
                <a:sym typeface="Cambria Bold"/>
              </a:rPr>
              <a:t>Encontrado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077456" y="7446645"/>
            <a:ext cx="4754880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Anúncio de quem localizou ou viu o animal.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2047858" y="7164962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2655296" y="6957441"/>
            <a:ext cx="45720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Reencontrado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655296" y="7446645"/>
            <a:ext cx="4754880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Encerra a busca quando o animal volta ao tutor; até lá a publicação segue ativa.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14400" y="8818245"/>
            <a:ext cx="16459200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Limite atual: a limpeza roda ao carregar o mural e considera só as publicações do usuário autenticado. A limpeza global no backend é trabalho futuro.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550640" y="96240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-200677"/>
            <a:ext cx="16459200" cy="2781952"/>
            <a:chOff x="0" y="0"/>
            <a:chExt cx="21945600" cy="37092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3709270"/>
            </a:xfrm>
            <a:custGeom>
              <a:avLst/>
              <a:gdLst/>
              <a:ahLst/>
              <a:cxnLst/>
              <a:rect r="r" b="b" t="t" l="l"/>
              <a:pathLst>
                <a:path h="370927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70"/>
                  </a:lnTo>
                  <a:lnTo>
                    <a:pt x="0" y="37092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5303" r="0" b="-3525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1945600" cy="3709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1"/>
                </a:lnSpc>
              </a:pPr>
              <a:r>
                <a:rPr lang="en-US" sz="38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Diagrama de casos de uso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1467602"/>
            <a:ext cx="7171358" cy="7515245"/>
            <a:chOff x="0" y="0"/>
            <a:chExt cx="11771235" cy="123357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71235" cy="12335699"/>
            </a:xfrm>
            <a:custGeom>
              <a:avLst/>
              <a:gdLst/>
              <a:ahLst/>
              <a:cxnLst/>
              <a:rect r="r" b="b" t="t" l="l"/>
              <a:pathLst>
                <a:path h="12335699" w="11771235">
                  <a:moveTo>
                    <a:pt x="0" y="0"/>
                  </a:moveTo>
                  <a:lnTo>
                    <a:pt x="11771235" y="0"/>
                  </a:lnTo>
                  <a:lnTo>
                    <a:pt x="11771235" y="12335699"/>
                  </a:lnTo>
                  <a:lnTo>
                    <a:pt x="0" y="12335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89" r="0" b="-589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14400" y="397764"/>
            <a:ext cx="14630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MODELAGEM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98480" y="2165985"/>
            <a:ext cx="667512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visitante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698480" y="2600325"/>
            <a:ext cx="6675120" cy="233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 publicações, mapa e detalhes; cria conta e entra.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698480" y="3994785"/>
            <a:ext cx="667512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autenticado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698480" y="4429125"/>
            <a:ext cx="6675120" cy="233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visitante. Publica animal, registra avistamento, troca mensagens, recebe notificações e sugestões, gera cartaz, denuncia e gerencia o perfil.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98480" y="6737985"/>
            <a:ext cx="667512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Administrador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698480" y="7172325"/>
            <a:ext cx="6675120" cy="233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usuário autenticado. Analisa denúncias e modera conteúdo.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550640" y="96240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949440" y="435864"/>
            <a:ext cx="10849947" cy="9751390"/>
          </a:xfrm>
          <a:custGeom>
            <a:avLst/>
            <a:gdLst/>
            <a:ahLst/>
            <a:cxnLst/>
            <a:rect r="r" b="b" t="t" l="l"/>
            <a:pathLst>
              <a:path h="9751390" w="10849947">
                <a:moveTo>
                  <a:pt x="0" y="0"/>
                </a:moveTo>
                <a:lnTo>
                  <a:pt x="10849947" y="0"/>
                </a:lnTo>
                <a:lnTo>
                  <a:pt x="10849947" y="9751390"/>
                </a:lnTo>
                <a:lnTo>
                  <a:pt x="0" y="97513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14400" y="397764"/>
            <a:ext cx="5486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MODELAGEM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914400"/>
            <a:ext cx="603504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Diagrama de classes de domínio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2263140"/>
            <a:ext cx="6035040" cy="51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Usuario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2665476"/>
            <a:ext cx="603504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Conta, autenticação, perfil e preferências de notificação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3451860"/>
            <a:ext cx="6035040" cy="51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Publicacao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3854196"/>
            <a:ext cx="603504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Animal perdido ou encontrado: categoria, espécie, porte, local, situação e ciclo de vida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" y="4640580"/>
            <a:ext cx="6035040" cy="51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Avistamento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5042916"/>
            <a:ext cx="603504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Relato vinculado à publicação: local, data e hora, descrição e foto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" y="5829300"/>
            <a:ext cx="6035040" cy="51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FotoPublicacao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6231636"/>
            <a:ext cx="603504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De 0 a 6 imagens por publicação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" y="7018020"/>
            <a:ext cx="6035040" cy="51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Conversa e Mensagem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7420356"/>
            <a:ext cx="603504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por publicação, sem expor o telefone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" y="8206740"/>
            <a:ext cx="6035040" cy="51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Denuncia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8609076"/>
            <a:ext cx="603504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Denúncia de conteúdo e análise pelo administrador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550640" y="96240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465070"/>
            <a:ext cx="9144000" cy="595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98470"/>
            <a:ext cx="6400800" cy="2419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39740"/>
            <a:ext cx="15544800" cy="113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Arquitetura e design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633210"/>
            <a:ext cx="15544800" cy="73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Tecnologias, nuvem e identidade visual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084992" y="9624060"/>
            <a:ext cx="25963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Tecnologias: uma base de código móvel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14400" y="2665476"/>
            <a:ext cx="4572000" cy="130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Uma base de código para as plataformas móveis; sem benchmark contra o desenvolvimento nativo.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528816" y="2286000"/>
            <a:ext cx="768096" cy="768096"/>
            <a:chOff x="0" y="0"/>
            <a:chExt cx="1024128" cy="1024128"/>
          </a:xfrm>
        </p:grpSpPr>
        <p:sp>
          <p:nvSpPr>
            <p:cNvPr name="Freeform 11" id="11" descr="/tmp/un/ppt/media/image53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412480" y="2286000"/>
            <a:ext cx="768096" cy="768096"/>
            <a:chOff x="0" y="0"/>
            <a:chExt cx="1024128" cy="10241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296144" y="2286000"/>
            <a:ext cx="768096" cy="768096"/>
            <a:chOff x="0" y="0"/>
            <a:chExt cx="1024128" cy="1024128"/>
          </a:xfrm>
        </p:grpSpPr>
        <p:sp>
          <p:nvSpPr>
            <p:cNvPr name="Freeform 15" id="15" descr="/tmp/un/ppt/media/image55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179808" y="2286000"/>
            <a:ext cx="768096" cy="768096"/>
            <a:chOff x="0" y="0"/>
            <a:chExt cx="1024128" cy="10241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063472" y="2286000"/>
            <a:ext cx="768096" cy="768096"/>
            <a:chOff x="0" y="0"/>
            <a:chExt cx="1024128" cy="1024128"/>
          </a:xfrm>
        </p:grpSpPr>
        <p:sp>
          <p:nvSpPr>
            <p:cNvPr name="Freeform 19" id="19" descr="/tmp/un/ppt/media/image57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AutoShape 20" id="20"/>
          <p:cNvSpPr/>
          <p:nvPr/>
        </p:nvSpPr>
        <p:spPr>
          <a:xfrm rot="1980">
            <a:off x="895340" y="3954208"/>
            <a:ext cx="1649731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914400" y="4549140"/>
            <a:ext cx="4572000" cy="130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Menos infraestrutura própria para manter; depende da disponibilidade do provedor.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559536" y="4169664"/>
            <a:ext cx="768096" cy="768096"/>
            <a:chOff x="0" y="0"/>
            <a:chExt cx="1024128" cy="1024128"/>
          </a:xfrm>
        </p:grpSpPr>
        <p:sp>
          <p:nvSpPr>
            <p:cNvPr name="Freeform 23" id="23" descr="/tmp/un/ppt/media/image58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443200" y="4169664"/>
            <a:ext cx="768096" cy="768096"/>
            <a:chOff x="0" y="0"/>
            <a:chExt cx="1024128" cy="10241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923" r="0" b="-192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326864" y="4169664"/>
            <a:ext cx="768096" cy="768096"/>
            <a:chOff x="0" y="0"/>
            <a:chExt cx="1024128" cy="1024128"/>
          </a:xfrm>
        </p:grpSpPr>
        <p:sp>
          <p:nvSpPr>
            <p:cNvPr name="Freeform 27" id="27" descr="/tmp/un/ppt/media/image60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4210528" y="4169664"/>
            <a:ext cx="768096" cy="768096"/>
            <a:chOff x="0" y="0"/>
            <a:chExt cx="1024128" cy="1024128"/>
          </a:xfrm>
        </p:grpSpPr>
        <p:sp>
          <p:nvSpPr>
            <p:cNvPr name="Freeform 29" id="29" descr="/tmp/un/ppt/media/image61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6094192" y="4169664"/>
            <a:ext cx="768096" cy="768096"/>
            <a:chOff x="0" y="0"/>
            <a:chExt cx="1024128" cy="1024128"/>
          </a:xfrm>
        </p:grpSpPr>
        <p:sp>
          <p:nvSpPr>
            <p:cNvPr name="Freeform 31" id="31" descr="/tmp/un/ppt/media/image62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AutoShape 32" id="32"/>
          <p:cNvSpPr/>
          <p:nvPr/>
        </p:nvSpPr>
        <p:spPr>
          <a:xfrm rot="1980">
            <a:off x="895340" y="5837872"/>
            <a:ext cx="1649731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914400" y="6432804"/>
            <a:ext cx="4572000" cy="130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Códigos de cadastro e recuperação de senha e avisos de avistamento.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6528816" y="6053328"/>
            <a:ext cx="768096" cy="768096"/>
            <a:chOff x="0" y="0"/>
            <a:chExt cx="1024128" cy="1024128"/>
          </a:xfrm>
        </p:grpSpPr>
        <p:sp>
          <p:nvSpPr>
            <p:cNvPr name="Freeform 35" id="35" descr="/tmp/un/ppt/media/image63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412480" y="6053328"/>
            <a:ext cx="768096" cy="768096"/>
            <a:chOff x="0" y="0"/>
            <a:chExt cx="1024128" cy="1024128"/>
          </a:xfrm>
        </p:grpSpPr>
        <p:sp>
          <p:nvSpPr>
            <p:cNvPr name="Freeform 37" id="37" descr="/tmp/un/ppt/media/image64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AutoShape 38" id="38"/>
          <p:cNvSpPr/>
          <p:nvPr/>
        </p:nvSpPr>
        <p:spPr>
          <a:xfrm rot="1980">
            <a:off x="895340" y="7721536"/>
            <a:ext cx="1649731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914400" y="8316468"/>
            <a:ext cx="4572000" cy="130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Ferramentas de apoio; IA usada como auxiliar de programação e de conteúdo.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528816" y="7936992"/>
            <a:ext cx="768096" cy="768096"/>
            <a:chOff x="0" y="0"/>
            <a:chExt cx="1024128" cy="1024128"/>
          </a:xfrm>
        </p:grpSpPr>
        <p:sp>
          <p:nvSpPr>
            <p:cNvPr name="Freeform 41" id="41" descr="/tmp/un/ppt/media/image65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412480" y="7936992"/>
            <a:ext cx="768096" cy="768096"/>
            <a:chOff x="0" y="0"/>
            <a:chExt cx="1024128" cy="1024128"/>
          </a:xfrm>
        </p:grpSpPr>
        <p:sp>
          <p:nvSpPr>
            <p:cNvPr name="Freeform 43" id="43" descr="/tmp/un/ppt/media/image66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296144" y="7936992"/>
            <a:ext cx="768096" cy="768096"/>
            <a:chOff x="0" y="0"/>
            <a:chExt cx="1024128" cy="1024128"/>
          </a:xfrm>
        </p:grpSpPr>
        <p:sp>
          <p:nvSpPr>
            <p:cNvPr name="Freeform 45" id="45" descr="/tmp/un/ppt/media/image67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179808" y="7936992"/>
            <a:ext cx="768096" cy="768096"/>
            <a:chOff x="0" y="0"/>
            <a:chExt cx="1024128" cy="102412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4063472" y="7936992"/>
            <a:ext cx="768096" cy="768096"/>
            <a:chOff x="0" y="0"/>
            <a:chExt cx="1024128" cy="102412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5947136" y="7936992"/>
            <a:ext cx="768096" cy="768096"/>
            <a:chOff x="0" y="0"/>
            <a:chExt cx="1024128" cy="1024128"/>
          </a:xfrm>
        </p:grpSpPr>
        <p:sp>
          <p:nvSpPr>
            <p:cNvPr name="Freeform 51" id="51" descr="/tmp/un/ppt/media/image69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914400" y="397764"/>
            <a:ext cx="14630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TECNOLOGIAS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14400" y="2137410"/>
            <a:ext cx="45720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Aplicativo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998464" y="3031236"/>
            <a:ext cx="18288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React Native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882128" y="3031236"/>
            <a:ext cx="18288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Expo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765792" y="3031236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JavaScript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1649456" y="3031236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Maps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3533120" y="3031236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NativeWind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14400" y="4021074"/>
            <a:ext cx="45720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Backend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8029184" y="4914900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Auth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912848" y="4914900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PostgreSQL + RLS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1796512" y="4914900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Storage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680176" y="4914900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Realtime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5563840" y="4914900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Edge Functions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14400" y="5904738"/>
            <a:ext cx="45720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Mensageria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5998464" y="6798564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Evolution API (Render)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7882128" y="6798564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WhatsApp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14400" y="7788402"/>
            <a:ext cx="45720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Apoio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5998464" y="8682228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Git e GitHub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7882128" y="8682228"/>
            <a:ext cx="1828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Trello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9765792" y="8682228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Figma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1649456" y="8682228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Astah UML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3533120" y="8682228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VS Code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5416784" y="8682228"/>
            <a:ext cx="1865376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ChatGPT / Copilot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6550640" y="96240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17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6528816" y="4169664"/>
            <a:ext cx="768096" cy="768096"/>
            <a:chOff x="0" y="0"/>
            <a:chExt cx="1024128" cy="102412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sp>
        <p:nvSpPr>
          <p:cNvPr name="TextBox 85" id="85"/>
          <p:cNvSpPr txBox="true"/>
          <p:nvPr/>
        </p:nvSpPr>
        <p:spPr>
          <a:xfrm rot="0">
            <a:off x="6053328" y="4899660"/>
            <a:ext cx="1828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15809214" y="2359152"/>
            <a:ext cx="1080516" cy="768096"/>
            <a:chOff x="0" y="0"/>
            <a:chExt cx="1440688" cy="102412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44068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440688">
                  <a:moveTo>
                    <a:pt x="0" y="0"/>
                  </a:moveTo>
                  <a:lnTo>
                    <a:pt x="1440688" y="0"/>
                  </a:lnTo>
                  <a:lnTo>
                    <a:pt x="144068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-49647" t="0" r="-49647" b="0"/>
              </a:stretch>
            </a:blipFill>
          </p:spPr>
        </p:sp>
      </p:grpSp>
      <p:sp>
        <p:nvSpPr>
          <p:cNvPr name="TextBox 88" id="88"/>
          <p:cNvSpPr txBox="true"/>
          <p:nvPr/>
        </p:nvSpPr>
        <p:spPr>
          <a:xfrm rot="0">
            <a:off x="15345918" y="3031236"/>
            <a:ext cx="1828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API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14630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ARQUITETURA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Arquitetura em três partes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90588" y="2170748"/>
            <a:ext cx="5899785" cy="6539865"/>
            <a:chOff x="0" y="0"/>
            <a:chExt cx="7866380" cy="87198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66380" cy="8719820"/>
            </a:xfrm>
            <a:custGeom>
              <a:avLst/>
              <a:gdLst/>
              <a:ahLst/>
              <a:cxnLst/>
              <a:rect r="r" b="b" t="t" l="l"/>
              <a:pathLst>
                <a:path h="8719820" w="7866380">
                  <a:moveTo>
                    <a:pt x="0" y="0"/>
                  </a:moveTo>
                  <a:lnTo>
                    <a:pt x="7866380" y="0"/>
                  </a:lnTo>
                  <a:lnTo>
                    <a:pt x="7866380" y="8719820"/>
                  </a:lnTo>
                  <a:lnTo>
                    <a:pt x="0" y="87198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188720" y="2283714"/>
            <a:ext cx="530352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Aplicativo móvel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931468" y="2170748"/>
            <a:ext cx="5351145" cy="6539865"/>
            <a:chOff x="0" y="0"/>
            <a:chExt cx="7134860" cy="87198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34860" cy="8719820"/>
            </a:xfrm>
            <a:custGeom>
              <a:avLst/>
              <a:gdLst/>
              <a:ahLst/>
              <a:cxnLst/>
              <a:rect r="r" b="b" t="t" l="l"/>
              <a:pathLst>
                <a:path h="8719820" w="7134860">
                  <a:moveTo>
                    <a:pt x="0" y="0"/>
                  </a:moveTo>
                  <a:lnTo>
                    <a:pt x="7134860" y="0"/>
                  </a:lnTo>
                  <a:lnTo>
                    <a:pt x="7134860" y="8719820"/>
                  </a:lnTo>
                  <a:lnTo>
                    <a:pt x="0" y="87198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8229600" y="2283714"/>
            <a:ext cx="475488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Nuvem (Supabase)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4423707" y="2170748"/>
            <a:ext cx="2973705" cy="6539865"/>
            <a:chOff x="0" y="0"/>
            <a:chExt cx="3964940" cy="87198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964940" cy="8719820"/>
            </a:xfrm>
            <a:custGeom>
              <a:avLst/>
              <a:gdLst/>
              <a:ahLst/>
              <a:cxnLst/>
              <a:rect r="r" b="b" t="t" l="l"/>
              <a:pathLst>
                <a:path h="8719820" w="3964940">
                  <a:moveTo>
                    <a:pt x="0" y="0"/>
                  </a:moveTo>
                  <a:lnTo>
                    <a:pt x="3964940" y="0"/>
                  </a:lnTo>
                  <a:lnTo>
                    <a:pt x="3964940" y="8719820"/>
                  </a:lnTo>
                  <a:lnTo>
                    <a:pt x="0" y="87198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4721840" y="2283714"/>
            <a:ext cx="237744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Mensageria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88720" y="3108960"/>
            <a:ext cx="621792" cy="621792"/>
            <a:chOff x="0" y="0"/>
            <a:chExt cx="829056" cy="829056"/>
          </a:xfrm>
        </p:grpSpPr>
        <p:sp>
          <p:nvSpPr>
            <p:cNvPr name="Freeform 20" id="20" descr="/tmp/un/ppt/media/image53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956816" y="3108960"/>
            <a:ext cx="1920240" cy="621792"/>
            <a:chOff x="0" y="0"/>
            <a:chExt cx="2560320" cy="8290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956816" y="3073241"/>
            <a:ext cx="1920240" cy="657511"/>
            <a:chOff x="0" y="0"/>
            <a:chExt cx="2560320" cy="87668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956816" y="3037522"/>
            <a:ext cx="1920240" cy="693230"/>
            <a:chOff x="0" y="0"/>
            <a:chExt cx="2560320" cy="92430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73" r="0" b="-397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2560320" cy="971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Native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88720" y="4206240"/>
            <a:ext cx="621792" cy="621792"/>
            <a:chOff x="0" y="0"/>
            <a:chExt cx="829056" cy="829056"/>
          </a:xfrm>
        </p:grpSpPr>
        <p:sp>
          <p:nvSpPr>
            <p:cNvPr name="Freeform 29" id="29" descr="/tmp/un/ppt/media/image54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956816" y="4206240"/>
            <a:ext cx="1920240" cy="621792"/>
            <a:chOff x="0" y="0"/>
            <a:chExt cx="2560320" cy="8290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956816" y="4170521"/>
            <a:ext cx="1920240" cy="657511"/>
            <a:chOff x="0" y="0"/>
            <a:chExt cx="2560320" cy="87668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956816" y="4134803"/>
            <a:ext cx="1920240" cy="693230"/>
            <a:chOff x="0" y="0"/>
            <a:chExt cx="2560320" cy="92430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73" r="0" b="-397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2560320" cy="971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Expo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88720" y="5303520"/>
            <a:ext cx="621792" cy="621792"/>
            <a:chOff x="0" y="0"/>
            <a:chExt cx="829056" cy="829056"/>
          </a:xfrm>
        </p:grpSpPr>
        <p:sp>
          <p:nvSpPr>
            <p:cNvPr name="Freeform 38" id="38" descr="/tmp/un/ppt/media/image55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956816" y="5303520"/>
            <a:ext cx="1920240" cy="621792"/>
            <a:chOff x="0" y="0"/>
            <a:chExt cx="2560320" cy="82905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956816" y="5267801"/>
            <a:ext cx="1920240" cy="657511"/>
            <a:chOff x="0" y="0"/>
            <a:chExt cx="2560320" cy="8766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956816" y="5232082"/>
            <a:ext cx="1920240" cy="693230"/>
            <a:chOff x="0" y="0"/>
            <a:chExt cx="2560320" cy="92430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73" r="0" b="-397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2560320" cy="971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JavaScript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3931920" y="6401562"/>
            <a:ext cx="621792" cy="621792"/>
            <a:chOff x="0" y="0"/>
            <a:chExt cx="829056" cy="829056"/>
          </a:xfrm>
        </p:grpSpPr>
        <p:sp>
          <p:nvSpPr>
            <p:cNvPr name="Freeform 47" id="47" descr="/tmp/un/ppt/media/image70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4700016" y="6401562"/>
            <a:ext cx="1920240" cy="621792"/>
            <a:chOff x="0" y="0"/>
            <a:chExt cx="2560320" cy="82905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700016" y="6365843"/>
            <a:ext cx="1920240" cy="657511"/>
            <a:chOff x="0" y="0"/>
            <a:chExt cx="2560320" cy="87668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4700016" y="6330125"/>
            <a:ext cx="1920240" cy="693230"/>
            <a:chOff x="0" y="0"/>
            <a:chExt cx="2560320" cy="92430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73" r="0" b="-397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2560320" cy="971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GPS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88720" y="7498080"/>
            <a:ext cx="621792" cy="621792"/>
            <a:chOff x="0" y="0"/>
            <a:chExt cx="829056" cy="829056"/>
          </a:xfrm>
        </p:grpSpPr>
        <p:sp>
          <p:nvSpPr>
            <p:cNvPr name="Freeform 56" id="56" descr="/tmp/un/ppt/media/image56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956816" y="7498080"/>
            <a:ext cx="1920240" cy="621792"/>
            <a:chOff x="0" y="0"/>
            <a:chExt cx="2560320" cy="8290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956816" y="7462361"/>
            <a:ext cx="1920240" cy="657511"/>
            <a:chOff x="0" y="0"/>
            <a:chExt cx="2560320" cy="87668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956816" y="7426643"/>
            <a:ext cx="1920240" cy="693230"/>
            <a:chOff x="0" y="0"/>
            <a:chExt cx="2560320" cy="92430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73" r="0" b="-3973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2560320" cy="971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Mapa interativo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3931920" y="3108960"/>
            <a:ext cx="621792" cy="621792"/>
            <a:chOff x="0" y="0"/>
            <a:chExt cx="829056" cy="829056"/>
          </a:xfrm>
        </p:grpSpPr>
        <p:sp>
          <p:nvSpPr>
            <p:cNvPr name="Freeform 65" id="65" descr="/tmp/un/ppt/media/image71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4700016" y="3108960"/>
            <a:ext cx="1920240" cy="621792"/>
            <a:chOff x="0" y="0"/>
            <a:chExt cx="2560320" cy="82905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4700016" y="3073241"/>
            <a:ext cx="1920240" cy="657511"/>
            <a:chOff x="0" y="0"/>
            <a:chExt cx="2560320" cy="87668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4700016" y="3037522"/>
            <a:ext cx="1920240" cy="693230"/>
            <a:chOff x="0" y="0"/>
            <a:chExt cx="2560320" cy="92430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73" r="0" b="-3973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2560320" cy="971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Câmera e galeria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3931920" y="4206240"/>
            <a:ext cx="621792" cy="621792"/>
            <a:chOff x="0" y="0"/>
            <a:chExt cx="829056" cy="829056"/>
          </a:xfrm>
        </p:grpSpPr>
        <p:sp>
          <p:nvSpPr>
            <p:cNvPr name="Freeform 74" id="74" descr="/tmp/un/ppt/media/image7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0016" y="4206240"/>
            <a:ext cx="1920240" cy="621792"/>
            <a:chOff x="0" y="0"/>
            <a:chExt cx="2560320" cy="82905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4700016" y="4170521"/>
            <a:ext cx="1920240" cy="657511"/>
            <a:chOff x="0" y="0"/>
            <a:chExt cx="2560320" cy="87668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4700016" y="4134803"/>
            <a:ext cx="1920240" cy="693230"/>
            <a:chOff x="0" y="0"/>
            <a:chExt cx="2560320" cy="92430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73" r="0" b="-397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2560320" cy="971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Notificações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3931920" y="5303520"/>
            <a:ext cx="621792" cy="621792"/>
            <a:chOff x="0" y="0"/>
            <a:chExt cx="829056" cy="829056"/>
          </a:xfrm>
        </p:grpSpPr>
        <p:sp>
          <p:nvSpPr>
            <p:cNvPr name="Freeform 83" id="83" descr="/tmp/un/ppt/media/image73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4700016" y="5303520"/>
            <a:ext cx="1920240" cy="621792"/>
            <a:chOff x="0" y="0"/>
            <a:chExt cx="2560320" cy="82905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4700016" y="5267801"/>
            <a:ext cx="1920240" cy="657511"/>
            <a:chOff x="0" y="0"/>
            <a:chExt cx="2560320" cy="87668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4700016" y="5232082"/>
            <a:ext cx="1920240" cy="693230"/>
            <a:chOff x="0" y="0"/>
            <a:chExt cx="2560320" cy="92430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73" r="0" b="-3973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47625"/>
              <a:ext cx="2560320" cy="971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Cartaz com QR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188720" y="6401562"/>
            <a:ext cx="621792" cy="621792"/>
            <a:chOff x="0" y="0"/>
            <a:chExt cx="829056" cy="829056"/>
          </a:xfrm>
        </p:grpSpPr>
        <p:sp>
          <p:nvSpPr>
            <p:cNvPr name="Freeform 92" id="92" descr="/tmp/un/ppt/media/image74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956816" y="6401562"/>
            <a:ext cx="1920240" cy="621792"/>
            <a:chOff x="0" y="0"/>
            <a:chExt cx="2560320" cy="82905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956816" y="6365843"/>
            <a:ext cx="1920240" cy="657511"/>
            <a:chOff x="0" y="0"/>
            <a:chExt cx="2560320" cy="87668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956816" y="6330125"/>
            <a:ext cx="1920240" cy="693230"/>
            <a:chOff x="0" y="0"/>
            <a:chExt cx="2560320" cy="92430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73" r="0" b="-3973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2560320" cy="971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 Google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8229600" y="3182112"/>
            <a:ext cx="621792" cy="621792"/>
            <a:chOff x="0" y="0"/>
            <a:chExt cx="829056" cy="829056"/>
          </a:xfrm>
        </p:grpSpPr>
        <p:sp>
          <p:nvSpPr>
            <p:cNvPr name="Freeform 101" id="101" descr="/tmp/un/ppt/media/image75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102" id="102"/>
          <p:cNvSpPr txBox="true"/>
          <p:nvPr/>
        </p:nvSpPr>
        <p:spPr>
          <a:xfrm rot="0">
            <a:off x="9052560" y="2966085"/>
            <a:ext cx="4023360" cy="54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Supabase Auth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9052560" y="3396996"/>
            <a:ext cx="402336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login, sessão e Google (OAuth)</a:t>
            </a:r>
          </a:p>
        </p:txBody>
      </p:sp>
      <p:grpSp>
        <p:nvGrpSpPr>
          <p:cNvPr name="Group 104" id="104"/>
          <p:cNvGrpSpPr/>
          <p:nvPr/>
        </p:nvGrpSpPr>
        <p:grpSpPr>
          <a:xfrm rot="0">
            <a:off x="8229600" y="4279392"/>
            <a:ext cx="621792" cy="621792"/>
            <a:chOff x="0" y="0"/>
            <a:chExt cx="829056" cy="82905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1922" r="0" b="-1924"/>
              </a:stretch>
            </a:blipFill>
          </p:spPr>
        </p:sp>
      </p:grpSp>
      <p:sp>
        <p:nvSpPr>
          <p:cNvPr name="TextBox 106" id="106"/>
          <p:cNvSpPr txBox="true"/>
          <p:nvPr/>
        </p:nvSpPr>
        <p:spPr>
          <a:xfrm rot="0">
            <a:off x="9052560" y="4063365"/>
            <a:ext cx="4023360" cy="54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PostgreSQL + RLS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9052560" y="4494276"/>
            <a:ext cx="402336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dados e controle de acesso</a:t>
            </a:r>
          </a:p>
        </p:txBody>
      </p:sp>
      <p:grpSp>
        <p:nvGrpSpPr>
          <p:cNvPr name="Group 108" id="108"/>
          <p:cNvGrpSpPr/>
          <p:nvPr/>
        </p:nvGrpSpPr>
        <p:grpSpPr>
          <a:xfrm rot="0">
            <a:off x="8229600" y="5376672"/>
            <a:ext cx="621792" cy="621792"/>
            <a:chOff x="0" y="0"/>
            <a:chExt cx="829056" cy="829056"/>
          </a:xfrm>
        </p:grpSpPr>
        <p:sp>
          <p:nvSpPr>
            <p:cNvPr name="Freeform 109" id="109" descr="/tmp/un/ppt/media/image60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110" id="110"/>
          <p:cNvSpPr txBox="true"/>
          <p:nvPr/>
        </p:nvSpPr>
        <p:spPr>
          <a:xfrm rot="0">
            <a:off x="9052560" y="5160645"/>
            <a:ext cx="4023360" cy="54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Storage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9052560" y="5591556"/>
            <a:ext cx="402336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armazenamento de imagens</a:t>
            </a:r>
          </a:p>
        </p:txBody>
      </p:sp>
      <p:grpSp>
        <p:nvGrpSpPr>
          <p:cNvPr name="Group 112" id="112"/>
          <p:cNvGrpSpPr/>
          <p:nvPr/>
        </p:nvGrpSpPr>
        <p:grpSpPr>
          <a:xfrm rot="0">
            <a:off x="8229600" y="6473952"/>
            <a:ext cx="621792" cy="621792"/>
            <a:chOff x="0" y="0"/>
            <a:chExt cx="829056" cy="829056"/>
          </a:xfrm>
        </p:grpSpPr>
        <p:sp>
          <p:nvSpPr>
            <p:cNvPr name="Freeform 113" id="113" descr="/tmp/un/ppt/media/image61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114" id="114"/>
          <p:cNvSpPr txBox="true"/>
          <p:nvPr/>
        </p:nvSpPr>
        <p:spPr>
          <a:xfrm rot="0">
            <a:off x="9052560" y="6257925"/>
            <a:ext cx="4023360" cy="54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Realtime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9052560" y="6688836"/>
            <a:ext cx="402336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atualizações em tempo real</a:t>
            </a:r>
          </a:p>
        </p:txBody>
      </p:sp>
      <p:grpSp>
        <p:nvGrpSpPr>
          <p:cNvPr name="Group 116" id="116"/>
          <p:cNvGrpSpPr/>
          <p:nvPr/>
        </p:nvGrpSpPr>
        <p:grpSpPr>
          <a:xfrm rot="0">
            <a:off x="8229600" y="7571232"/>
            <a:ext cx="621792" cy="621792"/>
            <a:chOff x="0" y="0"/>
            <a:chExt cx="829056" cy="829056"/>
          </a:xfrm>
        </p:grpSpPr>
        <p:sp>
          <p:nvSpPr>
            <p:cNvPr name="Freeform 117" id="117" descr="/tmp/un/ppt/media/image6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118" id="118"/>
          <p:cNvSpPr txBox="true"/>
          <p:nvPr/>
        </p:nvSpPr>
        <p:spPr>
          <a:xfrm rot="0">
            <a:off x="9052560" y="7355205"/>
            <a:ext cx="4023360" cy="54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Edge Functions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9052560" y="7786116"/>
            <a:ext cx="402336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guardam chaves de serviços externos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14721840" y="4520565"/>
            <a:ext cx="2560320" cy="54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Evolution API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14721840" y="4951476"/>
            <a:ext cx="256032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hospedada no Render</a:t>
            </a:r>
          </a:p>
        </p:txBody>
      </p:sp>
      <p:grpSp>
        <p:nvGrpSpPr>
          <p:cNvPr name="Group 122" id="122"/>
          <p:cNvGrpSpPr/>
          <p:nvPr/>
        </p:nvGrpSpPr>
        <p:grpSpPr>
          <a:xfrm rot="0">
            <a:off x="14721840" y="5852160"/>
            <a:ext cx="731520" cy="731520"/>
            <a:chOff x="0" y="0"/>
            <a:chExt cx="975360" cy="975360"/>
          </a:xfrm>
        </p:grpSpPr>
        <p:sp>
          <p:nvSpPr>
            <p:cNvPr name="Freeform 123" id="123" descr="/tmp/un/ppt/media/image64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sp>
        <p:nvSpPr>
          <p:cNvPr name="TextBox 124" id="124"/>
          <p:cNvSpPr txBox="true"/>
          <p:nvPr/>
        </p:nvSpPr>
        <p:spPr>
          <a:xfrm rot="0">
            <a:off x="14721840" y="6532245"/>
            <a:ext cx="2560320" cy="54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WhatsApp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14721840" y="6963156"/>
            <a:ext cx="256032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envia mensagens</a:t>
            </a:r>
          </a:p>
        </p:txBody>
      </p:sp>
      <p:sp>
        <p:nvSpPr>
          <p:cNvPr name="AutoShape 126" id="126"/>
          <p:cNvSpPr/>
          <p:nvPr/>
        </p:nvSpPr>
        <p:spPr>
          <a:xfrm rot="59760">
            <a:off x="6812766" y="5274945"/>
            <a:ext cx="1096289" cy="0"/>
          </a:xfrm>
          <a:prstGeom prst="line">
            <a:avLst/>
          </a:prstGeom>
          <a:ln cap="rnd" w="19050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27" id="127"/>
          <p:cNvSpPr txBox="true"/>
          <p:nvPr/>
        </p:nvSpPr>
        <p:spPr>
          <a:xfrm rot="0">
            <a:off x="6675120" y="4549140"/>
            <a:ext cx="13716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</a:t>
            </a:r>
          </a:p>
        </p:txBody>
      </p:sp>
      <p:sp>
        <p:nvSpPr>
          <p:cNvPr name="AutoShape 128" id="128"/>
          <p:cNvSpPr/>
          <p:nvPr/>
        </p:nvSpPr>
        <p:spPr>
          <a:xfrm rot="59760">
            <a:off x="13305006" y="5274945"/>
            <a:ext cx="1096289" cy="0"/>
          </a:xfrm>
          <a:prstGeom prst="line">
            <a:avLst/>
          </a:prstGeom>
          <a:ln cap="rnd" w="19050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29" id="129"/>
          <p:cNvSpPr txBox="true"/>
          <p:nvPr/>
        </p:nvSpPr>
        <p:spPr>
          <a:xfrm rot="0">
            <a:off x="13167360" y="4549140"/>
            <a:ext cx="13716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HTTPS/API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6550640" y="96240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</a:t>
            </a:r>
          </a:p>
        </p:txBody>
      </p:sp>
      <p:grpSp>
        <p:nvGrpSpPr>
          <p:cNvPr name="Group 131" id="13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5087600" y="4005072"/>
            <a:ext cx="731520" cy="731520"/>
            <a:chOff x="0" y="0"/>
            <a:chExt cx="975360" cy="97536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4545" r="0" b="-4545"/>
              </a:stretch>
            </a:blip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15087600" y="5687568"/>
            <a:ext cx="329184" cy="329184"/>
            <a:chOff x="0" y="0"/>
            <a:chExt cx="438912" cy="438912"/>
          </a:xfrm>
        </p:grpSpPr>
        <p:sp>
          <p:nvSpPr>
            <p:cNvPr name="Freeform 141" id="141" descr="/tmp/un/ppt/media/image72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14630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DESIGN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Identidade visual: encontrar em conjunto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37360" y="2560320"/>
            <a:ext cx="4754880" cy="4608576"/>
            <a:chOff x="0" y="0"/>
            <a:chExt cx="6339840" cy="6144768"/>
          </a:xfrm>
        </p:grpSpPr>
        <p:sp>
          <p:nvSpPr>
            <p:cNvPr name="Freeform 11" id="11" descr="/tmp/un/ppt/media/image37.png"/>
            <p:cNvSpPr/>
            <p:nvPr/>
          </p:nvSpPr>
          <p:spPr>
            <a:xfrm flipH="false" flipV="false" rot="0">
              <a:off x="0" y="0"/>
              <a:ext cx="6339840" cy="6144768"/>
            </a:xfrm>
            <a:custGeom>
              <a:avLst/>
              <a:gdLst/>
              <a:ahLst/>
              <a:cxnLst/>
              <a:rect r="r" b="b" t="t" l="l"/>
              <a:pathLst>
                <a:path h="614476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144768"/>
                  </a:lnTo>
                  <a:lnTo>
                    <a:pt x="0" y="6144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80160" y="7863288"/>
            <a:ext cx="566928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nós     </a:t>
            </a:r>
            <a:r>
              <a:rPr lang="en-US" sz="26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Find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encontrar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8702040"/>
            <a:ext cx="6400800" cy="93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Cão e gato em volta de um pin de localização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550640" y="96240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19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969447" y="6833740"/>
            <a:ext cx="2942863" cy="104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8"/>
              </a:lnSpc>
            </a:pPr>
            <a:r>
              <a:rPr lang="en-US" b="true" sz="5553" spc="52">
                <a:solidFill>
                  <a:srgbClr val="B57645"/>
                </a:solidFill>
                <a:latin typeface="Roboto Bold"/>
                <a:ea typeface="Roboto Bold"/>
                <a:cs typeface="Roboto Bold"/>
                <a:sym typeface="Roboto Bold"/>
              </a:rPr>
              <a:t>We</a:t>
            </a:r>
            <a:r>
              <a:rPr lang="en-US" b="true" sz="5553" spc="52">
                <a:solidFill>
                  <a:srgbClr val="3C5D40"/>
                </a:solidFill>
                <a:latin typeface="Roboto Bold"/>
                <a:ea typeface="Roboto Bold"/>
                <a:cs typeface="Roboto Bold"/>
                <a:sym typeface="Roboto Bold"/>
              </a:rPr>
              <a:t>FIND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397115" y="2324576"/>
            <a:ext cx="3218593" cy="2249996"/>
            <a:chOff x="0" y="0"/>
            <a:chExt cx="4291457" cy="299999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7407116" y="4533128"/>
            <a:ext cx="3218659" cy="64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Primária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07116" y="4991700"/>
            <a:ext cx="3218659" cy="572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#2E5634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802464" y="2324576"/>
            <a:ext cx="3218593" cy="2249996"/>
            <a:chOff x="0" y="0"/>
            <a:chExt cx="4291457" cy="299999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B1734A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0812466" y="4533128"/>
            <a:ext cx="3218659" cy="64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Secundária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812466" y="4991700"/>
            <a:ext cx="3218659" cy="572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#B1734A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4207804" y="2324576"/>
            <a:ext cx="3218593" cy="2249996"/>
            <a:chOff x="0" y="0"/>
            <a:chExt cx="4291457" cy="299999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E67E22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4217806" y="4533128"/>
            <a:ext cx="3218659" cy="64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Perdido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217806" y="4991700"/>
            <a:ext cx="3218659" cy="572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#E67E22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397115" y="5849998"/>
            <a:ext cx="3218593" cy="2249996"/>
            <a:chOff x="0" y="0"/>
            <a:chExt cx="4291457" cy="299999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7407116" y="8058550"/>
            <a:ext cx="3218659" cy="64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Encontrado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407116" y="8517122"/>
            <a:ext cx="3218659" cy="572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#16A34A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0802464" y="5849998"/>
            <a:ext cx="3218593" cy="2249996"/>
            <a:chOff x="0" y="0"/>
            <a:chExt cx="4291457" cy="299999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BE185D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0812466" y="8058550"/>
            <a:ext cx="3218659" cy="64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Adoção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812466" y="8517122"/>
            <a:ext cx="3218659" cy="572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#BE185D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4207804" y="5849998"/>
            <a:ext cx="3218593" cy="2249996"/>
            <a:chOff x="0" y="0"/>
            <a:chExt cx="4291457" cy="299999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D4AC0D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4217806" y="8058550"/>
            <a:ext cx="3218659" cy="64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217806" y="8517122"/>
            <a:ext cx="3218659" cy="572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#D4AC0D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 aplicativo em quatro telas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5920" y="2103120"/>
            <a:ext cx="3163824" cy="7040880"/>
            <a:chOff x="0" y="0"/>
            <a:chExt cx="4218432" cy="93878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18432" cy="9387840"/>
            </a:xfrm>
            <a:custGeom>
              <a:avLst/>
              <a:gdLst/>
              <a:ahLst/>
              <a:cxnLst/>
              <a:rect r="r" b="b" t="t" l="l"/>
              <a:pathLst>
                <a:path h="9387840" w="4218432">
                  <a:moveTo>
                    <a:pt x="0" y="0"/>
                  </a:moveTo>
                  <a:lnTo>
                    <a:pt x="4218432" y="0"/>
                  </a:lnTo>
                  <a:lnTo>
                    <a:pt x="4218432" y="9387840"/>
                  </a:lnTo>
                  <a:lnTo>
                    <a:pt x="0" y="938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2" t="0" r="-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80160" y="9001125"/>
            <a:ext cx="389534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sz="21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Tela inicial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669280" y="2103120"/>
            <a:ext cx="3163824" cy="7040880"/>
            <a:chOff x="0" y="0"/>
            <a:chExt cx="4218432" cy="9387840"/>
          </a:xfrm>
        </p:grpSpPr>
        <p:sp>
          <p:nvSpPr>
            <p:cNvPr name="Freeform 13" id="13" descr="/tmp/un/ppt/media/image39.jpeg"/>
            <p:cNvSpPr/>
            <p:nvPr/>
          </p:nvSpPr>
          <p:spPr>
            <a:xfrm flipH="false" flipV="false" rot="0">
              <a:off x="0" y="0"/>
              <a:ext cx="4218432" cy="9387840"/>
            </a:xfrm>
            <a:custGeom>
              <a:avLst/>
              <a:gdLst/>
              <a:ahLst/>
              <a:cxnLst/>
              <a:rect r="r" b="b" t="t" l="l"/>
              <a:pathLst>
                <a:path h="9387840" w="4218432">
                  <a:moveTo>
                    <a:pt x="0" y="0"/>
                  </a:moveTo>
                  <a:lnTo>
                    <a:pt x="4218432" y="0"/>
                  </a:lnTo>
                  <a:lnTo>
                    <a:pt x="4218432" y="9387840"/>
                  </a:lnTo>
                  <a:lnTo>
                    <a:pt x="0" y="938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98" t="0" r="-97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303520" y="9001125"/>
            <a:ext cx="389534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sz="21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Mapa interativo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694164" y="2103120"/>
            <a:ext cx="3162300" cy="7040880"/>
            <a:chOff x="0" y="0"/>
            <a:chExt cx="4216400" cy="9387840"/>
          </a:xfrm>
        </p:grpSpPr>
        <p:sp>
          <p:nvSpPr>
            <p:cNvPr name="Freeform 16" id="16" descr="/tmp/un/ppt/media/image40.jpeg"/>
            <p:cNvSpPr/>
            <p:nvPr/>
          </p:nvSpPr>
          <p:spPr>
            <a:xfrm flipH="false" flipV="false" rot="0">
              <a:off x="0" y="0"/>
              <a:ext cx="4216400" cy="9387840"/>
            </a:xfrm>
            <a:custGeom>
              <a:avLst/>
              <a:gdLst/>
              <a:ahLst/>
              <a:cxnLst/>
              <a:rect r="r" b="b" t="t" l="l"/>
              <a:pathLst>
                <a:path h="9387840" w="4216400">
                  <a:moveTo>
                    <a:pt x="0" y="0"/>
                  </a:moveTo>
                  <a:lnTo>
                    <a:pt x="4216400" y="0"/>
                  </a:lnTo>
                  <a:lnTo>
                    <a:pt x="4216400" y="9387840"/>
                  </a:lnTo>
                  <a:lnTo>
                    <a:pt x="0" y="938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22" t="0" r="-121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752576" y="2103120"/>
            <a:ext cx="3163824" cy="7040880"/>
            <a:chOff x="0" y="0"/>
            <a:chExt cx="4218432" cy="9387840"/>
          </a:xfrm>
        </p:grpSpPr>
        <p:sp>
          <p:nvSpPr>
            <p:cNvPr name="Freeform 18" id="18" descr="/tmp/un/ppt/media/image41.jpeg"/>
            <p:cNvSpPr/>
            <p:nvPr/>
          </p:nvSpPr>
          <p:spPr>
            <a:xfrm flipH="false" flipV="false" rot="6000">
              <a:off x="-8189" y="-3674"/>
              <a:ext cx="4234810" cy="9395188"/>
            </a:xfrm>
            <a:custGeom>
              <a:avLst/>
              <a:gdLst/>
              <a:ahLst/>
              <a:cxnLst/>
              <a:rect r="r" b="b" t="t" l="l"/>
              <a:pathLst>
                <a:path h="9395188" w="4234810">
                  <a:moveTo>
                    <a:pt x="0" y="7362"/>
                  </a:moveTo>
                  <a:lnTo>
                    <a:pt x="4218425" y="0"/>
                  </a:lnTo>
                  <a:lnTo>
                    <a:pt x="4234810" y="9387826"/>
                  </a:lnTo>
                  <a:lnTo>
                    <a:pt x="16385" y="9395188"/>
                  </a:lnTo>
                  <a:lnTo>
                    <a:pt x="0" y="7362"/>
                  </a:lnTo>
                  <a:close/>
                </a:path>
              </a:pathLst>
            </a:custGeom>
            <a:blipFill>
              <a:blip r:embed="rId8"/>
              <a:stretch>
                <a:fillRect l="-1702" t="0" r="-3201" b="-5022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14400" y="397764"/>
            <a:ext cx="14630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DESIGN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26880" y="9001125"/>
            <a:ext cx="389534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sz="21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Publicar animal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350240" y="9001125"/>
            <a:ext cx="389534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sz="21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Detalhes da publicação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550640" y="96240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465070"/>
            <a:ext cx="9144000" cy="595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98470"/>
            <a:ext cx="6400800" cy="2419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39740"/>
            <a:ext cx="15544800" cy="113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Demonstração e avaliação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633210"/>
            <a:ext cx="15544800" cy="73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Vídeo, segurança e usabilidade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084992" y="9624060"/>
            <a:ext cx="27536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14630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Demonstração do WeFIND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345693" y="2345693"/>
            <a:ext cx="13596652" cy="6555772"/>
            <a:chOff x="0" y="0"/>
            <a:chExt cx="18128869" cy="87410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128869" cy="8741029"/>
            </a:xfrm>
            <a:custGeom>
              <a:avLst/>
              <a:gdLst/>
              <a:ahLst/>
              <a:cxnLst/>
              <a:rect r="r" b="b" t="t" l="l"/>
              <a:pathLst>
                <a:path h="8741029" w="18128869">
                  <a:moveTo>
                    <a:pt x="0" y="0"/>
                  </a:moveTo>
                  <a:lnTo>
                    <a:pt x="18128869" y="0"/>
                  </a:lnTo>
                  <a:lnTo>
                    <a:pt x="18128869" y="8741029"/>
                  </a:lnTo>
                  <a:lnTo>
                    <a:pt x="0" y="87410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9DFD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503920" y="4937760"/>
            <a:ext cx="1280160" cy="1280160"/>
            <a:chOff x="0" y="0"/>
            <a:chExt cx="1706880" cy="1706880"/>
          </a:xfrm>
        </p:grpSpPr>
        <p:sp>
          <p:nvSpPr>
            <p:cNvPr name="Freeform 13" id="13" descr="/tmp/un/ppt/media/image44.png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377440" y="7143750"/>
            <a:ext cx="13533120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Vídeo da demonstração (até 1 min 20 s)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50640" y="96240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22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14630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Três formas de examinar o aplicativo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14400" y="2440305"/>
            <a:ext cx="182880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3811905"/>
            <a:ext cx="51206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Verificação funcional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4429125"/>
            <a:ext cx="4937760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Pelo autor, de 10 a 25/09/2026, no Redmi Note 13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943600" y="2560320"/>
            <a:ext cx="548640" cy="1097280"/>
            <a:chOff x="0" y="0"/>
            <a:chExt cx="731520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943600" y="2467451"/>
            <a:ext cx="548640" cy="1190149"/>
            <a:chOff x="0" y="0"/>
            <a:chExt cx="731520" cy="158686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943600" y="2374583"/>
            <a:ext cx="548640" cy="1283018"/>
            <a:chOff x="0" y="0"/>
            <a:chExt cx="731520" cy="17106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043" t="0" r="-25004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23825"/>
              <a:ext cx="731520" cy="1834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583680" y="2440305"/>
            <a:ext cx="182880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83680" y="3811905"/>
            <a:ext cx="51206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Análise estática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83680" y="4429125"/>
            <a:ext cx="4937760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MobSF 4.5.4, em 14/10/2026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612880" y="2560320"/>
            <a:ext cx="548640" cy="1097280"/>
            <a:chOff x="0" y="0"/>
            <a:chExt cx="73152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612880" y="2467451"/>
            <a:ext cx="548640" cy="1190149"/>
            <a:chOff x="0" y="0"/>
            <a:chExt cx="731520" cy="158686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612880" y="2374583"/>
            <a:ext cx="548640" cy="1283018"/>
            <a:chOff x="0" y="0"/>
            <a:chExt cx="731520" cy="17106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043" t="0" r="-25004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23825"/>
              <a:ext cx="731520" cy="1834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252960" y="2440305"/>
            <a:ext cx="182880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252960" y="3811905"/>
            <a:ext cx="51206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Usabilidade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252960" y="4429125"/>
            <a:ext cx="4937760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12 tutores, 5 tarefas e SUS</a:t>
            </a:r>
          </a:p>
        </p:txBody>
      </p:sp>
      <p:sp>
        <p:nvSpPr>
          <p:cNvPr name="AutoShape 33" id="33"/>
          <p:cNvSpPr/>
          <p:nvPr/>
        </p:nvSpPr>
        <p:spPr>
          <a:xfrm rot="1980">
            <a:off x="895340" y="6569393"/>
            <a:ext cx="16497310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914400" y="6829425"/>
            <a:ext cx="73152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Distribuição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4400" y="7326630"/>
            <a:ext cx="6949440" cy="163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Landing page no GitHub Pages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550640" y="96240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23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14630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TESTES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Segurança: triagem com o MobSF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rot="1980">
            <a:off x="895340" y="3282315"/>
            <a:ext cx="1649731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914400" y="3821430"/>
            <a:ext cx="51206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1 alerta alto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4495800"/>
            <a:ext cx="512064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Instalação em versões antigas do Android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83680" y="3821430"/>
            <a:ext cx="51206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Avisos para revisão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83680" y="4495800"/>
            <a:ext cx="512064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7 no manifesto e 7 no código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52960" y="3821430"/>
            <a:ext cx="51206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Nenhum rastreador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52960" y="4495800"/>
            <a:ext cx="512064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Entre 432 assinaturas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6122670"/>
            <a:ext cx="16459200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Análise estática do APK (MobSF 4.5.4, 14/10/2026): aponta itens para revisão, não vulnerabilidades confirmadas.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550640" y="96240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24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14630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TESTES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MobSF: triagem, não certificação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0241280" cy="34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8"/>
                </a:lnSpc>
              </a:pPr>
              <a:r>
                <a:rPr lang="en-US" sz="159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51/100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144000" y="2623185"/>
            <a:ext cx="822960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Pontuação da ferramenta, não é uma certificação de segurança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0" y="3851910"/>
            <a:ext cx="804672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Os alertas pedem revisão manual; não são vulnerabilidades confirmadas.</a:t>
            </a:r>
          </a:p>
        </p:txBody>
      </p:sp>
      <p:sp>
        <p:nvSpPr>
          <p:cNvPr name="AutoShape 19" id="19"/>
          <p:cNvSpPr/>
          <p:nvPr/>
        </p:nvSpPr>
        <p:spPr>
          <a:xfrm rot="1980">
            <a:off x="895340" y="5472112"/>
            <a:ext cx="1649731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914400" y="6006465"/>
            <a:ext cx="51206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1 alerta alto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6688836"/>
            <a:ext cx="512064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Instalação possível em versões antigas do Android.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83680" y="6006465"/>
            <a:ext cx="51206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Avisos para revisão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583680" y="6688836"/>
            <a:ext cx="512064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7 no manifesto e 7 no código; vários vêm de bibliotecas.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52960" y="6006465"/>
            <a:ext cx="51206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Nenhum rastreador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52960" y="6688836"/>
            <a:ext cx="512064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Entre as 432 assinaturas examinadas.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" y="8726805"/>
            <a:ext cx="16459200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Análise estática do APK em 14/10/2026 (MobSF 4.5.4). Sem teste dinâmico, teste de invasão ou auditoria da infraestrutura.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550640" y="96240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25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475488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TESTES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5840"/>
            <a:ext cx="475488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Usabilidade: SUS com 12 tutores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3108960"/>
            <a:ext cx="4937760" cy="1828800"/>
            <a:chOff x="0" y="0"/>
            <a:chExt cx="6583680" cy="243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836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72" r="0" b="-257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3101816"/>
            <a:ext cx="4937760" cy="1835944"/>
            <a:chOff x="0" y="0"/>
            <a:chExt cx="6583680" cy="24479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83680" cy="2447925"/>
            </a:xfrm>
            <a:custGeom>
              <a:avLst/>
              <a:gdLst/>
              <a:ahLst/>
              <a:cxnLst/>
              <a:rect r="r" b="b" t="t" l="l"/>
              <a:pathLst>
                <a:path h="2447925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47925"/>
                  </a:lnTo>
                  <a:lnTo>
                    <a:pt x="0" y="2447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" r="0" b="-236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3094672"/>
            <a:ext cx="4937760" cy="1843088"/>
            <a:chOff x="0" y="0"/>
            <a:chExt cx="6583680" cy="24574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83680" cy="2457450"/>
            </a:xfrm>
            <a:custGeom>
              <a:avLst/>
              <a:gdLst/>
              <a:ahLst/>
              <a:cxnLst/>
              <a:rect r="r" b="b" t="t" l="l"/>
              <a:pathLst>
                <a:path h="245745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57450"/>
                  </a:lnTo>
                  <a:lnTo>
                    <a:pt x="0" y="2457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01" r="0" b="-22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6583680" cy="2466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439"/>
                </a:lnSpc>
              </a:pPr>
              <a:r>
                <a:rPr lang="en-US" sz="11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93,33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4400" y="4914900"/>
            <a:ext cx="457200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média SUS: grau A+ (a partir de 84,1)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6526530"/>
            <a:ext cx="475488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5 tarefas no aplicativo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7109460"/>
            <a:ext cx="4572000" cy="1394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12 de 12 disseram ter concluído todas com facilidade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83680" y="914400"/>
            <a:ext cx="10789920" cy="6675120"/>
            <a:chOff x="0" y="0"/>
            <a:chExt cx="14386560" cy="8900160"/>
          </a:xfrm>
        </p:grpSpPr>
        <p:sp>
          <p:nvSpPr>
            <p:cNvPr name="Freeform 15" id="15" descr="/tmp/un/ppt/media/image43.png"/>
            <p:cNvSpPr/>
            <p:nvPr/>
          </p:nvSpPr>
          <p:spPr>
            <a:xfrm flipH="false" flipV="false" rot="0">
              <a:off x="0" y="0"/>
              <a:ext cx="14386561" cy="8900160"/>
            </a:xfrm>
            <a:custGeom>
              <a:avLst/>
              <a:gdLst/>
              <a:ahLst/>
              <a:cxnLst/>
              <a:rect r="r" b="b" t="t" l="l"/>
              <a:pathLst>
                <a:path h="890016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8900160"/>
                  </a:lnTo>
                  <a:lnTo>
                    <a:pt x="0" y="890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9" t="0" r="-29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583680" y="8086725"/>
            <a:ext cx="10789920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Escala de Sauro e Lewis (2016). Amostra pequena e conclusão autorrelatada.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24690" y="9624060"/>
            <a:ext cx="25747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26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465070"/>
            <a:ext cx="9144000" cy="595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98470"/>
            <a:ext cx="6400800" cy="2419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39740"/>
            <a:ext cx="155448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Considerações Finais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633210"/>
            <a:ext cx="15544800" cy="73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Entregas, limites e próximos passos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084992" y="9624060"/>
            <a:ext cx="30682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14630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  CONSIDERAÇÕES FINAIS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Considerações finais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14400" y="2137410"/>
            <a:ext cx="512064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Entregue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3120390"/>
            <a:ext cx="5120640" cy="602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Aplicativo WeFIND funcional</a:t>
            </a:r>
          </a:p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Mapa georreferenciado e rota</a:t>
            </a:r>
          </a:p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Avistamentos colaborativos</a:t>
            </a:r>
          </a:p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e cartaz com QR</a:t>
            </a:r>
          </a:p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Correspondências sugeridas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83680" y="2137410"/>
            <a:ext cx="512064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Limites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83680" y="3120390"/>
            <a:ext cx="5120640" cy="602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Protótipo avaliado: não prova mais reencontros</a:t>
            </a:r>
          </a:p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Amostra pequena e conclusão autorrelatada</a:t>
            </a:r>
          </a:p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Segurança só com análise estática</a:t>
            </a:r>
          </a:p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Pesos de correspondência não calibrados</a:t>
            </a:r>
          </a:p>
        </p:txBody>
      </p:sp>
      <p:sp>
        <p:nvSpPr>
          <p:cNvPr name="AutoShape 14" id="14"/>
          <p:cNvSpPr/>
          <p:nvPr/>
        </p:nvSpPr>
        <p:spPr>
          <a:xfrm rot="5395320">
            <a:off x="2743210" y="5654992"/>
            <a:ext cx="697802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2252960" y="2137410"/>
            <a:ext cx="512064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Próximos passos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52960" y="3120390"/>
            <a:ext cx="5120640" cy="602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Calibrar a correspondência com pares revisados</a:t>
            </a:r>
          </a:p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Avaliar IA para comparar fotos</a:t>
            </a:r>
          </a:p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Limpeza global de publicações no backend</a:t>
            </a:r>
          </a:p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Ajustes de usabilidade e nova avaliação</a:t>
            </a:r>
          </a:p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Estudo piloto com casos reais</a:t>
            </a:r>
          </a:p>
        </p:txBody>
      </p:sp>
      <p:sp>
        <p:nvSpPr>
          <p:cNvPr name="AutoShape 17" id="17"/>
          <p:cNvSpPr/>
          <p:nvPr/>
        </p:nvSpPr>
        <p:spPr>
          <a:xfrm rot="5395320">
            <a:off x="8413432" y="5654992"/>
            <a:ext cx="697802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6550640" y="96240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28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03234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796090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788946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Principais referências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550640" y="96240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29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42971" y="2052914"/>
            <a:ext cx="7798470" cy="519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ALERTPET.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Aplicativo e rede de alerta para localização de animais perdidos e encontrados.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https://app.alertpet.com.br/. Acesso em: 31 ago. 2026.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2971" y="2584714"/>
            <a:ext cx="7798470" cy="742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AMSTEL, Frederick van.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Como fazer uma análise de similares.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Usabilidoido, 2024. Disponível em: https://www.usabilidoido.com.br/como_fazer_uma_analise_de_similares.html. Acesso em: 31 ago. 2026.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2971" y="3307928"/>
            <a:ext cx="7798470" cy="742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ASSOCIAÇÃO BRASILEIRA DE NORMAS TÉCNICAS.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ABNT NBR ISO 9241-11: Ergonomia da interação humano-sistema: Parte 11: Usabilidade: Definições e conceitos.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Rio de Janeiro: ABNT, 2021.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2971" y="4041267"/>
            <a:ext cx="7798470" cy="519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BROOKE, John.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SUS: a 'quick and dirty' usability scale.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In: JORDAN, Patrick W. et al. (ed.). Usability evaluation in industry. London: Taylor &amp; Francis, 1996. p. 189–194.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2971" y="4572048"/>
            <a:ext cx="7798470" cy="519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EVOLUTION API.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Evolution API Documentation: the open source API for WhatsApp.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https://evolution-api.com/. Acesso em: 10 set. 2026.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42971" y="5102828"/>
            <a:ext cx="7798470" cy="519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EXPO.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Expo Documentation: tools for creating native Android, iOS, and web apps with React.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https://docs.expo.dev/. Acesso em: 31 ago. 2026.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42971" y="5633609"/>
            <a:ext cx="7798470" cy="29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GIL, Antonio Carlos.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Como elaborar projetos de pesquisa.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7. ed. São Paulo: Atlas, 2022.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42971" y="5971965"/>
            <a:ext cx="7798470" cy="742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INTERNATIONAL ORGANIZATION FOR STANDARDIZATION.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ISO/IEC 25010:2023: Systems and software engineering: Systems and software Quality Requirements and Evaluation (SQuaRE): Product quality model.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Geneva: ISO, 2023.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2971" y="6715430"/>
            <a:ext cx="7798470" cy="519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PAWBOOST.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 power of the PawBoost community: find lost and found pets.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https://www.pawboost.com/. Acesso em: 31 ago. 2026.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2971" y="7246210"/>
            <a:ext cx="7798470" cy="519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PRESSMAN, Roger S.; MAXIM, Bruce R.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Engenharia de software: uma abordagem profissional.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9. ed. Porto Alegre: McGraw-Hill, 2021.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2971" y="7776991"/>
            <a:ext cx="7798470" cy="519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REACT NATIVE.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 framework for building native apps using React.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https://reactnative.dev/. Acesso em: 31 ago. 2026.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346559" y="2573569"/>
            <a:ext cx="7798470" cy="519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SAURO, Jeff; LEWIS, James R.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Quantifying the user experience: practical statistics for user research.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2. ed. Cambridge: Morgan Kaufmann, 2022.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346559" y="4721904"/>
            <a:ext cx="7798470" cy="519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SUPABASE.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 Open Source Firebase Alternative and PostgreSQL Database.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https://supabase.com/docs. Acesso em: 31 ago. 2026.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346559" y="7199509"/>
            <a:ext cx="7798470" cy="519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VIU MEU PET.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Plataforma nacional de busca, divulgação e localização de animais perdidos.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https://www.viumeupet.com.br/. Acesso em: 31 ago. 2026.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346559" y="7730290"/>
            <a:ext cx="7798470" cy="742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W3C.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Web Content Accessibility Guidelines (WCAG) 2.2: W3C Recommendation.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World Wide Web Consortium, 2023. Disponível em: https://www.w3.org/TR/WCAG22/. Acesso em: 10 set. 2025.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346559" y="6486420"/>
            <a:ext cx="7798470" cy="742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VALENTE, Marco Tulio. 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Engenharia de software moderna: princípios e práticas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para desenvolvimento de software com produtividade. Belo Horizonte: Edição do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Autor, 2023. Disponível em: https://engsoftmoderna.info/. Acesso em: 07 set. 2026.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46559" y="5773341"/>
            <a:ext cx="7798470" cy="742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UOL. 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ONGs resgatam animais em enchentes no RS e mobilizam voluntários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para acolhimento e reencontros. UOL Notícias, Porto Alegre, 10 maio 2024.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Disponível em: https://noticias.uol.com.br/. Acesso em: 31 ago. 2026.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346559" y="5252685"/>
            <a:ext cx="7798470" cy="519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TRELLO. 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Gerenciamento de projetos com quadros Kanban e listas visuais.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Atlassian, 2026. Disponível em: https://trello.com/. Acesso em: 31 ago. 2026.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346559" y="3623958"/>
            <a:ext cx="7798470" cy="1187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SOUZA, Francisco Carlos M. et al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. FugaPet-Rotas: um algoritmo inteligente para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recomendação de rotas visando buscar animais desaparecidos. In: CONGRESSO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BRASILEIRO DE SOFTWARE (CBSoft). Porto Alegre: Sociedade Brasileira de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Computação, 2022. p. 1–10. Disponível em: https://sol.sbc.org.br/. Acesso em: 07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set. 2026.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346559" y="3102292"/>
            <a:ext cx="7798470" cy="519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SOMMERVILLE, Ian. 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Engenharia de software. 10. ed. São Paulo: Pearson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Education do Brasil, 2019.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346559" y="2052914"/>
            <a:ext cx="7798470" cy="519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ROGERS, Yvonne; SHARP, Helen; PREECE, Jennifer. 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Design de interação: além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da interação humano-computador. 5. ed. Porto Alegre: Bookman, 2023.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42971" y="8307772"/>
            <a:ext cx="7798470" cy="519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RENDER. Cloud Application Hosting for Developers: unified cloud platform. 2026.</a:t>
            </a:r>
          </a:p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Disponível em: https://render.com/. Acesso em: 10 set. 2026.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72400" y="1952149"/>
            <a:ext cx="2743200" cy="2651760"/>
            <a:chOff x="0" y="0"/>
            <a:chExt cx="3657600" cy="3535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7600" cy="3535680"/>
            </a:xfrm>
            <a:custGeom>
              <a:avLst/>
              <a:gdLst/>
              <a:ahLst/>
              <a:cxnLst/>
              <a:rect r="r" b="b" t="t" l="l"/>
              <a:pathLst>
                <a:path h="3535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535680"/>
                  </a:lnTo>
                  <a:lnTo>
                    <a:pt x="0" y="3535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24" r="0" b="-172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28800" y="5274945"/>
            <a:ext cx="14630400" cy="149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8"/>
              </a:lnSpc>
            </a:pPr>
            <a:r>
              <a:rPr lang="en-US" sz="8799" b="true">
                <a:solidFill>
                  <a:srgbClr val="1B2A1F"/>
                </a:solidFill>
                <a:latin typeface="Cambria Bold"/>
                <a:ea typeface="Cambria Bold"/>
                <a:cs typeface="Cambria Bold"/>
                <a:sym typeface="Cambria Bold"/>
              </a:rPr>
              <a:t>Obrigado!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28800" y="6686550"/>
            <a:ext cx="14630400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Fico à disposição para perguntas e comentários.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28800" y="7846695"/>
            <a:ext cx="14630400" cy="74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7"/>
              </a:lnSpc>
            </a:pPr>
            <a:r>
              <a:rPr lang="en-US" sz="27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Luis Henrique Fonseca Victoria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" y="8543925"/>
            <a:ext cx="14630400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sz="21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IFSul Campus Pelotas  |  Curso Superior de Tecnologia em Sistemas para Internet  | 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28800" y="728662"/>
            <a:ext cx="146304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Baixe e teste o WeFIND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DAG8JFa4rfI</dc:identifier>
  <dcterms:modified xsi:type="dcterms:W3CDTF">2011-08-01T06:04:30Z</dcterms:modified>
  <cp:revision>1</cp:revision>
  <dc:title>qualificacao apresentacao tcc - wefind</dc:title>
</cp:coreProperties>
</file>