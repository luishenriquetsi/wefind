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2.svg" ContentType="image/svg+xml"/>
  <Override PartName="/ppt/media/image24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92" r:id="rId49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Cooper BT Bold" charset="1" panose="0208080404030B020404"/>
      <p:regular r:id="rId42"/>
    </p:embeddedFont>
    <p:embeddedFont>
      <p:font typeface="Cooper BT Light" charset="1" panose="0208050304030B020404"/>
      <p:regular r:id="rId43"/>
    </p:embeddedFont>
    <p:embeddedFont>
      <p:font typeface="Cambria Bold" charset="1" panose="02040803050406030204"/>
      <p:regular r:id="rId44"/>
    </p:embeddedFont>
    <p:embeddedFont>
      <p:font typeface="Calibri (MS)" charset="1" panose="020F0502020204030204"/>
      <p:regular r:id="rId45"/>
    </p:embeddedFont>
    <p:embeddedFont>
      <p:font typeface="Calibri (MS) Bold" charset="1" panose="020F0702030404030204"/>
      <p:regular r:id="rId46"/>
    </p:embeddedFont>
    <p:embeddedFont>
      <p:font typeface="Calibri (MS) Italics" charset="1" panose="020F05020202040A0204"/>
      <p:regular r:id="rId47"/>
    </p:embeddedFont>
    <p:embeddedFont>
      <p:font typeface="Roboto Bold" charset="1" panose="02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Participantes</c:v>
                </c:pt>
              </c:strCache>
            </c:strRef>
          </c:tx>
          <c:dPt>
            <c:idx val="0"/>
            <c:spPr>
              <a:solidFill>
                <a:srgbClr val="B1734A"/>
              </a:solidFill>
            </c:spPr>
          </c:dPt>
          <c:dPt>
            <c:idx val="1"/>
            <c:spPr>
              <a:solidFill>
                <a:srgbClr val="B1734A"/>
              </a:solidFill>
            </c:spPr>
          </c:dPt>
          <c:dPt>
            <c:idx val="2"/>
            <c:spPr>
              <a:solidFill>
                <a:srgbClr val="B1734A"/>
              </a:solidFill>
            </c:spPr>
          </c:dPt>
          <c:dPt>
            <c:idx val="3"/>
            <c:spPr>
              <a:solidFill>
                <a:srgbClr val="B1734A"/>
              </a:solidFill>
            </c:spPr>
          </c:dPt>
          <c:dPt>
            <c:idx val="4"/>
            <c:spPr>
              <a:solidFill>
                <a:srgbClr val="2E5634"/>
              </a:solidFill>
            </c:spPr>
          </c:dPt>
          <c:dPt>
            <c:idx val="5"/>
            <c:spPr>
              <a:solidFill>
                <a:srgbClr val="2E5634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700" b="1">
                        <a:solidFill>
                          <a:srgbClr val="1B2A1F"/>
                        </a:solidFill>
                        <a:latin typeface="Calibri"/>
                      </a:rPr>
                      <a:t>18 (37,5%)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700" b="1">
                        <a:solidFill>
                          <a:srgbClr val="1B2A1F"/>
                        </a:solidFill>
                        <a:latin typeface="Calibri"/>
                      </a:rPr>
                      <a:t>21 (43,8%)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700" b="1">
                        <a:solidFill>
                          <a:srgbClr val="1B2A1F"/>
                        </a:solidFill>
                        <a:latin typeface="Calibri"/>
                      </a:rPr>
                      <a:t>24 (50%)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700" b="1">
                        <a:solidFill>
                          <a:srgbClr val="1B2A1F"/>
                        </a:solidFill>
                        <a:latin typeface="Calibri"/>
                      </a:rPr>
                      <a:t>24 (50%)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700" b="1">
                        <a:solidFill>
                          <a:srgbClr val="1B2A1F"/>
                        </a:solidFill>
                        <a:latin typeface="Calibri"/>
                      </a:rPr>
                      <a:t>27 (56,3%)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700" b="1">
                        <a:solidFill>
                          <a:srgbClr val="1B2A1F"/>
                        </a:solidFill>
                        <a:latin typeface="Calibri"/>
                      </a:rPr>
                      <a:t>31 (64,6%)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Golpes ou trotes</c:v>
                </c:pt>
                <c:pt idx="1">
                  <c:v>Falta um mapa com os casos</c:v>
                </c:pt>
                <c:pt idx="2">
                  <c:v>Comentários de pessoas de outras cidades</c:v>
                </c:pt>
                <c:pt idx="3">
                  <c:v>Sem filtro por bairro, espécie ou cor</c:v>
                </c:pt>
                <c:pt idx="4">
                  <c:v>Informações espalhadas em vários grupos</c:v>
                </c:pt>
                <c:pt idx="5">
                  <c:v>Publicação some entre outras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21</c:v>
                </c:pt>
                <c:pt idx="2">
                  <c:v>24</c:v>
                </c:pt>
                <c:pt idx="3">
                  <c:v>24</c:v>
                </c:pt>
                <c:pt idx="4">
                  <c:v>27</c:v>
                </c:pt>
                <c:pt idx="5">
                  <c:v>31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3E8E1"/>
            </a:solidFill>
          </a:ln>
        </c:spPr>
        <c:txPr>
          <a:bodyPr/>
          <a:lstStyle/>
          <a:p>
            <a:pPr>
              <a:defRPr sz="1700">
                <a:solidFill>
                  <a:srgbClr val="1B2A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1B2A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Participantes</c:v>
                </c:pt>
              </c:strCache>
            </c:strRef>
          </c:tx>
          <c:dPt>
            <c:idx val="0"/>
            <c:spPr>
              <a:solidFill>
                <a:srgbClr val="C9D4C6"/>
              </a:solidFill>
            </c:spPr>
          </c:dPt>
          <c:dPt>
            <c:idx val="1"/>
            <c:spPr>
              <a:solidFill>
                <a:srgbClr val="C9D4C6"/>
              </a:solidFill>
            </c:spPr>
          </c:dPt>
          <c:dPt>
            <c:idx val="2"/>
            <c:spPr>
              <a:solidFill>
                <a:srgbClr val="C9D4C6"/>
              </a:solidFill>
            </c:spPr>
          </c:dPt>
          <c:dPt>
            <c:idx val="3"/>
            <c:spPr>
              <a:solidFill>
                <a:srgbClr val="2E5634"/>
              </a:solidFill>
            </c:spPr>
          </c:dPt>
          <c:dPt>
            <c:idx val="4"/>
            <c:spPr>
              <a:solidFill>
                <a:srgbClr val="2E5634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20</c:v>
                </c:pt>
                <c:pt idx="4">
                  <c:v>28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8E1"/>
            </a:solidFill>
          </a:ln>
        </c:spPr>
        <c:txPr>
          <a:bodyPr/>
          <a:lstStyle/>
          <a:p>
            <a:pPr>
              <a:defRPr sz="1600">
                <a:solidFill>
                  <a:srgbClr val="1B2A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B2A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Participantes</c:v>
                </c:pt>
              </c:strCache>
            </c:strRef>
          </c:tx>
          <c:dPt>
            <c:idx val="0"/>
            <c:spPr>
              <a:solidFill>
                <a:srgbClr val="2E5634"/>
              </a:solidFill>
            </c:spPr>
          </c:dPt>
          <c:dPt>
            <c:idx val="1"/>
            <c:spPr>
              <a:solidFill>
                <a:srgbClr val="2E5634"/>
              </a:solidFill>
            </c:spPr>
          </c:dPt>
          <c:dPt>
            <c:idx val="2"/>
            <c:spPr>
              <a:solidFill>
                <a:srgbClr val="2E5634"/>
              </a:solidFill>
            </c:spPr>
          </c:dPt>
          <c:dPt>
            <c:idx val="3"/>
            <c:spPr>
              <a:solidFill>
                <a:srgbClr val="C9D4C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5 (10,4%)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26 (54,2%)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17 (35,4%)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Nada, só o chat</c:v>
                </c:pt>
                <c:pt idx="1">
                  <c:v>Só o bairro</c:v>
                </c:pt>
                <c:pt idx="2">
                  <c:v>Só a rua</c:v>
                </c:pt>
                <c:pt idx="3">
                  <c:v>Endereço completo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26</c:v>
                </c:pt>
                <c:pt idx="2">
                  <c:v>17</c:v>
                </c:pt>
                <c:pt idx="3">
                  <c:v>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3E8E1"/>
            </a:solidFill>
          </a:ln>
        </c:spPr>
        <c:txPr>
          <a:bodyPr/>
          <a:lstStyle/>
          <a:p>
            <a:pPr>
              <a:defRPr sz="1600">
                <a:solidFill>
                  <a:srgbClr val="1B2A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B2A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Participantes</c:v>
                </c:pt>
              </c:strCache>
            </c:strRef>
          </c:tx>
          <c:dPt>
            <c:idx val="0"/>
            <c:spPr>
              <a:solidFill>
                <a:srgbClr val="C9D4C6"/>
              </a:solidFill>
            </c:spPr>
          </c:dPt>
          <c:dPt>
            <c:idx val="1"/>
            <c:spPr>
              <a:solidFill>
                <a:srgbClr val="C9D4C6"/>
              </a:solidFill>
            </c:spPr>
          </c:dPt>
          <c:dPt>
            <c:idx val="2"/>
            <c:spPr>
              <a:solidFill>
                <a:srgbClr val="C9D4C6"/>
              </a:solidFill>
            </c:spPr>
          </c:dPt>
          <c:dPt>
            <c:idx val="3"/>
            <c:spPr>
              <a:solidFill>
                <a:srgbClr val="B1734A"/>
              </a:solidFill>
            </c:spPr>
          </c:dPt>
          <c:dPt>
            <c:idx val="4"/>
            <c:spPr>
              <a:solidFill>
                <a:srgbClr val="B1734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500" b="1">
                        <a:solidFill>
                          <a:srgbClr val="1B2A1F"/>
                        </a:solidFill>
                        <a:latin typeface="Calibri"/>
                      </a:rPr>
                      <a:t>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22</c:v>
                </c:pt>
                <c:pt idx="4">
                  <c:v>20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3E8E1"/>
            </a:solidFill>
          </a:ln>
        </c:spPr>
        <c:txPr>
          <a:bodyPr/>
          <a:lstStyle/>
          <a:p>
            <a:pPr>
              <a:defRPr sz="1600">
                <a:solidFill>
                  <a:srgbClr val="1B2A1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B2A1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png"/><Relationship Id="rId10" Type="http://schemas.openxmlformats.org/officeDocument/2006/relationships/image" Target="../media/image11.svg"/><Relationship Id="rId11" Type="http://schemas.openxmlformats.org/officeDocument/2006/relationships/image" Target="../media/image12.png"/><Relationship Id="rId12" Type="http://schemas.openxmlformats.org/officeDocument/2006/relationships/image" Target="../media/image13.svg"/><Relationship Id="rId13" Type="http://schemas.openxmlformats.org/officeDocument/2006/relationships/image" Target="../media/image14.png"/><Relationship Id="rId14" Type="http://schemas.openxmlformats.org/officeDocument/2006/relationships/image" Target="../media/image15.sv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svg"/><Relationship Id="rId18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20.png"/><Relationship Id="rId9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20.png"/><Relationship Id="rId9" Type="http://schemas.openxmlformats.org/officeDocument/2006/relationships/chart" Target="../charts/chart2.xml"/><Relationship Id="rId10" Type="http://schemas.openxmlformats.org/officeDocument/2006/relationships/chart" Target="../charts/chart3.xml"/><Relationship Id="rId11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21.png"/><Relationship Id="rId10" Type="http://schemas.openxmlformats.org/officeDocument/2006/relationships/image" Target="../media/image22.svg"/><Relationship Id="rId11" Type="http://schemas.openxmlformats.org/officeDocument/2006/relationships/image" Target="../media/image23.png"/><Relationship Id="rId12" Type="http://schemas.openxmlformats.org/officeDocument/2006/relationships/image" Target="../media/image24.sv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31.png"/><Relationship Id="rId9" Type="http://schemas.openxmlformats.org/officeDocument/2006/relationships/image" Target="../media/image32.svg"/><Relationship Id="rId10" Type="http://schemas.openxmlformats.org/officeDocument/2006/relationships/image" Target="../media/image33.png"/><Relationship Id="rId11" Type="http://schemas.openxmlformats.org/officeDocument/2006/relationships/image" Target="../media/image34.sv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svg"/><Relationship Id="rId16" Type="http://schemas.openxmlformats.org/officeDocument/2006/relationships/image" Target="../media/image39.png"/><Relationship Id="rId17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41.png"/><Relationship Id="rId10" Type="http://schemas.openxmlformats.org/officeDocument/2006/relationships/image" Target="../media/image42.svg"/><Relationship Id="rId11" Type="http://schemas.openxmlformats.org/officeDocument/2006/relationships/image" Target="../media/image43.png"/><Relationship Id="rId12" Type="http://schemas.openxmlformats.org/officeDocument/2006/relationships/image" Target="../media/image44.svg"/><Relationship Id="rId13" Type="http://schemas.openxmlformats.org/officeDocument/2006/relationships/image" Target="../media/image45.png"/><Relationship Id="rId14" Type="http://schemas.openxmlformats.org/officeDocument/2006/relationships/image" Target="../media/image46.svg"/><Relationship Id="rId15" Type="http://schemas.openxmlformats.org/officeDocument/2006/relationships/image" Target="../media/image47.png"/><Relationship Id="rId16" Type="http://schemas.openxmlformats.org/officeDocument/2006/relationships/image" Target="../media/image48.svg"/><Relationship Id="rId17" Type="http://schemas.openxmlformats.org/officeDocument/2006/relationships/image" Target="../media/image49.png"/><Relationship Id="rId18" Type="http://schemas.openxmlformats.org/officeDocument/2006/relationships/image" Target="../media/image50.svg"/><Relationship Id="rId19" Type="http://schemas.openxmlformats.org/officeDocument/2006/relationships/image" Target="../media/image51.png"/><Relationship Id="rId20" Type="http://schemas.openxmlformats.org/officeDocument/2006/relationships/image" Target="../media/image52.svg"/><Relationship Id="rId21" Type="http://schemas.openxmlformats.org/officeDocument/2006/relationships/image" Target="../media/image53.png"/><Relationship Id="rId22" Type="http://schemas.openxmlformats.org/officeDocument/2006/relationships/image" Target="../media/image5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image" Target="../media/image26.png"/><Relationship Id="rId18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5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5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58.png"/><Relationship Id="rId9" Type="http://schemas.openxmlformats.org/officeDocument/2006/relationships/image" Target="../media/image74.png"/><Relationship Id="rId10" Type="http://schemas.openxmlformats.org/officeDocument/2006/relationships/image" Target="../media/image60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78.png"/><Relationship Id="rId19" Type="http://schemas.openxmlformats.org/officeDocument/2006/relationships/image" Target="../media/image72.png"/><Relationship Id="rId20" Type="http://schemas.openxmlformats.org/officeDocument/2006/relationships/image" Target="../media/image79.png"/><Relationship Id="rId21" Type="http://schemas.openxmlformats.org/officeDocument/2006/relationships/image" Target="../media/image80.png"/><Relationship Id="rId22" Type="http://schemas.openxmlformats.org/officeDocument/2006/relationships/image" Target="../media/image81.png"/><Relationship Id="rId23" Type="http://schemas.openxmlformats.org/officeDocument/2006/relationships/image" Target="../media/image82.png"/><Relationship Id="rId24" Type="http://schemas.openxmlformats.org/officeDocument/2006/relationships/image" Target="../media/image83.png"/><Relationship Id="rId25" Type="http://schemas.openxmlformats.org/officeDocument/2006/relationships/image" Target="../media/image84.png"/><Relationship Id="rId26" Type="http://schemas.openxmlformats.org/officeDocument/2006/relationships/image" Target="../media/image85.png"/><Relationship Id="rId27" Type="http://schemas.openxmlformats.org/officeDocument/2006/relationships/image" Target="../media/image86.png"/><Relationship Id="rId28" Type="http://schemas.openxmlformats.org/officeDocument/2006/relationships/image" Target="../media/image8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image" Target="../media/image26.png"/><Relationship Id="rId18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image" Target="../media/image26.png"/><Relationship Id="rId18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svg"/><Relationship Id="rId11" Type="http://schemas.openxmlformats.org/officeDocument/2006/relationships/image" Target="../media/image91.png"/><Relationship Id="rId12" Type="http://schemas.openxmlformats.org/officeDocument/2006/relationships/image" Target="../media/image92.svg"/><Relationship Id="rId13" Type="http://schemas.openxmlformats.org/officeDocument/2006/relationships/image" Target="../media/image93.png"/><Relationship Id="rId14" Type="http://schemas.openxmlformats.org/officeDocument/2006/relationships/image" Target="../media/image94.svg"/><Relationship Id="rId15" Type="http://schemas.openxmlformats.org/officeDocument/2006/relationships/image" Target="../media/image95.png"/><Relationship Id="rId16" Type="http://schemas.openxmlformats.org/officeDocument/2006/relationships/image" Target="../media/image96.svg"/><Relationship Id="rId17" Type="http://schemas.openxmlformats.org/officeDocument/2006/relationships/image" Target="../media/image97.png"/><Relationship Id="rId18" Type="http://schemas.openxmlformats.org/officeDocument/2006/relationships/image" Target="../media/image98.svg"/><Relationship Id="rId19" Type="http://schemas.openxmlformats.org/officeDocument/2006/relationships/image" Target="../media/image99.png"/><Relationship Id="rId20" Type="http://schemas.openxmlformats.org/officeDocument/2006/relationships/image" Target="../media/image100.svg"/><Relationship Id="rId21" Type="http://schemas.openxmlformats.org/officeDocument/2006/relationships/image" Target="../media/image101.png"/><Relationship Id="rId22" Type="http://schemas.openxmlformats.org/officeDocument/2006/relationships/image" Target="../media/image102.svg"/><Relationship Id="rId23" Type="http://schemas.openxmlformats.org/officeDocument/2006/relationships/image" Target="../media/image103.png"/><Relationship Id="rId24" Type="http://schemas.openxmlformats.org/officeDocument/2006/relationships/image" Target="../media/image104.svg"/><Relationship Id="rId25" Type="http://schemas.openxmlformats.org/officeDocument/2006/relationships/image" Target="../media/image105.png"/><Relationship Id="rId26" Type="http://schemas.openxmlformats.org/officeDocument/2006/relationships/image" Target="../media/image106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7.jpeg"/><Relationship Id="rId9" Type="http://schemas.openxmlformats.org/officeDocument/2006/relationships/image" Target="../media/image108.jpeg"/><Relationship Id="rId10" Type="http://schemas.openxmlformats.org/officeDocument/2006/relationships/image" Target="../media/image109.jpeg"/><Relationship Id="rId11" Type="http://schemas.openxmlformats.org/officeDocument/2006/relationships/image" Target="../media/image110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827908"/>
            <a:ext cx="15823606" cy="10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28949"/>
            <a:ext cx="13922893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978140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377561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743950"/>
            <a:ext cx="13525500" cy="67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96509"/>
            <a:ext cx="13600671" cy="397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926080" y="2676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26080" y="3153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338560" y="2676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38560" y="3153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2926080" y="4962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926080" y="5439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338560" y="4962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338560" y="5439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2926080" y="7248525"/>
            <a:ext cx="60350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926080" y="7725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649" t="0" r="-55649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243840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11338560" y="7248525"/>
            <a:ext cx="6035040" cy="57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1338560" y="7725156"/>
            <a:ext cx="603504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1148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240" r="0" b="-46923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375761"/>
            <a:ext cx="10972800" cy="447199"/>
            <a:chOff x="0" y="0"/>
            <a:chExt cx="14630400" cy="59626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30400" cy="596265"/>
            </a:xfrm>
            <a:custGeom>
              <a:avLst/>
              <a:gdLst/>
              <a:ahLst/>
              <a:cxnLst/>
              <a:rect r="r" b="b" t="t" l="l"/>
              <a:pathLst>
                <a:path h="5962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96265"/>
                  </a:lnTo>
                  <a:lnTo>
                    <a:pt x="0" y="596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767" r="0" b="-42776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340042"/>
            <a:ext cx="10972800" cy="482918"/>
            <a:chOff x="0" y="0"/>
            <a:chExt cx="14630400" cy="643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643890"/>
            </a:xfrm>
            <a:custGeom>
              <a:avLst/>
              <a:gdLst/>
              <a:ahLst/>
              <a:cxnLst/>
              <a:rect r="r" b="b" t="t" l="l"/>
              <a:pathLst>
                <a:path h="6438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3890"/>
                  </a:lnTo>
                  <a:lnTo>
                    <a:pt x="0" y="6438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429" r="0" b="-39242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04324"/>
            <a:ext cx="10972800" cy="518636"/>
            <a:chOff x="0" y="0"/>
            <a:chExt cx="14630400" cy="6915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691515"/>
            </a:xfrm>
            <a:custGeom>
              <a:avLst/>
              <a:gdLst/>
              <a:ahLst/>
              <a:cxnLst/>
              <a:rect r="r" b="b" t="t" l="l"/>
              <a:pathLst>
                <a:path h="69151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91515"/>
                  </a:lnTo>
                  <a:lnTo>
                    <a:pt x="0" y="691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1959" r="0" b="-36195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268605"/>
            <a:ext cx="10972800" cy="554355"/>
            <a:chOff x="0" y="0"/>
            <a:chExt cx="146304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739140"/>
            </a:xfrm>
            <a:custGeom>
              <a:avLst/>
              <a:gdLst/>
              <a:ahLst/>
              <a:cxnLst/>
              <a:rect r="r" b="b" t="t" l="l"/>
              <a:pathLst>
                <a:path h="7391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415" r="0" b="-33541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232886"/>
            <a:ext cx="10972800" cy="590074"/>
            <a:chOff x="0" y="0"/>
            <a:chExt cx="14630400" cy="7867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786765"/>
            </a:xfrm>
            <a:custGeom>
              <a:avLst/>
              <a:gdLst/>
              <a:ahLst/>
              <a:cxnLst/>
              <a:rect r="r" b="b" t="t" l="l"/>
              <a:pathLst>
                <a:path h="786765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86765"/>
                  </a:lnTo>
                  <a:lnTo>
                    <a:pt x="0" y="786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2085" r="0" b="-31208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197167"/>
            <a:ext cx="10972800" cy="625793"/>
            <a:chOff x="0" y="0"/>
            <a:chExt cx="14630400" cy="8343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0" cy="834390"/>
            </a:xfrm>
            <a:custGeom>
              <a:avLst/>
              <a:gdLst/>
              <a:ahLst/>
              <a:cxnLst/>
              <a:rect r="r" b="b" t="t" l="l"/>
              <a:pathLst>
                <a:path h="83439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34390"/>
                  </a:lnTo>
                  <a:lnTo>
                    <a:pt x="0" y="8343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91655" r="0" b="-2916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63040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INTRODUÇÃO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Perder um pet é comum; a busca é dispersa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803310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95816" y="2554576"/>
            <a:ext cx="4556855" cy="1149953"/>
            <a:chOff x="0" y="0"/>
            <a:chExt cx="6075807" cy="15332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95816" y="2618870"/>
            <a:ext cx="4556855" cy="1085660"/>
            <a:chOff x="0" y="0"/>
            <a:chExt cx="6075807" cy="14475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95816" y="2683164"/>
            <a:ext cx="4556855" cy="1021366"/>
            <a:chOff x="0" y="0"/>
            <a:chExt cx="6075807" cy="13618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95816" y="2747458"/>
            <a:ext cx="4556855" cy="957072"/>
            <a:chOff x="0" y="0"/>
            <a:chExt cx="6075807" cy="1276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95816" y="2811751"/>
            <a:ext cx="4556884" cy="892826"/>
            <a:chOff x="0" y="0"/>
            <a:chExt cx="6075845" cy="119043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95816" y="2876045"/>
            <a:ext cx="4556884" cy="828532"/>
            <a:chOff x="0" y="0"/>
            <a:chExt cx="6075845" cy="11047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95816" y="3777148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tutores perderam um cão ou gato em cinco anos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95816" y="4825708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EUA · Weiss et al., 2012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6450197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6842693" y="2554576"/>
            <a:ext cx="4556855" cy="1149953"/>
            <a:chOff x="0" y="0"/>
            <a:chExt cx="6075807" cy="153327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842693" y="2618870"/>
            <a:ext cx="4556855" cy="1085660"/>
            <a:chOff x="0" y="0"/>
            <a:chExt cx="6075807" cy="144754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842693" y="2683164"/>
            <a:ext cx="4556855" cy="1021366"/>
            <a:chOff x="0" y="0"/>
            <a:chExt cx="6075807" cy="136182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42693" y="2747458"/>
            <a:ext cx="4556855" cy="957072"/>
            <a:chOff x="0" y="0"/>
            <a:chExt cx="6075807" cy="12760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842693" y="2811751"/>
            <a:ext cx="4556884" cy="892826"/>
            <a:chOff x="0" y="0"/>
            <a:chExt cx="6075845" cy="119043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42693" y="2876045"/>
            <a:ext cx="4556884" cy="828532"/>
            <a:chOff x="0" y="0"/>
            <a:chExt cx="6075845" cy="11047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6842693" y="3777148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 estavam a até 500 m do ponto de fuga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42693" y="4825708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12097074" y="2312079"/>
            <a:ext cx="5341858" cy="3125010"/>
          </a:xfrm>
          <a:custGeom>
            <a:avLst/>
            <a:gdLst/>
            <a:ahLst/>
            <a:cxnLst/>
            <a:rect r="r" b="b" t="t" l="l"/>
            <a:pathLst>
              <a:path h="3125010" w="5341858">
                <a:moveTo>
                  <a:pt x="0" y="0"/>
                </a:moveTo>
                <a:lnTo>
                  <a:pt x="5341858" y="0"/>
                </a:lnTo>
                <a:lnTo>
                  <a:pt x="5341858" y="3125010"/>
                </a:lnTo>
                <a:lnTo>
                  <a:pt x="0" y="3125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3" r="0" b="-123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2489580" y="2554576"/>
            <a:ext cx="4556855" cy="1149953"/>
            <a:chOff x="0" y="0"/>
            <a:chExt cx="6075807" cy="153327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075807" cy="1533271"/>
            </a:xfrm>
            <a:custGeom>
              <a:avLst/>
              <a:gdLst/>
              <a:ahLst/>
              <a:cxnLst/>
              <a:rect r="r" b="b" t="t" l="l"/>
              <a:pathLst>
                <a:path h="153327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533271"/>
                  </a:lnTo>
                  <a:lnTo>
                    <a:pt x="0" y="153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58" r="0" b="-27158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489580" y="2618870"/>
            <a:ext cx="4556855" cy="1085660"/>
            <a:chOff x="0" y="0"/>
            <a:chExt cx="6075807" cy="144754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75807" cy="1447546"/>
            </a:xfrm>
            <a:custGeom>
              <a:avLst/>
              <a:gdLst/>
              <a:ahLst/>
              <a:cxnLst/>
              <a:rect r="r" b="b" t="t" l="l"/>
              <a:pathLst>
                <a:path h="144754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447546"/>
                  </a:lnTo>
                  <a:lnTo>
                    <a:pt x="0" y="1447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728" r="0" b="-3172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489580" y="2683164"/>
            <a:ext cx="4556855" cy="1021366"/>
            <a:chOff x="0" y="0"/>
            <a:chExt cx="6075807" cy="13618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75807" cy="1361821"/>
            </a:xfrm>
            <a:custGeom>
              <a:avLst/>
              <a:gdLst/>
              <a:ahLst/>
              <a:cxnLst/>
              <a:rect r="r" b="b" t="t" l="l"/>
              <a:pathLst>
                <a:path h="1361821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361821"/>
                  </a:lnTo>
                  <a:lnTo>
                    <a:pt x="0" y="136182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873" r="0" b="-36872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489580" y="2747458"/>
            <a:ext cx="4556855" cy="957072"/>
            <a:chOff x="0" y="0"/>
            <a:chExt cx="6075807" cy="12760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75807" cy="1276096"/>
            </a:xfrm>
            <a:custGeom>
              <a:avLst/>
              <a:gdLst/>
              <a:ahLst/>
              <a:cxnLst/>
              <a:rect r="r" b="b" t="t" l="l"/>
              <a:pathLst>
                <a:path h="1276096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276096"/>
                  </a:lnTo>
                  <a:lnTo>
                    <a:pt x="0" y="1276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708" r="0" b="-42707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489580" y="2811751"/>
            <a:ext cx="4556884" cy="892826"/>
            <a:chOff x="0" y="0"/>
            <a:chExt cx="6075845" cy="119043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075807" cy="1190498"/>
            </a:xfrm>
            <a:custGeom>
              <a:avLst/>
              <a:gdLst/>
              <a:ahLst/>
              <a:cxnLst/>
              <a:rect r="r" b="b" t="t" l="l"/>
              <a:pathLst>
                <a:path h="1190498" w="6075807">
                  <a:moveTo>
                    <a:pt x="0" y="0"/>
                  </a:moveTo>
                  <a:lnTo>
                    <a:pt x="6075807" y="0"/>
                  </a:lnTo>
                  <a:lnTo>
                    <a:pt x="6075807" y="1190498"/>
                  </a:lnTo>
                  <a:lnTo>
                    <a:pt x="0" y="11904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9378" r="0" b="-49371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489580" y="2876045"/>
            <a:ext cx="4556884" cy="828532"/>
            <a:chOff x="0" y="0"/>
            <a:chExt cx="6075845" cy="110471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075845" cy="1104710"/>
            </a:xfrm>
            <a:custGeom>
              <a:avLst/>
              <a:gdLst/>
              <a:ahLst/>
              <a:cxnLst/>
              <a:rect r="r" b="b" t="t" l="l"/>
              <a:pathLst>
                <a:path h="1104710" w="6075845">
                  <a:moveTo>
                    <a:pt x="0" y="0"/>
                  </a:moveTo>
                  <a:lnTo>
                    <a:pt x="6075845" y="0"/>
                  </a:lnTo>
                  <a:lnTo>
                    <a:pt x="6075845" y="1104710"/>
                  </a:lnTo>
                  <a:lnTo>
                    <a:pt x="0" y="1104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6" r="0" b="-5716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85725"/>
              <a:ext cx="6075845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50%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2489580" y="3777148"/>
            <a:ext cx="4556884" cy="132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perdidos foram achados vivos em até 30 dias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489580" y="4825708"/>
            <a:ext cx="455688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Huang et al., 2018</a:t>
            </a: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803310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183310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485814" y="6565001"/>
            <a:ext cx="519970" cy="519970"/>
            <a:chOff x="0" y="0"/>
            <a:chExt cx="693293" cy="693293"/>
          </a:xfrm>
        </p:grpSpPr>
        <p:sp>
          <p:nvSpPr>
            <p:cNvPr name="Freeform 98" id="98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2625814" y="5629951"/>
            <a:ext cx="5950325" cy="92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dispersa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625814" y="6371396"/>
            <a:ext cx="5950325" cy="142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Redes sociais, grupos, cartazes e vizinhos: fica difícil acompanhar as atualizações da busca.</a:t>
            </a:r>
          </a:p>
        </p:txBody>
      </p:sp>
      <p:sp>
        <p:nvSpPr>
          <p:cNvPr name="Freeform 101" id="101"/>
          <p:cNvSpPr/>
          <p:nvPr/>
        </p:nvSpPr>
        <p:spPr>
          <a:xfrm flipH="false" flipV="false" rot="0">
            <a:off x="9273635" y="5687492"/>
            <a:ext cx="8165354" cy="2274999"/>
          </a:xfrm>
          <a:custGeom>
            <a:avLst/>
            <a:gdLst/>
            <a:ahLst/>
            <a:cxnLst/>
            <a:rect r="r" b="b" t="t" l="l"/>
            <a:pathLst>
              <a:path h="2274999" w="8165354">
                <a:moveTo>
                  <a:pt x="0" y="0"/>
                </a:moveTo>
                <a:lnTo>
                  <a:pt x="8165354" y="0"/>
                </a:lnTo>
                <a:lnTo>
                  <a:pt x="8165354" y="2274998"/>
                </a:lnTo>
                <a:lnTo>
                  <a:pt x="0" y="2274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0" t="0" r="-11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9653645" y="6262507"/>
            <a:ext cx="1124950" cy="1124950"/>
          </a:xfrm>
          <a:custGeom>
            <a:avLst/>
            <a:gdLst/>
            <a:ahLst/>
            <a:cxnLst/>
            <a:rect r="r" b="b" t="t" l="l"/>
            <a:pathLst>
              <a:path h="1124950" w="1124950">
                <a:moveTo>
                  <a:pt x="0" y="0"/>
                </a:moveTo>
                <a:lnTo>
                  <a:pt x="1124950" y="0"/>
                </a:lnTo>
                <a:lnTo>
                  <a:pt x="1124950" y="1124950"/>
                </a:lnTo>
                <a:lnTo>
                  <a:pt x="0" y="11249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9956140" y="6565001"/>
            <a:ext cx="519970" cy="519970"/>
            <a:chOff x="0" y="0"/>
            <a:chExt cx="693293" cy="693293"/>
          </a:xfrm>
        </p:grpSpPr>
        <p:sp>
          <p:nvSpPr>
            <p:cNvPr name="Freeform 104" id="104" descr="icone"/>
            <p:cNvSpPr/>
            <p:nvPr/>
          </p:nvSpPr>
          <p:spPr>
            <a:xfrm flipH="false" flipV="false" rot="0">
              <a:off x="0" y="0"/>
              <a:ext cx="693293" cy="693293"/>
            </a:xfrm>
            <a:custGeom>
              <a:avLst/>
              <a:gdLst/>
              <a:ahLst/>
              <a:cxnLst/>
              <a:rect r="r" b="b" t="t" l="l"/>
              <a:pathLst>
                <a:path h="693293" w="693293">
                  <a:moveTo>
                    <a:pt x="0" y="0"/>
                  </a:moveTo>
                  <a:lnTo>
                    <a:pt x="693293" y="0"/>
                  </a:lnTo>
                  <a:lnTo>
                    <a:pt x="693293" y="693293"/>
                  </a:lnTo>
                  <a:lnTo>
                    <a:pt x="0" y="693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096139" y="5629951"/>
            <a:ext cx="5950325" cy="92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em risco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096139" y="6371396"/>
            <a:ext cx="5950325" cy="142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Divulgar telefone e endereço expõe dados pessoais de quem participa da busca.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78333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2095976"/>
            <a:ext cx="548640" cy="1561624"/>
            <a:chOff x="0" y="0"/>
            <a:chExt cx="731520" cy="2082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58368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83680" y="3783330"/>
            <a:ext cx="512064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2095976"/>
            <a:ext cx="548640" cy="1561624"/>
            <a:chOff x="0" y="0"/>
            <a:chExt cx="731520" cy="2082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25296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52960" y="378333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252960" y="4286250"/>
            <a:ext cx="49377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51" id="51"/>
          <p:cNvSpPr/>
          <p:nvPr/>
        </p:nvSpPr>
        <p:spPr>
          <a:xfrm rot="1980">
            <a:off x="881053" y="6555105"/>
            <a:ext cx="1652588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2" id="52"/>
          <p:cNvSpPr txBox="true"/>
          <p:nvPr/>
        </p:nvSpPr>
        <p:spPr>
          <a:xfrm rot="0">
            <a:off x="914400" y="680085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7155180"/>
            <a:ext cx="694944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44000" y="6800850"/>
            <a:ext cx="7315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44000" y="7155180"/>
            <a:ext cx="804672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aplicada, exploratório-descritiva e quali-quantitativa: questionário, sistemas similares, teste da correspondência, análise estática e SUS.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459200" y="9509760"/>
            <a:ext cx="914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459200" y="9509760"/>
            <a:ext cx="914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rot="1980">
            <a:off x="890588" y="4980622"/>
            <a:ext cx="16506835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14400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4400" y="4839653"/>
            <a:ext cx="320040" cy="320040"/>
            <a:chOff x="0" y="0"/>
            <a:chExt cx="426720" cy="426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400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65713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265713" y="4839653"/>
            <a:ext cx="320040" cy="320040"/>
            <a:chOff x="0" y="0"/>
            <a:chExt cx="426720" cy="426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265713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65713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17026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17026" y="4839653"/>
            <a:ext cx="320040" cy="320040"/>
            <a:chOff x="0" y="0"/>
            <a:chExt cx="426720" cy="426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617026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17026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 e modelar em UML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68339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968339" y="4839653"/>
            <a:ext cx="320040" cy="320040"/>
            <a:chOff x="0" y="0"/>
            <a:chExt cx="426720" cy="426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968339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968339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19652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319652" y="4839653"/>
            <a:ext cx="320040" cy="320040"/>
            <a:chOff x="0" y="0"/>
            <a:chExt cx="426720" cy="426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319652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19652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70974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2670974" y="4839653"/>
            <a:ext cx="320040" cy="320040"/>
            <a:chOff x="0" y="0"/>
            <a:chExt cx="426720" cy="426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2670974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Testar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670974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correspondência (20 pares)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022287" y="1393508"/>
            <a:ext cx="2259873" cy="343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7"/>
              </a:lnSpc>
            </a:pPr>
            <a:r>
              <a:rPr lang="en-US" sz="39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022287" y="4839653"/>
            <a:ext cx="320040" cy="320040"/>
            <a:chOff x="0" y="0"/>
            <a:chExt cx="426720" cy="426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6720" cy="426720"/>
            </a:xfrm>
            <a:custGeom>
              <a:avLst/>
              <a:gdLst/>
              <a:ahLst/>
              <a:cxnLst/>
              <a:rect r="r" b="b" t="t" l="l"/>
              <a:pathLst>
                <a:path h="426720" w="42672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cubicBezTo>
                    <a:pt x="331216" y="0"/>
                    <a:pt x="426720" y="95504"/>
                    <a:pt x="426720" y="213360"/>
                  </a:cubicBezTo>
                  <a:cubicBezTo>
                    <a:pt x="426720" y="331216"/>
                    <a:pt x="331216" y="426720"/>
                    <a:pt x="213360" y="426720"/>
                  </a:cubicBezTo>
                  <a:cubicBezTo>
                    <a:pt x="95504" y="426720"/>
                    <a:pt x="0" y="331216"/>
                    <a:pt x="0" y="21336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5022287" y="4932997"/>
            <a:ext cx="225987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022287" y="5858828"/>
            <a:ext cx="2168433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sistemas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099" t="0" r="-2009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65760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630400" y="2091690"/>
            <a:ext cx="274320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630400" y="2914650"/>
            <a:ext cx="27432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52 questões; consulta em out. de 2026</a:t>
            </a:r>
          </a:p>
        </p:txBody>
      </p:sp>
      <p:sp>
        <p:nvSpPr>
          <p:cNvPr name="AutoShape 33" id="33"/>
          <p:cNvSpPr/>
          <p:nvPr/>
        </p:nvSpPr>
        <p:spPr>
          <a:xfrm rot="5880">
            <a:off x="11853843" y="4177665"/>
            <a:ext cx="5553151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099" t="0" r="-2009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65760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630400" y="4286250"/>
            <a:ext cx="274320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30400" y="5109210"/>
            <a:ext cx="27432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49" id="49"/>
          <p:cNvSpPr/>
          <p:nvPr/>
        </p:nvSpPr>
        <p:spPr>
          <a:xfrm rot="5880">
            <a:off x="11853843" y="6372225"/>
            <a:ext cx="5553151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099" t="0" r="-20099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365760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84%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4630400" y="6480810"/>
            <a:ext cx="274320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queriam avisos de quem viu o animal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630400" y="7303770"/>
            <a:ext cx="274320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 dos 25 que já perderam um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14400" y="8492490"/>
            <a:ext cx="164592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Facebook; 72,9% moram em Pelotas. Os resultados descrevem apenas o grupo consultado.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aphicFrame>
        <p:nvGraphicFramePr>
          <p:cNvPr id="80" name="Grafico dificuldades Q17"/>
          <p:cNvGraphicFramePr>
            <a:graphicFrameLocks noGrp="1"/>
          </p:cNvGraphicFramePr>
          <p:nvPr/>
        </p:nvGraphicFramePr>
        <p:xfrm>
          <a:off x="914400" y="2697480"/>
          <a:ext cx="10241280" cy="562356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81" name="Titulo do grafico"/>
          <p:cNvSpPr txBox="1"/>
          <p:nvPr/>
        </p:nvSpPr>
        <p:spPr>
          <a:xfrm>
            <a:off x="914400" y="2148840"/>
            <a:ext cx="102412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B2A1F"/>
                </a:solidFill>
                <a:latin typeface="Calibri (MS) Bold"/>
              </a:rPr>
              <a:t>Dificuldades percebidas na divulgação (Q17 · 48 respostas · mais de uma opção)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Mapa sim; endereço e telefone, não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914400" y="8492490"/>
            <a:ext cx="164592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Forms (2026), 48 respostas. Todos os 48 também pediriam prova de tutela antes de devolver um animal (Q39), base do RF18.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Col0 titulo" id="80"/>
          <p:cNvSpPr txBox="true"/>
          <p:nvPr/>
        </p:nvSpPr>
        <p:spPr>
          <a:xfrm rot="0">
            <a:off x="914400" y="2194560"/>
            <a:ext cx="52120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da região</a:t>
            </a:r>
          </a:p>
        </p:txBody>
      </p:sp>
      <p:sp>
        <p:nvSpPr>
          <p:cNvPr name="Col0 pergunta" id="81"/>
          <p:cNvSpPr txBox="true"/>
          <p:nvPr/>
        </p:nvSpPr>
        <p:spPr>
          <a:xfrm rot="0">
            <a:off x="914400" y="2670048"/>
            <a:ext cx="52120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Q18 · utilidade, de 1 a 5</a:t>
            </a:r>
          </a:p>
        </p:txBody>
      </p:sp>
      <p:sp>
        <p:nvSpPr>
          <p:cNvPr name="Col0 conclusao" id="82"/>
          <p:cNvSpPr txBox="true"/>
          <p:nvPr/>
        </p:nvSpPr>
        <p:spPr>
          <a:xfrm rot="0">
            <a:off x="914400" y="7040880"/>
            <a:ext cx="52120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Todos deram nota 4 ou 5</a:t>
            </a:r>
          </a:p>
        </p:txBody>
      </p:sp>
      <p:sp>
        <p:nvSpPr>
          <p:cNvPr name="Col0 requisito" id="83"/>
          <p:cNvSpPr txBox="true"/>
          <p:nvPr/>
        </p:nvSpPr>
        <p:spPr>
          <a:xfrm rot="0">
            <a:off x="914400" y="7818120"/>
            <a:ext cx="52120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→ mapa interativo (RF06)</a:t>
            </a:r>
          </a:p>
        </p:txBody>
      </p:sp>
      <p:sp>
        <p:nvSpPr>
          <p:cNvPr name="Col1 titulo" id="84"/>
          <p:cNvSpPr txBox="true"/>
          <p:nvPr/>
        </p:nvSpPr>
        <p:spPr>
          <a:xfrm rot="0">
            <a:off x="6537960" y="2194560"/>
            <a:ext cx="52120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de um animal acolhido</a:t>
            </a:r>
          </a:p>
        </p:txBody>
      </p:sp>
      <p:sp>
        <p:nvSpPr>
          <p:cNvPr name="Col1 pergunta" id="85"/>
          <p:cNvSpPr txBox="true"/>
          <p:nvPr/>
        </p:nvSpPr>
        <p:spPr>
          <a:xfrm rot="0">
            <a:off x="6537960" y="2670048"/>
            <a:ext cx="52120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Q35 · o que o público deve ver</a:t>
            </a:r>
          </a:p>
        </p:txBody>
      </p:sp>
      <p:sp>
        <p:nvSpPr>
          <p:cNvPr name="Col1 conclusao" id="86"/>
          <p:cNvSpPr txBox="true"/>
          <p:nvPr/>
        </p:nvSpPr>
        <p:spPr>
          <a:xfrm rot="0">
            <a:off x="6537960" y="7040880"/>
            <a:ext cx="52120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Ninguém mostraria o endereço</a:t>
            </a:r>
          </a:p>
        </p:txBody>
      </p:sp>
      <p:sp>
        <p:nvSpPr>
          <p:cNvPr name="Col1 requisito" id="87"/>
          <p:cNvSpPr txBox="true"/>
          <p:nvPr/>
        </p:nvSpPr>
        <p:spPr>
          <a:xfrm rot="0">
            <a:off x="6537960" y="7818120"/>
            <a:ext cx="52120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→ privacidade por padrão (RNF02)</a:t>
            </a:r>
          </a:p>
        </p:txBody>
      </p:sp>
      <p:sp>
        <p:nvSpPr>
          <p:cNvPr name="Col2 titulo" id="88"/>
          <p:cNvSpPr txBox="true"/>
          <p:nvPr/>
        </p:nvSpPr>
        <p:spPr>
          <a:xfrm rot="0">
            <a:off x="12161520" y="2194560"/>
            <a:ext cx="52120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Telefone em publicação pública</a:t>
            </a:r>
          </a:p>
        </p:txBody>
      </p:sp>
      <p:sp>
        <p:nvSpPr>
          <p:cNvPr name="Col2 pergunta" id="89"/>
          <p:cNvSpPr txBox="true"/>
          <p:nvPr/>
        </p:nvSpPr>
        <p:spPr>
          <a:xfrm rot="0">
            <a:off x="12161520" y="2670048"/>
            <a:ext cx="52120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Q31 · incômodo, de 1 a 5</a:t>
            </a:r>
          </a:p>
        </p:txBody>
      </p:sp>
      <p:sp>
        <p:nvSpPr>
          <p:cNvPr name="Col2 conclusao" id="90"/>
          <p:cNvSpPr txBox="true"/>
          <p:nvPr/>
        </p:nvSpPr>
        <p:spPr>
          <a:xfrm rot="0">
            <a:off x="12161520" y="7040880"/>
            <a:ext cx="52120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87,5% deram nota 4 ou 5</a:t>
            </a:r>
          </a:p>
        </p:txBody>
      </p:sp>
      <p:sp>
        <p:nvSpPr>
          <p:cNvPr name="Col2 requisito" id="91"/>
          <p:cNvSpPr txBox="true"/>
          <p:nvPr/>
        </p:nvSpPr>
        <p:spPr>
          <a:xfrm rot="0">
            <a:off x="12161520" y="7818120"/>
            <a:ext cx="521208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→ contato pelo chat (RF11)</a:t>
            </a:r>
          </a:p>
        </p:txBody>
      </p:sp>
      <p:graphicFrame>
        <p:nvGraphicFramePr>
          <p:cNvPr id="92" name="Grafico mapa Q18"/>
          <p:cNvGraphicFramePr>
            <a:graphicFrameLocks noGrp="1"/>
          </p:cNvGraphicFramePr>
          <p:nvPr/>
        </p:nvGraphicFramePr>
        <p:xfrm>
          <a:off x="914400" y="3246120"/>
          <a:ext cx="5212080" cy="36576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93" name="Grafico local Q35"/>
          <p:cNvGraphicFramePr>
            <a:graphicFrameLocks noGrp="1"/>
          </p:cNvGraphicFramePr>
          <p:nvPr/>
        </p:nvGraphicFramePr>
        <p:xfrm>
          <a:off x="6537960" y="3246120"/>
          <a:ext cx="5212080" cy="36576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94" name="Grafico telefone Q31"/>
          <p:cNvGraphicFramePr>
            <a:graphicFrameLocks noGrp="1"/>
          </p:cNvGraphicFramePr>
          <p:nvPr/>
        </p:nvGraphicFramePr>
        <p:xfrm>
          <a:off x="12161520" y="3246120"/>
          <a:ext cx="5212080" cy="36576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E DIFERENCIAL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14400" y="2194560"/>
          <a:ext cx="16281400" cy="6731000"/>
        </p:xfrm>
        <a:graphic>
          <a:graphicData uri="http://schemas.openxmlformats.org/drawingml/2006/table">
            <a:tbl>
              <a:tblPr/>
              <a:tblGrid>
                <a:gridCol w="6693465"/>
                <a:gridCol w="1917587"/>
                <a:gridCol w="1917587"/>
                <a:gridCol w="1917587"/>
                <a:gridCol w="1917587"/>
                <a:gridCol w="1917587"/>
              </a:tblGrid>
              <a:tr h="5953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2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6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20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33172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3172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95528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95528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3578840" y="22413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578840" y="27880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33172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33172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59" id="5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795528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95528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65" id="6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13578840" y="4070156"/>
            <a:ext cx="370332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578840" y="4616891"/>
            <a:ext cx="3703320" cy="71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161288" y="59893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6784848" y="5989320"/>
            <a:ext cx="4754880" cy="96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da publicação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12408408" y="59893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16128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Tutela e encontro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678484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e RF20  Meus pets e adoção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2408408" y="7360920"/>
            <a:ext cx="4754880" cy="83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RF21  Classificação de membros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262" r="0" b="-2392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777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598" r="0" b="-20459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21284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880360" y="241173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80360" y="333756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241173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333756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(nenhum dos 48 participantes exibiria o endereço completo).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880360" y="556641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0360" y="649224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315700" y="5566410"/>
            <a:ext cx="5760720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5700" y="6492240"/>
            <a:ext cx="5760720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2960" y="8492490"/>
            <a:ext cx="1659636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47"/>
            <a:chOff x="0" y="0"/>
            <a:chExt cx="21945600" cy="51247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91"/>
            <a:chOff x="0" y="0"/>
            <a:chExt cx="21945600" cy="51342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54"/>
            </a:xfrm>
            <a:custGeom>
              <a:avLst/>
              <a:gdLst/>
              <a:ahLst/>
              <a:cxnLst/>
              <a:rect r="r" b="b" t="t" l="l"/>
              <a:pathLst>
                <a:path h="51342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54"/>
                  </a:lnTo>
                  <a:lnTo>
                    <a:pt x="0" y="513425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85" r="0" b="-332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5143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980">
            <a:off x="873119" y="2947606"/>
            <a:ext cx="1654177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1440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12064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2064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2064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32688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2688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2688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533120" y="3482340"/>
            <a:ext cx="38404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33120" y="4139565"/>
            <a:ext cx="384048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33120" y="4878705"/>
            <a:ext cx="374904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9961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961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570585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0585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11833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1833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4400" y="862774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9912096" y="6919341"/>
            <a:ext cx="338328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12096" y="7256145"/>
            <a:ext cx="338328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2960" y="25184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2960" y="2838450"/>
            <a:ext cx="6172200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2960" y="43472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2960" y="4667250"/>
            <a:ext cx="61722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2960" y="7090410"/>
            <a:ext cx="6172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2960" y="7410450"/>
            <a:ext cx="6172200" cy="248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245801" y="-106337"/>
            <a:ext cx="9304782" cy="10431399"/>
            <a:chOff x="0" y="0"/>
            <a:chExt cx="12406376" cy="139085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406376" cy="13908532"/>
            </a:xfrm>
            <a:custGeom>
              <a:avLst/>
              <a:gdLst/>
              <a:ahLst/>
              <a:cxnLst/>
              <a:rect r="r" b="b" t="t" l="l"/>
              <a:pathLst>
                <a:path h="13908532" w="12406376">
                  <a:moveTo>
                    <a:pt x="0" y="0"/>
                  </a:moveTo>
                  <a:lnTo>
                    <a:pt x="12406376" y="0"/>
                  </a:lnTo>
                  <a:lnTo>
                    <a:pt x="12406376" y="13908532"/>
                  </a:lnTo>
                  <a:lnTo>
                    <a:pt x="0" y="1390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1" t="0" r="-41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76921" y="10773"/>
            <a:ext cx="10996679" cy="10292886"/>
            <a:chOff x="0" y="0"/>
            <a:chExt cx="14662239" cy="137238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62277" cy="13723874"/>
            </a:xfrm>
            <a:custGeom>
              <a:avLst/>
              <a:gdLst/>
              <a:ahLst/>
              <a:cxnLst/>
              <a:rect r="r" b="b" t="t" l="l"/>
              <a:pathLst>
                <a:path h="13723874" w="14662277">
                  <a:moveTo>
                    <a:pt x="0" y="0"/>
                  </a:moveTo>
                  <a:lnTo>
                    <a:pt x="14662277" y="0"/>
                  </a:lnTo>
                  <a:lnTo>
                    <a:pt x="14662277" y="13723874"/>
                  </a:lnTo>
                  <a:lnTo>
                    <a:pt x="0" y="13723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8" r="0" b="-4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1107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25130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animais (AnimalEstimacao)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29946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70179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48818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89051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67690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7923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86562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726795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EncontroDevolucao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80543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Classificacao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4566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15024" y="202873"/>
            <a:ext cx="10556891" cy="9881245"/>
            <a:chOff x="0" y="0"/>
            <a:chExt cx="14075854" cy="131749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075918" cy="13174980"/>
            </a:xfrm>
            <a:custGeom>
              <a:avLst/>
              <a:gdLst/>
              <a:ahLst/>
              <a:cxnLst/>
              <a:rect r="r" b="b" t="t" l="l"/>
              <a:pathLst>
                <a:path h="13174980" w="14075918">
                  <a:moveTo>
                    <a:pt x="0" y="0"/>
                  </a:moveTo>
                  <a:lnTo>
                    <a:pt x="14075918" y="0"/>
                  </a:lnTo>
                  <a:lnTo>
                    <a:pt x="14075918" y="13174980"/>
                  </a:lnTo>
                  <a:lnTo>
                    <a:pt x="0" y="13174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2" r="0" b="-2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Modelo lógico do banco de dados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1107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25130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Contas ligadas ao Supabase Auth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329946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370179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item_photos e rewards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48818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sightings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89051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com local e foto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567690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conversations e messages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607923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86562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item_claims e return_meetups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726795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Tutela e encontro de devolução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8054340"/>
            <a:ext cx="6035040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 e user_ratings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8456676"/>
            <a:ext cx="60350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Denúncias e classificações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correspondência e telas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9156" y="2149316"/>
            <a:ext cx="5942647" cy="6582728"/>
            <a:chOff x="0" y="0"/>
            <a:chExt cx="7923530" cy="87769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23530" cy="8776970"/>
            </a:xfrm>
            <a:custGeom>
              <a:avLst/>
              <a:gdLst/>
              <a:ahLst/>
              <a:cxnLst/>
              <a:rect r="r" b="b" t="t" l="l"/>
              <a:pathLst>
                <a:path h="8776970" w="7923530">
                  <a:moveTo>
                    <a:pt x="0" y="0"/>
                  </a:moveTo>
                  <a:lnTo>
                    <a:pt x="7923530" y="0"/>
                  </a:lnTo>
                  <a:lnTo>
                    <a:pt x="7923530" y="8776970"/>
                  </a:lnTo>
                  <a:lnTo>
                    <a:pt x="0" y="87769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88720" y="2226564"/>
            <a:ext cx="530352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910036" y="2149316"/>
            <a:ext cx="5394008" cy="6582728"/>
            <a:chOff x="0" y="0"/>
            <a:chExt cx="7192010" cy="87769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92010" cy="8776970"/>
            </a:xfrm>
            <a:custGeom>
              <a:avLst/>
              <a:gdLst/>
              <a:ahLst/>
              <a:cxnLst/>
              <a:rect r="r" b="b" t="t" l="l"/>
              <a:pathLst>
                <a:path h="8776970" w="7192010">
                  <a:moveTo>
                    <a:pt x="0" y="0"/>
                  </a:moveTo>
                  <a:lnTo>
                    <a:pt x="7192010" y="0"/>
                  </a:lnTo>
                  <a:lnTo>
                    <a:pt x="7192010" y="8776970"/>
                  </a:lnTo>
                  <a:lnTo>
                    <a:pt x="0" y="87769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229600" y="2226564"/>
            <a:ext cx="47548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402276" y="2149316"/>
            <a:ext cx="3016567" cy="6582728"/>
            <a:chOff x="0" y="0"/>
            <a:chExt cx="4022090" cy="8776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2090" cy="8776970"/>
            </a:xfrm>
            <a:custGeom>
              <a:avLst/>
              <a:gdLst/>
              <a:ahLst/>
              <a:cxnLst/>
              <a:rect r="r" b="b" t="t" l="l"/>
              <a:pathLst>
                <a:path h="8776970" w="4022090">
                  <a:moveTo>
                    <a:pt x="0" y="0"/>
                  </a:moveTo>
                  <a:lnTo>
                    <a:pt x="4022090" y="0"/>
                  </a:lnTo>
                  <a:lnTo>
                    <a:pt x="4022090" y="8776970"/>
                  </a:lnTo>
                  <a:lnTo>
                    <a:pt x="0" y="87769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721840" y="2226564"/>
            <a:ext cx="237744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56816" y="3001804"/>
            <a:ext cx="1920240" cy="728948"/>
            <a:chOff x="0" y="0"/>
            <a:chExt cx="2560320" cy="9719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56816" y="2966085"/>
            <a:ext cx="1920240" cy="764667"/>
            <a:chOff x="0" y="0"/>
            <a:chExt cx="2560320" cy="10195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2930366"/>
            <a:ext cx="1920240" cy="800386"/>
            <a:chOff x="0" y="0"/>
            <a:chExt cx="2560320" cy="10671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56816" y="4099084"/>
            <a:ext cx="1920240" cy="728948"/>
            <a:chOff x="0" y="0"/>
            <a:chExt cx="2560320" cy="97193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56816" y="4063365"/>
            <a:ext cx="1920240" cy="764667"/>
            <a:chOff x="0" y="0"/>
            <a:chExt cx="2560320" cy="10195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56816" y="4027646"/>
            <a:ext cx="1920240" cy="800386"/>
            <a:chOff x="0" y="0"/>
            <a:chExt cx="2560320" cy="10671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956816" y="5196364"/>
            <a:ext cx="1920240" cy="728948"/>
            <a:chOff x="0" y="0"/>
            <a:chExt cx="2560320" cy="97193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956816" y="5160645"/>
            <a:ext cx="1920240" cy="764667"/>
            <a:chOff x="0" y="0"/>
            <a:chExt cx="2560320" cy="10195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956816" y="5124926"/>
            <a:ext cx="1920240" cy="800386"/>
            <a:chOff x="0" y="0"/>
            <a:chExt cx="2560320" cy="10671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71" id="7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700016" y="6365843"/>
            <a:ext cx="1920240" cy="657511"/>
            <a:chOff x="0" y="0"/>
            <a:chExt cx="2560320" cy="87668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700016" y="6330125"/>
            <a:ext cx="1920240" cy="693230"/>
            <a:chOff x="0" y="0"/>
            <a:chExt cx="2560320" cy="92430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0016" y="6294406"/>
            <a:ext cx="1920240" cy="728948"/>
            <a:chOff x="0" y="0"/>
            <a:chExt cx="2560320" cy="97193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700016" y="6258687"/>
            <a:ext cx="1920240" cy="764667"/>
            <a:chOff x="0" y="0"/>
            <a:chExt cx="2560320" cy="101955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700016" y="6222968"/>
            <a:ext cx="1920240" cy="800386"/>
            <a:chOff x="0" y="0"/>
            <a:chExt cx="2560320" cy="106718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86" id="8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956816" y="7462361"/>
            <a:ext cx="1920240" cy="657511"/>
            <a:chOff x="0" y="0"/>
            <a:chExt cx="2560320" cy="87668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956816" y="7426643"/>
            <a:ext cx="1920240" cy="693230"/>
            <a:chOff x="0" y="0"/>
            <a:chExt cx="2560320" cy="92430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956816" y="7390924"/>
            <a:ext cx="1920240" cy="728948"/>
            <a:chOff x="0" y="0"/>
            <a:chExt cx="2560320" cy="9719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956816" y="7355205"/>
            <a:ext cx="1920240" cy="764667"/>
            <a:chOff x="0" y="0"/>
            <a:chExt cx="2560320" cy="10195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956816" y="7319486"/>
            <a:ext cx="1920240" cy="800386"/>
            <a:chOff x="0" y="0"/>
            <a:chExt cx="2560320" cy="106718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101" id="10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4700016" y="3073241"/>
            <a:ext cx="1920240" cy="657511"/>
            <a:chOff x="0" y="0"/>
            <a:chExt cx="2560320" cy="87668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4700016" y="3037522"/>
            <a:ext cx="1920240" cy="693230"/>
            <a:chOff x="0" y="0"/>
            <a:chExt cx="2560320" cy="92430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4700016" y="3001804"/>
            <a:ext cx="1920240" cy="728948"/>
            <a:chOff x="0" y="0"/>
            <a:chExt cx="2560320" cy="97193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4700016" y="2966085"/>
            <a:ext cx="1920240" cy="764667"/>
            <a:chOff x="0" y="0"/>
            <a:chExt cx="2560320" cy="101955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700016" y="2930366"/>
            <a:ext cx="1920240" cy="800386"/>
            <a:chOff x="0" y="0"/>
            <a:chExt cx="2560320" cy="106718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116" id="11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700016" y="4099084"/>
            <a:ext cx="1920240" cy="728948"/>
            <a:chOff x="0" y="0"/>
            <a:chExt cx="2560320" cy="97193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4700016" y="4063365"/>
            <a:ext cx="1920240" cy="764667"/>
            <a:chOff x="0" y="0"/>
            <a:chExt cx="2560320" cy="101955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700016" y="4027646"/>
            <a:ext cx="1920240" cy="800386"/>
            <a:chOff x="0" y="0"/>
            <a:chExt cx="2560320" cy="106718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131" id="13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4700016" y="5196364"/>
            <a:ext cx="1920240" cy="728948"/>
            <a:chOff x="0" y="0"/>
            <a:chExt cx="2560320" cy="971931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4700016" y="5160645"/>
            <a:ext cx="1920240" cy="764667"/>
            <a:chOff x="0" y="0"/>
            <a:chExt cx="2560320" cy="101955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4700016" y="5124926"/>
            <a:ext cx="1920240" cy="800386"/>
            <a:chOff x="0" y="0"/>
            <a:chExt cx="2560320" cy="1067181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146" id="14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956816" y="6365843"/>
            <a:ext cx="1920240" cy="657511"/>
            <a:chOff x="0" y="0"/>
            <a:chExt cx="2560320" cy="87668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1956816" y="6330125"/>
            <a:ext cx="1920240" cy="693230"/>
            <a:chOff x="0" y="0"/>
            <a:chExt cx="2560320" cy="92430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956816" y="6294406"/>
            <a:ext cx="1920240" cy="728948"/>
            <a:chOff x="0" y="0"/>
            <a:chExt cx="2560320" cy="971931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956816" y="6258687"/>
            <a:ext cx="1920240" cy="764667"/>
            <a:chOff x="0" y="0"/>
            <a:chExt cx="2560320" cy="101955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956816" y="6222968"/>
            <a:ext cx="1920240" cy="800386"/>
            <a:chOff x="0" y="0"/>
            <a:chExt cx="2560320" cy="1067181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478" t="0" r="-3478" b="0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47625"/>
              <a:ext cx="2560320" cy="11148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161" id="1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62" id="162"/>
          <p:cNvSpPr txBox="true"/>
          <p:nvPr/>
        </p:nvSpPr>
        <p:spPr>
          <a:xfrm rot="0">
            <a:off x="9052560" y="2823210"/>
            <a:ext cx="402336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9052560" y="3282696"/>
            <a:ext cx="402336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164" id="1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127" r="0" b="-2127"/>
              </a:stretch>
            </a:blipFill>
          </p:spPr>
        </p:sp>
      </p:grpSp>
      <p:sp>
        <p:nvSpPr>
          <p:cNvPr name="TextBox 166" id="166"/>
          <p:cNvSpPr txBox="true"/>
          <p:nvPr/>
        </p:nvSpPr>
        <p:spPr>
          <a:xfrm rot="0">
            <a:off x="9052560" y="3920490"/>
            <a:ext cx="402336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9052560" y="4379976"/>
            <a:ext cx="402336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169" id="1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170" id="170"/>
          <p:cNvSpPr txBox="true"/>
          <p:nvPr/>
        </p:nvSpPr>
        <p:spPr>
          <a:xfrm rot="0">
            <a:off x="9052560" y="5017770"/>
            <a:ext cx="402336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9052560" y="5477256"/>
            <a:ext cx="402336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172" id="1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173" id="1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74" id="174"/>
          <p:cNvSpPr txBox="true"/>
          <p:nvPr/>
        </p:nvSpPr>
        <p:spPr>
          <a:xfrm rot="0">
            <a:off x="9052560" y="6115050"/>
            <a:ext cx="402336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9052560" y="6574536"/>
            <a:ext cx="402336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177" id="1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178" id="178"/>
          <p:cNvSpPr txBox="true"/>
          <p:nvPr/>
        </p:nvSpPr>
        <p:spPr>
          <a:xfrm rot="0">
            <a:off x="9052560" y="7212330"/>
            <a:ext cx="402336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9052560" y="7671816"/>
            <a:ext cx="4023360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4721840" y="4377690"/>
            <a:ext cx="256032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4721840" y="4837176"/>
            <a:ext cx="256032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182" id="182"/>
          <p:cNvGrpSpPr/>
          <p:nvPr/>
        </p:nvGrpSpPr>
        <p:grpSpPr>
          <a:xfrm rot="0">
            <a:off x="14721840" y="5989320"/>
            <a:ext cx="731520" cy="731520"/>
            <a:chOff x="0" y="0"/>
            <a:chExt cx="975360" cy="975360"/>
          </a:xfrm>
        </p:grpSpPr>
        <p:sp>
          <p:nvSpPr>
            <p:cNvPr name="Freeform 183" id="1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184" id="184"/>
          <p:cNvSpPr txBox="true"/>
          <p:nvPr/>
        </p:nvSpPr>
        <p:spPr>
          <a:xfrm rot="0">
            <a:off x="14721840" y="6812280"/>
            <a:ext cx="256032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14721840" y="7269480"/>
            <a:ext cx="256032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186" id="186"/>
          <p:cNvSpPr/>
          <p:nvPr/>
        </p:nvSpPr>
        <p:spPr>
          <a:xfrm rot="56760">
            <a:off x="6783953" y="5246370"/>
            <a:ext cx="115391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7" id="187"/>
          <p:cNvSpPr txBox="true"/>
          <p:nvPr/>
        </p:nvSpPr>
        <p:spPr>
          <a:xfrm rot="0">
            <a:off x="6675120" y="4434840"/>
            <a:ext cx="13716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188" id="188"/>
          <p:cNvSpPr/>
          <p:nvPr/>
        </p:nvSpPr>
        <p:spPr>
          <a:xfrm rot="56760">
            <a:off x="13276193" y="5246370"/>
            <a:ext cx="115391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9" id="189"/>
          <p:cNvSpPr txBox="true"/>
          <p:nvPr/>
        </p:nvSpPr>
        <p:spPr>
          <a:xfrm rot="0">
            <a:off x="13167360" y="4434840"/>
            <a:ext cx="13716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191" id="1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203" id="203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04" id="204"/>
          <p:cNvGrpSpPr/>
          <p:nvPr/>
        </p:nvGrpSpPr>
        <p:grpSpPr>
          <a:xfrm rot="0">
            <a:off x="14721840" y="3474720"/>
            <a:ext cx="731520" cy="731520"/>
            <a:chOff x="0" y="0"/>
            <a:chExt cx="975360" cy="975360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4444" r="0" b="-4445"/>
              </a:stretch>
            </a:blip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5087600" y="5824728"/>
            <a:ext cx="329184" cy="329184"/>
            <a:chOff x="0" y="0"/>
            <a:chExt cx="438912" cy="438912"/>
          </a:xfrm>
        </p:grpSpPr>
        <p:sp>
          <p:nvSpPr>
            <p:cNvPr name="Freeform 207" id="207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" y="2551176"/>
            <a:ext cx="457200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17" id="1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21" id="2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6" id="26"/>
          <p:cNvSpPr/>
          <p:nvPr/>
        </p:nvSpPr>
        <p:spPr>
          <a:xfrm rot="1980">
            <a:off x="881053" y="3939921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14400" y="4434840"/>
            <a:ext cx="457200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127" r="0" b="-212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35" id="3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AutoShape 38" id="38"/>
          <p:cNvSpPr/>
          <p:nvPr/>
        </p:nvSpPr>
        <p:spPr>
          <a:xfrm rot="1980">
            <a:off x="881053" y="582358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14400" y="6318504"/>
            <a:ext cx="457200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verificação e avisos de avistamento, correspondência e devolução.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43" id="4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AutoShape 44" id="44"/>
          <p:cNvSpPr/>
          <p:nvPr/>
        </p:nvSpPr>
        <p:spPr>
          <a:xfrm rot="1980">
            <a:off x="881053" y="7707249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914400" y="8202168"/>
            <a:ext cx="4572000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Copilot no código; ChatGPT na busca exploratória e na identidade visual, com revisão do autor.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6528816" y="793880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57413" y="7938802"/>
            <a:ext cx="768096" cy="768096"/>
            <a:chOff x="0" y="0"/>
            <a:chExt cx="1024128" cy="1024128"/>
          </a:xfrm>
        </p:grpSpPr>
        <p:sp>
          <p:nvSpPr>
            <p:cNvPr name="Freeform 49" id="4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455270" y="7938802"/>
            <a:ext cx="768096" cy="768096"/>
            <a:chOff x="0" y="0"/>
            <a:chExt cx="1024128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183857" y="7938802"/>
            <a:ext cx="768096" cy="768096"/>
            <a:chOff x="0" y="0"/>
            <a:chExt cx="1024128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912454" y="7938802"/>
            <a:ext cx="768096" cy="768096"/>
            <a:chOff x="0" y="0"/>
            <a:chExt cx="1024128" cy="1024128"/>
          </a:xfrm>
        </p:grpSpPr>
        <p:sp>
          <p:nvSpPr>
            <p:cNvPr name="Freeform 55" id="55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49590" t="0" r="-4959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986010" y="7950232"/>
            <a:ext cx="508730" cy="745236"/>
            <a:chOff x="0" y="0"/>
            <a:chExt cx="678307" cy="99364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78307" cy="993648"/>
            </a:xfrm>
            <a:custGeom>
              <a:avLst/>
              <a:gdLst/>
              <a:ahLst/>
              <a:cxnLst/>
              <a:rect r="r" b="b" t="t" l="l"/>
              <a:pathLst>
                <a:path h="993648" w="678307">
                  <a:moveTo>
                    <a:pt x="0" y="0"/>
                  </a:moveTo>
                  <a:lnTo>
                    <a:pt x="678307" y="0"/>
                  </a:lnTo>
                  <a:lnTo>
                    <a:pt x="678307" y="993648"/>
                  </a:lnTo>
                  <a:lnTo>
                    <a:pt x="0" y="99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1419" r="0" b="-1419"/>
              </a:stretch>
            </a:blipFill>
          </p:spPr>
        </p:sp>
      </p:grpSp>
      <p:sp>
        <p:nvSpPr>
          <p:cNvPr name="TextBox 75" id="75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14400" y="2080260"/>
            <a:ext cx="4572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998464" y="3136392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82128" y="3136392"/>
            <a:ext cx="18288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765792" y="3136392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649456" y="3136392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533120" y="3136392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14400" y="3963924"/>
            <a:ext cx="45720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029184" y="5020056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912848" y="5020056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796512" y="5020056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680176" y="5020056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5563840" y="5020056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14400" y="5847588"/>
            <a:ext cx="4572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998464" y="6903720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882128" y="6903720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14400" y="7731252"/>
            <a:ext cx="45720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998464" y="8787384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772400" y="8787384"/>
            <a:ext cx="1828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390888" y="8787384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043780" y="8787384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808953" y="8787384"/>
            <a:ext cx="18288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4459826" y="8787384"/>
            <a:ext cx="18653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6053328" y="5004816"/>
            <a:ext cx="1828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5345918" y="3136392"/>
            <a:ext cx="1828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6641051" y="7938802"/>
            <a:ext cx="768096" cy="768096"/>
            <a:chOff x="0" y="0"/>
            <a:chExt cx="1024128" cy="102412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TextBox 103" id="103"/>
          <p:cNvSpPr txBox="true"/>
          <p:nvPr/>
        </p:nvSpPr>
        <p:spPr>
          <a:xfrm rot="0">
            <a:off x="16110699" y="8790994"/>
            <a:ext cx="186537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Copilot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0–100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0" y="2585085"/>
            <a:ext cx="82296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 entre perdido e 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3623310"/>
            <a:ext cx="804672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AutoShape 35" id="35"/>
          <p:cNvSpPr/>
          <p:nvPr/>
        </p:nvSpPr>
        <p:spPr>
          <a:xfrm rot="1980">
            <a:off x="876290" y="5453062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1440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Atributos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Espécie, sexo, porte, raça, pelagem e idade.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8368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Distância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8368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Haversine; sem GPS, compara cidade e bairro.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5296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5296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 na lista; 60 pts geram aviso (até 3).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853630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incompatíveis são descartados. Pesos definidos de forma empírica, ainda sem calibração com casos reais.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 na rua: avistamento, pista e rota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 o pet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viu marca no mapa se o animal está na rua ou em uma casa.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Pista quente, morna ou fria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Até 6 h é quente, até 48 h é morna; depois disso, fica sem rota.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Rota até uma área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Raio de ~150 m, deslocado 30 a 70 m; a pé, bike, carro ou ônibus.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Histórico no mapa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Círculos numerados (1 = mais recente), na cor da idade da pista.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Rotas calculadas com OSRM e Transitous. Nunca até a casa do tutor, um animal acolhido ou um animal para adoção.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Devolução segura e confiança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Fotos, vacina ou marcas ocultas; quem acolheu analisa pelo chat.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Encontro em local público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Dia, hora e ponto no mapa; confirmar, remarcar ou cancelar.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Publicação anônima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encontra pode publicar sem nome, para evitar julgamentos.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Classificação de membros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1 a 5 estrelas após 24 h sem mensagens; média no perfil.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 endereço de quem acolheu nunca é liberado. Todos os 48 participantes pediriam prova de tutela antes de devolver um animal.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7" id="1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397481" y="7691838"/>
            <a:ext cx="389184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8587740"/>
            <a:ext cx="640080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037132" y="6928799"/>
            <a:ext cx="2612546" cy="97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89362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397115" y="3811172"/>
            <a:ext cx="10479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97115" y="4306472"/>
            <a:ext cx="87344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339844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347597" y="3811172"/>
            <a:ext cx="132714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347597" y="4306472"/>
            <a:ext cx="9536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389409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7397115" y="6527673"/>
            <a:ext cx="140976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397115" y="7018925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#15803D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270371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4" y="0"/>
                </a:lnTo>
                <a:lnTo>
                  <a:pt x="1752304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278076" y="6523625"/>
            <a:ext cx="9221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78076" y="7018925"/>
            <a:ext cx="92215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#DB2777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329890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347597" y="6527673"/>
            <a:ext cx="95361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47597" y="7018925"/>
            <a:ext cx="9536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#D64545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397115" y="1988496"/>
            <a:ext cx="375643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a. Principais cores do aplicativo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397115" y="4707941"/>
            <a:ext cx="364336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b. Tipos de Publicação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7389409" y="7999171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7397115" y="9236069"/>
            <a:ext cx="70488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97115" y="9731369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#D97706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97115" y="7420394"/>
            <a:ext cx="40837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c. Avisos e elementos da interface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9339891" y="8003229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9347597" y="9240126"/>
            <a:ext cx="18059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Texto Principal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347597" y="9735426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#0F172A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1290373" y="8007286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1298079" y="9244174"/>
            <a:ext cx="84843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298079" y="9739474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#F6F8F6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13240855" y="8011335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0"/>
                </a:lnTo>
                <a:lnTo>
                  <a:pt x="0" y="122961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3248561" y="9248232"/>
            <a:ext cx="122395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Superfície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248561" y="9743532"/>
            <a:ext cx="95528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#FFFFFF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5920" y="2783681"/>
            <a:ext cx="3163824" cy="6474619"/>
            <a:chOff x="0" y="0"/>
            <a:chExt cx="4218432" cy="86328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8432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266" r="0" b="-426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577846" y="2088071"/>
            <a:ext cx="1299982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Tela inicial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669280" y="2783681"/>
            <a:ext cx="3163824" cy="6474619"/>
            <a:chOff x="0" y="0"/>
            <a:chExt cx="4218432" cy="8632825"/>
          </a:xfrm>
        </p:grpSpPr>
        <p:sp>
          <p:nvSpPr>
            <p:cNvPr name="Freeform 19" id="19" descr="/tmp/un/ppt/media/image39.jpeg"/>
            <p:cNvSpPr/>
            <p:nvPr/>
          </p:nvSpPr>
          <p:spPr>
            <a:xfrm flipH="false" flipV="false" rot="0">
              <a:off x="0" y="0"/>
              <a:ext cx="4218432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266" r="0" b="-4266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277356" y="2088071"/>
            <a:ext cx="1947672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94164" y="2783681"/>
            <a:ext cx="3162300" cy="6474619"/>
            <a:chOff x="0" y="0"/>
            <a:chExt cx="4216400" cy="8632825"/>
          </a:xfrm>
        </p:grpSpPr>
        <p:sp>
          <p:nvSpPr>
            <p:cNvPr name="Freeform 22" id="22" descr="/tmp/un/ppt/media/image40.jpeg"/>
            <p:cNvSpPr/>
            <p:nvPr/>
          </p:nvSpPr>
          <p:spPr>
            <a:xfrm flipH="false" flipV="false" rot="0">
              <a:off x="0" y="0"/>
              <a:ext cx="4216400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8632825"/>
                  </a:lnTo>
                  <a:lnTo>
                    <a:pt x="0" y="863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240" r="0" b="-424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6000">
            <a:off x="13746928" y="2780929"/>
            <a:ext cx="3176111" cy="6474619"/>
            <a:chOff x="0" y="0"/>
            <a:chExt cx="4234815" cy="8632825"/>
          </a:xfrm>
        </p:grpSpPr>
        <p:sp>
          <p:nvSpPr>
            <p:cNvPr name="Freeform 24" id="24" descr="/tmp/un/ppt/media/image41.jpeg"/>
            <p:cNvSpPr/>
            <p:nvPr/>
          </p:nvSpPr>
          <p:spPr>
            <a:xfrm flipH="false" flipV="false" rot="0">
              <a:off x="0" y="0"/>
              <a:ext cx="4234815" cy="8632825"/>
            </a:xfrm>
            <a:custGeom>
              <a:avLst/>
              <a:gdLst/>
              <a:ahLst/>
              <a:cxnLst/>
              <a:rect r="r" b="b" t="t" l="l"/>
              <a:pathLst>
                <a:path h="8632825" w="4234815">
                  <a:moveTo>
                    <a:pt x="0" y="6731"/>
                  </a:moveTo>
                  <a:lnTo>
                    <a:pt x="4218432" y="0"/>
                  </a:lnTo>
                  <a:lnTo>
                    <a:pt x="4234815" y="8626094"/>
                  </a:lnTo>
                  <a:lnTo>
                    <a:pt x="16383" y="8632825"/>
                  </a:lnTo>
                  <a:lnTo>
                    <a:pt x="0" y="6731"/>
                  </a:lnTo>
                  <a:close/>
                </a:path>
              </a:pathLst>
            </a:custGeom>
            <a:blipFill>
              <a:blip r:embed="rId11"/>
              <a:stretch>
                <a:fillRect l="0" t="-4477" r="0" b="-447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50055" y="2085308"/>
            <a:ext cx="1850507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977176" y="2085308"/>
            <a:ext cx="2715635" cy="45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20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19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17118" y="2317118"/>
            <a:ext cx="13653802" cy="6612922"/>
            <a:chOff x="0" y="0"/>
            <a:chExt cx="18205069" cy="88172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05069" cy="8817229"/>
            </a:xfrm>
            <a:custGeom>
              <a:avLst/>
              <a:gdLst/>
              <a:ahLst/>
              <a:cxnLst/>
              <a:rect r="r" b="b" t="t" l="l"/>
              <a:pathLst>
                <a:path h="8817229" w="18205069">
                  <a:moveTo>
                    <a:pt x="0" y="0"/>
                  </a:moveTo>
                  <a:lnTo>
                    <a:pt x="18205069" y="0"/>
                  </a:lnTo>
                  <a:lnTo>
                    <a:pt x="18205069" y="8817229"/>
                  </a:lnTo>
                  <a:lnTo>
                    <a:pt x="0" y="8817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19" id="1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77440" y="6972300"/>
            <a:ext cx="1353312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foi examinado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4697730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em set. e out. de 2026, no Redmi Note 13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12064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2064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20640" y="4697730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45 b" id="68"/>
          <p:cNvGrpSpPr/>
          <p:nvPr/>
        </p:nvGrpSpPr>
        <p:grpSpPr>
          <a:xfrm rot="0">
            <a:off x="12938759" y="2095976"/>
            <a:ext cx="548640" cy="1561624"/>
            <a:chOff x="0" y="0"/>
            <a:chExt cx="731520" cy="2082165"/>
          </a:xfrm>
        </p:grpSpPr>
        <p:sp>
          <p:nvSpPr>
            <p:cNvPr name="Freeform 46 b" id="69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197" t="0" r="-315197" b="0"/>
              </a:stretch>
            </a:blipFill>
          </p:spPr>
        </p:sp>
        <p:sp>
          <p:nvSpPr>
            <p:cNvPr name="TextBox 47 b" id="70"/>
            <p:cNvSpPr txBox="true"/>
            <p:nvPr/>
          </p:nvSpPr>
          <p:spPr>
            <a:xfrm>
              <a:off x="0" y="-123825"/>
              <a:ext cx="731520" cy="2205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9326880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8 b" id="65"/>
          <p:cNvSpPr txBox="true"/>
          <p:nvPr/>
        </p:nvSpPr>
        <p:spPr>
          <a:xfrm rot="0">
            <a:off x="13533119" y="2411730"/>
            <a:ext cx="18288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26880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49 b" id="66"/>
          <p:cNvSpPr txBox="true"/>
          <p:nvPr/>
        </p:nvSpPr>
        <p:spPr>
          <a:xfrm rot="0">
            <a:off x="13533119" y="3783330"/>
            <a:ext cx="384048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326880" y="4697730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50 b" id="67"/>
          <p:cNvSpPr txBox="true"/>
          <p:nvPr/>
        </p:nvSpPr>
        <p:spPr>
          <a:xfrm rot="0">
            <a:off x="13533119" y="4697730"/>
            <a:ext cx="3566160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20 pares fictícios, em 16/10/2026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2594610"/>
            <a:ext cx="82296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80460"/>
            <a:ext cx="804672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81053" y="545782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368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296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583930"/>
            <a:ext cx="164592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" r="0" b="-21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087529"/>
            <a:ext cx="4937760" cy="1850231"/>
            <a:chOff x="0" y="0"/>
            <a:chExt cx="6583680" cy="2466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2466975"/>
            </a:xfrm>
            <a:custGeom>
              <a:avLst/>
              <a:gdLst/>
              <a:ahLst/>
              <a:cxnLst/>
              <a:rect r="r" b="b" t="t" l="l"/>
              <a:pathLst>
                <a:path h="246697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6975"/>
                  </a:lnTo>
                  <a:lnTo>
                    <a:pt x="0" y="2466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3" r="0" b="-196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080385"/>
            <a:ext cx="4937760" cy="1857375"/>
            <a:chOff x="0" y="0"/>
            <a:chExt cx="6583680" cy="247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4" r="0" b="-176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073241"/>
            <a:ext cx="4937760" cy="1864519"/>
            <a:chOff x="0" y="0"/>
            <a:chExt cx="6583680" cy="2486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2486025"/>
            </a:xfrm>
            <a:custGeom>
              <a:avLst/>
              <a:gdLst/>
              <a:ahLst/>
              <a:cxnLst/>
              <a:rect r="r" b="b" t="t" l="l"/>
              <a:pathLst>
                <a:path h="24860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86025"/>
                  </a:lnTo>
                  <a:lnTo>
                    <a:pt x="0" y="24860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01" r="0" b="-1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4800600"/>
            <a:ext cx="457200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6469380"/>
            <a:ext cx="47548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6995160"/>
            <a:ext cx="4572000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21" id="2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9" t="0" r="-29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583680" y="7943850"/>
            <a:ext cx="10789920" cy="138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68580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 testada com 20 pares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8/10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144000" y="2594610"/>
            <a:ext cx="822960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pares do mesmo animal foram sugeridos (limiar de 55)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3680460"/>
            <a:ext cx="804672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Mas 6 dos 10 pares de animais diferentes também foram.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81053" y="5457825"/>
            <a:ext cx="1652588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91440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55 pontos: lista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14 sugestões (57%).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8368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60 pontos: aviso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8368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13 sugestões (62%).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52960" y="5977890"/>
            <a:ext cx="512064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Por que errou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252960" y="6574536"/>
            <a:ext cx="5120640" cy="1325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Cores sinônimas, raça com hífen; idade e distância pesam pouco.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4400" y="8583930"/>
            <a:ext cx="164592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em 16/10/2026 com 20 pares fictícios em Pelotas. A pontuação é uma sugestão; as pessoas confirmam.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32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322195"/>
            <a:ext cx="9144000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9895"/>
            <a:ext cx="6400800" cy="244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82590"/>
            <a:ext cx="155448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433185"/>
            <a:ext cx="15544800" cy="93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09685"/>
            <a:ext cx="1645920" cy="54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83464"/>
            <a:ext cx="146304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3061" r="0" b="-23306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194560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e testadas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368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8368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SUS feito em set./2026: funções novas sem teste com usuários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Privacidade de usuários logados ainda depende da interface</a:t>
            </a:r>
          </a:p>
        </p:txBody>
      </p:sp>
      <p:sp>
        <p:nvSpPr>
          <p:cNvPr name="AutoShape 20" id="20"/>
          <p:cNvSpPr/>
          <p:nvPr/>
        </p:nvSpPr>
        <p:spPr>
          <a:xfrm rot="5400000">
            <a:off x="2728922" y="5640705"/>
            <a:ext cx="700662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2252960" y="2080260"/>
            <a:ext cx="5120640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52960" y="2948940"/>
            <a:ext cx="5120640" cy="619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Restringir no banco os dados de perfil e as coordenadas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400050" indent="-400050" lvl="0">
              <a:lnSpc>
                <a:spcPts val="3120"/>
              </a:lnSpc>
              <a:buFont typeface="Arial"/>
              <a:buChar char="￭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23" id="23"/>
          <p:cNvSpPr/>
          <p:nvPr/>
        </p:nvSpPr>
        <p:spPr>
          <a:xfrm rot="5400000">
            <a:off x="8399145" y="5640705"/>
            <a:ext cx="700662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14400" y="2049780"/>
            <a:ext cx="7863840" cy="713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Lei nº 13.709, de 14 de agosto de 2018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Lei Geral de Proteção de Dados Pessoais (LGPD). Brasília, DF: Presidência da República,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CAVOUKIAN, A.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by Design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the 7 foundational principles. Toronto: Information and Privacy Commissioner of Ontario, 2009.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github.com/MobSF/Mobile-Security-Framework-MobSF.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72600" y="2049780"/>
            <a:ext cx="7863840" cy="713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 Education do Brasil,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Anais [...].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59200" y="9509760"/>
            <a:ext cx="914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46370"/>
            <a:ext cx="1463040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515100"/>
            <a:ext cx="14630400" cy="98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646670"/>
            <a:ext cx="1463040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401050"/>
            <a:ext cx="14630400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557212"/>
            <a:ext cx="146304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Baixe e teste o WeFIND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