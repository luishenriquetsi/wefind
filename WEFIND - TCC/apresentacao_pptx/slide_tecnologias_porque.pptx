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76" r:id="rId26"/>
  </p:sldIdLst>
  <p:sldSz cx="18288000" cy="10287000"/>
  <p:notesSz cx="6858000" cy="9144000"/>
  <p:embeddedFontLst>
    <p:embeddedFont>
      <p:font typeface="Cooper BT Bold" charset="1" panose="0208080404030B020404"/>
      <p:regular r:id="rId36"/>
    </p:embeddedFont>
    <p:embeddedFont>
      <p:font typeface="Cooper BT Light" charset="1" panose="0208050304030B020404"/>
      <p:regular r:id="rId37"/>
    </p:embeddedFont>
    <p:embeddedFont>
      <p:font typeface="Cambria Bold" charset="1" panose="02040803050406030204"/>
      <p:regular r:id="rId38"/>
    </p:embeddedFont>
    <p:embeddedFont>
      <p:font typeface="Calibri (MS)" charset="1" panose="020F0502020204030204"/>
      <p:regular r:id="rId39"/>
    </p:embeddedFont>
    <p:embeddedFont>
      <p:font typeface="Calibri (MS) Bold" charset="1" panose="020F0702030404030204"/>
      <p:regular r:id="rId40"/>
    </p:embeddedFont>
    <p:embeddedFont>
      <p:font typeface="Calibri (MS) Italics" charset="1" panose="020F05020202040A0204"/>
      <p:regular r:id="rId41"/>
    </p:embeddedFont>
    <p:embeddedFont>
      <p:font typeface="Roboto Bold" charset="1" panose="02000000000000000000"/>
      <p:regular r:id="rId42"/>
    </p:embeddedFont>
    <p:embeddedFont>
      <p:font typeface="Roboto" charset="1" panose="02000000000000000000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26" Type="http://schemas.openxmlformats.org/officeDocument/2006/relationships/slide" Target="slides/slide21.xml"/><Relationship Id="rId36" Type="http://schemas.openxmlformats.org/officeDocument/2006/relationships/font" Target="fonts/font36.fntdata"/><Relationship Id="rId37" Type="http://schemas.openxmlformats.org/officeDocument/2006/relationships/font" Target="fonts/font37.fntdata"/><Relationship Id="rId38" Type="http://schemas.openxmlformats.org/officeDocument/2006/relationships/font" Target="fonts/font38.fntdata"/><Relationship Id="rId39" Type="http://schemas.openxmlformats.org/officeDocument/2006/relationships/font" Target="fonts/font39.fntdata"/><Relationship Id="rId40" Type="http://schemas.openxmlformats.org/officeDocument/2006/relationships/font" Target="fonts/font40.fntdata"/><Relationship Id="rId41" Type="http://schemas.openxmlformats.org/officeDocument/2006/relationships/font" Target="fonts/font41.fntdata"/><Relationship Id="rId42" Type="http://schemas.openxmlformats.org/officeDocument/2006/relationships/font" Target="fonts/font42.fntdata"/><Relationship Id="rId43" Type="http://schemas.openxmlformats.org/officeDocument/2006/relationships/font" Target="fonts/font43.fntdata"/><Relationship Id="rId4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JavaScript: escolhi pela familiaridade, e é a linguagem do React Native.</a:t>
            </a:r>
          </a:p>
          <a:p>
            <a:r>
              <a:t>React Native: com um código só, o app roda no Android e no iOS.</a:t>
            </a:r>
          </a:p>
          <a:p>
            <a:r>
              <a:t>Expo: testo direto no celular e gero o instalador sem configuração complicada.</a:t>
            </a:r>
          </a:p>
          <a:p>
            <a:r>
              <a:t>Google Maps: é o mapa que as pessoas já conhecem, com integração pronta.</a:t>
            </a:r>
          </a:p>
          <a:p>
            <a:r>
              <a:t>API do Google: login em um toque, sem criar senha.</a:t>
            </a:r>
          </a:p>
          <a:p>
            <a:r>
              <a:t>Supabase: em vez de montar um servidor do zero, já entrega login, banco e fotos, e escala conforme o app cresce.</a:t>
            </a:r>
          </a:p>
          <a:p>
            <a:r>
              <a:t>PostgreSQL: banco relacional, com regras de acesso por usuário (RLS).</a:t>
            </a:r>
          </a:p>
          <a:p>
            <a:r>
              <a:t>WhatsApp: é onde as pessoas já estão. A Evolution API, hospedada no Render, envia os códigos e avisos de graça.</a:t>
            </a:r>
          </a:p>
          <a:p>
            <a:r>
              <a:t>Apoio: Git e GitHub para versões, Trello com quadro Kanban, Figma para as telas, Astah para a UML, VS Code, e ChatGPT e Copilot como apoio, sempre revisado.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10.jpeg"/><Relationship Id="rId10" Type="http://schemas.openxmlformats.org/officeDocument/2006/relationships/image" Target="../media/image11.jpeg"/><Relationship Id="rId11" Type="http://schemas.openxmlformats.org/officeDocument/2006/relationships/image" Target="../media/image62.png"/><Relationship Id="rId12" Type="http://schemas.openxmlformats.org/officeDocument/2006/relationships/image" Target="../media/image75.png"/><Relationship Id="rId13" Type="http://schemas.openxmlformats.org/officeDocument/2006/relationships/image" Target="../media/image64.png"/><Relationship Id="rId14" Type="http://schemas.openxmlformats.org/officeDocument/2006/relationships/image" Target="../media/image76.png"/><Relationship Id="rId15" Type="http://schemas.openxmlformats.org/officeDocument/2006/relationships/image" Target="../media/image77.png"/><Relationship Id="rId16" Type="http://schemas.openxmlformats.org/officeDocument/2006/relationships/image" Target="../media/image78.png"/><Relationship Id="rId17" Type="http://schemas.openxmlformats.org/officeDocument/2006/relationships/image" Target="../media/image79.png"/><Relationship Id="rId18" Type="http://schemas.openxmlformats.org/officeDocument/2006/relationships/image" Target="../media/image80.png"/><Relationship Id="rId19" Type="http://schemas.openxmlformats.org/officeDocument/2006/relationships/image" Target="../media/image73.png"/><Relationship Id="rId20" Type="http://schemas.openxmlformats.org/officeDocument/2006/relationships/image" Target="../media/image81.png"/><Relationship Id="rId21" Type="http://schemas.openxmlformats.org/officeDocument/2006/relationships/image" Target="../media/image82.png"/><Relationship Id="rId22" Type="http://schemas.openxmlformats.org/officeDocument/2006/relationships/image" Target="../media/image83.png"/><Relationship Id="rId23" Type="http://schemas.openxmlformats.org/officeDocument/2006/relationships/image" Target="../media/image84.png"/><Relationship Id="rId24" Type="http://schemas.openxmlformats.org/officeDocument/2006/relationships/image" Target="../media/image85.png"/><Relationship Id="rId25" Type="http://schemas.openxmlformats.org/officeDocument/2006/relationships/image" Target="../media/image86.png"/><Relationship Id="rId26" Type="http://schemas.openxmlformats.org/officeDocument/2006/relationships/image" Target="../media/image87.png"/><Relationship Id="rId27" Type="http://schemas.openxmlformats.org/officeDocument/2006/relationships/image" Target="../media/image88.png"/><Relationship Id="rId28" Type="http://schemas.openxmlformats.org/officeDocument/2006/relationships/notesSlide" Target="../notesSlides/notesSlide1.xml"/></Relationships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" y="864394"/>
            <a:ext cx="16459200" cy="1147286"/>
            <a:chOff x="0" y="0"/>
            <a:chExt cx="21945600" cy="152971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1529715"/>
            </a:xfrm>
            <a:custGeom>
              <a:avLst/>
              <a:gdLst/>
              <a:ahLst/>
              <a:cxnLst/>
              <a:rect r="r" b="b" t="t" l="l"/>
              <a:pathLst>
                <a:path h="15297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9715"/>
                  </a:lnTo>
                  <a:lnTo>
                    <a:pt x="0" y="152971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9341" r="0" b="-229342"/>
              </a:stretch>
            </a:blipFill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914400" y="857250"/>
            <a:ext cx="16459200" cy="1154430"/>
            <a:chOff x="0" y="0"/>
            <a:chExt cx="21945600" cy="15392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0" cy="1539240"/>
            </a:xfrm>
            <a:custGeom>
              <a:avLst/>
              <a:gdLst/>
              <a:ahLst/>
              <a:cxnLst/>
              <a:rect r="r" b="b" t="t" l="l"/>
              <a:pathLst>
                <a:path h="15392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39240"/>
                  </a:lnTo>
                  <a:lnTo>
                    <a:pt x="0" y="15392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27806" r="0" b="-227806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2194560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Tecnologias: por que cada escolha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25" id="25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  <p:txBody>
            <a:bodyPr/>
            <a:p/>
          </p:txBody>
        </p:sp>
      </p:grpSp>
      <p:grpSp>
        <p:nvGrpSpPr>
          <p:cNvPr name="Group 27" id="27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  <p:txBody>
            <a:bodyPr/>
            <a:p/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  <p:txBody>
            <a:bodyPr/>
            <a:p/>
          </p:txBody>
        </p:sp>
      </p:grpSp>
      <p:grpSp>
        <p:nvGrpSpPr>
          <p:cNvPr name="Group 33" id="33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  <p:txBody>
            <a:bodyPr/>
            <a:p/>
          </p:txBody>
        </p:sp>
      </p:grpSp>
      <p:grpSp>
        <p:nvGrpSpPr>
          <p:cNvPr name="Group 35" id="35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348" r="0" b="-200346"/>
              </a:stretch>
            </a:blipFill>
          </p:spPr>
          <p:txBody>
            <a:bodyPr/>
            <a:p/>
          </p:txBody>
        </p:sp>
      </p:grpSp>
      <p:grpSp>
        <p:nvGrpSpPr>
          <p:cNvPr name="Group 37" id="37"/>
          <p:cNvGrpSpPr/>
          <p:nvPr/>
        </p:nvGrpSpPr>
        <p:grpSpPr>
          <a:xfrm rot="0">
            <a:off x="822960" y="9344025"/>
            <a:ext cx="8229600" cy="668655"/>
            <a:chOff x="0" y="0"/>
            <a:chExt cx="10972800" cy="8915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72800" cy="891540"/>
            </a:xfrm>
            <a:custGeom>
              <a:avLst/>
              <a:gdLst/>
              <a:ahLst/>
              <a:cxnLst/>
              <a:rect r="r" b="b" t="t" l="l"/>
              <a:pathLst>
                <a:path h="8915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91540"/>
                  </a:lnTo>
                  <a:lnTo>
                    <a:pt x="0" y="8915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89815" r="0" b="-189815"/>
              </a:stretch>
            </a:blipFill>
          </p:spPr>
          <p:txBody>
            <a:bodyPr/>
            <a:p/>
          </p:txBody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097280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914400" y="169164"/>
            <a:ext cx="6858000" cy="70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DESENVOLVIMENTO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459200" y="9395460"/>
            <a:ext cx="9144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21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14400" y="2103120"/>
            <a:ext cx="16459200" cy="1828800"/>
            <a:chOff x="0" y="0"/>
            <a:chExt cx="21945600" cy="2438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19456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194560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21652992" y="0"/>
                  </a:lnTo>
                  <a:cubicBezTo>
                    <a:pt x="21814537" y="0"/>
                    <a:pt x="21945600" y="131064"/>
                    <a:pt x="21945600" y="292608"/>
                  </a:cubicBezTo>
                  <a:lnTo>
                    <a:pt x="21945600" y="2145792"/>
                  </a:lnTo>
                  <a:cubicBezTo>
                    <a:pt x="21945600" y="2307336"/>
                    <a:pt x="21814537" y="2438400"/>
                    <a:pt x="21652992" y="2438400"/>
                  </a:cubicBezTo>
                  <a:lnTo>
                    <a:pt x="292608" y="2438400"/>
                  </a:lnTo>
                  <a:cubicBezTo>
                    <a:pt x="131064" y="2438400"/>
                    <a:pt x="0" y="2307336"/>
                    <a:pt x="0" y="2145792"/>
                  </a:cubicBezTo>
                  <a:close/>
                </a:path>
              </a:pathLst>
            </a:custGeom>
            <a:solidFill>
              <a:srgbClr val="EEF3ED"/>
            </a:solidFill>
          </p:spPr>
          <p:txBody>
            <a:bodyPr/>
            <a:p/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80160" y="2103120"/>
            <a:ext cx="4206240" cy="1828800"/>
            <a:chOff x="0" y="0"/>
            <a:chExt cx="5608320" cy="2438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6083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5784" t="0" r="-5784" b="0"/>
              </a:stretch>
            </a:blipFill>
          </p:spPr>
          <p:txBody>
            <a:bodyPr/>
            <a:p/>
          </p:txBody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5608320" cy="2447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Aplicativo</a:t>
              </a:r>
            </a:p>
            <a:p>
              <a:pPr algn="l">
                <a:lnSpc>
                  <a:spcPts val="2040"/>
                </a:lnSpc>
              </a:pPr>
              <a:r>
                <a:rPr lang="en-US" sz="1700" b="true">
                  <a:solidFill>
                    <a:srgbClr val="B1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um código para Android e iOS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8193024" y="2887980"/>
            <a:ext cx="1865376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React Native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Android e iOS juntos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497312" y="2887980"/>
            <a:ext cx="1865376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Expo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testa direto no celular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888736" y="2887980"/>
            <a:ext cx="1865376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JavaScript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já tinha familiaridade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801600" y="2887980"/>
            <a:ext cx="1865376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Google Maps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mapa já conhecido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5105888" y="2887980"/>
            <a:ext cx="1865376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Google API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login sem criar senha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914400" y="4069080"/>
            <a:ext cx="16459200" cy="1645920"/>
            <a:chOff x="0" y="0"/>
            <a:chExt cx="21945600" cy="21945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1945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0">
                  <a:moveTo>
                    <a:pt x="0" y="263398"/>
                  </a:moveTo>
                  <a:cubicBezTo>
                    <a:pt x="0" y="117856"/>
                    <a:pt x="117856" y="0"/>
                    <a:pt x="263398" y="0"/>
                  </a:cubicBezTo>
                  <a:lnTo>
                    <a:pt x="21682202" y="0"/>
                  </a:lnTo>
                  <a:cubicBezTo>
                    <a:pt x="21827744" y="0"/>
                    <a:pt x="21945600" y="117856"/>
                    <a:pt x="21945600" y="263398"/>
                  </a:cubicBezTo>
                  <a:lnTo>
                    <a:pt x="21945600" y="1931162"/>
                  </a:lnTo>
                  <a:cubicBezTo>
                    <a:pt x="21945600" y="2076577"/>
                    <a:pt x="21827744" y="2194560"/>
                    <a:pt x="21682202" y="2194560"/>
                  </a:cubicBezTo>
                  <a:lnTo>
                    <a:pt x="263398" y="2194560"/>
                  </a:lnTo>
                  <a:cubicBezTo>
                    <a:pt x="117856" y="2194560"/>
                    <a:pt x="0" y="2076704"/>
                    <a:pt x="0" y="1931162"/>
                  </a:cubicBezTo>
                  <a:close/>
                </a:path>
              </a:pathLst>
            </a:custGeom>
            <a:solidFill>
              <a:srgbClr val="EEF3ED"/>
            </a:solidFill>
          </p:spPr>
          <p:txBody>
            <a:bodyPr/>
            <a:p/>
          </p:txBody>
        </p:sp>
      </p:grpSp>
      <p:grpSp>
        <p:nvGrpSpPr>
          <p:cNvPr name="Group 55" id="55"/>
          <p:cNvGrpSpPr/>
          <p:nvPr/>
        </p:nvGrpSpPr>
        <p:grpSpPr>
          <a:xfrm rot="0">
            <a:off x="1280160" y="4069080"/>
            <a:ext cx="4206240" cy="1645920"/>
            <a:chOff x="0" y="0"/>
            <a:chExt cx="5608320" cy="21945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6083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205" t="0" r="-205" b="0"/>
              </a:stretch>
            </a:blipFill>
          </p:spPr>
          <p:txBody>
            <a:bodyPr/>
            <a:p/>
          </p:txBody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560832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Backend</a:t>
              </a:r>
            </a:p>
            <a:p>
              <a:pPr algn="l">
                <a:lnSpc>
                  <a:spcPts val="2040"/>
                </a:lnSpc>
              </a:pPr>
              <a:r>
                <a:rPr lang="en-US" sz="1700" b="true">
                  <a:solidFill>
                    <a:srgbClr val="B1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tudo pronto, sem servidor próprio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6812280" y="4069080"/>
            <a:ext cx="4572000" cy="1645920"/>
            <a:chOff x="0" y="0"/>
            <a:chExt cx="6096000" cy="21945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096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4125" r="0" b="-4125"/>
              </a:stretch>
            </a:blipFill>
          </p:spPr>
          <p:txBody>
            <a:bodyPr/>
            <a:p/>
          </p:txBody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609600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B2A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Supabase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pronto, sem servidor do zero, e escala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2481560" y="4069080"/>
            <a:ext cx="4572000" cy="1645920"/>
            <a:chOff x="0" y="0"/>
            <a:chExt cx="6096000" cy="219456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096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4125" r="0" b="-4125"/>
              </a:stretch>
            </a:blipFill>
          </p:spPr>
          <p:txBody>
            <a:bodyPr/>
            <a:p/>
          </p:txBody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609600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B2A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PostgreSQL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dados relacionados, com regras de acesso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14400" y="5852160"/>
            <a:ext cx="16459200" cy="1645920"/>
            <a:chOff x="0" y="0"/>
            <a:chExt cx="21945600" cy="21945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1945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0">
                  <a:moveTo>
                    <a:pt x="0" y="263398"/>
                  </a:moveTo>
                  <a:cubicBezTo>
                    <a:pt x="0" y="117856"/>
                    <a:pt x="117856" y="0"/>
                    <a:pt x="263398" y="0"/>
                  </a:cubicBezTo>
                  <a:lnTo>
                    <a:pt x="21682202" y="0"/>
                  </a:lnTo>
                  <a:cubicBezTo>
                    <a:pt x="21827744" y="0"/>
                    <a:pt x="21945600" y="117856"/>
                    <a:pt x="21945600" y="263398"/>
                  </a:cubicBezTo>
                  <a:lnTo>
                    <a:pt x="21945600" y="1931162"/>
                  </a:lnTo>
                  <a:cubicBezTo>
                    <a:pt x="21945600" y="2076577"/>
                    <a:pt x="21827744" y="2194560"/>
                    <a:pt x="21682202" y="2194560"/>
                  </a:cubicBezTo>
                  <a:lnTo>
                    <a:pt x="263398" y="2194560"/>
                  </a:lnTo>
                  <a:cubicBezTo>
                    <a:pt x="117856" y="2194560"/>
                    <a:pt x="0" y="2076704"/>
                    <a:pt x="0" y="1931162"/>
                  </a:cubicBezTo>
                  <a:close/>
                </a:path>
              </a:pathLst>
            </a:custGeom>
            <a:solidFill>
              <a:srgbClr val="EEF3ED"/>
            </a:solidFill>
          </p:spPr>
          <p:txBody>
            <a:bodyPr/>
            <a:p/>
          </p:txBody>
        </p:sp>
      </p:grpSp>
      <p:grpSp>
        <p:nvGrpSpPr>
          <p:cNvPr name="Group 66" id="66"/>
          <p:cNvGrpSpPr/>
          <p:nvPr/>
        </p:nvGrpSpPr>
        <p:grpSpPr>
          <a:xfrm rot="0">
            <a:off x="1280160" y="5852160"/>
            <a:ext cx="4206240" cy="1645920"/>
            <a:chOff x="0" y="0"/>
            <a:chExt cx="5608320" cy="219456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6083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205" t="0" r="-205" b="0"/>
              </a:stretch>
            </a:blipFill>
          </p:spPr>
          <p:txBody>
            <a:bodyPr/>
            <a:p/>
          </p:txBody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560832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Mensageria</a:t>
              </a:r>
            </a:p>
            <a:p>
              <a:pPr algn="l">
                <a:lnSpc>
                  <a:spcPts val="2040"/>
                </a:lnSpc>
              </a:pPr>
              <a:r>
                <a:rPr lang="en-US" sz="1700" b="true">
                  <a:solidFill>
                    <a:srgbClr val="B1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onde as pessoas já estão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6812280" y="5852160"/>
            <a:ext cx="4572000" cy="1645920"/>
            <a:chOff x="0" y="0"/>
            <a:chExt cx="6096000" cy="219456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096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4125" r="0" b="-4125"/>
              </a:stretch>
            </a:blipFill>
          </p:spPr>
          <p:txBody>
            <a:bodyPr/>
            <a:p/>
          </p:txBody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609600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B2A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WhatsApp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 app que todos já usam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2481560" y="5852160"/>
            <a:ext cx="4572000" cy="1645920"/>
            <a:chOff x="0" y="0"/>
            <a:chExt cx="6096000" cy="219456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096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4125" r="0" b="-4125"/>
              </a:stretch>
            </a:blipFill>
          </p:spPr>
          <p:txBody>
            <a:bodyPr/>
            <a:p/>
          </p:txBody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609600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B2A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Render + Evolution API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envio automático e gratuito pelo WhatsApp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14400" y="7635240"/>
            <a:ext cx="16459200" cy="1508760"/>
            <a:chOff x="0" y="0"/>
            <a:chExt cx="21945600" cy="201168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19456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1945600">
                  <a:moveTo>
                    <a:pt x="0" y="241427"/>
                  </a:moveTo>
                  <a:cubicBezTo>
                    <a:pt x="0" y="108077"/>
                    <a:pt x="108077" y="0"/>
                    <a:pt x="241427" y="0"/>
                  </a:cubicBezTo>
                  <a:lnTo>
                    <a:pt x="21704173" y="0"/>
                  </a:lnTo>
                  <a:cubicBezTo>
                    <a:pt x="21837523" y="0"/>
                    <a:pt x="21945600" y="108077"/>
                    <a:pt x="21945600" y="241427"/>
                  </a:cubicBezTo>
                  <a:lnTo>
                    <a:pt x="21945600" y="1770253"/>
                  </a:lnTo>
                  <a:cubicBezTo>
                    <a:pt x="21945600" y="1903603"/>
                    <a:pt x="21837523" y="2011680"/>
                    <a:pt x="21704173" y="2011680"/>
                  </a:cubicBezTo>
                  <a:lnTo>
                    <a:pt x="241427" y="2011680"/>
                  </a:lnTo>
                  <a:cubicBezTo>
                    <a:pt x="108077" y="2011680"/>
                    <a:pt x="0" y="1903603"/>
                    <a:pt x="0" y="1770253"/>
                  </a:cubicBezTo>
                  <a:close/>
                </a:path>
              </a:pathLst>
            </a:custGeom>
            <a:solidFill>
              <a:srgbClr val="EEF3ED"/>
            </a:solidFill>
          </p:spPr>
          <p:txBody>
            <a:bodyPr/>
            <a:p/>
          </p:txBody>
        </p:sp>
      </p:grpSp>
      <p:grpSp>
        <p:nvGrpSpPr>
          <p:cNvPr name="Group 77" id="77"/>
          <p:cNvGrpSpPr/>
          <p:nvPr/>
        </p:nvGrpSpPr>
        <p:grpSpPr>
          <a:xfrm rot="0">
            <a:off x="1280160" y="7635240"/>
            <a:ext cx="4206240" cy="1508760"/>
            <a:chOff x="0" y="0"/>
            <a:chExt cx="5608320" cy="201168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608320" cy="2011680"/>
            </a:xfrm>
            <a:custGeom>
              <a:avLst/>
              <a:gdLst/>
              <a:ahLst/>
              <a:cxnLst/>
              <a:rect r="r" b="b" t="t" l="l"/>
              <a:pathLst>
                <a:path h="201168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4321" r="0" b="-4321"/>
              </a:stretch>
            </a:blipFill>
          </p:spPr>
          <p:txBody>
            <a:bodyPr/>
            <a:p/>
          </p:txBody>
        </p:sp>
        <p:sp>
          <p:nvSpPr>
            <p:cNvPr name="TextBox 79" id="79"/>
            <p:cNvSpPr txBox="true"/>
            <p:nvPr/>
          </p:nvSpPr>
          <p:spPr>
            <a:xfrm>
              <a:off x="0" y="-9525"/>
              <a:ext cx="5608320" cy="2021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Apoio</a:t>
              </a:r>
            </a:p>
            <a:p>
              <a:pPr algn="l">
                <a:lnSpc>
                  <a:spcPts val="2040"/>
                </a:lnSpc>
              </a:pPr>
              <a:r>
                <a:rPr lang="en-US" sz="1700" b="true">
                  <a:solidFill>
                    <a:srgbClr val="B1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organizar e construir</a:t>
              </a:r>
            </a:p>
          </p:txBody>
        </p:sp>
      </p:grpSp>
      <p:sp>
        <p:nvSpPr>
          <p:cNvPr name="TextBox 80" id="80"/>
          <p:cNvSpPr txBox="true"/>
          <p:nvPr/>
        </p:nvSpPr>
        <p:spPr>
          <a:xfrm rot="0">
            <a:off x="5696712" y="8420100"/>
            <a:ext cx="1591056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Git e GitHub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versões do código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7342632" y="8420100"/>
            <a:ext cx="1591056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Trello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quadro Kanban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8988552" y="8420100"/>
            <a:ext cx="1591056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Figma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protótipo das telas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0634472" y="8420100"/>
            <a:ext cx="1591056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Astah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diagramas UML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2280392" y="8420100"/>
            <a:ext cx="1591056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VS Code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editor gratuito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3926312" y="8420100"/>
            <a:ext cx="1591056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ChatGPT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apoio revisado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5572232" y="8420100"/>
            <a:ext cx="1591056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Copilot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sugere código</a:t>
            </a:r>
          </a:p>
        </p:txBody>
      </p:sp>
      <p:grpSp>
        <p:nvGrpSpPr>
          <p:cNvPr name="Group 87" id="87"/>
          <p:cNvGrpSpPr/>
          <p:nvPr/>
        </p:nvGrpSpPr>
        <p:grpSpPr>
          <a:xfrm rot="0">
            <a:off x="8874252" y="2331720"/>
            <a:ext cx="502920" cy="502920"/>
            <a:chOff x="0" y="0"/>
            <a:chExt cx="670560" cy="670560"/>
          </a:xfrm>
        </p:grpSpPr>
        <p:sp>
          <p:nvSpPr>
            <p:cNvPr name="Freeform 88" id="88" descr="/tmp/un/ppt/media/image53.png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89" id="89"/>
          <p:cNvGrpSpPr/>
          <p:nvPr/>
        </p:nvGrpSpPr>
        <p:grpSpPr>
          <a:xfrm rot="0">
            <a:off x="11178540" y="2331720"/>
            <a:ext cx="502920" cy="502920"/>
            <a:chOff x="0" y="0"/>
            <a:chExt cx="670560" cy="67056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91" id="91"/>
          <p:cNvGrpSpPr/>
          <p:nvPr/>
        </p:nvGrpSpPr>
        <p:grpSpPr>
          <a:xfrm rot="0">
            <a:off x="6569964" y="2331720"/>
            <a:ext cx="502920" cy="502920"/>
            <a:chOff x="0" y="0"/>
            <a:chExt cx="670560" cy="670560"/>
          </a:xfrm>
        </p:grpSpPr>
        <p:sp>
          <p:nvSpPr>
            <p:cNvPr name="Freeform 92" id="92" descr="/tmp/un/ppt/media/image55.png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95" id="95"/>
          <p:cNvGrpSpPr/>
          <p:nvPr/>
        </p:nvGrpSpPr>
        <p:grpSpPr>
          <a:xfrm rot="0">
            <a:off x="13482828" y="2331720"/>
            <a:ext cx="502920" cy="502920"/>
            <a:chOff x="0" y="0"/>
            <a:chExt cx="670560" cy="67056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97" id="97"/>
          <p:cNvGrpSpPr/>
          <p:nvPr/>
        </p:nvGrpSpPr>
        <p:grpSpPr>
          <a:xfrm rot="0">
            <a:off x="15684836" y="2331720"/>
            <a:ext cx="707479" cy="502920"/>
            <a:chOff x="0" y="0"/>
            <a:chExt cx="943305" cy="67056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943356" cy="670560"/>
            </a:xfrm>
            <a:custGeom>
              <a:avLst/>
              <a:gdLst/>
              <a:ahLst/>
              <a:cxnLst/>
              <a:rect r="r" b="b" t="t" l="l"/>
              <a:pathLst>
                <a:path h="670560" w="943356">
                  <a:moveTo>
                    <a:pt x="0" y="0"/>
                  </a:moveTo>
                  <a:lnTo>
                    <a:pt x="943356" y="0"/>
                  </a:lnTo>
                  <a:lnTo>
                    <a:pt x="943356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49588" t="0" r="-49584" b="0"/>
              </a:stretch>
            </a:blipFill>
          </p:spPr>
          <p:txBody>
            <a:bodyPr/>
            <a:p/>
          </p:txBody>
        </p:sp>
      </p:grpSp>
      <p:grpSp>
        <p:nvGrpSpPr>
          <p:cNvPr name="Group 99" id="99"/>
          <p:cNvGrpSpPr/>
          <p:nvPr/>
        </p:nvGrpSpPr>
        <p:grpSpPr>
          <a:xfrm rot="0">
            <a:off x="5875020" y="4549140"/>
            <a:ext cx="685800" cy="685800"/>
            <a:chOff x="0" y="0"/>
            <a:chExt cx="914400" cy="91440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1544300" y="4549140"/>
            <a:ext cx="685800" cy="685800"/>
            <a:chOff x="0" y="0"/>
            <a:chExt cx="914400" cy="91440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-2127" r="0" b="-2127"/>
              </a:stretch>
            </a:blipFill>
          </p:spPr>
          <p:txBody>
            <a:bodyPr/>
            <a:p/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5875020" y="6332220"/>
            <a:ext cx="685800" cy="685800"/>
            <a:chOff x="0" y="0"/>
            <a:chExt cx="914400" cy="914400"/>
          </a:xfrm>
        </p:grpSpPr>
        <p:sp>
          <p:nvSpPr>
            <p:cNvPr name="Freeform 104" id="104" descr="/tmp/un/ppt/media/image64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1544300" y="6332220"/>
            <a:ext cx="685800" cy="685800"/>
            <a:chOff x="0" y="0"/>
            <a:chExt cx="914400" cy="914400"/>
          </a:xfrm>
        </p:grpSpPr>
        <p:sp>
          <p:nvSpPr>
            <p:cNvPr name="Freeform 106" id="106" descr="/tmp/un/ppt/media/image63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6240780" y="7863840"/>
            <a:ext cx="502920" cy="502920"/>
            <a:chOff x="0" y="0"/>
            <a:chExt cx="670560" cy="670560"/>
          </a:xfrm>
        </p:grpSpPr>
        <p:sp>
          <p:nvSpPr>
            <p:cNvPr name="Freeform 108" id="108" descr="/tmp/un/ppt/media/image65.png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7886700" y="7863840"/>
            <a:ext cx="502920" cy="502920"/>
            <a:chOff x="0" y="0"/>
            <a:chExt cx="670560" cy="670560"/>
          </a:xfrm>
        </p:grpSpPr>
        <p:sp>
          <p:nvSpPr>
            <p:cNvPr name="Freeform 110" id="110" descr="/tmp/un/ppt/media/image66.png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9612420" y="7863840"/>
            <a:ext cx="343310" cy="502920"/>
            <a:chOff x="0" y="0"/>
            <a:chExt cx="457746" cy="67056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457708" cy="670560"/>
            </a:xfrm>
            <a:custGeom>
              <a:avLst/>
              <a:gdLst/>
              <a:ahLst/>
              <a:cxnLst/>
              <a:rect r="r" b="b" t="t" l="l"/>
              <a:pathLst>
                <a:path h="670560" w="457708">
                  <a:moveTo>
                    <a:pt x="0" y="0"/>
                  </a:moveTo>
                  <a:lnTo>
                    <a:pt x="457708" y="0"/>
                  </a:lnTo>
                  <a:lnTo>
                    <a:pt x="457708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-1198" r="-8" b="-1196"/>
              </a:stretch>
            </a:blipFill>
          </p:spPr>
          <p:txBody>
            <a:bodyPr/>
            <a:p/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1178540" y="7863840"/>
            <a:ext cx="502920" cy="502920"/>
            <a:chOff x="0" y="0"/>
            <a:chExt cx="670560" cy="67056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2824460" y="7863840"/>
            <a:ext cx="502920" cy="502920"/>
            <a:chOff x="0" y="0"/>
            <a:chExt cx="670560" cy="67056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4470380" y="7863840"/>
            <a:ext cx="502920" cy="502920"/>
            <a:chOff x="0" y="0"/>
            <a:chExt cx="670560" cy="670560"/>
          </a:xfrm>
        </p:grpSpPr>
        <p:sp>
          <p:nvSpPr>
            <p:cNvPr name="Freeform 118" id="118" descr="/tmp/un/ppt/media/image69.png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6116300" y="7863840"/>
            <a:ext cx="502920" cy="502920"/>
            <a:chOff x="0" y="0"/>
            <a:chExt cx="670560" cy="67056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DAHYmgjp1t8</dc:identifier>
  <dcterms:modified xsi:type="dcterms:W3CDTF">2011-08-01T06:04:30Z</dcterms:modified>
  <cp:revision>1</cp:revision>
  <dc:title>WeFIND - tcc apresentacao sem testes</dc:title>
</cp:coreProperties>
</file>