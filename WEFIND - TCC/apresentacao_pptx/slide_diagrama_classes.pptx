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73" r:id="rId23"/>
  </p:sldIdLst>
  <p:sldSz cx="18288000" cy="10287000"/>
  <p:notesSz cx="6858000" cy="9144000"/>
  <p:embeddedFontLst>
    <p:embeddedFont>
      <p:font typeface="Cooper BT Bold" charset="1" panose="0208080404030B020404"/>
      <p:regular r:id="rId36"/>
    </p:embeddedFont>
    <p:embeddedFont>
      <p:font typeface="Cooper BT Light" charset="1" panose="0208050304030B020404"/>
      <p:regular r:id="rId37"/>
    </p:embeddedFont>
    <p:embeddedFont>
      <p:font typeface="Cambria Bold" charset="1" panose="02040803050406030204"/>
      <p:regular r:id="rId38"/>
    </p:embeddedFont>
    <p:embeddedFont>
      <p:font typeface="Calibri (MS)" charset="1" panose="020F0502020204030204"/>
      <p:regular r:id="rId39"/>
    </p:embeddedFont>
    <p:embeddedFont>
      <p:font typeface="Calibri (MS) Bold" charset="1" panose="020F0702030404030204"/>
      <p:regular r:id="rId40"/>
    </p:embeddedFont>
    <p:embeddedFont>
      <p:font typeface="Calibri (MS) Italics" charset="1" panose="020F05020202040A0204"/>
      <p:regular r:id="rId41"/>
    </p:embeddedFont>
    <p:embeddedFont>
      <p:font typeface="Roboto Bold" charset="1" panose="02000000000000000000"/>
      <p:regular r:id="rId42"/>
    </p:embeddedFont>
    <p:embeddedFont>
      <p:font typeface="Roboto" charset="1" panose="020000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3" Type="http://schemas.openxmlformats.org/officeDocument/2006/relationships/slide" Target="slides/slide18.xml"/><Relationship Id="rId36" Type="http://schemas.openxmlformats.org/officeDocument/2006/relationships/font" Target="fonts/font36.fntdata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centro do modelo está a publicação, que pertence a um usuário.</a:t>
            </a:r>
          </a:p>
          <a:p>
            <a:r>
              <a:t>Em volta dela ficam os avistamentos, que são os relatos de quem viu o animal, e as conversas, com as mensagens do chat.</a:t>
            </a:r>
          </a:p>
          <a:p>
            <a:r>
              <a:t>A solicitação de devolução registra o pedido do tutor, a comprovação de tutela e a entrega combinada. E o usuário também cadastra os seus pets, como prevenção.</a:t>
            </a:r>
          </a:p>
          <a:p>
            <a:r>
              <a:t>Por último, a denúncia e a classificação, que servem para a moderação.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60.png"/><Relationship Id="rId12" Type="http://schemas.openxmlformats.org/officeDocument/2006/relationships/notesSlide" Target="../notesSlides/notesSlide2.xml"/></Relationships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914400"/>
            <a:ext cx="603504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459200" y="93954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44000" y="3520440"/>
            <a:ext cx="0" cy="132588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cxnSp>
        <p:nvCxnSpPr>
          <p:cNvPr id="39" name="Connector 38"/>
          <p:cNvCxnSpPr/>
          <p:nvPr/>
        </p:nvCxnSpPr>
        <p:spPr>
          <a:xfrm>
            <a:off x="5120640" y="5623560"/>
            <a:ext cx="1737360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11430000" y="5623560"/>
            <a:ext cx="1737360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cxnSp>
        <p:nvCxnSpPr>
          <p:cNvPr id="41" name="Connector 40"/>
          <p:cNvCxnSpPr/>
          <p:nvPr/>
        </p:nvCxnSpPr>
        <p:spPr>
          <a:xfrm flipV="1">
            <a:off x="4572000" y="6400800"/>
            <a:ext cx="3429000" cy="128016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cxnSp>
        <p:nvCxnSpPr>
          <p:cNvPr id="42" name="Connector 41"/>
          <p:cNvCxnSpPr/>
          <p:nvPr/>
        </p:nvCxnSpPr>
        <p:spPr>
          <a:xfrm flipH="1" flipV="1">
            <a:off x="10287000" y="6400800"/>
            <a:ext cx="3429000" cy="128016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sp>
        <p:nvSpPr>
          <p:cNvPr id="43" name="Rounded Rectangle 42"/>
          <p:cNvSpPr/>
          <p:nvPr/>
        </p:nvSpPr>
        <p:spPr>
          <a:xfrm>
            <a:off x="6858000" y="4846320"/>
            <a:ext cx="4572000" cy="1554480"/>
          </a:xfrm>
          <a:prstGeom prst="roundRect">
            <a:avLst>
              <a:gd name="adj" fmla="val 12000"/>
            </a:avLst>
          </a:prstGeom>
          <a:solidFill>
            <a:srgbClr val="2E5634"/>
          </a:solidFill>
          <a:ln w="15875">
            <a:solidFill>
              <a:srgbClr val="2E5634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b="1" sz="2600">
                <a:solidFill>
                  <a:srgbClr val="FFFFFF"/>
                </a:solidFill>
                <a:latin typeface="Calibri (MS)"/>
              </a:rPr>
              <a:t>Publicacao</a:t>
            </a:r>
          </a:p>
          <a:p>
            <a:pPr algn="ctr"/>
            <a:r>
              <a:rPr sz="1600">
                <a:solidFill>
                  <a:srgbClr val="EAF2EB"/>
                </a:solidFill>
                <a:latin typeface="Calibri (MS)"/>
              </a:rPr>
              <a:t>FotoPublicacao · Recompensa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29400" y="2148840"/>
            <a:ext cx="5029200" cy="1371600"/>
          </a:xfrm>
          <a:prstGeom prst="roundRect">
            <a:avLst>
              <a:gd name="adj" fmla="val 12000"/>
            </a:avLst>
          </a:prstGeom>
          <a:solidFill>
            <a:srgbClr val="EAF2EB"/>
          </a:solidFill>
          <a:ln w="15875">
            <a:solidFill>
              <a:srgbClr val="C5DCC8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b="1" sz="2200">
                <a:solidFill>
                  <a:srgbClr val="0F172A"/>
                </a:solidFill>
                <a:latin typeface="Calibri (MS)"/>
              </a:rPr>
              <a:t>Usuario</a:t>
            </a:r>
          </a:p>
          <a:p>
            <a:pPr algn="ctr"/>
            <a:r>
              <a:rPr sz="1500">
                <a:solidFill>
                  <a:srgbClr val="475569"/>
                </a:solidFill>
                <a:latin typeface="Calibri (MS)"/>
              </a:rPr>
              <a:t>AnimalEstimacao (pets) · Notificacao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4937760"/>
            <a:ext cx="4206240" cy="1371600"/>
          </a:xfrm>
          <a:prstGeom prst="roundRect">
            <a:avLst>
              <a:gd name="adj" fmla="val 12000"/>
            </a:avLst>
          </a:prstGeom>
          <a:solidFill>
            <a:srgbClr val="EAF2EB"/>
          </a:solidFill>
          <a:ln w="15875">
            <a:solidFill>
              <a:srgbClr val="C5DCC8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b="1" sz="2200">
                <a:solidFill>
                  <a:srgbClr val="0F172A"/>
                </a:solidFill>
                <a:latin typeface="Calibri (MS)"/>
              </a:rPr>
              <a:t>Avistamento</a:t>
            </a:r>
          </a:p>
          <a:p>
            <a:pPr algn="ctr"/>
            <a:r>
              <a:rPr sz="1500">
                <a:solidFill>
                  <a:srgbClr val="475569"/>
                </a:solidFill>
                <a:latin typeface="Calibri (MS)"/>
              </a:rPr>
              <a:t>relato com local, hora e foto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167360" y="4937760"/>
            <a:ext cx="4206240" cy="1371600"/>
          </a:xfrm>
          <a:prstGeom prst="roundRect">
            <a:avLst>
              <a:gd name="adj" fmla="val 12000"/>
            </a:avLst>
          </a:prstGeom>
          <a:solidFill>
            <a:srgbClr val="EAF2EB"/>
          </a:solidFill>
          <a:ln w="15875">
            <a:solidFill>
              <a:srgbClr val="C5DCC8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b="1" sz="2200">
                <a:solidFill>
                  <a:srgbClr val="0F172A"/>
                </a:solidFill>
                <a:latin typeface="Calibri (MS)"/>
              </a:rPr>
              <a:t>Conversa · Mensagem</a:t>
            </a:r>
          </a:p>
          <a:p>
            <a:pPr algn="ctr"/>
            <a:r>
              <a:rPr sz="1500">
                <a:solidFill>
                  <a:srgbClr val="475569"/>
                </a:solidFill>
                <a:latin typeface="Calibri (MS)"/>
              </a:rPr>
              <a:t>chat privado sobre a publicação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920240" y="7680960"/>
            <a:ext cx="5303520" cy="1371600"/>
          </a:xfrm>
          <a:prstGeom prst="roundRect">
            <a:avLst>
              <a:gd name="adj" fmla="val 12000"/>
            </a:avLst>
          </a:prstGeom>
          <a:solidFill>
            <a:srgbClr val="F8EFE9"/>
          </a:solidFill>
          <a:ln w="15875">
            <a:solidFill>
              <a:srgbClr val="E8D2C2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b="1" sz="1900">
                <a:solidFill>
                  <a:srgbClr val="0F172A"/>
                </a:solidFill>
                <a:latin typeface="Calibri (MS)"/>
              </a:rPr>
              <a:t>SolicitacaoDevolucao → EncontroDevolucao</a:t>
            </a:r>
          </a:p>
          <a:p>
            <a:pPr algn="ctr"/>
            <a:r>
              <a:rPr sz="1500">
                <a:solidFill>
                  <a:srgbClr val="475569"/>
                </a:solidFill>
                <a:latin typeface="Calibri (MS)"/>
              </a:rPr>
              <a:t>comprovação de tutela e entrega combinada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064240" y="7680960"/>
            <a:ext cx="5303520" cy="1371600"/>
          </a:xfrm>
          <a:prstGeom prst="roundRect">
            <a:avLst>
              <a:gd name="adj" fmla="val 12000"/>
            </a:avLst>
          </a:prstGeom>
          <a:solidFill>
            <a:srgbClr val="F8EFE9"/>
          </a:solidFill>
          <a:ln w="15875">
            <a:solidFill>
              <a:srgbClr val="E8D2C2"/>
            </a:solidFill>
          </a:ln>
        </p:spPr>
        <p:txBody>
          <a:bodyPr rtlCol="0" anchor="ctr" wrap="square" lIns="137160" rIns="137160"/>
          <a:lstStyle/>
          <a:p>
            <a:pPr algn="ctr"/>
            <a:r>
              <a:rPr b="1" sz="2200">
                <a:solidFill>
                  <a:srgbClr val="0F172A"/>
                </a:solidFill>
                <a:latin typeface="Calibri (MS)"/>
              </a:rPr>
              <a:t>Denuncia · Classificacao</a:t>
            </a:r>
          </a:p>
          <a:p>
            <a:pPr algn="ctr"/>
            <a:r>
              <a:rPr sz="1500">
                <a:solidFill>
                  <a:srgbClr val="475569"/>
                </a:solidFill>
                <a:latin typeface="Calibri (MS)"/>
              </a:rPr>
              <a:t>moderação e notas entre membros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3580440"/>
            <a:ext cx="1600000" cy="3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i="1">
                <a:solidFill>
                  <a:srgbClr val="B1734A"/>
                </a:solidFill>
                <a:latin typeface="Calibri (MS)"/>
              </a:rPr>
              <a:t>publica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70640" y="5243560"/>
            <a:ext cx="1600000" cy="3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i="1">
                <a:solidFill>
                  <a:srgbClr val="B1734A"/>
                </a:solidFill>
                <a:latin typeface="Calibri (MS)"/>
              </a:rPr>
              <a:t>relata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580000" y="5243560"/>
            <a:ext cx="1600000" cy="3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i="1">
                <a:solidFill>
                  <a:srgbClr val="B1734A"/>
                </a:solidFill>
                <a:latin typeface="Calibri (MS)"/>
              </a:rPr>
              <a:t>conversa sobre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72000" y="6970960"/>
            <a:ext cx="1600000" cy="3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i="1">
                <a:solidFill>
                  <a:srgbClr val="B1734A"/>
                </a:solidFill>
                <a:latin typeface="Calibri (MS)"/>
              </a:rPr>
              <a:t>pede devolução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916000" y="6970960"/>
            <a:ext cx="1600000" cy="3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i="1">
                <a:solidFill>
                  <a:srgbClr val="B1734A"/>
                </a:solidFill>
                <a:latin typeface="Calibri (MS)"/>
              </a:rPr>
              <a:t>é denunciada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1097280"/>
            <a:ext cx="8229600" cy="40000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/>
            <a:r>
              <a:rPr sz="1400">
                <a:solidFill>
                  <a:srgbClr val="475569"/>
                </a:solidFill>
                <a:latin typeface="Calibri (MS)"/>
              </a:rPr>
              <a:t>Versão simplificada · diagrama completo no texto do TCC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DAHYmgjp1t8</dc:identifier>
  <dcterms:modified xsi:type="dcterms:W3CDTF">2011-08-01T06:04:30Z</dcterms:modified>
  <cp:revision>1</cp:revision>
  <dc:title>WeFIND - tcc apresentacao sem testes</dc:title>
</cp:coreProperties>
</file>