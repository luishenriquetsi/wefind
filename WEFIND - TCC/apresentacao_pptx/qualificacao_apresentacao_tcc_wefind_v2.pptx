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4.svg" ContentType="image/svg+xml"/>
  <Override PartName="/ppt/media/image18.svg" ContentType="image/svg+xml"/>
  <Override PartName="/ppt/media/image20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6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86" r:id="rId44"/>
    <p:sldId id="269" r:id="rId19"/>
    <p:sldId id="270" r:id="rId20"/>
    <p:sldId id="271" r:id="rId21"/>
    <p:sldId id="272" r:id="rId22"/>
    <p:sldId id="273" r:id="rId23"/>
    <p:sldId id="287" r:id="rId45"/>
    <p:sldId id="274" r:id="rId24"/>
    <p:sldId id="275" r:id="rId25"/>
    <p:sldId id="276" r:id="rId26"/>
    <p:sldId id="277" r:id="rId27"/>
    <p:sldId id="278" r:id="rId28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Calibri (MS) Light" charset="1" panose="020F030202020403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slide" Target="slides/slide31.xml"/><Relationship Id="rId45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svg"/><Relationship Id="rId1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17.png"/><Relationship Id="rId6" Type="http://schemas.openxmlformats.org/officeDocument/2006/relationships/image" Target="../media/image18.svg"/><Relationship Id="rId7" Type="http://schemas.openxmlformats.org/officeDocument/2006/relationships/image" Target="../media/image19.png"/><Relationship Id="rId8" Type="http://schemas.openxmlformats.org/officeDocument/2006/relationships/image" Target="../media/image20.sv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image31.png"/><Relationship Id="rId8" Type="http://schemas.openxmlformats.org/officeDocument/2006/relationships/image" Target="../media/image32.sv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svg"/><Relationship Id="rId13" Type="http://schemas.openxmlformats.org/officeDocument/2006/relationships/image" Target="../media/image37.png"/><Relationship Id="rId14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43.png"/><Relationship Id="rId10" Type="http://schemas.openxmlformats.org/officeDocument/2006/relationships/image" Target="../media/image44.svg"/><Relationship Id="rId11" Type="http://schemas.openxmlformats.org/officeDocument/2006/relationships/image" Target="../media/image45.png"/><Relationship Id="rId12" Type="http://schemas.openxmlformats.org/officeDocument/2006/relationships/image" Target="../media/image46.svg"/><Relationship Id="rId13" Type="http://schemas.openxmlformats.org/officeDocument/2006/relationships/image" Target="../media/image47.png"/><Relationship Id="rId14" Type="http://schemas.openxmlformats.org/officeDocument/2006/relationships/image" Target="../media/image48.svg"/><Relationship Id="rId15" Type="http://schemas.openxmlformats.org/officeDocument/2006/relationships/image" Target="../media/image49.png"/><Relationship Id="rId16" Type="http://schemas.openxmlformats.org/officeDocument/2006/relationships/image" Target="../media/image50.svg"/><Relationship Id="rId17" Type="http://schemas.openxmlformats.org/officeDocument/2006/relationships/image" Target="../media/image51.png"/><Relationship Id="rId18" Type="http://schemas.openxmlformats.org/officeDocument/2006/relationships/image" Target="../media/image5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5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68.png"/><Relationship Id="rId19" Type="http://schemas.openxmlformats.org/officeDocument/2006/relationships/image" Target="../media/image69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Relationship Id="rId22" Type="http://schemas.openxmlformats.org/officeDocument/2006/relationships/image" Target="../media/image72.png"/><Relationship Id="rId23" Type="http://schemas.openxmlformats.org/officeDocument/2006/relationships/image" Target="../media/image73.png"/><Relationship Id="rId24" Type="http://schemas.openxmlformats.org/officeDocument/2006/relationships/image" Target="../media/image7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55.png"/><Relationship Id="rId6" Type="http://schemas.openxmlformats.org/officeDocument/2006/relationships/image" Target="../media/image75.png"/><Relationship Id="rId7" Type="http://schemas.openxmlformats.org/officeDocument/2006/relationships/image" Target="../media/image57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63.png"/><Relationship Id="rId18" Type="http://schemas.openxmlformats.org/officeDocument/2006/relationships/image" Target="../media/image64.png"/><Relationship Id="rId19" Type="http://schemas.openxmlformats.org/officeDocument/2006/relationships/image" Target="../media/image66.png"/><Relationship Id="rId20" Type="http://schemas.openxmlformats.org/officeDocument/2006/relationships/image" Target="../media/image8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8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85.jpeg"/><Relationship Id="rId6" Type="http://schemas.openxmlformats.org/officeDocument/2006/relationships/image" Target="../media/image86.jpeg"/><Relationship Id="rId7" Type="http://schemas.openxmlformats.org/officeDocument/2006/relationships/image" Target="../media/image87.jpeg"/><Relationship Id="rId8" Type="http://schemas.openxmlformats.org/officeDocument/2006/relationships/image" Target="../media/image88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8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9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image31.png"/><Relationship Id="rId8" Type="http://schemas.openxmlformats.org/officeDocument/2006/relationships/image" Target="../media/image32.sv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sv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22.png"/><Relationship Id="rId16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  <p:txBody>
            <a:bodyPr/>
            <a:p/>
          </p:txBody>
        </p:sp>
      </p:grpSp>
      <p:sp>
        <p:nvSpPr>
          <p:cNvPr name="TextBox 6" id="6"/>
          <p:cNvSpPr txBox="true"/>
          <p:nvPr/>
        </p:nvSpPr>
        <p:spPr>
          <a:xfrm rot="0">
            <a:off x="1232202" y="4742183"/>
            <a:ext cx="15823606" cy="11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67049"/>
            <a:ext cx="13922893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121015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520436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886825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34609"/>
            <a:ext cx="13600671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926080" y="2714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26080" y="3305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338560" y="2714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38560" y="3305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926080" y="5000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926080" y="5591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338560" y="5000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38560" y="5591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correspondência e telas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926080" y="7286625"/>
            <a:ext cx="60350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26080" y="7877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645" t="0" r="-53645" b="0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4384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338560" y="728662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338560" y="7877556"/>
            <a:ext cx="603504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76" r="0" b="-29217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767" r="0" b="-427765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340042"/>
            <a:ext cx="10972800" cy="482918"/>
            <a:chOff x="0" y="0"/>
            <a:chExt cx="14630400" cy="6438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643890"/>
            </a:xfrm>
            <a:custGeom>
              <a:avLst/>
              <a:gdLst/>
              <a:ahLst/>
              <a:cxnLst/>
              <a:rect r="r" b="b" t="t" l="l"/>
              <a:pathLst>
                <a:path h="6438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3890"/>
                  </a:lnTo>
                  <a:lnTo>
                    <a:pt x="0" y="643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736" r="0" b="-392736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630400" cy="691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68" r="0" b="-208968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03310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4" id="24"/>
          <p:cNvGrpSpPr/>
          <p:nvPr/>
        </p:nvGrpSpPr>
        <p:grpSpPr>
          <a:xfrm rot="0">
            <a:off x="1195816" y="2554576"/>
            <a:ext cx="4556884" cy="1150001"/>
            <a:chOff x="0" y="0"/>
            <a:chExt cx="6075845" cy="15333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7" r="0" b="-27160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5816" y="2618870"/>
            <a:ext cx="4556884" cy="1085707"/>
            <a:chOff x="0" y="0"/>
            <a:chExt cx="6075845" cy="14476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75845" cy="1447610"/>
            </a:xfrm>
            <a:custGeom>
              <a:avLst/>
              <a:gdLst/>
              <a:ahLst/>
              <a:cxnLst/>
              <a:rect r="r" b="b" t="t" l="l"/>
              <a:pathLst>
                <a:path h="14476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447610"/>
                  </a:lnTo>
                  <a:lnTo>
                    <a:pt x="0" y="1447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81" r="0" b="-31781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85725"/>
              <a:ext cx="6075845" cy="136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95816" y="3728380"/>
            <a:ext cx="4556884" cy="117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cães e gatos se perderam ao menos uma vez em cinco anos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5816" y="4868380"/>
            <a:ext cx="4556884" cy="40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6450197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2" id="32"/>
          <p:cNvGrpSpPr/>
          <p:nvPr/>
        </p:nvGrpSpPr>
        <p:grpSpPr>
          <a:xfrm rot="0">
            <a:off x="6842693" y="2554576"/>
            <a:ext cx="4556884" cy="1150001"/>
            <a:chOff x="0" y="0"/>
            <a:chExt cx="6075845" cy="15333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7" r="0" b="-27160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42693" y="2618870"/>
            <a:ext cx="4556884" cy="1085707"/>
            <a:chOff x="0" y="0"/>
            <a:chExt cx="6075845" cy="14476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75845" cy="1447610"/>
            </a:xfrm>
            <a:custGeom>
              <a:avLst/>
              <a:gdLst/>
              <a:ahLst/>
              <a:cxnLst/>
              <a:rect r="r" b="b" t="t" l="l"/>
              <a:pathLst>
                <a:path h="14476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447610"/>
                  </a:lnTo>
                  <a:lnTo>
                    <a:pt x="0" y="1447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81" r="0" b="-3178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85725"/>
              <a:ext cx="6075845" cy="136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75%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842693" y="3728380"/>
            <a:ext cx="4556884" cy="117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estavam a até 500 m do ponto de fuga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42693" y="4868380"/>
            <a:ext cx="4556884" cy="40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2097074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0" id="40"/>
          <p:cNvGrpSpPr/>
          <p:nvPr/>
        </p:nvGrpSpPr>
        <p:grpSpPr>
          <a:xfrm rot="0">
            <a:off x="12489580" y="2554576"/>
            <a:ext cx="4556884" cy="1150001"/>
            <a:chOff x="0" y="0"/>
            <a:chExt cx="6075845" cy="153333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7" r="0" b="-27160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89580" y="2618870"/>
            <a:ext cx="4556884" cy="1085707"/>
            <a:chOff x="0" y="0"/>
            <a:chExt cx="6075845" cy="14476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75845" cy="1447610"/>
            </a:xfrm>
            <a:custGeom>
              <a:avLst/>
              <a:gdLst/>
              <a:ahLst/>
              <a:cxnLst/>
              <a:rect r="r" b="b" t="t" l="l"/>
              <a:pathLst>
                <a:path h="14476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447610"/>
                  </a:lnTo>
                  <a:lnTo>
                    <a:pt x="0" y="1447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81" r="0" b="-31781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85725"/>
              <a:ext cx="6075845" cy="136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50%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489580" y="3728380"/>
            <a:ext cx="4556884" cy="117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vivos apareceram nos primeiros 30 dias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89580" y="4868380"/>
            <a:ext cx="4556884" cy="40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803310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8" id="48"/>
          <p:cNvSpPr/>
          <p:nvPr/>
        </p:nvSpPr>
        <p:spPr>
          <a:xfrm flipH="false" flipV="false" rot="0">
            <a:off x="1183310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9" id="49"/>
          <p:cNvGrpSpPr/>
          <p:nvPr/>
        </p:nvGrpSpPr>
        <p:grpSpPr>
          <a:xfrm rot="0">
            <a:off x="1485814" y="6565001"/>
            <a:ext cx="519970" cy="519970"/>
            <a:chOff x="0" y="0"/>
            <a:chExt cx="693293" cy="693293"/>
          </a:xfrm>
        </p:grpSpPr>
        <p:sp>
          <p:nvSpPr>
            <p:cNvPr name="Freeform 50" id="50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1" id="51"/>
          <p:cNvSpPr txBox="true"/>
          <p:nvPr/>
        </p:nvSpPr>
        <p:spPr>
          <a:xfrm rot="0">
            <a:off x="2625814" y="5896651"/>
            <a:ext cx="5950325" cy="65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625814" y="6523796"/>
            <a:ext cx="5950325" cy="127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9273635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4" id="54"/>
          <p:cNvSpPr/>
          <p:nvPr/>
        </p:nvSpPr>
        <p:spPr>
          <a:xfrm flipH="false" flipV="false" rot="0">
            <a:off x="9653645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5" id="55"/>
          <p:cNvGrpSpPr/>
          <p:nvPr/>
        </p:nvGrpSpPr>
        <p:grpSpPr>
          <a:xfrm rot="0">
            <a:off x="9956140" y="6565001"/>
            <a:ext cx="519970" cy="519970"/>
            <a:chOff x="0" y="0"/>
            <a:chExt cx="693293" cy="693293"/>
          </a:xfrm>
        </p:grpSpPr>
        <p:sp>
          <p:nvSpPr>
            <p:cNvPr name="Freeform 56" id="56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096139" y="5896651"/>
            <a:ext cx="5950325" cy="65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096139" y="6523796"/>
            <a:ext cx="5950325" cy="127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8368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3680" y="3811905"/>
            <a:ext cx="51206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5296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296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33" id="33"/>
          <p:cNvSpPr/>
          <p:nvPr/>
        </p:nvSpPr>
        <p:spPr>
          <a:xfrm rot="1980">
            <a:off x="895340" y="6569393"/>
            <a:ext cx="1649731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4" id="34"/>
          <p:cNvSpPr txBox="true"/>
          <p:nvPr/>
        </p:nvSpPr>
        <p:spPr>
          <a:xfrm rot="0">
            <a:off x="914400" y="6829425"/>
            <a:ext cx="7315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7326630"/>
            <a:ext cx="69494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0" y="6829425"/>
            <a:ext cx="7315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0" y="7326630"/>
            <a:ext cx="804672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similares, usabilidade (SUS) e análise de segurança.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59200" y="9624060"/>
            <a:ext cx="914400" cy="4800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OBJETIVOS ESPECÍFICOS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459200" y="9624060"/>
            <a:ext cx="914400" cy="4800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980">
            <a:off x="904875" y="4196715"/>
            <a:ext cx="1647825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914400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" y="4046220"/>
            <a:ext cx="320040" cy="320040"/>
            <a:chOff x="0" y="0"/>
            <a:chExt cx="426720" cy="426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65713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65713" y="4046220"/>
            <a:ext cx="320040" cy="320040"/>
            <a:chOff x="0" y="0"/>
            <a:chExt cx="426720" cy="426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65713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65713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17026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617026" y="4046220"/>
            <a:ext cx="320040" cy="320040"/>
            <a:chOff x="0" y="0"/>
            <a:chExt cx="426720" cy="426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32" id="32"/>
          <p:cNvSpPr txBox="true"/>
          <p:nvPr/>
        </p:nvSpPr>
        <p:spPr>
          <a:xfrm rot="0">
            <a:off x="5617026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17026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68339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68339" y="4046220"/>
            <a:ext cx="320040" cy="320040"/>
            <a:chOff x="0" y="0"/>
            <a:chExt cx="426720" cy="426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37" id="37"/>
          <p:cNvSpPr txBox="true"/>
          <p:nvPr/>
        </p:nvSpPr>
        <p:spPr>
          <a:xfrm rot="0">
            <a:off x="7968339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68339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em UML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19652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319652" y="4046220"/>
            <a:ext cx="320040" cy="320040"/>
            <a:chOff x="0" y="0"/>
            <a:chExt cx="426720" cy="426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319652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19652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70974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670974" y="4046220"/>
            <a:ext cx="320040" cy="320040"/>
            <a:chOff x="0" y="0"/>
            <a:chExt cx="426720" cy="426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670974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70974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022287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022287" y="4046220"/>
            <a:ext cx="320040" cy="320040"/>
            <a:chOff x="0" y="0"/>
            <a:chExt cx="426720" cy="426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sp>
        <p:nvSpPr>
          <p:cNvPr name="TextBox 52" id="52"/>
          <p:cNvSpPr txBox="true"/>
          <p:nvPr/>
        </p:nvSpPr>
        <p:spPr>
          <a:xfrm rot="0">
            <a:off x="15022287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022287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participantes descreveram o problema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11" id="11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0" r="0" b="-11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630400" y="223456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30400" y="305752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21" id="21"/>
          <p:cNvSpPr/>
          <p:nvPr/>
        </p:nvSpPr>
        <p:spPr>
          <a:xfrm rot="5940">
            <a:off x="11868131" y="4191953"/>
            <a:ext cx="552454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630400" y="442912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30400" y="525208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31" id="31"/>
          <p:cNvSpPr/>
          <p:nvPr/>
        </p:nvSpPr>
        <p:spPr>
          <a:xfrm rot="5940">
            <a:off x="11868131" y="6386512"/>
            <a:ext cx="552454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2" id="32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630400" y="662368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30400" y="744664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8635365"/>
            <a:ext cx="164592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14400" y="2194560"/>
          <a:ext cx="16383000" cy="6896100"/>
        </p:xfrm>
        <a:graphic>
          <a:graphicData uri="http://schemas.openxmlformats.org/drawingml/2006/table">
            <a:tbl>
              <a:tblPr/>
              <a:tblGrid>
                <a:gridCol w="6735233"/>
                <a:gridCol w="1929553"/>
                <a:gridCol w="1929553"/>
                <a:gridCol w="1929553"/>
                <a:gridCol w="1929553"/>
                <a:gridCol w="1929553"/>
              </a:tblGrid>
              <a:tr h="582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66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76" r="0" b="-29217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68" r="0" b="-208968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requisitos funcionais centrais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19" id="1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2331720" y="2469956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31720" y="2978591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  <p:txBody>
          <a:bodyPr/>
          <a:p/>
        </p:txBody>
      </p:sp>
      <p:sp>
        <p:nvSpPr>
          <p:cNvPr name="Freeform 24" id="24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5" id="25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26" id="26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7" id="27"/>
          <p:cNvSpPr txBox="true"/>
          <p:nvPr/>
        </p:nvSpPr>
        <p:spPr>
          <a:xfrm rot="0">
            <a:off x="7955280" y="2469956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55280" y="2978591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  <p:txBody>
          <a:bodyPr/>
          <a:p/>
        </p:txBody>
      </p:sp>
      <p:sp>
        <p:nvSpPr>
          <p:cNvPr name="Freeform 31" id="31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2" id="32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578840" y="2469956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78840" y="2978591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  <p:txBody>
          <a:bodyPr/>
          <a:p/>
        </p:txBody>
      </p:sp>
      <p:sp>
        <p:nvSpPr>
          <p:cNvPr name="Freeform 38" id="38"/>
          <p:cNvSpPr/>
          <p:nvPr/>
        </p:nvSpPr>
        <p:spPr>
          <a:xfrm flipH="false" flipV="false" rot="0">
            <a:off x="1080611" y="4339237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9" id="39"/>
          <p:cNvGrpSpPr/>
          <p:nvPr/>
        </p:nvGrpSpPr>
        <p:grpSpPr>
          <a:xfrm rot="0">
            <a:off x="1346911" y="4605537"/>
            <a:ext cx="460820" cy="460820"/>
            <a:chOff x="0" y="0"/>
            <a:chExt cx="614426" cy="614426"/>
          </a:xfrm>
        </p:grpSpPr>
        <p:sp>
          <p:nvSpPr>
            <p:cNvPr name="Freeform 40" id="4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1" id="41"/>
          <p:cNvSpPr txBox="true"/>
          <p:nvPr/>
        </p:nvSpPr>
        <p:spPr>
          <a:xfrm rot="0">
            <a:off x="2331720" y="4298756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1720" y="4807391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  <p:txBody>
          <a:bodyPr/>
          <a:p/>
        </p:txBody>
      </p:sp>
      <p:sp>
        <p:nvSpPr>
          <p:cNvPr name="Freeform 45" id="45"/>
          <p:cNvSpPr/>
          <p:nvPr/>
        </p:nvSpPr>
        <p:spPr>
          <a:xfrm flipH="false" flipV="false" rot="0">
            <a:off x="6704171" y="4339237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6" id="46"/>
          <p:cNvGrpSpPr/>
          <p:nvPr/>
        </p:nvGrpSpPr>
        <p:grpSpPr>
          <a:xfrm rot="0">
            <a:off x="6970471" y="4605537"/>
            <a:ext cx="460820" cy="460820"/>
            <a:chOff x="0" y="0"/>
            <a:chExt cx="614426" cy="614426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8" id="48"/>
          <p:cNvSpPr txBox="true"/>
          <p:nvPr/>
        </p:nvSpPr>
        <p:spPr>
          <a:xfrm rot="0">
            <a:off x="7955280" y="4298756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955280" y="4807391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" t="0" r="-29" b="0"/>
            </a:stretch>
          </a:blipFill>
        </p:spPr>
        <p:txBody>
          <a:bodyPr/>
          <a:p/>
        </p:txBody>
      </p:sp>
      <p:sp>
        <p:nvSpPr>
          <p:cNvPr name="Freeform 52" id="52"/>
          <p:cNvSpPr/>
          <p:nvPr/>
        </p:nvSpPr>
        <p:spPr>
          <a:xfrm flipH="false" flipV="false" rot="0">
            <a:off x="12327731" y="4339237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3" id="53"/>
          <p:cNvGrpSpPr/>
          <p:nvPr/>
        </p:nvGrpSpPr>
        <p:grpSpPr>
          <a:xfrm rot="0">
            <a:off x="12594031" y="4605537"/>
            <a:ext cx="460820" cy="460820"/>
            <a:chOff x="0" y="0"/>
            <a:chExt cx="614426" cy="614426"/>
          </a:xfrm>
        </p:grpSpPr>
        <p:sp>
          <p:nvSpPr>
            <p:cNvPr name="Freeform 54" id="54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578840" y="4298756"/>
            <a:ext cx="37033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78840" y="4807391"/>
            <a:ext cx="3703320" cy="52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397764"/>
            <a:ext cx="4572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sp>
        <p:nvSpPr>
          <p:cNvPr id="69" name="Tile RF15"/>
          <p:cNvSpPr/>
          <p:nvPr/>
        </p:nvSpPr>
        <p:spPr>
          <a:xfrm>
            <a:off x="813816" y="5943600"/>
            <a:ext cx="5376672" cy="1143000"/>
          </a:xfrm>
          <a:prstGeom prst="roundRect">
            <a:avLst>
              <a:gd name="adj" fmla="val 12000"/>
            </a:avLst>
          </a:prstGeom>
          <a:solidFill>
            <a:srgbClr val="F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59" id="70"/>
          <p:cNvSpPr txBox="true"/>
          <p:nvPr/>
        </p:nvSpPr>
        <p:spPr>
          <a:xfrm rot="0">
            <a:off x="1161288" y="6217920"/>
            <a:ext cx="475488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sp>
        <p:nvSpPr>
          <p:cNvPr id="71" name="Tile RF16"/>
          <p:cNvSpPr/>
          <p:nvPr/>
        </p:nvSpPr>
        <p:spPr>
          <a:xfrm>
            <a:off x="6437376" y="5943600"/>
            <a:ext cx="5376672" cy="1143000"/>
          </a:xfrm>
          <a:prstGeom prst="roundRect">
            <a:avLst>
              <a:gd name="adj" fmla="val 12000"/>
            </a:avLst>
          </a:prstGeom>
          <a:solidFill>
            <a:srgbClr val="F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59" id="72"/>
          <p:cNvSpPr txBox="true"/>
          <p:nvPr/>
        </p:nvSpPr>
        <p:spPr>
          <a:xfrm rot="0">
            <a:off x="6784848" y="6217920"/>
            <a:ext cx="475488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id="73" name="Tile RF17"/>
          <p:cNvSpPr/>
          <p:nvPr/>
        </p:nvSpPr>
        <p:spPr>
          <a:xfrm>
            <a:off x="12060936" y="5943600"/>
            <a:ext cx="5376672" cy="1143000"/>
          </a:xfrm>
          <a:prstGeom prst="roundRect">
            <a:avLst>
              <a:gd name="adj" fmla="val 12000"/>
            </a:avLst>
          </a:prstGeom>
          <a:solidFill>
            <a:srgbClr val="F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59" id="74"/>
          <p:cNvSpPr txBox="true"/>
          <p:nvPr/>
        </p:nvSpPr>
        <p:spPr>
          <a:xfrm rot="0">
            <a:off x="12408408" y="6217920"/>
            <a:ext cx="475488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id="75" name="Tile RF18"/>
          <p:cNvSpPr/>
          <p:nvPr/>
        </p:nvSpPr>
        <p:spPr>
          <a:xfrm>
            <a:off x="813816" y="7315200"/>
            <a:ext cx="5376672" cy="1143000"/>
          </a:xfrm>
          <a:prstGeom prst="roundRect">
            <a:avLst>
              <a:gd name="adj" fmla="val 12000"/>
            </a:avLst>
          </a:prstGeom>
          <a:solidFill>
            <a:srgbClr val="F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59" id="76"/>
          <p:cNvSpPr txBox="true"/>
          <p:nvPr/>
        </p:nvSpPr>
        <p:spPr>
          <a:xfrm rot="0">
            <a:off x="1161288" y="7589520"/>
            <a:ext cx="475488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Comprovação de tutela</a:t>
            </a:r>
          </a:p>
        </p:txBody>
      </p:sp>
      <p:sp>
        <p:nvSpPr>
          <p:cNvPr id="77" name="Tile RF19"/>
          <p:cNvSpPr/>
          <p:nvPr/>
        </p:nvSpPr>
        <p:spPr>
          <a:xfrm>
            <a:off x="6437376" y="7315200"/>
            <a:ext cx="5376672" cy="1143000"/>
          </a:xfrm>
          <a:prstGeom prst="roundRect">
            <a:avLst>
              <a:gd name="adj" fmla="val 12000"/>
            </a:avLst>
          </a:prstGeom>
          <a:solidFill>
            <a:srgbClr val="F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59" id="78"/>
          <p:cNvSpPr txBox="true"/>
          <p:nvPr/>
        </p:nvSpPr>
        <p:spPr>
          <a:xfrm rot="0">
            <a:off x="6784848" y="7589520"/>
            <a:ext cx="475488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 Meus pets e carteirinha</a:t>
            </a:r>
          </a:p>
        </p:txBody>
      </p:sp>
      <p:sp>
        <p:nvSpPr>
          <p:cNvPr id="79" name="Tile RF20"/>
          <p:cNvSpPr/>
          <p:nvPr/>
        </p:nvSpPr>
        <p:spPr>
          <a:xfrm>
            <a:off x="12060936" y="7315200"/>
            <a:ext cx="5376672" cy="1143000"/>
          </a:xfrm>
          <a:prstGeom prst="roundRect">
            <a:avLst>
              <a:gd name="adj" fmla="val 12000"/>
            </a:avLst>
          </a:prstGeom>
          <a:solidFill>
            <a:srgbClr val="F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59" id="80"/>
          <p:cNvSpPr txBox="true"/>
          <p:nvPr/>
        </p:nvSpPr>
        <p:spPr>
          <a:xfrm rot="0">
            <a:off x="12408408" y="7589520"/>
            <a:ext cx="4754880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RF20  Adoção responsável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76" r="0" b="-29217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68" r="0" b="-208968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19" id="1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2880360" y="261175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80360" y="345186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4" id="24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25" id="2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315700" y="261175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15700" y="345186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29" id="29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0" id="30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2" id="32"/>
          <p:cNvSpPr txBox="true"/>
          <p:nvPr/>
        </p:nvSpPr>
        <p:spPr>
          <a:xfrm rot="0">
            <a:off x="2880360" y="576643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0360" y="660654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35" id="35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6" id="36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315700" y="576643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0654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635365"/>
            <a:ext cx="1659636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72"/>
            <a:chOff x="0" y="0"/>
            <a:chExt cx="21945600" cy="50866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8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116"/>
            <a:chOff x="0" y="0"/>
            <a:chExt cx="21945600" cy="50961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56"/>
            </a:xfrm>
            <a:custGeom>
              <a:avLst/>
              <a:gdLst/>
              <a:ahLst/>
              <a:cxnLst/>
              <a:rect r="r" b="b" t="t" l="l"/>
              <a:pathLst>
                <a:path h="509615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56"/>
                  </a:lnTo>
                  <a:lnTo>
                    <a:pt x="0" y="5096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08" r="0" b="-3390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5105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980">
            <a:off x="892169" y="2966656"/>
            <a:ext cx="1650367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914400" y="3634740"/>
            <a:ext cx="38404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4177665"/>
            <a:ext cx="384048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5069205"/>
            <a:ext cx="374904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6" id="16"/>
          <p:cNvSpPr txBox="true"/>
          <p:nvPr/>
        </p:nvSpPr>
        <p:spPr>
          <a:xfrm rot="0">
            <a:off x="5120640" y="3634740"/>
            <a:ext cx="38404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0640" y="4177665"/>
            <a:ext cx="384048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20640" y="5069205"/>
            <a:ext cx="374904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9326880" y="3634740"/>
            <a:ext cx="38404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880" y="4177665"/>
            <a:ext cx="384048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6880" y="5069205"/>
            <a:ext cx="374904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13533120" y="3634740"/>
            <a:ext cx="38404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3120" y="4177665"/>
            <a:ext cx="384048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069205"/>
            <a:ext cx="374904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8" id="28"/>
          <p:cNvSpPr txBox="true"/>
          <p:nvPr/>
        </p:nvSpPr>
        <p:spPr>
          <a:xfrm rot="0">
            <a:off x="1499616" y="6957441"/>
            <a:ext cx="338328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9616" y="7446645"/>
            <a:ext cx="338328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1" id="31"/>
          <p:cNvSpPr txBox="true"/>
          <p:nvPr/>
        </p:nvSpPr>
        <p:spPr>
          <a:xfrm rot="0">
            <a:off x="5705856" y="6957441"/>
            <a:ext cx="338328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05856" y="7446645"/>
            <a:ext cx="338328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4" id="34"/>
          <p:cNvSpPr txBox="true"/>
          <p:nvPr/>
        </p:nvSpPr>
        <p:spPr>
          <a:xfrm rot="0">
            <a:off x="14118336" y="6957441"/>
            <a:ext cx="338328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18336" y="7446645"/>
            <a:ext cx="338328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" y="8818245"/>
            <a:ext cx="164592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Limite: a limpeza roda ao abrir o mural e só alcança as publicações do próprio usuário.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id="45" name="Oval 44"/>
          <p:cNvSpPr/>
          <p:nvPr/>
        </p:nvSpPr>
        <p:spPr>
          <a:xfrm>
            <a:off x="9308592" y="7164962"/>
            <a:ext cx="300514" cy="300514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31" id="46"/>
          <p:cNvSpPr txBox="true"/>
          <p:nvPr/>
        </p:nvSpPr>
        <p:spPr>
          <a:xfrm rot="0">
            <a:off x="9912096" y="6957441"/>
            <a:ext cx="338328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32" id="47"/>
          <p:cNvSpPr txBox="true"/>
          <p:nvPr/>
        </p:nvSpPr>
        <p:spPr>
          <a:xfrm rot="0">
            <a:off x="9912096" y="7446645"/>
            <a:ext cx="338328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-200677"/>
            <a:ext cx="16459200" cy="2781952"/>
            <a:chOff x="0" y="0"/>
            <a:chExt cx="21945600" cy="3709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70"/>
            </a:xfrm>
            <a:custGeom>
              <a:avLst/>
              <a:gdLst/>
              <a:ahLst/>
              <a:cxnLst/>
              <a:rect r="r" b="b" t="t" l="l"/>
              <a:pathLst>
                <a:path h="370927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70"/>
                  </a:lnTo>
                  <a:lnTo>
                    <a:pt x="0" y="3709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303" r="0" b="-35259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945600" cy="3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1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65629" y="1600200"/>
            <a:ext cx="6932980" cy="7772400"/>
            <a:chOff x="0" y="0"/>
            <a:chExt cx="11771235" cy="12335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71235" cy="12335699"/>
            </a:xfrm>
            <a:custGeom>
              <a:avLst/>
              <a:gdLst/>
              <a:ahLst/>
              <a:cxnLst/>
              <a:rect r="r" b="b" t="t" l="l"/>
              <a:pathLst>
                <a:path h="12335699" w="11771235">
                  <a:moveTo>
                    <a:pt x="0" y="0"/>
                  </a:moveTo>
                  <a:lnTo>
                    <a:pt x="11771235" y="0"/>
                  </a:lnTo>
                  <a:lnTo>
                    <a:pt x="11771235" y="12335699"/>
                  </a:lnTo>
                  <a:lnTo>
                    <a:pt x="0" y="12335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89" r="0" b="-589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98480" y="21659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98480" y="2600325"/>
            <a:ext cx="6675120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e filtra publicações, mapa e detalhes; cria conta (código pelo WhatsApp) e entra.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98480" y="39947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8480" y="4429125"/>
            <a:ext cx="6675120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Publica, registra avistamentos, conversa, recebe avisos e sugestões, cadastra seus pets e pede ou analisa comprovação de tutela.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98480" y="67379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98480" y="7172325"/>
            <a:ext cx="6675120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autenticado. Analisa denúncias e modera conteúdo.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505504" y="411480"/>
            <a:ext cx="9769230" cy="9144000"/>
          </a:xfrm>
          <a:custGeom>
            <a:avLst/>
            <a:gdLst/>
            <a:ahLst/>
            <a:cxnLst/>
            <a:rect r="r" b="b" t="t" l="l"/>
            <a:pathLst>
              <a:path h="9751390" w="10849947">
                <a:moveTo>
                  <a:pt x="0" y="0"/>
                </a:moveTo>
                <a:lnTo>
                  <a:pt x="10849947" y="0"/>
                </a:lnTo>
                <a:lnTo>
                  <a:pt x="10849947" y="9751390"/>
                </a:lnTo>
                <a:lnTo>
                  <a:pt x="0" y="9751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914400" y="397764"/>
            <a:ext cx="5486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26314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266547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preferências de aviso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345186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385419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464058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504291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582930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23163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701802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742035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AnimalEstimacao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8206740"/>
            <a:ext cx="6035040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609076"/>
            <a:ext cx="603504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pelo administrador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correspondência e identidade visual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AutoShape 20" id="20"/>
          <p:cNvSpPr/>
          <p:nvPr/>
        </p:nvSpPr>
        <p:spPr>
          <a:xfrm rot="1980">
            <a:off x="895340" y="3954208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23" r="0" b="-1923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29" id="29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AutoShape 32" id="32"/>
          <p:cNvSpPr/>
          <p:nvPr/>
        </p:nvSpPr>
        <p:spPr>
          <a:xfrm rot="1980">
            <a:off x="895340" y="5837872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4" id="34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5" id="35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AutoShape 38" id="38"/>
          <p:cNvSpPr/>
          <p:nvPr/>
        </p:nvSpPr>
        <p:spPr>
          <a:xfrm rot="1980">
            <a:off x="895340" y="7721536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0" id="40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5" id="45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51" id="51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2137410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998464" y="30312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82128" y="30312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65792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649456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533120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14400" y="4021074"/>
            <a:ext cx="4572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029184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912848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796512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80176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563840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14400" y="5904738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998464" y="6798564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882128" y="6798564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14400" y="7788402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998464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882128" y="8682228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65792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649456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533120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416784" y="8682228"/>
            <a:ext cx="186537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85" id="85"/>
          <p:cNvSpPr txBox="true"/>
          <p:nvPr/>
        </p:nvSpPr>
        <p:spPr>
          <a:xfrm rot="0">
            <a:off x="6053328" y="4899660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49647" t="0" r="-49647" b="0"/>
              </a:stretch>
            </a:blipFill>
          </p:spPr>
          <p:txBody>
            <a:bodyPr/>
            <a:p/>
          </p:txBody>
        </p:sp>
      </p:grpSp>
      <p:sp>
        <p:nvSpPr>
          <p:cNvPr name="TextBox 88" id="88"/>
          <p:cNvSpPr txBox="true"/>
          <p:nvPr/>
        </p:nvSpPr>
        <p:spPr>
          <a:xfrm rot="0">
            <a:off x="15345918" y="3031236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0588" y="2170748"/>
            <a:ext cx="5899785" cy="6539865"/>
            <a:chOff x="0" y="0"/>
            <a:chExt cx="7866380" cy="87198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6380" cy="8719820"/>
            </a:xfrm>
            <a:custGeom>
              <a:avLst/>
              <a:gdLst/>
              <a:ahLst/>
              <a:cxnLst/>
              <a:rect r="r" b="b" t="t" l="l"/>
              <a:pathLst>
                <a:path h="8719820" w="7866380">
                  <a:moveTo>
                    <a:pt x="0" y="0"/>
                  </a:moveTo>
                  <a:lnTo>
                    <a:pt x="7866380" y="0"/>
                  </a:lnTo>
                  <a:lnTo>
                    <a:pt x="786638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88720" y="2283714"/>
            <a:ext cx="53035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931468" y="2170748"/>
            <a:ext cx="5351145" cy="6539865"/>
            <a:chOff x="0" y="0"/>
            <a:chExt cx="7134860" cy="8719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4860" cy="8719820"/>
            </a:xfrm>
            <a:custGeom>
              <a:avLst/>
              <a:gdLst/>
              <a:ahLst/>
              <a:cxnLst/>
              <a:rect r="r" b="b" t="t" l="l"/>
              <a:pathLst>
                <a:path h="8719820" w="7134860">
                  <a:moveTo>
                    <a:pt x="0" y="0"/>
                  </a:moveTo>
                  <a:lnTo>
                    <a:pt x="7134860" y="0"/>
                  </a:lnTo>
                  <a:lnTo>
                    <a:pt x="713486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29600" y="2283714"/>
            <a:ext cx="47548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423707" y="2170748"/>
            <a:ext cx="2973705" cy="6539865"/>
            <a:chOff x="0" y="0"/>
            <a:chExt cx="3964940" cy="87198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64940" cy="8719820"/>
            </a:xfrm>
            <a:custGeom>
              <a:avLst/>
              <a:gdLst/>
              <a:ahLst/>
              <a:cxnLst/>
              <a:rect r="r" b="b" t="t" l="l"/>
              <a:pathLst>
                <a:path h="8719820" w="3964940">
                  <a:moveTo>
                    <a:pt x="0" y="0"/>
                  </a:moveTo>
                  <a:lnTo>
                    <a:pt x="3964940" y="0"/>
                  </a:lnTo>
                  <a:lnTo>
                    <a:pt x="396494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721840" y="2283714"/>
            <a:ext cx="237744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20" id="20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9" id="29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38" id="38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47" id="47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4700016" y="6330125"/>
            <a:ext cx="1920240" cy="693230"/>
            <a:chOff x="0" y="0"/>
            <a:chExt cx="2560320" cy="9243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1956816" y="7426643"/>
            <a:ext cx="1920240" cy="693230"/>
            <a:chOff x="0" y="0"/>
            <a:chExt cx="2560320" cy="92430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65" id="65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4700016" y="3037522"/>
            <a:ext cx="1920240" cy="693230"/>
            <a:chOff x="0" y="0"/>
            <a:chExt cx="2560320" cy="9243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74" id="74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75" id="75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83" id="83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92" id="92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956816" y="6330125"/>
            <a:ext cx="1920240" cy="693230"/>
            <a:chOff x="0" y="0"/>
            <a:chExt cx="2560320" cy="92430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101" id="10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9052560" y="296608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052560" y="339699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922" r="0" b="-1924"/>
              </a:stretch>
            </a:blipFill>
          </p:spPr>
          <p:txBody>
            <a:bodyPr/>
            <a:p/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9052560" y="406336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052560" y="449427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109" id="10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9052560" y="516064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052560" y="559155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113" id="11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9052560" y="625792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9052560" y="668883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117" id="11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18" id="118"/>
          <p:cNvSpPr txBox="true"/>
          <p:nvPr/>
        </p:nvSpPr>
        <p:spPr>
          <a:xfrm rot="0">
            <a:off x="9052560" y="735520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9052560" y="778611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4721840" y="4520565"/>
            <a:ext cx="256032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4721840" y="4951476"/>
            <a:ext cx="256032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123" id="12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14721840" y="6532245"/>
            <a:ext cx="256032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4721840" y="6963156"/>
            <a:ext cx="256032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126" id="126"/>
          <p:cNvSpPr/>
          <p:nvPr/>
        </p:nvSpPr>
        <p:spPr>
          <a:xfrm rot="59760">
            <a:off x="6812766" y="5274945"/>
            <a:ext cx="1096289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127" id="127"/>
          <p:cNvSpPr txBox="true"/>
          <p:nvPr/>
        </p:nvSpPr>
        <p:spPr>
          <a:xfrm rot="0">
            <a:off x="6675120" y="4549140"/>
            <a:ext cx="13716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128" id="128"/>
          <p:cNvSpPr/>
          <p:nvPr/>
        </p:nvSpPr>
        <p:spPr>
          <a:xfrm rot="59760">
            <a:off x="13305006" y="5274945"/>
            <a:ext cx="1096289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129" id="129"/>
          <p:cNvSpPr txBox="true"/>
          <p:nvPr/>
        </p:nvSpPr>
        <p:spPr>
          <a:xfrm rot="0">
            <a:off x="13167360" y="4549140"/>
            <a:ext cx="13716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4545" r="0" b="-4545"/>
              </a:stretch>
            </a:blipFill>
          </p:spPr>
          <p:txBody>
            <a:bodyPr/>
            <a:p/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5087600" y="5687568"/>
            <a:ext cx="329184" cy="329184"/>
            <a:chOff x="0" y="0"/>
            <a:chExt cx="438912" cy="438912"/>
          </a:xfrm>
        </p:grpSpPr>
        <p:sp>
          <p:nvSpPr>
            <p:cNvPr name="Freeform 141" id="141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1" id="11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0160" y="7863288"/>
            <a:ext cx="566928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8702040"/>
            <a:ext cx="640080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969447" y="6833740"/>
            <a:ext cx="2942863" cy="104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97115" y="2324576"/>
            <a:ext cx="3218593" cy="2249996"/>
            <a:chOff x="0" y="0"/>
            <a:chExt cx="4291457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25" id="25"/>
          <p:cNvSpPr txBox="true"/>
          <p:nvPr/>
        </p:nvSpPr>
        <p:spPr>
          <a:xfrm rot="0">
            <a:off x="740711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0711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02464" y="2324576"/>
            <a:ext cx="3218593" cy="2249996"/>
            <a:chOff x="0" y="0"/>
            <a:chExt cx="4291457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81246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1246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207804" y="2324576"/>
            <a:ext cx="3218593" cy="2249996"/>
            <a:chOff x="0" y="0"/>
            <a:chExt cx="4291457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  <p:txBody>
            <a:bodyPr/>
            <a:p/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21780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1780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397115" y="5849998"/>
            <a:ext cx="3218593" cy="2249996"/>
            <a:chOff x="0" y="0"/>
            <a:chExt cx="4291457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  <p:txBody>
            <a:bodyPr/>
            <a:p/>
          </p:txBody>
        </p:sp>
      </p:grpSp>
      <p:sp>
        <p:nvSpPr>
          <p:cNvPr name="TextBox 37" id="37"/>
          <p:cNvSpPr txBox="true"/>
          <p:nvPr/>
        </p:nvSpPr>
        <p:spPr>
          <a:xfrm rot="0">
            <a:off x="740711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0711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802464" y="5849998"/>
            <a:ext cx="3218593" cy="2249996"/>
            <a:chOff x="0" y="0"/>
            <a:chExt cx="4291457" cy="29999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  <p:txBody>
            <a:bodyPr/>
            <a:p/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81246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1246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207804" y="5849998"/>
            <a:ext cx="3218593" cy="2249996"/>
            <a:chOff x="0" y="0"/>
            <a:chExt cx="4291457" cy="2999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  <p:txBody>
            <a:bodyPr/>
            <a:p/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21780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1780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2103120"/>
            <a:ext cx="3163824" cy="7040880"/>
            <a:chOff x="0" y="0"/>
            <a:chExt cx="4218432" cy="9387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" t="0" r="-72" b="0"/>
              </a:stretch>
            </a:blip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8016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669280" y="2103120"/>
            <a:ext cx="3163824" cy="7040880"/>
            <a:chOff x="0" y="0"/>
            <a:chExt cx="4218432" cy="9387840"/>
          </a:xfrm>
        </p:grpSpPr>
        <p:sp>
          <p:nvSpPr>
            <p:cNvPr name="Freeform 13" id="13" descr="/tmp/un/ppt/media/image39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8" t="0" r="-97" b="0"/>
              </a:stretch>
            </a:blip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0352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94164" y="2103120"/>
            <a:ext cx="3162300" cy="7040880"/>
            <a:chOff x="0" y="0"/>
            <a:chExt cx="4216400" cy="9387840"/>
          </a:xfrm>
        </p:grpSpPr>
        <p:sp>
          <p:nvSpPr>
            <p:cNvPr name="Freeform 16" id="16" descr="/tmp/un/ppt/media/image40.jpeg"/>
            <p:cNvSpPr/>
            <p:nvPr/>
          </p:nvSpPr>
          <p:spPr>
            <a:xfrm flipH="false" flipV="false" rot="0">
              <a:off x="0" y="0"/>
              <a:ext cx="42164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2" t="0" r="-121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52576" y="2103120"/>
            <a:ext cx="3163824" cy="7040880"/>
            <a:chOff x="0" y="0"/>
            <a:chExt cx="4218432" cy="9387840"/>
          </a:xfrm>
        </p:grpSpPr>
        <p:sp>
          <p:nvSpPr>
            <p:cNvPr name="Freeform 18" id="18" descr="/tmp/un/ppt/media/image41.jpeg"/>
            <p:cNvSpPr/>
            <p:nvPr/>
          </p:nvSpPr>
          <p:spPr>
            <a:xfrm flipH="false" flipV="false" rot="6000">
              <a:off x="-8189" y="-3674"/>
              <a:ext cx="4234810" cy="9395188"/>
            </a:xfrm>
            <a:custGeom>
              <a:avLst/>
              <a:gdLst/>
              <a:ahLst/>
              <a:cxnLst/>
              <a:rect r="r" b="b" t="t" l="l"/>
              <a:pathLst>
                <a:path h="9395188" w="4234810">
                  <a:moveTo>
                    <a:pt x="0" y="7362"/>
                  </a:moveTo>
                  <a:lnTo>
                    <a:pt x="4218425" y="0"/>
                  </a:lnTo>
                  <a:lnTo>
                    <a:pt x="4234810" y="9387826"/>
                  </a:lnTo>
                  <a:lnTo>
                    <a:pt x="16385" y="9395188"/>
                  </a:lnTo>
                  <a:lnTo>
                    <a:pt x="0" y="7362"/>
                  </a:lnTo>
                  <a:close/>
                </a:path>
              </a:pathLst>
            </a:custGeom>
            <a:blipFill>
              <a:blip r:embed="rId8"/>
              <a:stretch>
                <a:fillRect l="-1702" t="0" r="-3201" b="-5022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2688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5024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45693" y="2345693"/>
            <a:ext cx="13596652" cy="6555772"/>
            <a:chOff x="0" y="0"/>
            <a:chExt cx="18128869" cy="8741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28869" cy="8741029"/>
            </a:xfrm>
            <a:custGeom>
              <a:avLst/>
              <a:gdLst/>
              <a:ahLst/>
              <a:cxnLst/>
              <a:rect r="r" b="b" t="t" l="l"/>
              <a:pathLst>
                <a:path h="8741029" w="18128869">
                  <a:moveTo>
                    <a:pt x="0" y="0"/>
                  </a:moveTo>
                  <a:lnTo>
                    <a:pt x="18128869" y="0"/>
                  </a:lnTo>
                  <a:lnTo>
                    <a:pt x="18128869" y="8741029"/>
                  </a:lnTo>
                  <a:lnTo>
                    <a:pt x="0" y="87410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3" id="13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77440" y="7143750"/>
            <a:ext cx="1353312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Três formas de examinar o aplicativo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de 10 a 25/09/2026, no Redmi Note 13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8368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368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5296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296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AutoShape 33" id="33"/>
          <p:cNvSpPr/>
          <p:nvPr/>
        </p:nvSpPr>
        <p:spPr>
          <a:xfrm rot="1980">
            <a:off x="895340" y="6569393"/>
            <a:ext cx="1649731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4" id="34"/>
          <p:cNvSpPr txBox="true"/>
          <p:nvPr/>
        </p:nvSpPr>
        <p:spPr>
          <a:xfrm rot="0">
            <a:off x="914400" y="6829425"/>
            <a:ext cx="7315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Distribuição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7326630"/>
            <a:ext cx="69494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Landing page no GitHub Pages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0" y="2623185"/>
            <a:ext cx="82296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851910"/>
            <a:ext cx="804672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9" id="19"/>
          <p:cNvSpPr/>
          <p:nvPr/>
        </p:nvSpPr>
        <p:spPr>
          <a:xfrm rot="1980">
            <a:off x="895340" y="5472112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91440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368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5296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296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726805"/>
            <a:ext cx="164592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47548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1" r="0" b="-2201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583680" cy="2466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4914900"/>
            <a:ext cx="45720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6526530"/>
            <a:ext cx="47548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109460"/>
            <a:ext cx="4572000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5" id="15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  <p:txBody>
            <a:bodyPr/>
            <a:p/>
          </p:txBody>
        </p:sp>
      </p:grpSp>
      <p:sp>
        <p:nvSpPr>
          <p:cNvPr name="TextBox 16" id="16"/>
          <p:cNvSpPr txBox="true"/>
          <p:nvPr/>
        </p:nvSpPr>
        <p:spPr>
          <a:xfrm rot="0">
            <a:off x="6583680" y="8086725"/>
            <a:ext cx="1078992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6360"/>
            <a:ext cx="1645920" cy="4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Tutela, Meus pets e adoção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368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4" id="14"/>
          <p:cNvSpPr/>
          <p:nvPr/>
        </p:nvSpPr>
        <p:spPr>
          <a:xfrm rot="5395320">
            <a:off x="2743210" y="5654992"/>
            <a:ext cx="697802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1225296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7" id="17"/>
          <p:cNvSpPr/>
          <p:nvPr/>
        </p:nvSpPr>
        <p:spPr>
          <a:xfrm rot="5395320">
            <a:off x="8413432" y="5654992"/>
            <a:ext cx="697802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7" id="18"/>
          <p:cNvSpPr txBox="true"/>
          <p:nvPr/>
        </p:nvSpPr>
        <p:spPr>
          <a:xfrm rot="0">
            <a:off x="914400" y="2240280"/>
            <a:ext cx="7863840" cy="6949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BROOKE, J.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In: JORDAN, P. W. et al. (ed.). Usability evaluation in industry. London: Taylor &amp; Francis, 1996. p. 189–194.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GIL, A. C.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7. ed. São Paulo: Atlas, 2022.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HUANG, L. et al.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Animals, v. 8, n. 1, art. 5, 2018.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ISO.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: product quality model. Geneva: ISO, 2023.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MOBSF.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2026. Disponível em: github.com/MobSF. Acesso em: 14 out. 2026.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PRESSMAN, R. S.; MAXIM, B. R.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: uma abordagem profissional. 9. ed. Porto Alegre: AMGH, 2021.</a:t>
            </a:r>
          </a:p>
        </p:txBody>
      </p:sp>
      <p:sp>
        <p:nvSpPr>
          <p:cNvPr name="TextBox 17" id="19"/>
          <p:cNvSpPr txBox="true"/>
          <p:nvPr/>
        </p:nvSpPr>
        <p:spPr>
          <a:xfrm rot="0">
            <a:off x="9372600" y="2240280"/>
            <a:ext cx="7863840" cy="6949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SAURO, J.; LEWIS, J. R.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2. ed. Cambridge: Morgan Kaufmann, 2016.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SINNOTT, R. W.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Sky and Telescope, v. 68, n. 2, p. 159, 1984.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SOMMERVILLE, I.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10. ed. São Paulo: Pearson, 2019.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SOUZA, F. C. M. et al.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: recomendação de rotas para buscar animais desaparecidos. In: ERES, 6., 2022. Porto Alegre: SBC, 2022. p. 199–208.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VALENTE, M. T.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Belo Horizonte: Edição do Autor, 2023.</a:t>
            </a:r>
          </a:p>
          <a:p>
            <a:pPr algn="l">
              <a:spcAft>
                <a:spcPts val="1400"/>
              </a:spcAft>
            </a:pP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WEISS, E.; SLATER, M.; LORD, L. </a:t>
            </a:r>
            <a:r>
              <a:rPr lang="en-US" sz="2100" b="1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 b="0">
                <a:solidFill>
                  <a:srgbClr val="1B2A1F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. Animals, v. 2, n. 2, p. 301–315, 2012.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828800" y="5274945"/>
            <a:ext cx="14630400" cy="149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686550"/>
            <a:ext cx="146304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846695"/>
            <a:ext cx="14630400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543925"/>
            <a:ext cx="1463040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728662"/>
            <a:ext cx="146304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Baixe e teste o WeFIND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76" r="0" b="-29217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68" r="0" b="-208968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19" id="1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2880360" y="261175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80360" y="345186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aprovação libera o endereço exato.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4" id="24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25" id="2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315700" y="261175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15700" y="345186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mapa em grade de ~100 m.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29" id="29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0" id="30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2" id="32"/>
          <p:cNvSpPr txBox="true"/>
          <p:nvPr/>
        </p:nvSpPr>
        <p:spPr>
          <a:xfrm rot="0">
            <a:off x="2880360" y="576643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0360" y="660654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35" id="35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6" id="36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315700" y="576643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0654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635365"/>
            <a:ext cx="1659636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16 de 20 participantes preferiram ocultar o endereço exato.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REGRAS DE NEGÓCIO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CORRESPONDÊNCIA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0–100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0" y="2623185"/>
            <a:ext cx="82296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 entre perdido e encontrado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851910"/>
            <a:ext cx="804672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AutoShape 19" id="19"/>
          <p:cNvSpPr/>
          <p:nvPr/>
        </p:nvSpPr>
        <p:spPr>
          <a:xfrm rot="1980">
            <a:off x="895340" y="5472112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91440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Atributos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Espécie, sexo, porte, raça, pelagem e idade.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Distância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368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Haversine; sem GPS, compara cidade e bairro.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5296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296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 na lista; 60 pts geram aviso (até 3).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726805"/>
            <a:ext cx="164592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incompatíveis são descartados. Pesos definidos de forma empírica, ainda sem calibração com casos reais.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qualificacao apresentacao tcc - wefind</dc:title>
</cp:coreProperties>
</file>